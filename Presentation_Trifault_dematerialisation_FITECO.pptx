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TE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5240">
            <a:solidFill>
              <a:srgbClr val="E3063A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562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FITECO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6547104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Trifault – Dématérialisation du suivi de chantier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16/09/2026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panel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0"/>
            <a:ext cx="164592" cy="685800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67512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640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Dématérialisation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suivi de chantier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3232" y="2852928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C6C6C"/>
                </a:solidFill>
              </a:rPr>
              <a:t>Atelier de cadrage et choix de solutions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C6C6C"/>
                </a:solidFill>
              </a:rPr>
              <a:t>Trifault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13232" y="3813048"/>
            <a:ext cx="960120" cy="73152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Support de présentation – matinée de travail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4617720"/>
            <a:ext cx="1600200" cy="301752"/>
          </a:xfrm>
          <a:prstGeom prst="rect">
            <a:avLst/>
          </a:prstGeom>
          <a:solidFill>
            <a:srgbClr val="E3063A"/>
          </a:solidFill>
          <a:ln>
            <a:solidFill>
              <a:srgbClr val="E3063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de travail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Rappel du déroulé de la matinée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Objectif : cadrer le besoin, préparer la consultation éditeurs et valider une shortlist.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2139696" cy="2148840"/>
          </a:xfrm>
          <a:prstGeom prst="roundRect">
            <a:avLst>
              <a:gd name="adj" fmla="val 3419"/>
            </a:avLst>
          </a:prstGeom>
          <a:solidFill>
            <a:srgbClr val="FBE7EC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3A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7066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Cadrage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154680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C6C"/>
                </a:solidFill>
              </a:rPr>
              <a:t>Contexte, problématique actuelle et objectifs du projet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953512" y="2029968"/>
            <a:ext cx="2139696" cy="2148840"/>
          </a:xfrm>
          <a:prstGeom prst="roundRect">
            <a:avLst>
              <a:gd name="adj" fmla="val 3419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3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99816" y="27066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Ateliers métier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99816" y="3154680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C6C"/>
                </a:solidFill>
              </a:rPr>
              <a:t>Profils, parcours de la donnée, fonctionnalités et pondération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212080" y="2029968"/>
            <a:ext cx="2139696" cy="2148840"/>
          </a:xfrm>
          <a:prstGeom prst="roundRect">
            <a:avLst>
              <a:gd name="adj" fmla="val 3419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3A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58384" y="27066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Cas de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58384" y="3154680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C6C"/>
                </a:solidFill>
              </a:rPr>
              <a:t>Préparer au minimum 2 scénarios concrets du quotidien Trifault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470648" y="2029968"/>
            <a:ext cx="2139696" cy="2148840"/>
          </a:xfrm>
          <a:prstGeom prst="roundRect">
            <a:avLst>
              <a:gd name="adj" fmla="val 3419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3A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16952" y="27066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Solutions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16952" y="3154680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C6C"/>
                </a:solidFill>
              </a:rPr>
              <a:t>Présenter les éditeurs audités et valider la shortlist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729216" y="2029968"/>
            <a:ext cx="2139696" cy="2148840"/>
          </a:xfrm>
          <a:prstGeom prst="roundRect">
            <a:avLst>
              <a:gd name="adj" fmla="val 3419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3A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75520" y="27066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Suite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0" y="3154680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C6C"/>
                </a:solidFill>
              </a:rPr>
              <a:t>Planning de réponse, démonstrations et accompagnement FITECO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Livrables attendus en fin de matinée : profils validés, parcours cible, fonctionnalités pondérées, cas de test et shortlist.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et problématique actuelle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Le processus papier limite la visibilité, ralentit le contrôle et retarde la facturation.</a:t>
            </a:r>
            <a:endParaRPr lang="en-US" sz="1350" dirty="0"/>
          </a:p>
        </p:txBody>
      </p:sp>
      <p:pic>
        <p:nvPicPr>
          <p:cNvPr id="7" name="Image 0" descr="/mnt/data/a_clean_professional_split_scene_concept_illustra.png">    </p:cNvPr>
          <p:cNvPicPr>
            <a:picLocks noChangeAspect="1"/>
          </p:cNvPicPr>
          <p:nvPr/>
        </p:nvPicPr>
        <p:blipFill>
          <a:blip r:embed="rId1"/>
          <a:srcRect l="0" r="19373" t="2000" b="2000"/>
          <a:stretch/>
        </p:blipFill>
        <p:spPr>
          <a:xfrm>
            <a:off x="685800" y="1874520"/>
            <a:ext cx="4434840" cy="2971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856232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856232"/>
            <a:ext cx="54864" cy="96012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20025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Collecte complexe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87568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Plus de 100 collaborateurs terrain, des carnets dispersés à récupérer physiquement à l’échelle nationale.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58200" y="1856232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58200" y="1856232"/>
            <a:ext cx="54864" cy="96012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9368" y="20025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Retard financier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59368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Collecte mensuelle et environ une semaine de centralisation au siège avant exploitation.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0" y="31272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3127248"/>
            <a:ext cx="54864" cy="960120"/>
          </a:xfrm>
          <a:prstGeom prst="rect">
            <a:avLst/>
          </a:prstGeom>
          <a:solidFill>
            <a:srgbClr val="DB7C26"/>
          </a:solidFill>
          <a:ln w="12700">
            <a:solidFill>
              <a:srgbClr val="DB7C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Risque administratif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87568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Perte de documents, illisibilité, ressaisie et risques d’erreurs lors du traitement.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458200" y="31272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8200" y="3127248"/>
            <a:ext cx="54864" cy="960120"/>
          </a:xfrm>
          <a:prstGeom prst="rect">
            <a:avLst/>
          </a:prstGeom>
          <a:solidFill>
            <a:srgbClr val="DB7C26"/>
          </a:solidFill>
          <a:ln w="12700">
            <a:solidFill>
              <a:srgbClr val="DB7C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59368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Pilotage limité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59368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Vision consolidée difficile : les dérives chantier sont détectées tardivement.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0" y="4828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063A"/>
                </a:solidFill>
              </a:rPr>
              <a:t>+100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486400" y="5303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6C"/>
                </a:solidFill>
              </a:rPr>
              <a:t>collaborateurs terrain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43800" y="4828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063A"/>
                </a:solidFill>
              </a:rPr>
              <a:t>1 mois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543800" y="5303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6C"/>
                </a:solidFill>
              </a:rPr>
              <a:t>rythme de remontée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01200" y="4828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063A"/>
                </a:solidFill>
              </a:rPr>
              <a:t>~1 sem.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9601200" y="5303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6C"/>
                </a:solidFill>
              </a:rPr>
              <a:t>de centralisation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Transformer un fonctionnement papier en un parcours numérique maîtrisé, contrôlable et exploitable.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BE7EC"/>
          </a:solidFill>
          <a:ln w="11430">
            <a:solidFill>
              <a:srgbClr val="E30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48256"/>
            <a:ext cx="438912" cy="438912"/>
          </a:xfrm>
          <a:prstGeom prst="ellipse">
            <a:avLst/>
          </a:prstGeom>
          <a:solidFill>
            <a:srgbClr val="E3063A"/>
          </a:solidFill>
          <a:ln>
            <a:solidFill>
              <a:srgbClr val="E30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0482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Créer &amp; planifier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441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Chantiers, tâches, collaborateurs, machines et planning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 w="1143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48256"/>
            <a:ext cx="438912" cy="438912"/>
          </a:xfrm>
          <a:prstGeom prst="ellipse">
            <a:avLst/>
          </a:prstGeom>
          <a:solidFill>
            <a:srgbClr val="E3063A"/>
          </a:solidFill>
          <a:ln>
            <a:solidFill>
              <a:srgbClr val="E30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Saisir simplement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2441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Formulaires guidés, champs obligatoires et données uniformisées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 w="1143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48456"/>
            <a:ext cx="438912" cy="438912"/>
          </a:xfrm>
          <a:prstGeom prst="ellipse">
            <a:avLst/>
          </a:prstGeom>
          <a:solidFill>
            <a:srgbClr val="E3063A"/>
          </a:solidFill>
          <a:ln>
            <a:solidFill>
              <a:srgbClr val="E30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6484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Transmettre vite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041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Bons virtuels, documents, photos et alertes vers le siège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 w="1143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648456"/>
            <a:ext cx="438912" cy="438912"/>
          </a:xfrm>
          <a:prstGeom prst="ellipse">
            <a:avLst/>
          </a:prstGeom>
          <a:solidFill>
            <a:srgbClr val="E3063A"/>
          </a:solidFill>
          <a:ln>
            <a:solidFill>
              <a:srgbClr val="E30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6484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Piloter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4041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Heures, prestations, incidents, avancement et rentabilité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14400" y="5193792"/>
            <a:ext cx="10241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Point d’attention : le projet doit permettre de réduire le délai entre réalisation, validation et préparation de la facturation.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profils utilisateurs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Valider qui utilise la solution, pour quoi faire, avec quelle volumétrie et quel niveau de droits.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solidFill>
            <a:srgbClr val="2B2B2B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116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70632" y="20116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874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0116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Usage attendu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5752" y="2011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Volumétrie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72600" y="1874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4688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Ouvriers terrain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770632" y="2468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Mobile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97480" y="23317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4688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Saisie tâches, heures, incidents, photos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43400" y="23317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4688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~100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372600" y="23317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9260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Chefs de chantier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770632" y="29260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Mobile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97480" y="27889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29260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Suivi tâches, équipe, corrections terrain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343400" y="27889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29260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À préciser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372600" y="27889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3832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Conducteurs de travaux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2770632" y="33832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Mobile / Bureau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697480" y="32461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33832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Avancement, planning, rentabilité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43400" y="32461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45752" y="33832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À préciser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372600" y="32461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38404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Comptabilité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2770632" y="38404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Bureau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2697480" y="37033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38404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Contrôle, export, préparation facturation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4343400" y="37033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45752" y="38404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À préciser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9372600" y="37033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29768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Direction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2770632" y="42976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Bureau / Mobile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2697480" y="4160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16552" y="42976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Consultation résultats et KPI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4343400" y="4160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45752" y="4297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B2B"/>
                </a:solidFill>
              </a:rPr>
              <a:t>À préciser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9372600" y="4160520"/>
            <a:ext cx="0" cy="45720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Sortie attendue : une liste validée des profils, du nombre d’utilisateurs et des tâches principales par profil.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droits et volumétrie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Sécuriser les accès et dimensionner correctement la future solution.</a:t>
            </a:r>
            <a:endParaRPr lang="en-US" sz="1350" dirty="0"/>
          </a:p>
        </p:txBody>
      </p:sp>
      <p:pic>
        <p:nvPicPr>
          <p:cNvPr id="7" name="Image 0" descr="/mnt/data/a_wide_realistic_office_meeting_room_scene_with_a.png">    </p:cNvPr>
          <p:cNvPicPr>
            <a:picLocks noChangeAspect="1"/>
          </p:cNvPicPr>
          <p:nvPr/>
        </p:nvPicPr>
        <p:blipFill>
          <a:blip r:embed="rId1"/>
          <a:srcRect l="5000" r="20191" t="10000" b="10000"/>
          <a:stretch/>
        </p:blipFill>
        <p:spPr>
          <a:xfrm>
            <a:off x="6583680" y="1600200"/>
            <a:ext cx="4937760" cy="297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063A"/>
                </a:solidFill>
              </a:rPr>
              <a:t>QUESTIONS À TRANCHER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130552"/>
            <a:ext cx="52578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B2B"/>
                </a:solidFill>
              </a:rPr>
              <a:t>• Qui voit tous les chantiers ou uniquement ses chantiers affectés ?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B2B2B"/>
                </a:solidFill>
              </a:rPr>
              <a:t>• Qui peut modifier les heures ou prestations d’un autre collaborateur ?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B2B2B"/>
                </a:solidFill>
              </a:rPr>
              <a:t>• Qui valide les rapports : chef, conducteur, comptabilité ?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B2B2B"/>
                </a:solidFill>
              </a:rPr>
              <a:t>• Quels profils accèdent aux tarifs, marges et tableaux de bord ?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B2B2B"/>
                </a:solidFill>
              </a:rPr>
              <a:t>• Quelle croissance prévoir sur 3 ans : utilisateurs, chantiers, photos ?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10241280" cy="420624"/>
          </a:xfrm>
          <a:prstGeom prst="rect">
            <a:avLst/>
          </a:prstGeom>
          <a:solidFill>
            <a:srgbClr val="FBE7EC"/>
          </a:solidFill>
          <a:ln>
            <a:solidFill>
              <a:srgbClr val="FBE7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Droits optionnels à ce stade : ils peuvent rester en hypothèses, mais doivent être identifiés avant consultation finale.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parcours actuel de la donnée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Mettre à plat le fonctionnement papier afin de repérer les délais, ressaisies et points de perte d’information.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Terrain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Carnet papier complété quotidiennement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212848" y="2578608"/>
            <a:ext cx="25603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4436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Collecte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Récupération physique mensuelle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087368" y="2578608"/>
            <a:ext cx="25603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888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Siège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Centralisation et contrôle manuel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961888" y="2578608"/>
            <a:ext cx="25603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9340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Ressaisie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9340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Saisie administrative / consolidation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836408" y="2578608"/>
            <a:ext cx="25603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302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6792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Facturation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6792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Préparation tardive des éléments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9710928" y="2578608"/>
            <a:ext cx="25603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966960" y="214884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67544" y="2295144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67544" y="23317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42448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Pilotage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442448" y="25328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Vision retardée des chantiers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960120" y="4160520"/>
            <a:ext cx="10195560" cy="301752"/>
          </a:xfrm>
          <a:prstGeom prst="rect">
            <a:avLst/>
          </a:prstGeom>
          <a:solidFill>
            <a:srgbClr val="2B2B2B"/>
          </a:solidFill>
          <a:ln>
            <a:solidFill>
              <a:srgbClr val="2B2B2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Risques : pertes • illisibilité • double saisie • délai facturation • manque de visibilité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Sortie attendue : parcours actuel validé + points de friction à traiter en priorité.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parcours cible de la donnée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Définir le circuit attendu de bout en bout, sans aller jusqu’à la facturation dans les cas de test.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Bureau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Création chantier + affectation équipe / tâches / matériel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212848" y="2514600"/>
            <a:ext cx="256032" cy="0"/>
          </a:xfrm>
          <a:prstGeom prst="line">
            <a:avLst/>
          </a:prstGeom>
          <a:noFill/>
          <a:ln w="15240">
            <a:solidFill>
              <a:srgbClr val="E306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4436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Mobile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Consultation chantier, planning et consignes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087368" y="2514600"/>
            <a:ext cx="256032" cy="0"/>
          </a:xfrm>
          <a:prstGeom prst="line">
            <a:avLst/>
          </a:prstGeom>
          <a:noFill/>
          <a:ln w="15240">
            <a:solidFill>
              <a:srgbClr val="E306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888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Terrain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Saisie heures, prestations, photos et incidents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961888" y="2514600"/>
            <a:ext cx="256032" cy="0"/>
          </a:xfrm>
          <a:prstGeom prst="line">
            <a:avLst/>
          </a:prstGeom>
          <a:noFill/>
          <a:ln w="15240">
            <a:solidFill>
              <a:srgbClr val="E306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9340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Sync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9340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Transmission au retour réseau si mode déconnecté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836408" y="2514600"/>
            <a:ext cx="256032" cy="0"/>
          </a:xfrm>
          <a:prstGeom prst="line">
            <a:avLst/>
          </a:prstGeom>
          <a:noFill/>
          <a:ln w="15240">
            <a:solidFill>
              <a:srgbClr val="E306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302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6792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6792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Contrôle chef / conducteur / comptabilité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9710928" y="2514600"/>
            <a:ext cx="256032" cy="0"/>
          </a:xfrm>
          <a:prstGeom prst="line">
            <a:avLst/>
          </a:prstGeom>
          <a:noFill/>
          <a:ln w="15240">
            <a:solidFill>
              <a:srgbClr val="E3063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966960" y="2084832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67544" y="2231136"/>
            <a:ext cx="292608" cy="292608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67544" y="2267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42448" y="21945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Export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442448" y="24688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C6C6C"/>
                </a:solidFill>
              </a:rPr>
              <a:t>Données validées prêtes pour SI / facturation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Statuts à préciser : Brouillon → Transmis → À contrôler → À corriger → Validé → Exporté → Verrouillé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51560" y="4892040"/>
            <a:ext cx="10012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6C6C6C"/>
                </a:solidFill>
              </a:rPr>
              <a:t>Point de cadrage : le périmètre des cas de test couvre tout le parcours de la donnée, mais s’arrête avant l’émission réelle de la facture.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fonctionnalités terrain et bureau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Lister, compléter et reformuler les attendus fonctionnels avec les utilisateurs concernés.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4892040" cy="3200400"/>
          </a:xfrm>
          <a:prstGeom prst="roundRect">
            <a:avLst>
              <a:gd name="adj" fmla="val 2571"/>
            </a:avLst>
          </a:prstGeom>
          <a:solidFill>
            <a:srgbClr val="FBE7EC"/>
          </a:solidFill>
          <a:ln w="12700">
            <a:solidFill>
              <a:srgbClr val="F1B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063A"/>
                </a:solidFill>
              </a:rPr>
              <a:t>Terrain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560" y="2596896"/>
            <a:ext cx="425196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Accès simple aux chantiers affectés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Formulaires adaptés par chantier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Saisie heures / tâches / incidents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Photos, documents, signature, géolocalisation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Planning individuel et équipe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Alertes et notifications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4892040" cy="3200400"/>
          </a:xfrm>
          <a:prstGeom prst="roundRect">
            <a:avLst>
              <a:gd name="adj" fmla="val 2571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</a:rPr>
              <a:t>Bureau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596896"/>
            <a:ext cx="425196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Gestion chantiers, utilisateurs, équipes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Référentiels, articles, tâches, tarifs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Planning et affectations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Collecte et validation des données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Tableaux de bord, KPI, exports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B2B2B"/>
                </a:solidFill>
              </a:rPr>
              <a:t>• Workflows, API, historisation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Sortie attendue : liste fonctionnelle validée par le terrain et le siège, sans ambiguïté de vocabulaire.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pondération des fonctionnalités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Distinguer les exigences bloquantes, les attendus importants et les options confort.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0378440" cy="530352"/>
          </a:xfrm>
          <a:prstGeom prst="roundRect">
            <a:avLst>
              <a:gd name="adj" fmla="val 12069"/>
            </a:avLst>
          </a:prstGeom>
          <a:solidFill>
            <a:srgbClr val="FBE7EC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20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3063A"/>
                </a:solidFill>
              </a:rPr>
              <a:t>Impératif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154680" y="192024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C6C6C"/>
                </a:solidFill>
              </a:rPr>
              <a:t>Indispensable au démarrage. Non-couverture = risque d’exclusion.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103784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Fortement souhaité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72491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C6C6C"/>
                </a:solidFill>
              </a:rPr>
              <a:t>Très important, mais une solution alternative peut être étudiée.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68680" y="3392424"/>
            <a:ext cx="103784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5295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Souhaité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54680" y="3529584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C6C6C"/>
                </a:solidFill>
              </a:rPr>
              <a:t>Utile pour améliorer l’usage ou le pilotage, sans être bloquant.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68680" y="4197096"/>
            <a:ext cx="103784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342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Optionnel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154680" y="4334256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C6C6C"/>
                </a:solidFill>
              </a:rPr>
              <a:t>À conserver pour arbitrage budgétaire ou lot ultérieur.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68680" y="5157216"/>
            <a:ext cx="10378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</a:rPr>
              <a:t>Pour chaque critère, la réponse éditeur devra préciser : Native • Paramétrable • Optionnelle • Spécifique • Non disponible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rédaction des cas de test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Préparer au minimum deux scénarios concrets, représentatifs du quotidien Trifault.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BE7EC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4832"/>
            <a:ext cx="822960" cy="301752"/>
          </a:xfrm>
          <a:prstGeom prst="rect">
            <a:avLst/>
          </a:prstGeom>
          <a:solidFill>
            <a:srgbClr val="E3063A"/>
          </a:solidFill>
          <a:ln>
            <a:solidFill>
              <a:srgbClr val="E3063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25420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Journée chantier standard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2999232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Le siège crée le chantier, affecte une équipe, le collaborateur saisit heures / prestations / photos, puis le responsable valide.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6F6F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084832"/>
            <a:ext cx="822960" cy="301752"/>
          </a:xfrm>
          <a:prstGeom prst="rect">
            <a:avLst/>
          </a:prstGeom>
          <a:solidFill>
            <a:srgbClr val="E3063A"/>
          </a:solidFill>
          <a:ln>
            <a:solidFill>
              <a:srgbClr val="E3063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420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Incident + mode déconnecté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56248" y="2999232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C6C6C"/>
                </a:solidFill>
              </a:rPr>
              <a:t>Le collaborateur intervient sans réseau, remplit son rapport, ajoute un incident avec photo, puis synchronise au retour réseau.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063A"/>
                </a:solidFill>
              </a:rPr>
              <a:t>RÈGLE DE DÉMONSTRATION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98755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B2B2B"/>
                </a:solidFill>
              </a:rPr>
              <a:t>• Utiliser un vrai modèle de bon Trifault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B2B2B"/>
                </a:solidFill>
              </a:rPr>
              <a:t>• Couvrir le parcours complet de la donnée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B2B2B"/>
                </a:solidFill>
              </a:rPr>
              <a:t>• S’arrêter avant l’émission réelle de la facture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B2B2B"/>
                </a:solidFill>
              </a:rPr>
              <a:t>• Exiger une démonstration dans l’outil, pas uniquement une explication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Solutions auditées par le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Positionnement général des solutions identifiées au regard du besoin exprimé.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47088"/>
            <a:ext cx="3337560" cy="9144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66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Kizeo Forms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C6C6C"/>
                </a:solidFill>
              </a:rPr>
              <a:t>Formulaires terrain / collecte de données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07992" y="1847088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847088"/>
            <a:ext cx="3337560" cy="9144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066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Alobees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C6C6C"/>
                </a:solidFill>
              </a:rPr>
              <a:t>Planning, équipes, heures et suivi chantier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302752" y="1847088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1847088"/>
            <a:ext cx="3337560" cy="9144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66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Fieldwire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5632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C6C6C"/>
                </a:solidFill>
              </a:rPr>
              <a:t>Plans, tâches, suivi opérationnel chantier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1828800" y="3703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03320"/>
            <a:ext cx="4023360" cy="9144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Kraaft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1168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C6C6C"/>
                </a:solidFill>
              </a:rPr>
              <a:t>Communication terrain, rapports, API et mobilité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92240" y="3703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703320"/>
            <a:ext cx="4023360" cy="9144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ProGBat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C6C6C"/>
                </a:solidFill>
              </a:rPr>
              <a:t>ERP BTP : devis, facturation, rentabilité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Objectif : partager le panorama, puis converger vers une shortlist cohérente avec le CDC et les scénarios de 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Shortlist proposée : Alobees et Kraaft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Deux solutions orientées terrain, adaptées à une dématérialisation progressive du suivi de chantier.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846320" cy="2926080"/>
          </a:xfrm>
          <a:prstGeom prst="roundRect">
            <a:avLst>
              <a:gd name="adj" fmla="val 3125"/>
            </a:avLst>
          </a:prstGeom>
          <a:solidFill>
            <a:srgbClr val="FBE7EC"/>
          </a:solidFill>
          <a:ln w="12700">
            <a:solidFill>
              <a:srgbClr val="F1B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3A"/>
                </a:solidFill>
              </a:rPr>
              <a:t>Alobees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4160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Très orienté BTP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Planning, équipes et feuilles d’heures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Circuit de validation structurant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Bon compromis terrain / bureau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1234440" y="4251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i="1" dirty="0">
                <a:solidFill>
                  <a:srgbClr val="6C6C6C"/>
                </a:solidFill>
              </a:rPr>
              <a:t>À valider : souplesse des formulaires, API, mode déconnecté et coûts associés.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46320" cy="2926080"/>
          </a:xfrm>
          <a:prstGeom prst="roundRect">
            <a:avLst>
              <a:gd name="adj" fmla="val 31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</a:rPr>
              <a:t>Kraaft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20840" y="2697480"/>
            <a:ext cx="4160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Très fort sur la communication terrain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Rapports et formulaires structurés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Approche mobile-first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B2B2B"/>
                </a:solidFill>
              </a:rPr>
              <a:t>• Ouverture API / automatisations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6720840" y="4251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i="1" dirty="0">
                <a:solidFill>
                  <a:srgbClr val="6C6C6C"/>
                </a:solidFill>
              </a:rPr>
              <a:t>À valider : niveau de paramétrage, tableaux de bord, facturation indirecte et sécurité contractuelle.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Décision attendue : confirmer la shortlist avant envoi de la matrice et des scénarios aux éditeurs.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attendue et calendrier de consultation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Définir les décisions à prendre en fin de matinée et les prochaines étapes.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1911096"/>
            <a:ext cx="256032" cy="256032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2167128"/>
            <a:ext cx="0" cy="5669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47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Aujourd’hui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49040" y="184708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</a:rPr>
              <a:t>Validation profils, parcours, fonctionnalités et cas de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2715768"/>
            <a:ext cx="256032" cy="256032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" y="2971800"/>
            <a:ext cx="0" cy="5669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J + 1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49040" y="265176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</a:rPr>
              <a:t>Finalisation CDC, matrice et scénario de démonstration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256032" cy="256032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" y="3776472"/>
            <a:ext cx="0" cy="5669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4564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Semaine suivante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49040" y="345643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</a:rPr>
              <a:t>Envoi à la shortlist et délai de réponse souhaité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4325112"/>
            <a:ext cx="256032" cy="256032"/>
          </a:xfrm>
          <a:prstGeom prst="ellipse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</a:rPr>
              <a:t>Après réponses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49040" y="426110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</a:rPr>
              <a:t>Analyse matrices, visios de démonstration et arbitrage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5303520"/>
            <a:ext cx="10195560" cy="347472"/>
          </a:xfrm>
          <a:prstGeom prst="rect">
            <a:avLst/>
          </a:prstGeom>
          <a:solidFill>
            <a:srgbClr val="FBE7EC"/>
          </a:solidFill>
          <a:ln>
            <a:solidFill>
              <a:srgbClr val="FBE7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</a:rPr>
              <a:t>À fixer avec le client : date limite de réponse écrite, date des démonstrations, participants attendus et mode de décision.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201168" cy="201168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FITECO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Accompagnement proposé par FITECO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77240" cy="54864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C6C"/>
                </a:solidFill>
              </a:rPr>
              <a:t>Sécuriser la consultation et transformer le besoin métier en choix logiciel objectivé.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28800"/>
            <a:ext cx="54864" cy="96012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75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Structurer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Formalisation CDC, matrice pondérée, critères de réponse éditeurs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28800"/>
            <a:ext cx="54864" cy="960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975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Comparer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4808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Analyse des réponses, identification des écarts, synthèse objective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246120"/>
            <a:ext cx="54864" cy="960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392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Tester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72160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Préparation des scénarios et animation des démonstrations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246120"/>
            <a:ext cx="54864" cy="960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392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Décider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372160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</a:rPr>
              <a:t>Aide à l’arbitrage, plan de déploiement et points de vigilance contractuels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Conclusion de la matinée : obtenir une vision claire du besoin, des critères de décision et du calendrier de consultation.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3063A"/>
          </a:solidFill>
          <a:ln w="12700">
            <a:solidFill>
              <a:srgbClr val="E30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85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FITECO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Décisions à confirmer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120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3F3"/>
                </a:solidFill>
              </a:rPr>
              <a:t>1. Profils et volumétrie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3F3"/>
                </a:solidFill>
              </a:rPr>
              <a:t>2. Parcours cible de la donnée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3F3"/>
                </a:solidFill>
              </a:rPr>
              <a:t>3. Fonctionnalités impératives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3F3"/>
                </a:solidFill>
              </a:rPr>
              <a:t>4. Cas de test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3F3"/>
                </a:solidFill>
              </a:rPr>
              <a:t>5. Shortlist et calendrier</a:t>
            </a:r>
            <a:endParaRPr lang="en-US" sz="1800" dirty="0"/>
          </a:p>
        </p:txBody>
      </p:sp>
      <p:pic>
        <p:nvPicPr>
          <p:cNvPr id="7" name="Image 0" descr="/mnt/data/a_wide_realistic_office_meeting_room_scene_with_a.png">    </p:cNvPr>
          <p:cNvPicPr>
            <a:picLocks noChangeAspect="1"/>
          </p:cNvPicPr>
          <p:nvPr/>
        </p:nvPicPr>
        <p:blipFill>
          <a:blip r:embed="rId1"/>
          <a:srcRect l="22000" r="31976" t="4000" b="4000"/>
          <a:stretch/>
        </p:blipFill>
        <p:spPr>
          <a:xfrm>
            <a:off x="6583680" y="731520"/>
            <a:ext cx="475488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FITECO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Trifault - Dématérialisation du suivi de chantier</dc:title>
  <dc:subject>Présentation atelier dématérialisation suivi de chantier Trifault</dc:subject>
  <dc:creator>OpenAI</dc:creator>
  <cp:lastModifiedBy>OpenAI</cp:lastModifiedBy>
  <cp:revision>1</cp:revision>
  <dcterms:created xsi:type="dcterms:W3CDTF">2026-09-16T15:17:42Z</dcterms:created>
  <dcterms:modified xsi:type="dcterms:W3CDTF">2026-09-16T15:17:42Z</dcterms:modified>
</cp:coreProperties>
</file>