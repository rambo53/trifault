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ink/ink1.xml" ContentType="application/inkml+xml"/>
  <Override PartName="/ppt/notesSlides/notesSlide34.xml" ContentType="application/vnd.openxmlformats-officedocument.presentationml.notesSlide+xml"/>
  <Override PartName="/ppt/ink/ink2.xml" ContentType="application/inkml+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56"/>
  </p:notesMasterIdLst>
  <p:sldIdLst>
    <p:sldId id="279" r:id="rId5"/>
    <p:sldId id="259" r:id="rId6"/>
    <p:sldId id="693" r:id="rId7"/>
    <p:sldId id="695" r:id="rId8"/>
    <p:sldId id="718" r:id="rId9"/>
    <p:sldId id="1582" r:id="rId10"/>
    <p:sldId id="1597" r:id="rId11"/>
    <p:sldId id="1583" r:id="rId12"/>
    <p:sldId id="1566" r:id="rId13"/>
    <p:sldId id="1596" r:id="rId14"/>
    <p:sldId id="1598" r:id="rId15"/>
    <p:sldId id="1571" r:id="rId16"/>
    <p:sldId id="1567" r:id="rId17"/>
    <p:sldId id="696" r:id="rId18"/>
    <p:sldId id="1451" r:id="rId19"/>
    <p:sldId id="795" r:id="rId20"/>
    <p:sldId id="1557" r:id="rId21"/>
    <p:sldId id="1558" r:id="rId22"/>
    <p:sldId id="1560" r:id="rId23"/>
    <p:sldId id="1576" r:id="rId24"/>
    <p:sldId id="861" r:id="rId25"/>
    <p:sldId id="858" r:id="rId26"/>
    <p:sldId id="1573" r:id="rId27"/>
    <p:sldId id="1575" r:id="rId28"/>
    <p:sldId id="1580" r:id="rId29"/>
    <p:sldId id="1577" r:id="rId30"/>
    <p:sldId id="1565" r:id="rId31"/>
    <p:sldId id="719" r:id="rId32"/>
    <p:sldId id="725" r:id="rId33"/>
    <p:sldId id="796" r:id="rId34"/>
    <p:sldId id="797" r:id="rId35"/>
    <p:sldId id="729" r:id="rId36"/>
    <p:sldId id="798" r:id="rId37"/>
    <p:sldId id="1523" r:id="rId38"/>
    <p:sldId id="1569" r:id="rId39"/>
    <p:sldId id="1584" r:id="rId40"/>
    <p:sldId id="1586" r:id="rId41"/>
    <p:sldId id="1587" r:id="rId42"/>
    <p:sldId id="1588" r:id="rId43"/>
    <p:sldId id="1449" r:id="rId44"/>
    <p:sldId id="1585" r:id="rId45"/>
    <p:sldId id="1450" r:id="rId46"/>
    <p:sldId id="810" r:id="rId47"/>
    <p:sldId id="799" r:id="rId48"/>
    <p:sldId id="1591" r:id="rId49"/>
    <p:sldId id="800" r:id="rId50"/>
    <p:sldId id="1555" r:id="rId51"/>
    <p:sldId id="1593" r:id="rId52"/>
    <p:sldId id="1592" r:id="rId53"/>
    <p:sldId id="726" r:id="rId54"/>
    <p:sldId id="276" r:id="rId55"/>
  </p:sldIdLst>
  <p:sldSz cx="12192000" cy="6858000"/>
  <p:notesSz cx="6669088" cy="9926638"/>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C2028AB8-FC6D-316B-9D57-6062136B549F}" name="MONTEMBAULT Laure" initials="LM" userId="S::l.montembault@fiteco.com::d4021d2b-9ab9-4f67-b2f8-3b19c182036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4003A"/>
    <a:srgbClr val="FFFFFF"/>
    <a:srgbClr val="5D152C"/>
    <a:srgbClr val="68BBB4"/>
    <a:srgbClr val="555553"/>
    <a:srgbClr val="EE704D"/>
    <a:srgbClr val="F5F5F5"/>
    <a:srgbClr val="FAF9FE"/>
    <a:srgbClr val="99A5D7"/>
    <a:srgbClr val="4174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E789B5A-157D-4970-F81F-E8655B0099C6}" v="2" dt="2026-07-15T13:36:23.244"/>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7" d="100"/>
          <a:sy n="67" d="100"/>
        </p:scale>
        <p:origin x="98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viewProps" Target="viewProps.xml"/><Relationship Id="rId5" Type="http://schemas.openxmlformats.org/officeDocument/2006/relationships/slide" Target="slides/slide1.xml"/><Relationship Id="rId61" Type="http://schemas.microsoft.com/office/2016/11/relationships/changesInfo" Target="changesInfos/changesInfo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presProps" Target="pres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IOL Lucile" userId="S::lu.fiol@fiteco.com::778d51e7-5060-41a7-a923-b51ba3a4c523" providerId="AD" clId="Web-{F3C39A1F-4907-49B2-9188-B5E7F901939F}"/>
    <pc:docChg chg="addSld modSld sldOrd">
      <pc:chgData name="FIOL Lucile" userId="S::lu.fiol@fiteco.com::778d51e7-5060-41a7-a923-b51ba3a4c523" providerId="AD" clId="Web-{F3C39A1F-4907-49B2-9188-B5E7F901939F}" dt="2026-06-16T07:48:33.865" v="87"/>
      <pc:docMkLst>
        <pc:docMk/>
      </pc:docMkLst>
      <pc:sldChg chg="addSp delSp modSp modNotes">
        <pc:chgData name="FIOL Lucile" userId="S::lu.fiol@fiteco.com::778d51e7-5060-41a7-a923-b51ba3a4c523" providerId="AD" clId="Web-{F3C39A1F-4907-49B2-9188-B5E7F901939F}" dt="2026-06-16T07:46:11.579" v="46"/>
        <pc:sldMkLst>
          <pc:docMk/>
          <pc:sldMk cId="1661632402" sldId="1586"/>
        </pc:sldMkLst>
        <pc:spChg chg="mod">
          <ac:chgData name="FIOL Lucile" userId="S::lu.fiol@fiteco.com::778d51e7-5060-41a7-a923-b51ba3a4c523" providerId="AD" clId="Web-{F3C39A1F-4907-49B2-9188-B5E7F901939F}" dt="2026-06-16T07:45:16.343" v="8" actId="1076"/>
          <ac:spMkLst>
            <pc:docMk/>
            <pc:sldMk cId="1661632402" sldId="1586"/>
            <ac:spMk id="10" creationId="{6D1247CA-1922-7A30-944F-982ECCB91D3D}"/>
          </ac:spMkLst>
        </pc:spChg>
        <pc:picChg chg="add mod">
          <ac:chgData name="FIOL Lucile" userId="S::lu.fiol@fiteco.com::778d51e7-5060-41a7-a923-b51ba3a4c523" providerId="AD" clId="Web-{F3C39A1F-4907-49B2-9188-B5E7F901939F}" dt="2026-06-16T07:45:00.639" v="3" actId="14100"/>
          <ac:picMkLst>
            <pc:docMk/>
            <pc:sldMk cId="1661632402" sldId="1586"/>
            <ac:picMk id="7" creationId="{767BEDEE-D375-C1D6-EFBF-9255129EE1B2}"/>
          </ac:picMkLst>
        </pc:picChg>
        <pc:picChg chg="mod">
          <ac:chgData name="FIOL Lucile" userId="S::lu.fiol@fiteco.com::778d51e7-5060-41a7-a923-b51ba3a4c523" providerId="AD" clId="Web-{F3C39A1F-4907-49B2-9188-B5E7F901939F}" dt="2026-06-16T07:45:04.514" v="4" actId="1076"/>
          <ac:picMkLst>
            <pc:docMk/>
            <pc:sldMk cId="1661632402" sldId="1586"/>
            <ac:picMk id="14" creationId="{DE3E2FFF-C492-AEEE-4FC8-ACD3E57CFEE6}"/>
          </ac:picMkLst>
        </pc:picChg>
      </pc:sldChg>
      <pc:sldChg chg="addSp delSp modSp">
        <pc:chgData name="FIOL Lucile" userId="S::lu.fiol@fiteco.com::778d51e7-5060-41a7-a923-b51ba3a4c523" providerId="AD" clId="Web-{F3C39A1F-4907-49B2-9188-B5E7F901939F}" dt="2026-06-16T07:48:20.318" v="79"/>
        <pc:sldMkLst>
          <pc:docMk/>
          <pc:sldMk cId="220347103" sldId="1587"/>
        </pc:sldMkLst>
        <pc:picChg chg="add mod">
          <ac:chgData name="FIOL Lucile" userId="S::lu.fiol@fiteco.com::778d51e7-5060-41a7-a923-b51ba3a4c523" providerId="AD" clId="Web-{F3C39A1F-4907-49B2-9188-B5E7F901939F}" dt="2026-06-16T07:46:46.002" v="53" actId="1076"/>
          <ac:picMkLst>
            <pc:docMk/>
            <pc:sldMk cId="220347103" sldId="1587"/>
            <ac:picMk id="10" creationId="{C9E35375-C79F-25C8-D05D-CCC70DF4D772}"/>
          </ac:picMkLst>
        </pc:picChg>
        <pc:picChg chg="add mod">
          <ac:chgData name="FIOL Lucile" userId="S::lu.fiol@fiteco.com::778d51e7-5060-41a7-a923-b51ba3a4c523" providerId="AD" clId="Web-{F3C39A1F-4907-49B2-9188-B5E7F901939F}" dt="2026-06-16T07:47:05.128" v="56" actId="1076"/>
          <ac:picMkLst>
            <pc:docMk/>
            <pc:sldMk cId="220347103" sldId="1587"/>
            <ac:picMk id="11" creationId="{A6571673-54B1-75EA-DDB3-F5FAC209FA5B}"/>
          </ac:picMkLst>
        </pc:picChg>
        <pc:inkChg chg="add">
          <ac:chgData name="FIOL Lucile" userId="S::lu.fiol@fiteco.com::778d51e7-5060-41a7-a923-b51ba3a4c523" providerId="AD" clId="Web-{F3C39A1F-4907-49B2-9188-B5E7F901939F}" dt="2026-06-16T07:48:20.318" v="79"/>
          <ac:inkMkLst>
            <pc:docMk/>
            <pc:sldMk cId="220347103" sldId="1587"/>
            <ac:inkMk id="21" creationId="{7620E3F6-6B1C-705C-5903-856844D1B848}"/>
          </ac:inkMkLst>
        </pc:inkChg>
      </pc:sldChg>
      <pc:sldChg chg="addSp delSp add ord replId">
        <pc:chgData name="FIOL Lucile" userId="S::lu.fiol@fiteco.com::778d51e7-5060-41a7-a923-b51ba3a4c523" providerId="AD" clId="Web-{F3C39A1F-4907-49B2-9188-B5E7F901939F}" dt="2026-06-16T07:48:33.865" v="87"/>
        <pc:sldMkLst>
          <pc:docMk/>
          <pc:sldMk cId="3313148241" sldId="1588"/>
        </pc:sldMkLst>
      </pc:sldChg>
    </pc:docChg>
  </pc:docChgLst>
  <pc:docChgLst>
    <pc:chgData name="Guest User" userId="S::urn:spo:tenantanon#c91606e4-f272-4d31-bbfc-820bba825ea5::" providerId="AD" clId="Web-{9589F492-6815-CF88-9445-F6D91030578D}"/>
    <pc:docChg chg="modSld">
      <pc:chgData name="Guest User" userId="S::urn:spo:tenantanon#c91606e4-f272-4d31-bbfc-820bba825ea5::" providerId="AD" clId="Web-{9589F492-6815-CF88-9445-F6D91030578D}" dt="2026-06-25T08:27:38.630" v="0" actId="20577"/>
      <pc:docMkLst>
        <pc:docMk/>
      </pc:docMkLst>
      <pc:sldChg chg="modSp">
        <pc:chgData name="Guest User" userId="S::urn:spo:tenantanon#c91606e4-f272-4d31-bbfc-820bba825ea5::" providerId="AD" clId="Web-{9589F492-6815-CF88-9445-F6D91030578D}" dt="2026-06-25T08:27:38.630" v="0" actId="20577"/>
        <pc:sldMkLst>
          <pc:docMk/>
          <pc:sldMk cId="1611006643" sldId="718"/>
        </pc:sldMkLst>
        <pc:spChg chg="mod">
          <ac:chgData name="Guest User" userId="S::urn:spo:tenantanon#c91606e4-f272-4d31-bbfc-820bba825ea5::" providerId="AD" clId="Web-{9589F492-6815-CF88-9445-F6D91030578D}" dt="2026-06-25T08:27:38.630" v="0" actId="20577"/>
          <ac:spMkLst>
            <pc:docMk/>
            <pc:sldMk cId="1611006643" sldId="718"/>
            <ac:spMk id="5" creationId="{90BC446B-146F-F675-18E0-69E1AC736CE9}"/>
          </ac:spMkLst>
        </pc:spChg>
      </pc:sldChg>
    </pc:docChg>
  </pc:docChgLst>
  <pc:docChgLst>
    <pc:chgData name="CIVET Annaig" userId="S::a.civet@fiteco.com::79765bbd-8b16-459a-bf48-ad0fdd5a89f1" providerId="AD" clId="Web-{E7B07F5C-7CDB-4258-A88F-B5F9813BD0DF}"/>
    <pc:docChg chg="delSld modSld">
      <pc:chgData name="CIVET Annaig" userId="S::a.civet@fiteco.com::79765bbd-8b16-459a-bf48-ad0fdd5a89f1" providerId="AD" clId="Web-{E7B07F5C-7CDB-4258-A88F-B5F9813BD0DF}" dt="2026-06-29T10:23:52.161" v="551"/>
      <pc:docMkLst>
        <pc:docMk/>
      </pc:docMkLst>
      <pc:sldChg chg="modNotes">
        <pc:chgData name="CIVET Annaig" userId="S::a.civet@fiteco.com::79765bbd-8b16-459a-bf48-ad0fdd5a89f1" providerId="AD" clId="Web-{E7B07F5C-7CDB-4258-A88F-B5F9813BD0DF}" dt="2026-06-29T10:23:52.161" v="551"/>
        <pc:sldMkLst>
          <pc:docMk/>
          <pc:sldMk cId="3450440071" sldId="695"/>
        </pc:sldMkLst>
      </pc:sldChg>
      <pc:sldChg chg="modNotes">
        <pc:chgData name="CIVET Annaig" userId="S::a.civet@fiteco.com::79765bbd-8b16-459a-bf48-ad0fdd5a89f1" providerId="AD" clId="Web-{E7B07F5C-7CDB-4258-A88F-B5F9813BD0DF}" dt="2026-06-29T10:21:48.536" v="452"/>
        <pc:sldMkLst>
          <pc:docMk/>
          <pc:sldMk cId="918224039" sldId="696"/>
        </pc:sldMkLst>
      </pc:sldChg>
      <pc:sldChg chg="modSp modNotes">
        <pc:chgData name="CIVET Annaig" userId="S::a.civet@fiteco.com::79765bbd-8b16-459a-bf48-ad0fdd5a89f1" providerId="AD" clId="Web-{E7B07F5C-7CDB-4258-A88F-B5F9813BD0DF}" dt="2026-06-29T10:12:09.646" v="180"/>
        <pc:sldMkLst>
          <pc:docMk/>
          <pc:sldMk cId="547153299" sldId="1566"/>
        </pc:sldMkLst>
        <pc:spChg chg="mod">
          <ac:chgData name="CIVET Annaig" userId="S::a.civet@fiteco.com::79765bbd-8b16-459a-bf48-ad0fdd5a89f1" providerId="AD" clId="Web-{E7B07F5C-7CDB-4258-A88F-B5F9813BD0DF}" dt="2026-06-29T10:11:46.334" v="178" actId="20577"/>
          <ac:spMkLst>
            <pc:docMk/>
            <pc:sldMk cId="547153299" sldId="1566"/>
            <ac:spMk id="3" creationId="{082AE675-6C7A-84A8-75D5-BB0B5E27DAB4}"/>
          </ac:spMkLst>
        </pc:spChg>
      </pc:sldChg>
      <pc:sldChg chg="modSp">
        <pc:chgData name="CIVET Annaig" userId="S::a.civet@fiteco.com::79765bbd-8b16-459a-bf48-ad0fdd5a89f1" providerId="AD" clId="Web-{E7B07F5C-7CDB-4258-A88F-B5F9813BD0DF}" dt="2026-06-29T10:21:27.114" v="450" actId="20577"/>
        <pc:sldMkLst>
          <pc:docMk/>
          <pc:sldMk cId="1527709142" sldId="1567"/>
        </pc:sldMkLst>
        <pc:spChg chg="mod">
          <ac:chgData name="CIVET Annaig" userId="S::a.civet@fiteco.com::79765bbd-8b16-459a-bf48-ad0fdd5a89f1" providerId="AD" clId="Web-{E7B07F5C-7CDB-4258-A88F-B5F9813BD0DF}" dt="2026-06-29T10:21:27.114" v="450" actId="20577"/>
          <ac:spMkLst>
            <pc:docMk/>
            <pc:sldMk cId="1527709142" sldId="1567"/>
            <ac:spMk id="6" creationId="{B6EDF01C-6354-8C8E-553A-1EE196F6F59B}"/>
          </ac:spMkLst>
        </pc:spChg>
      </pc:sldChg>
      <pc:sldChg chg="modSp modNotes">
        <pc:chgData name="CIVET Annaig" userId="S::a.civet@fiteco.com::79765bbd-8b16-459a-bf48-ad0fdd5a89f1" providerId="AD" clId="Web-{E7B07F5C-7CDB-4258-A88F-B5F9813BD0DF}" dt="2026-06-29T10:20:22.646" v="441"/>
        <pc:sldMkLst>
          <pc:docMk/>
          <pc:sldMk cId="571785858" sldId="1571"/>
        </pc:sldMkLst>
        <pc:spChg chg="mod">
          <ac:chgData name="CIVET Annaig" userId="S::a.civet@fiteco.com::79765bbd-8b16-459a-bf48-ad0fdd5a89f1" providerId="AD" clId="Web-{E7B07F5C-7CDB-4258-A88F-B5F9813BD0DF}" dt="2026-06-29T10:18:49.599" v="434" actId="20577"/>
          <ac:spMkLst>
            <pc:docMk/>
            <pc:sldMk cId="571785858" sldId="1571"/>
            <ac:spMk id="5" creationId="{22D74276-7D77-8C41-A29B-114BD0D08202}"/>
          </ac:spMkLst>
        </pc:spChg>
      </pc:sldChg>
      <pc:sldChg chg="modSp modNotes">
        <pc:chgData name="CIVET Annaig" userId="S::a.civet@fiteco.com::79765bbd-8b16-459a-bf48-ad0fdd5a89f1" providerId="AD" clId="Web-{E7B07F5C-7CDB-4258-A88F-B5F9813BD0DF}" dt="2026-06-29T10:10:14.193" v="163"/>
        <pc:sldMkLst>
          <pc:docMk/>
          <pc:sldMk cId="956406968" sldId="1583"/>
        </pc:sldMkLst>
        <pc:spChg chg="mod">
          <ac:chgData name="CIVET Annaig" userId="S::a.civet@fiteco.com::79765bbd-8b16-459a-bf48-ad0fdd5a89f1" providerId="AD" clId="Web-{E7B07F5C-7CDB-4258-A88F-B5F9813BD0DF}" dt="2026-06-29T10:09:56.771" v="161" actId="20577"/>
          <ac:spMkLst>
            <pc:docMk/>
            <pc:sldMk cId="956406968" sldId="1583"/>
            <ac:spMk id="5" creationId="{3BF86695-03CD-2001-8835-11CE8872E3E6}"/>
          </ac:spMkLst>
        </pc:spChg>
      </pc:sldChg>
      <pc:sldChg chg="addSp modSp modNotes">
        <pc:chgData name="CIVET Annaig" userId="S::a.civet@fiteco.com::79765bbd-8b16-459a-bf48-ad0fdd5a89f1" providerId="AD" clId="Web-{E7B07F5C-7CDB-4258-A88F-B5F9813BD0DF}" dt="2026-06-29T10:18:39.974" v="430" actId="1076"/>
        <pc:sldMkLst>
          <pc:docMk/>
          <pc:sldMk cId="643884977" sldId="1596"/>
        </pc:sldMkLst>
        <pc:spChg chg="mod">
          <ac:chgData name="CIVET Annaig" userId="S::a.civet@fiteco.com::79765bbd-8b16-459a-bf48-ad0fdd5a89f1" providerId="AD" clId="Web-{E7B07F5C-7CDB-4258-A88F-B5F9813BD0DF}" dt="2026-06-29T10:18:35.130" v="428" actId="20577"/>
          <ac:spMkLst>
            <pc:docMk/>
            <pc:sldMk cId="643884977" sldId="1596"/>
            <ac:spMk id="4" creationId="{E8881B14-ECAA-39DE-2F6F-13583621320C}"/>
          </ac:spMkLst>
        </pc:spChg>
      </pc:sldChg>
    </pc:docChg>
  </pc:docChgLst>
  <pc:docChgLst>
    <pc:chgData name="Guest User" userId="S::urn:spo:tenantanon#c91606e4-f272-4d31-bbfc-820bba825ea5::" providerId="AD" clId="Web-{E83E33E9-380F-E07D-E9D7-FDD085C691DB}"/>
    <pc:docChg chg="modSld">
      <pc:chgData name="Guest User" userId="S::urn:spo:tenantanon#c91606e4-f272-4d31-bbfc-820bba825ea5::" providerId="AD" clId="Web-{E83E33E9-380F-E07D-E9D7-FDD085C691DB}" dt="2026-06-30T14:39:31.900" v="10" actId="14100"/>
      <pc:docMkLst>
        <pc:docMk/>
      </pc:docMkLst>
      <pc:sldChg chg="addSp modSp">
        <pc:chgData name="Guest User" userId="S::urn:spo:tenantanon#c91606e4-f272-4d31-bbfc-820bba825ea5::" providerId="AD" clId="Web-{E83E33E9-380F-E07D-E9D7-FDD085C691DB}" dt="2026-06-30T14:39:31.900" v="10" actId="14100"/>
        <pc:sldMkLst>
          <pc:docMk/>
          <pc:sldMk cId="2649641721" sldId="276"/>
        </pc:sldMkLst>
        <pc:picChg chg="add mod">
          <ac:chgData name="Guest User" userId="S::urn:spo:tenantanon#c91606e4-f272-4d31-bbfc-820bba825ea5::" providerId="AD" clId="Web-{E83E33E9-380F-E07D-E9D7-FDD085C691DB}" dt="2026-06-30T14:39:31.900" v="10" actId="14100"/>
          <ac:picMkLst>
            <pc:docMk/>
            <pc:sldMk cId="2649641721" sldId="276"/>
            <ac:picMk id="3" creationId="{E928A363-22FF-F71F-9379-162648843199}"/>
          </ac:picMkLst>
        </pc:picChg>
      </pc:sldChg>
    </pc:docChg>
  </pc:docChgLst>
  <pc:docChgLst>
    <pc:chgData name="CIVET Annaig" userId="S::a.civet@fiteco.com::79765bbd-8b16-459a-bf48-ad0fdd5a89f1" providerId="AD" clId="Web-{371D07E7-188A-4858-9E47-796A28B95B18}"/>
    <pc:docChg chg="modSld">
      <pc:chgData name="CIVET Annaig" userId="S::a.civet@fiteco.com::79765bbd-8b16-459a-bf48-ad0fdd5a89f1" providerId="AD" clId="Web-{371D07E7-188A-4858-9E47-796A28B95B18}" dt="2026-06-30T14:08:12.287" v="853"/>
      <pc:docMkLst>
        <pc:docMk/>
      </pc:docMkLst>
      <pc:sldChg chg="modNotes">
        <pc:chgData name="CIVET Annaig" userId="S::a.civet@fiteco.com::79765bbd-8b16-459a-bf48-ad0fdd5a89f1" providerId="AD" clId="Web-{371D07E7-188A-4858-9E47-796A28B95B18}" dt="2026-06-30T13:27:11.486" v="31"/>
        <pc:sldMkLst>
          <pc:docMk/>
          <pc:sldMk cId="3450440071" sldId="695"/>
        </pc:sldMkLst>
      </pc:sldChg>
      <pc:sldChg chg="modNotes">
        <pc:chgData name="CIVET Annaig" userId="S::a.civet@fiteco.com::79765bbd-8b16-459a-bf48-ad0fdd5a89f1" providerId="AD" clId="Web-{371D07E7-188A-4858-9E47-796A28B95B18}" dt="2026-06-30T13:28:42.443" v="57"/>
        <pc:sldMkLst>
          <pc:docMk/>
          <pc:sldMk cId="1611006643" sldId="718"/>
        </pc:sldMkLst>
      </pc:sldChg>
      <pc:sldChg chg="modNotes">
        <pc:chgData name="CIVET Annaig" userId="S::a.civet@fiteco.com::79765bbd-8b16-459a-bf48-ad0fdd5a89f1" providerId="AD" clId="Web-{371D07E7-188A-4858-9E47-796A28B95B18}" dt="2026-06-30T13:57:03.589" v="445"/>
        <pc:sldMkLst>
          <pc:docMk/>
          <pc:sldMk cId="547153299" sldId="1566"/>
        </pc:sldMkLst>
      </pc:sldChg>
      <pc:sldChg chg="modNotes">
        <pc:chgData name="CIVET Annaig" userId="S::a.civet@fiteco.com::79765bbd-8b16-459a-bf48-ad0fdd5a89f1" providerId="AD" clId="Web-{371D07E7-188A-4858-9E47-796A28B95B18}" dt="2026-06-30T14:08:12.287" v="853"/>
        <pc:sldMkLst>
          <pc:docMk/>
          <pc:sldMk cId="1527709142" sldId="1567"/>
        </pc:sldMkLst>
      </pc:sldChg>
      <pc:sldChg chg="modNotes">
        <pc:chgData name="CIVET Annaig" userId="S::a.civet@fiteco.com::79765bbd-8b16-459a-bf48-ad0fdd5a89f1" providerId="AD" clId="Web-{371D07E7-188A-4858-9E47-796A28B95B18}" dt="2026-06-30T14:06:03.485" v="729"/>
        <pc:sldMkLst>
          <pc:docMk/>
          <pc:sldMk cId="571785858" sldId="1571"/>
        </pc:sldMkLst>
      </pc:sldChg>
      <pc:sldChg chg="modNotes">
        <pc:chgData name="CIVET Annaig" userId="S::a.civet@fiteco.com::79765bbd-8b16-459a-bf48-ad0fdd5a89f1" providerId="AD" clId="Web-{371D07E7-188A-4858-9E47-796A28B95B18}" dt="2026-06-30T13:30:47.213" v="95"/>
        <pc:sldMkLst>
          <pc:docMk/>
          <pc:sldMk cId="1242284759" sldId="1582"/>
        </pc:sldMkLst>
      </pc:sldChg>
      <pc:sldChg chg="addSp modSp modNotes">
        <pc:chgData name="CIVET Annaig" userId="S::a.civet@fiteco.com::79765bbd-8b16-459a-bf48-ad0fdd5a89f1" providerId="AD" clId="Web-{371D07E7-188A-4858-9E47-796A28B95B18}" dt="2026-06-30T13:52:10.249" v="406" actId="1076"/>
        <pc:sldMkLst>
          <pc:docMk/>
          <pc:sldMk cId="956406968" sldId="1583"/>
        </pc:sldMkLst>
        <pc:spChg chg="mod">
          <ac:chgData name="CIVET Annaig" userId="S::a.civet@fiteco.com::79765bbd-8b16-459a-bf48-ad0fdd5a89f1" providerId="AD" clId="Web-{371D07E7-188A-4858-9E47-796A28B95B18}" dt="2026-06-30T13:52:08.452" v="405" actId="20577"/>
          <ac:spMkLst>
            <pc:docMk/>
            <pc:sldMk cId="956406968" sldId="1583"/>
            <ac:spMk id="5" creationId="{3BF86695-03CD-2001-8835-11CE8872E3E6}"/>
          </ac:spMkLst>
        </pc:spChg>
        <pc:picChg chg="add mod">
          <ac:chgData name="CIVET Annaig" userId="S::a.civet@fiteco.com::79765bbd-8b16-459a-bf48-ad0fdd5a89f1" providerId="AD" clId="Web-{371D07E7-188A-4858-9E47-796A28B95B18}" dt="2026-06-30T13:52:10.249" v="406" actId="1076"/>
          <ac:picMkLst>
            <pc:docMk/>
            <pc:sldMk cId="956406968" sldId="1583"/>
            <ac:picMk id="2" creationId="{D18C6E3C-5021-EFCE-983C-2D70257E3C04}"/>
          </ac:picMkLst>
        </pc:picChg>
      </pc:sldChg>
      <pc:sldChg chg="modNotes">
        <pc:chgData name="CIVET Annaig" userId="S::a.civet@fiteco.com::79765bbd-8b16-459a-bf48-ad0fdd5a89f1" providerId="AD" clId="Web-{371D07E7-188A-4858-9E47-796A28B95B18}" dt="2026-06-30T13:31:48.685" v="137"/>
        <pc:sldMkLst>
          <pc:docMk/>
          <pc:sldMk cId="1349178301" sldId="1597"/>
        </pc:sldMkLst>
      </pc:sldChg>
      <pc:sldChg chg="modSp modNotes">
        <pc:chgData name="CIVET Annaig" userId="S::a.civet@fiteco.com::79765bbd-8b16-459a-bf48-ad0fdd5a89f1" providerId="AD" clId="Web-{371D07E7-188A-4858-9E47-796A28B95B18}" dt="2026-06-30T13:59:54.002" v="456"/>
        <pc:sldMkLst>
          <pc:docMk/>
          <pc:sldMk cId="2643080757" sldId="1598"/>
        </pc:sldMkLst>
        <pc:spChg chg="mod">
          <ac:chgData name="CIVET Annaig" userId="S::a.civet@fiteco.com::79765bbd-8b16-459a-bf48-ad0fdd5a89f1" providerId="AD" clId="Web-{371D07E7-188A-4858-9E47-796A28B95B18}" dt="2026-06-30T13:58:47.671" v="448" actId="20577"/>
          <ac:spMkLst>
            <pc:docMk/>
            <pc:sldMk cId="2643080757" sldId="1598"/>
            <ac:spMk id="4" creationId="{1185BBCA-09AD-AE2E-B094-4C198B96F38C}"/>
          </ac:spMkLst>
        </pc:spChg>
        <pc:picChg chg="mod">
          <ac:chgData name="CIVET Annaig" userId="S::a.civet@fiteco.com::79765bbd-8b16-459a-bf48-ad0fdd5a89f1" providerId="AD" clId="Web-{371D07E7-188A-4858-9E47-796A28B95B18}" dt="2026-06-30T13:58:52.530" v="450" actId="1076"/>
          <ac:picMkLst>
            <pc:docMk/>
            <pc:sldMk cId="2643080757" sldId="1598"/>
            <ac:picMk id="3" creationId="{98D3E861-273C-FF29-191A-51D368C5B673}"/>
          </ac:picMkLst>
        </pc:picChg>
      </pc:sldChg>
    </pc:docChg>
  </pc:docChgLst>
  <pc:docChgLst>
    <pc:chgData name="Guest User" userId="S::urn:spo:tenantanon#c91606e4-f272-4d31-bbfc-820bba825ea5::" providerId="AD" clId="Web-{C27E81B4-B2A4-07D6-3CFA-CA59C2D57BE4}"/>
    <pc:docChg chg="modSld">
      <pc:chgData name="Guest User" userId="S::urn:spo:tenantanon#c91606e4-f272-4d31-bbfc-820bba825ea5::" providerId="AD" clId="Web-{C27E81B4-B2A4-07D6-3CFA-CA59C2D57BE4}" dt="2026-06-16T06:58:08.379" v="20" actId="20577"/>
      <pc:docMkLst>
        <pc:docMk/>
      </pc:docMkLst>
      <pc:sldChg chg="modSp">
        <pc:chgData name="Guest User" userId="S::urn:spo:tenantanon#c91606e4-f272-4d31-bbfc-820bba825ea5::" providerId="AD" clId="Web-{C27E81B4-B2A4-07D6-3CFA-CA59C2D57BE4}" dt="2026-06-16T06:58:08.379" v="20" actId="20577"/>
        <pc:sldMkLst>
          <pc:docMk/>
          <pc:sldMk cId="4231237559" sldId="1577"/>
        </pc:sldMkLst>
        <pc:spChg chg="mod">
          <ac:chgData name="Guest User" userId="S::urn:spo:tenantanon#c91606e4-f272-4d31-bbfc-820bba825ea5::" providerId="AD" clId="Web-{C27E81B4-B2A4-07D6-3CFA-CA59C2D57BE4}" dt="2026-06-16T06:58:08.379" v="20" actId="20577"/>
          <ac:spMkLst>
            <pc:docMk/>
            <pc:sldMk cId="4231237559" sldId="1577"/>
            <ac:spMk id="10" creationId="{CC07BBB4-51E6-D698-BE30-9F8B8AC9D91B}"/>
          </ac:spMkLst>
        </pc:spChg>
      </pc:sldChg>
    </pc:docChg>
  </pc:docChgLst>
  <pc:docChgLst>
    <pc:chgData name="Guest User" userId="S::urn:spo:tenantanon#c91606e4-f272-4d31-bbfc-820bba825ea5::" providerId="AD" clId="Web-{65528A61-AB65-0BA9-7EE2-24996F41BF45}"/>
    <pc:docChg chg="modSld">
      <pc:chgData name="Guest User" userId="S::urn:spo:tenantanon#c91606e4-f272-4d31-bbfc-820bba825ea5::" providerId="AD" clId="Web-{65528A61-AB65-0BA9-7EE2-24996F41BF45}" dt="2026-06-29T14:48:17.746" v="321" actId="1076"/>
      <pc:docMkLst>
        <pc:docMk/>
      </pc:docMkLst>
      <pc:sldChg chg="modNotes">
        <pc:chgData name="Guest User" userId="S::urn:spo:tenantanon#c91606e4-f272-4d31-bbfc-820bba825ea5::" providerId="AD" clId="Web-{65528A61-AB65-0BA9-7EE2-24996F41BF45}" dt="2026-06-29T14:45:48.507" v="255"/>
        <pc:sldMkLst>
          <pc:docMk/>
          <pc:sldMk cId="217585904" sldId="259"/>
        </pc:sldMkLst>
      </pc:sldChg>
      <pc:sldChg chg="modNotes">
        <pc:chgData name="Guest User" userId="S::urn:spo:tenantanon#c91606e4-f272-4d31-bbfc-820bba825ea5::" providerId="AD" clId="Web-{65528A61-AB65-0BA9-7EE2-24996F41BF45}" dt="2026-06-29T14:34:23.861" v="45"/>
        <pc:sldMkLst>
          <pc:docMk/>
          <pc:sldMk cId="2649641721" sldId="276"/>
        </pc:sldMkLst>
      </pc:sldChg>
      <pc:sldChg chg="modNotes">
        <pc:chgData name="Guest User" userId="S::urn:spo:tenantanon#c91606e4-f272-4d31-bbfc-820bba825ea5::" providerId="AD" clId="Web-{65528A61-AB65-0BA9-7EE2-24996F41BF45}" dt="2026-06-29T14:44:14.504" v="89"/>
        <pc:sldMkLst>
          <pc:docMk/>
          <pc:sldMk cId="174529060" sldId="279"/>
        </pc:sldMkLst>
      </pc:sldChg>
      <pc:sldChg chg="modNotes">
        <pc:chgData name="Guest User" userId="S::urn:spo:tenantanon#c91606e4-f272-4d31-bbfc-820bba825ea5::" providerId="AD" clId="Web-{65528A61-AB65-0BA9-7EE2-24996F41BF45}" dt="2026-06-29T14:36:00.583" v="74"/>
        <pc:sldMkLst>
          <pc:docMk/>
          <pc:sldMk cId="2744281181" sldId="725"/>
        </pc:sldMkLst>
      </pc:sldChg>
      <pc:sldChg chg="addSp modSp">
        <pc:chgData name="Guest User" userId="S::urn:spo:tenantanon#c91606e4-f272-4d31-bbfc-820bba825ea5::" providerId="AD" clId="Web-{65528A61-AB65-0BA9-7EE2-24996F41BF45}" dt="2026-06-29T14:35:28.082" v="57" actId="1076"/>
        <pc:sldMkLst>
          <pc:docMk/>
          <pc:sldMk cId="207500180" sldId="1449"/>
        </pc:sldMkLst>
        <pc:spChg chg="add mod">
          <ac:chgData name="Guest User" userId="S::urn:spo:tenantanon#c91606e4-f272-4d31-bbfc-820bba825ea5::" providerId="AD" clId="Web-{65528A61-AB65-0BA9-7EE2-24996F41BF45}" dt="2026-06-29T14:34:53.753" v="47" actId="1076"/>
          <ac:spMkLst>
            <pc:docMk/>
            <pc:sldMk cId="207500180" sldId="1449"/>
            <ac:spMk id="2" creationId="{5A724E10-DC09-D0E3-61FF-2EE63C8A8182}"/>
          </ac:spMkLst>
        </pc:spChg>
        <pc:spChg chg="mod">
          <ac:chgData name="Guest User" userId="S::urn:spo:tenantanon#c91606e4-f272-4d31-bbfc-820bba825ea5::" providerId="AD" clId="Web-{65528A61-AB65-0BA9-7EE2-24996F41BF45}" dt="2026-06-29T14:35:04.738" v="51" actId="1076"/>
          <ac:spMkLst>
            <pc:docMk/>
            <pc:sldMk cId="207500180" sldId="1449"/>
            <ac:spMk id="12" creationId="{3B546F63-251A-6C9B-4141-944CA3C5FC47}"/>
          </ac:spMkLst>
        </pc:spChg>
        <pc:picChg chg="mod">
          <ac:chgData name="Guest User" userId="S::urn:spo:tenantanon#c91606e4-f272-4d31-bbfc-820bba825ea5::" providerId="AD" clId="Web-{65528A61-AB65-0BA9-7EE2-24996F41BF45}" dt="2026-06-29T14:35:28.082" v="57" actId="1076"/>
          <ac:picMkLst>
            <pc:docMk/>
            <pc:sldMk cId="207500180" sldId="1449"/>
            <ac:picMk id="9" creationId="{3D1881C3-5C51-A03B-743D-DA2E58F1894A}"/>
          </ac:picMkLst>
        </pc:picChg>
        <pc:picChg chg="mod">
          <ac:chgData name="Guest User" userId="S::urn:spo:tenantanon#c91606e4-f272-4d31-bbfc-820bba825ea5::" providerId="AD" clId="Web-{65528A61-AB65-0BA9-7EE2-24996F41BF45}" dt="2026-06-29T14:35:18.363" v="54" actId="1076"/>
          <ac:picMkLst>
            <pc:docMk/>
            <pc:sldMk cId="207500180" sldId="1449"/>
            <ac:picMk id="10" creationId="{5569EEC4-3054-12B9-FA83-ED6D296CAD9C}"/>
          </ac:picMkLst>
        </pc:picChg>
      </pc:sldChg>
      <pc:sldChg chg="modSp">
        <pc:chgData name="Guest User" userId="S::urn:spo:tenantanon#c91606e4-f272-4d31-bbfc-820bba825ea5::" providerId="AD" clId="Web-{65528A61-AB65-0BA9-7EE2-24996F41BF45}" dt="2026-06-29T14:48:17.746" v="321" actId="1076"/>
        <pc:sldMkLst>
          <pc:docMk/>
          <pc:sldMk cId="1527709142" sldId="1567"/>
        </pc:sldMkLst>
        <pc:spChg chg="mod">
          <ac:chgData name="Guest User" userId="S::urn:spo:tenantanon#c91606e4-f272-4d31-bbfc-820bba825ea5::" providerId="AD" clId="Web-{65528A61-AB65-0BA9-7EE2-24996F41BF45}" dt="2026-06-29T14:48:17.746" v="321" actId="1076"/>
          <ac:spMkLst>
            <pc:docMk/>
            <pc:sldMk cId="1527709142" sldId="1567"/>
            <ac:spMk id="2" creationId="{8879EEC8-5C0A-8781-B433-D4117E993729}"/>
          </ac:spMkLst>
        </pc:spChg>
        <pc:spChg chg="mod">
          <ac:chgData name="Guest User" userId="S::urn:spo:tenantanon#c91606e4-f272-4d31-bbfc-820bba825ea5::" providerId="AD" clId="Web-{65528A61-AB65-0BA9-7EE2-24996F41BF45}" dt="2026-06-29T14:47:57.574" v="302" actId="20577"/>
          <ac:spMkLst>
            <pc:docMk/>
            <pc:sldMk cId="1527709142" sldId="1567"/>
            <ac:spMk id="6" creationId="{B6EDF01C-6354-8C8E-553A-1EE196F6F59B}"/>
          </ac:spMkLst>
        </pc:spChg>
        <pc:spChg chg="mod">
          <ac:chgData name="Guest User" userId="S::urn:spo:tenantanon#c91606e4-f272-4d31-bbfc-820bba825ea5::" providerId="AD" clId="Web-{65528A61-AB65-0BA9-7EE2-24996F41BF45}" dt="2026-06-29T14:48:15.434" v="320" actId="20577"/>
          <ac:spMkLst>
            <pc:docMk/>
            <pc:sldMk cId="1527709142" sldId="1567"/>
            <ac:spMk id="7" creationId="{DF904A79-A209-0152-3333-4898F6FACB79}"/>
          </ac:spMkLst>
        </pc:spChg>
      </pc:sldChg>
      <pc:sldChg chg="modNotes">
        <pc:chgData name="Guest User" userId="S::urn:spo:tenantanon#c91606e4-f272-4d31-bbfc-820bba825ea5::" providerId="AD" clId="Web-{65528A61-AB65-0BA9-7EE2-24996F41BF45}" dt="2026-06-29T14:47:37.464" v="296"/>
        <pc:sldMkLst>
          <pc:docMk/>
          <pc:sldMk cId="571785858" sldId="1571"/>
        </pc:sldMkLst>
      </pc:sldChg>
    </pc:docChg>
  </pc:docChgLst>
  <pc:docChgLst>
    <pc:chgData name="CIVET Annaig" userId="S::a.civet@fiteco.com::79765bbd-8b16-459a-bf48-ad0fdd5a89f1" providerId="AD" clId="Web-{7C5ADCFE-AFAE-4BF0-8AFF-45C50588F79D}"/>
    <pc:docChg chg="modSld">
      <pc:chgData name="CIVET Annaig" userId="S::a.civet@fiteco.com::79765bbd-8b16-459a-bf48-ad0fdd5a89f1" providerId="AD" clId="Web-{7C5ADCFE-AFAE-4BF0-8AFF-45C50588F79D}" dt="2026-06-24T14:35:17.800" v="48"/>
      <pc:docMkLst>
        <pc:docMk/>
      </pc:docMkLst>
      <pc:sldChg chg="modSp modNotes">
        <pc:chgData name="CIVET Annaig" userId="S::a.civet@fiteco.com::79765bbd-8b16-459a-bf48-ad0fdd5a89f1" providerId="AD" clId="Web-{7C5ADCFE-AFAE-4BF0-8AFF-45C50588F79D}" dt="2026-06-24T14:35:17.800" v="48"/>
        <pc:sldMkLst>
          <pc:docMk/>
          <pc:sldMk cId="1611006643" sldId="718"/>
        </pc:sldMkLst>
        <pc:spChg chg="mod">
          <ac:chgData name="CIVET Annaig" userId="S::a.civet@fiteco.com::79765bbd-8b16-459a-bf48-ad0fdd5a89f1" providerId="AD" clId="Web-{7C5ADCFE-AFAE-4BF0-8AFF-45C50588F79D}" dt="2026-06-24T14:33:16.952" v="5"/>
          <ac:spMkLst>
            <pc:docMk/>
            <pc:sldMk cId="1611006643" sldId="718"/>
            <ac:spMk id="5" creationId="{90BC446B-146F-F675-18E0-69E1AC736CE9}"/>
          </ac:spMkLst>
        </pc:spChg>
      </pc:sldChg>
    </pc:docChg>
  </pc:docChgLst>
  <pc:docChgLst>
    <pc:chgData name="CIVET Annaig" userId="S::a.civet@fiteco.com::79765bbd-8b16-459a-bf48-ad0fdd5a89f1" providerId="AD" clId="Web-{8D05B393-AF4D-4025-B3E5-35F13B63945A}"/>
    <pc:docChg chg="modSld">
      <pc:chgData name="CIVET Annaig" userId="S::a.civet@fiteco.com::79765bbd-8b16-459a-bf48-ad0fdd5a89f1" providerId="AD" clId="Web-{8D05B393-AF4D-4025-B3E5-35F13B63945A}" dt="2026-06-23T14:06:32.007" v="58" actId="20577"/>
      <pc:docMkLst>
        <pc:docMk/>
      </pc:docMkLst>
      <pc:sldChg chg="modSp">
        <pc:chgData name="CIVET Annaig" userId="S::a.civet@fiteco.com::79765bbd-8b16-459a-bf48-ad0fdd5a89f1" providerId="AD" clId="Web-{8D05B393-AF4D-4025-B3E5-35F13B63945A}" dt="2026-06-23T14:06:32.007" v="58" actId="20577"/>
        <pc:sldMkLst>
          <pc:docMk/>
          <pc:sldMk cId="1242284759" sldId="1582"/>
        </pc:sldMkLst>
        <pc:spChg chg="mod">
          <ac:chgData name="CIVET Annaig" userId="S::a.civet@fiteco.com::79765bbd-8b16-459a-bf48-ad0fdd5a89f1" providerId="AD" clId="Web-{8D05B393-AF4D-4025-B3E5-35F13B63945A}" dt="2026-06-23T14:06:32.007" v="58" actId="20577"/>
          <ac:spMkLst>
            <pc:docMk/>
            <pc:sldMk cId="1242284759" sldId="1582"/>
            <ac:spMk id="5" creationId="{0D113E80-54F9-85D1-0F93-ACB53E17AA61}"/>
          </ac:spMkLst>
        </pc:spChg>
      </pc:sldChg>
    </pc:docChg>
  </pc:docChgLst>
  <pc:docChgLst>
    <pc:chgData name="FIOL Lucile" userId="S::lu.fiol@fiteco.com::778d51e7-5060-41a7-a923-b51ba3a4c523" providerId="AD" clId="Web-{B80CBDF9-B04C-4049-B03A-9C7227150BDD}"/>
    <pc:docChg chg="addSld delSld modSld sldOrd">
      <pc:chgData name="FIOL Lucile" userId="S::lu.fiol@fiteco.com::778d51e7-5060-41a7-a923-b51ba3a4c523" providerId="AD" clId="Web-{B80CBDF9-B04C-4049-B03A-9C7227150BDD}" dt="2026-06-15T15:33:08.547" v="249"/>
      <pc:docMkLst>
        <pc:docMk/>
      </pc:docMkLst>
      <pc:sldChg chg="addSp delSp modSp modNotes">
        <pc:chgData name="FIOL Lucile" userId="S::lu.fiol@fiteco.com::778d51e7-5060-41a7-a923-b51ba3a4c523" providerId="AD" clId="Web-{B80CBDF9-B04C-4049-B03A-9C7227150BDD}" dt="2026-06-15T15:30:04.244" v="209" actId="1076"/>
        <pc:sldMkLst>
          <pc:docMk/>
          <pc:sldMk cId="207500180" sldId="1449"/>
        </pc:sldMkLst>
        <pc:spChg chg="mod">
          <ac:chgData name="FIOL Lucile" userId="S::lu.fiol@fiteco.com::778d51e7-5060-41a7-a923-b51ba3a4c523" providerId="AD" clId="Web-{B80CBDF9-B04C-4049-B03A-9C7227150BDD}" dt="2026-06-15T15:26:39.374" v="158" actId="20577"/>
          <ac:spMkLst>
            <pc:docMk/>
            <pc:sldMk cId="207500180" sldId="1449"/>
            <ac:spMk id="5" creationId="{0976ADBD-4EA0-8785-E3D5-416554E0D0BD}"/>
          </ac:spMkLst>
        </pc:spChg>
        <pc:spChg chg="add mod">
          <ac:chgData name="FIOL Lucile" userId="S::lu.fiol@fiteco.com::778d51e7-5060-41a7-a923-b51ba3a4c523" providerId="AD" clId="Web-{B80CBDF9-B04C-4049-B03A-9C7227150BDD}" dt="2026-06-15T15:29:13.492" v="185" actId="1076"/>
          <ac:spMkLst>
            <pc:docMk/>
            <pc:sldMk cId="207500180" sldId="1449"/>
            <ac:spMk id="12" creationId="{3B546F63-251A-6C9B-4141-944CA3C5FC47}"/>
          </ac:spMkLst>
        </pc:spChg>
        <pc:spChg chg="add mod">
          <ac:chgData name="FIOL Lucile" userId="S::lu.fiol@fiteco.com::778d51e7-5060-41a7-a923-b51ba3a4c523" providerId="AD" clId="Web-{B80CBDF9-B04C-4049-B03A-9C7227150BDD}" dt="2026-06-15T15:29:38.946" v="192" actId="20577"/>
          <ac:spMkLst>
            <pc:docMk/>
            <pc:sldMk cId="207500180" sldId="1449"/>
            <ac:spMk id="14" creationId="{D81F7D77-FF8A-F6F4-7ADF-9E9260790349}"/>
          </ac:spMkLst>
        </pc:spChg>
        <pc:spChg chg="add mod">
          <ac:chgData name="FIOL Lucile" userId="S::lu.fiol@fiteco.com::778d51e7-5060-41a7-a923-b51ba3a4c523" providerId="AD" clId="Web-{B80CBDF9-B04C-4049-B03A-9C7227150BDD}" dt="2026-06-15T15:29:50.822" v="197" actId="20577"/>
          <ac:spMkLst>
            <pc:docMk/>
            <pc:sldMk cId="207500180" sldId="1449"/>
            <ac:spMk id="15" creationId="{A1AEF71E-C292-D267-A726-FFE28585CFD7}"/>
          </ac:spMkLst>
        </pc:spChg>
        <pc:spChg chg="add mod">
          <ac:chgData name="FIOL Lucile" userId="S::lu.fiol@fiteco.com::778d51e7-5060-41a7-a923-b51ba3a4c523" providerId="AD" clId="Web-{B80CBDF9-B04C-4049-B03A-9C7227150BDD}" dt="2026-06-15T15:30:04.244" v="209" actId="1076"/>
          <ac:spMkLst>
            <pc:docMk/>
            <pc:sldMk cId="207500180" sldId="1449"/>
            <ac:spMk id="16" creationId="{543FC51F-185E-27C2-1EFE-DA7B6E475147}"/>
          </ac:spMkLst>
        </pc:spChg>
        <pc:picChg chg="add mod">
          <ac:chgData name="FIOL Lucile" userId="S::lu.fiol@fiteco.com::778d51e7-5060-41a7-a923-b51ba3a4c523" providerId="AD" clId="Web-{B80CBDF9-B04C-4049-B03A-9C7227150BDD}" dt="2026-06-15T15:29:14.445" v="186" actId="1076"/>
          <ac:picMkLst>
            <pc:docMk/>
            <pc:sldMk cId="207500180" sldId="1449"/>
            <ac:picMk id="9" creationId="{3D1881C3-5C51-A03B-743D-DA2E58F1894A}"/>
          </ac:picMkLst>
        </pc:picChg>
        <pc:picChg chg="add mod">
          <ac:chgData name="FIOL Lucile" userId="S::lu.fiol@fiteco.com::778d51e7-5060-41a7-a923-b51ba3a4c523" providerId="AD" clId="Web-{B80CBDF9-B04C-4049-B03A-9C7227150BDD}" dt="2026-06-15T15:28:29.834" v="177" actId="1076"/>
          <ac:picMkLst>
            <pc:docMk/>
            <pc:sldMk cId="207500180" sldId="1449"/>
            <ac:picMk id="10" creationId="{5569EEC4-3054-12B9-FA83-ED6D296CAD9C}"/>
          </ac:picMkLst>
        </pc:picChg>
        <pc:picChg chg="add mod">
          <ac:chgData name="FIOL Lucile" userId="S::lu.fiol@fiteco.com::778d51e7-5060-41a7-a923-b51ba3a4c523" providerId="AD" clId="Web-{B80CBDF9-B04C-4049-B03A-9C7227150BDD}" dt="2026-06-15T15:29:06.335" v="183" actId="1076"/>
          <ac:picMkLst>
            <pc:docMk/>
            <pc:sldMk cId="207500180" sldId="1449"/>
            <ac:picMk id="13" creationId="{D43A2F42-1927-AD62-A8AD-F4F72A762E8D}"/>
          </ac:picMkLst>
        </pc:picChg>
      </pc:sldChg>
      <pc:sldChg chg="modSp modNotes">
        <pc:chgData name="FIOL Lucile" userId="S::lu.fiol@fiteco.com::778d51e7-5060-41a7-a923-b51ba3a4c523" providerId="AD" clId="Web-{B80CBDF9-B04C-4049-B03A-9C7227150BDD}" dt="2026-06-15T15:33:08.547" v="249"/>
        <pc:sldMkLst>
          <pc:docMk/>
          <pc:sldMk cId="3455953625" sldId="1450"/>
        </pc:sldMkLst>
        <pc:spChg chg="mod">
          <ac:chgData name="FIOL Lucile" userId="S::lu.fiol@fiteco.com::778d51e7-5060-41a7-a923-b51ba3a4c523" providerId="AD" clId="Web-{B80CBDF9-B04C-4049-B03A-9C7227150BDD}" dt="2026-06-15T15:33:06.203" v="248" actId="20577"/>
          <ac:spMkLst>
            <pc:docMk/>
            <pc:sldMk cId="3455953625" sldId="1450"/>
            <ac:spMk id="2" creationId="{D92689BF-6A74-6FB7-995A-6106784D32E7}"/>
          </ac:spMkLst>
        </pc:spChg>
        <pc:spChg chg="mod">
          <ac:chgData name="FIOL Lucile" userId="S::lu.fiol@fiteco.com::778d51e7-5060-41a7-a923-b51ba3a4c523" providerId="AD" clId="Web-{B80CBDF9-B04C-4049-B03A-9C7227150BDD}" dt="2026-06-15T15:31:28.185" v="222" actId="20577"/>
          <ac:spMkLst>
            <pc:docMk/>
            <pc:sldMk cId="3455953625" sldId="1450"/>
            <ac:spMk id="5" creationId="{181C5780-9211-5EC6-66E1-AC52E95167C8}"/>
          </ac:spMkLst>
        </pc:spChg>
      </pc:sldChg>
      <pc:sldChg chg="addSp delSp modSp modNotes">
        <pc:chgData name="FIOL Lucile" userId="S::lu.fiol@fiteco.com::778d51e7-5060-41a7-a923-b51ba3a4c523" providerId="AD" clId="Web-{B80CBDF9-B04C-4049-B03A-9C7227150BDD}" dt="2026-06-15T15:18:25.926" v="92"/>
        <pc:sldMkLst>
          <pc:docMk/>
          <pc:sldMk cId="1709385313" sldId="1523"/>
        </pc:sldMkLst>
        <pc:picChg chg="add mod">
          <ac:chgData name="FIOL Lucile" userId="S::lu.fiol@fiteco.com::778d51e7-5060-41a7-a923-b51ba3a4c523" providerId="AD" clId="Web-{B80CBDF9-B04C-4049-B03A-9C7227150BDD}" dt="2026-06-15T15:12:22.823" v="30" actId="1076"/>
          <ac:picMkLst>
            <pc:docMk/>
            <pc:sldMk cId="1709385313" sldId="1523"/>
            <ac:picMk id="12" creationId="{2D3AD15C-C52B-0FB5-09A1-E913F413DDCB}"/>
          </ac:picMkLst>
        </pc:picChg>
        <pc:picChg chg="add mod">
          <ac:chgData name="FIOL Lucile" userId="S::lu.fiol@fiteco.com::778d51e7-5060-41a7-a923-b51ba3a4c523" providerId="AD" clId="Web-{B80CBDF9-B04C-4049-B03A-9C7227150BDD}" dt="2026-06-15T15:12:25.026" v="31" actId="1076"/>
          <ac:picMkLst>
            <pc:docMk/>
            <pc:sldMk cId="1709385313" sldId="1523"/>
            <ac:picMk id="14" creationId="{7611F9F2-E5C1-4C91-670E-40C35D4AF894}"/>
          </ac:picMkLst>
        </pc:picChg>
      </pc:sldChg>
      <pc:sldChg chg="addSp delSp modSp ord modNotes">
        <pc:chgData name="FIOL Lucile" userId="S::lu.fiol@fiteco.com::778d51e7-5060-41a7-a923-b51ba3a4c523" providerId="AD" clId="Web-{B80CBDF9-B04C-4049-B03A-9C7227150BDD}" dt="2026-06-15T15:17:02.488" v="58"/>
        <pc:sldMkLst>
          <pc:docMk/>
          <pc:sldMk cId="556308043" sldId="1569"/>
        </pc:sldMkLst>
        <pc:spChg chg="mod">
          <ac:chgData name="FIOL Lucile" userId="S::lu.fiol@fiteco.com::778d51e7-5060-41a7-a923-b51ba3a4c523" providerId="AD" clId="Web-{B80CBDF9-B04C-4049-B03A-9C7227150BDD}" dt="2026-06-15T15:12:53.699" v="38" actId="1076"/>
          <ac:spMkLst>
            <pc:docMk/>
            <pc:sldMk cId="556308043" sldId="1569"/>
            <ac:spMk id="9" creationId="{F6D9A597-CD85-B571-2228-485E8CB1A5A6}"/>
          </ac:spMkLst>
        </pc:spChg>
        <pc:spChg chg="mod">
          <ac:chgData name="FIOL Lucile" userId="S::lu.fiol@fiteco.com::778d51e7-5060-41a7-a923-b51ba3a4c523" providerId="AD" clId="Web-{B80CBDF9-B04C-4049-B03A-9C7227150BDD}" dt="2026-06-15T15:12:55.153" v="39" actId="1076"/>
          <ac:spMkLst>
            <pc:docMk/>
            <pc:sldMk cId="556308043" sldId="1569"/>
            <ac:spMk id="10" creationId="{FE75E10E-ED9C-57CE-BAC8-93F844205D88}"/>
          </ac:spMkLst>
        </pc:spChg>
        <pc:picChg chg="mod">
          <ac:chgData name="FIOL Lucile" userId="S::lu.fiol@fiteco.com::778d51e7-5060-41a7-a923-b51ba3a4c523" providerId="AD" clId="Web-{B80CBDF9-B04C-4049-B03A-9C7227150BDD}" dt="2026-06-15T15:12:29.370" v="34" actId="1076"/>
          <ac:picMkLst>
            <pc:docMk/>
            <pc:sldMk cId="556308043" sldId="1569"/>
            <ac:picMk id="12" creationId="{BECACDD5-98BF-0167-8AAC-B2F89CB83885}"/>
          </ac:picMkLst>
        </pc:picChg>
        <pc:picChg chg="mod">
          <ac:chgData name="FIOL Lucile" userId="S::lu.fiol@fiteco.com::778d51e7-5060-41a7-a923-b51ba3a4c523" providerId="AD" clId="Web-{B80CBDF9-B04C-4049-B03A-9C7227150BDD}" dt="2026-06-15T15:08:16.699" v="2" actId="1076"/>
          <ac:picMkLst>
            <pc:docMk/>
            <pc:sldMk cId="556308043" sldId="1569"/>
            <ac:picMk id="13" creationId="{C8EA1C00-0635-403C-9C18-81343538552C}"/>
          </ac:picMkLst>
        </pc:picChg>
        <pc:picChg chg="mod">
          <ac:chgData name="FIOL Lucile" userId="S::lu.fiol@fiteco.com::778d51e7-5060-41a7-a923-b51ba3a4c523" providerId="AD" clId="Web-{B80CBDF9-B04C-4049-B03A-9C7227150BDD}" dt="2026-06-15T15:08:21.793" v="5" actId="1076"/>
          <ac:picMkLst>
            <pc:docMk/>
            <pc:sldMk cId="556308043" sldId="1569"/>
            <ac:picMk id="14" creationId="{7816949C-38BF-23FA-BDE0-C6FB1D19C417}"/>
          </ac:picMkLst>
        </pc:picChg>
      </pc:sldChg>
      <pc:sldChg chg="addSp modSp add ord replId modNotes">
        <pc:chgData name="FIOL Lucile" userId="S::lu.fiol@fiteco.com::778d51e7-5060-41a7-a923-b51ba3a4c523" providerId="AD" clId="Web-{B80CBDF9-B04C-4049-B03A-9C7227150BDD}" dt="2026-06-15T15:26:03.199" v="155" actId="1076"/>
        <pc:sldMkLst>
          <pc:docMk/>
          <pc:sldMk cId="3075828907" sldId="1584"/>
        </pc:sldMkLst>
        <pc:spChg chg="add mod">
          <ac:chgData name="FIOL Lucile" userId="S::lu.fiol@fiteco.com::778d51e7-5060-41a7-a923-b51ba3a4c523" providerId="AD" clId="Web-{B80CBDF9-B04C-4049-B03A-9C7227150BDD}" dt="2026-06-15T15:26:03.199" v="155" actId="1076"/>
          <ac:spMkLst>
            <pc:docMk/>
            <pc:sldMk cId="3075828907" sldId="1584"/>
            <ac:spMk id="2" creationId="{CB75B50C-9017-5BF9-16EA-E1DEDE28CBBE}"/>
          </ac:spMkLst>
        </pc:spChg>
        <pc:spChg chg="mod">
          <ac:chgData name="FIOL Lucile" userId="S::lu.fiol@fiteco.com::778d51e7-5060-41a7-a923-b51ba3a4c523" providerId="AD" clId="Web-{B80CBDF9-B04C-4049-B03A-9C7227150BDD}" dt="2026-06-15T15:24:09.368" v="136" actId="20577"/>
          <ac:spMkLst>
            <pc:docMk/>
            <pc:sldMk cId="3075828907" sldId="1584"/>
            <ac:spMk id="5" creationId="{894C156B-0AE0-94A9-9C47-E3BF99B3DDF4}"/>
          </ac:spMkLst>
        </pc:spChg>
        <pc:spChg chg="mod">
          <ac:chgData name="FIOL Lucile" userId="S::lu.fiol@fiteco.com::778d51e7-5060-41a7-a923-b51ba3a4c523" providerId="AD" clId="Web-{B80CBDF9-B04C-4049-B03A-9C7227150BDD}" dt="2026-06-15T15:17:09.535" v="62" actId="20577"/>
          <ac:spMkLst>
            <pc:docMk/>
            <pc:sldMk cId="3075828907" sldId="1584"/>
            <ac:spMk id="6" creationId="{FAAD0B1E-E06A-9BED-3B55-A3E4A877F321}"/>
          </ac:spMkLst>
        </pc:spChg>
        <pc:spChg chg="mod">
          <ac:chgData name="FIOL Lucile" userId="S::lu.fiol@fiteco.com::778d51e7-5060-41a7-a923-b51ba3a4c523" providerId="AD" clId="Web-{B80CBDF9-B04C-4049-B03A-9C7227150BDD}" dt="2026-06-15T15:17:18.582" v="67" actId="1076"/>
          <ac:spMkLst>
            <pc:docMk/>
            <pc:sldMk cId="3075828907" sldId="1584"/>
            <ac:spMk id="7" creationId="{C1479303-9573-91C8-DAF0-EAD1CE8680B5}"/>
          </ac:spMkLst>
        </pc:spChg>
      </pc:sldChg>
      <pc:sldChg chg="delSp modSp add replId modNotes">
        <pc:chgData name="FIOL Lucile" userId="S::lu.fiol@fiteco.com::778d51e7-5060-41a7-a923-b51ba3a4c523" providerId="AD" clId="Web-{B80CBDF9-B04C-4049-B03A-9C7227150BDD}" dt="2026-06-15T15:32:22.999" v="239" actId="20577"/>
        <pc:sldMkLst>
          <pc:docMk/>
          <pc:sldMk cId="2142137114" sldId="1585"/>
        </pc:sldMkLst>
        <pc:spChg chg="mod">
          <ac:chgData name="FIOL Lucile" userId="S::lu.fiol@fiteco.com::778d51e7-5060-41a7-a923-b51ba3a4c523" providerId="AD" clId="Web-{B80CBDF9-B04C-4049-B03A-9C7227150BDD}" dt="2026-06-15T15:32:22.999" v="239" actId="20577"/>
          <ac:spMkLst>
            <pc:docMk/>
            <pc:sldMk cId="2142137114" sldId="1585"/>
            <ac:spMk id="5" creationId="{006B76A7-D23F-9DAC-A2FC-AB6C51E2BD7A}"/>
          </ac:spMkLst>
        </pc:spChg>
      </pc:sldChg>
    </pc:docChg>
  </pc:docChgLst>
  <pc:docChgLst>
    <pc:chgData name="Guest User" userId="S::urn:spo:tenantanon#c91606e4-f272-4d31-bbfc-820bba825ea5::" providerId="AD" clId="Web-{F4912651-3C4E-EDFA-0445-2217E4237FE0}"/>
    <pc:docChg chg="modSld">
      <pc:chgData name="Guest User" userId="S::urn:spo:tenantanon#c91606e4-f272-4d31-bbfc-820bba825ea5::" providerId="AD" clId="Web-{F4912651-3C4E-EDFA-0445-2217E4237FE0}" dt="2026-06-30T11:47:04.035" v="6" actId="20577"/>
      <pc:docMkLst>
        <pc:docMk/>
      </pc:docMkLst>
      <pc:sldChg chg="modSp">
        <pc:chgData name="Guest User" userId="S::urn:spo:tenantanon#c91606e4-f272-4d31-bbfc-820bba825ea5::" providerId="AD" clId="Web-{F4912651-3C4E-EDFA-0445-2217E4237FE0}" dt="2026-06-30T11:47:04.035" v="6" actId="20577"/>
        <pc:sldMkLst>
          <pc:docMk/>
          <pc:sldMk cId="1611006643" sldId="718"/>
        </pc:sldMkLst>
        <pc:spChg chg="mod">
          <ac:chgData name="Guest User" userId="S::urn:spo:tenantanon#c91606e4-f272-4d31-bbfc-820bba825ea5::" providerId="AD" clId="Web-{F4912651-3C4E-EDFA-0445-2217E4237FE0}" dt="2026-06-30T11:47:04.035" v="6" actId="20577"/>
          <ac:spMkLst>
            <pc:docMk/>
            <pc:sldMk cId="1611006643" sldId="718"/>
            <ac:spMk id="5" creationId="{90BC446B-146F-F675-18E0-69E1AC736CE9}"/>
          </ac:spMkLst>
        </pc:spChg>
      </pc:sldChg>
    </pc:docChg>
  </pc:docChgLst>
  <pc:docChgLst>
    <pc:chgData name="Guest User" userId="S::urn:spo:tenantanon#c91606e4-f272-4d31-bbfc-820bba825ea5::" providerId="AD" clId="Web-{7602AA5E-C3FF-85AC-98B6-801018C2A8F4}"/>
    <pc:docChg chg="modSld">
      <pc:chgData name="Guest User" userId="S::urn:spo:tenantanon#c91606e4-f272-4d31-bbfc-820bba825ea5::" providerId="AD" clId="Web-{7602AA5E-C3FF-85AC-98B6-801018C2A8F4}" dt="2026-07-15T13:47:26.948" v="2"/>
      <pc:docMkLst>
        <pc:docMk/>
      </pc:docMkLst>
      <pc:sldChg chg="modNotes">
        <pc:chgData name="Guest User" userId="S::urn:spo:tenantanon#c91606e4-f272-4d31-bbfc-820bba825ea5::" providerId="AD" clId="Web-{7602AA5E-C3FF-85AC-98B6-801018C2A8F4}" dt="2026-07-15T13:47:26.948" v="2"/>
        <pc:sldMkLst>
          <pc:docMk/>
          <pc:sldMk cId="2643080757" sldId="1598"/>
        </pc:sldMkLst>
      </pc:sldChg>
    </pc:docChg>
  </pc:docChgLst>
  <pc:docChgLst>
    <pc:chgData name="Guest User" userId="S::urn:spo:tenantanon#c91606e4-f272-4d31-bbfc-820bba825ea5::" providerId="AD" clId="Web-{E777A93E-18ED-D855-F23F-52B1BFE1FB87}"/>
    <pc:docChg chg="delSld modSld">
      <pc:chgData name="Guest User" userId="S::urn:spo:tenantanon#c91606e4-f272-4d31-bbfc-820bba825ea5::" providerId="AD" clId="Web-{E777A93E-18ED-D855-F23F-52B1BFE1FB87}" dt="2026-06-29T07:55:17.689" v="65" actId="1076"/>
      <pc:docMkLst>
        <pc:docMk/>
      </pc:docMkLst>
      <pc:sldChg chg="modNotes">
        <pc:chgData name="Guest User" userId="S::urn:spo:tenantanon#c91606e4-f272-4d31-bbfc-820bba825ea5::" providerId="AD" clId="Web-{E777A93E-18ED-D855-F23F-52B1BFE1FB87}" dt="2026-06-29T07:50:05.260" v="13"/>
        <pc:sldMkLst>
          <pc:docMk/>
          <pc:sldMk cId="217585904" sldId="259"/>
        </pc:sldMkLst>
      </pc:sldChg>
      <pc:sldChg chg="modSp modNotes">
        <pc:chgData name="Guest User" userId="S::urn:spo:tenantanon#c91606e4-f272-4d31-bbfc-820bba825ea5::" providerId="AD" clId="Web-{E777A93E-18ED-D855-F23F-52B1BFE1FB87}" dt="2026-06-29T07:51:19.406" v="35"/>
        <pc:sldMkLst>
          <pc:docMk/>
          <pc:sldMk cId="1090335534" sldId="693"/>
        </pc:sldMkLst>
        <pc:spChg chg="mod">
          <ac:chgData name="Guest User" userId="S::urn:spo:tenantanon#c91606e4-f272-4d31-bbfc-820bba825ea5::" providerId="AD" clId="Web-{E777A93E-18ED-D855-F23F-52B1BFE1FB87}" dt="2026-06-29T07:50:52.123" v="21" actId="20577"/>
          <ac:spMkLst>
            <pc:docMk/>
            <pc:sldMk cId="1090335534" sldId="693"/>
            <ac:spMk id="2" creationId="{D32536C7-061D-D3E6-5C23-B820AF2948BE}"/>
          </ac:spMkLst>
        </pc:spChg>
        <pc:spChg chg="mod">
          <ac:chgData name="Guest User" userId="S::urn:spo:tenantanon#c91606e4-f272-4d31-bbfc-820bba825ea5::" providerId="AD" clId="Web-{E777A93E-18ED-D855-F23F-52B1BFE1FB87}" dt="2026-06-29T07:50:55.357" v="24" actId="20577"/>
          <ac:spMkLst>
            <pc:docMk/>
            <pc:sldMk cId="1090335534" sldId="693"/>
            <ac:spMk id="3" creationId="{25C690DB-4D2A-DE33-9CD5-81E746141971}"/>
          </ac:spMkLst>
        </pc:spChg>
        <pc:spChg chg="mod">
          <ac:chgData name="Guest User" userId="S::urn:spo:tenantanon#c91606e4-f272-4d31-bbfc-820bba825ea5::" providerId="AD" clId="Web-{E777A93E-18ED-D855-F23F-52B1BFE1FB87}" dt="2026-06-29T07:50:50.482" v="20" actId="20577"/>
          <ac:spMkLst>
            <pc:docMk/>
            <pc:sldMk cId="1090335534" sldId="693"/>
            <ac:spMk id="5" creationId="{61E7A7C4-6E5B-0A17-45BC-19ABB0CBB678}"/>
          </ac:spMkLst>
        </pc:spChg>
      </pc:sldChg>
      <pc:sldChg chg="modNotes">
        <pc:chgData name="Guest User" userId="S::urn:spo:tenantanon#c91606e4-f272-4d31-bbfc-820bba825ea5::" providerId="AD" clId="Web-{E777A93E-18ED-D855-F23F-52B1BFE1FB87}" dt="2026-06-29T07:51:38.595" v="36"/>
        <pc:sldMkLst>
          <pc:docMk/>
          <pc:sldMk cId="3450440071" sldId="695"/>
        </pc:sldMkLst>
      </pc:sldChg>
      <pc:sldChg chg="modSp">
        <pc:chgData name="Guest User" userId="S::urn:spo:tenantanon#c91606e4-f272-4d31-bbfc-820bba825ea5::" providerId="AD" clId="Web-{E777A93E-18ED-D855-F23F-52B1BFE1FB87}" dt="2026-06-29T07:52:31.286" v="38" actId="20577"/>
        <pc:sldMkLst>
          <pc:docMk/>
          <pc:sldMk cId="956406968" sldId="1583"/>
        </pc:sldMkLst>
        <pc:spChg chg="mod">
          <ac:chgData name="Guest User" userId="S::urn:spo:tenantanon#c91606e4-f272-4d31-bbfc-820bba825ea5::" providerId="AD" clId="Web-{E777A93E-18ED-D855-F23F-52B1BFE1FB87}" dt="2026-06-29T07:52:31.286" v="38" actId="20577"/>
          <ac:spMkLst>
            <pc:docMk/>
            <pc:sldMk cId="956406968" sldId="1583"/>
            <ac:spMk id="5" creationId="{3BF86695-03CD-2001-8835-11CE8872E3E6}"/>
          </ac:spMkLst>
        </pc:spChg>
      </pc:sldChg>
    </pc:docChg>
  </pc:docChgLst>
  <pc:docChgLst>
    <pc:chgData name="FIOL Lucile" userId="S::lu.fiol@fiteco.com::778d51e7-5060-41a7-a923-b51ba3a4c523" providerId="AD" clId="Web-{35AA5572-FA00-42E0-B7AE-2171FA11534F}"/>
    <pc:docChg chg="addSld delSld modSld sldOrd">
      <pc:chgData name="FIOL Lucile" userId="S::lu.fiol@fiteco.com::778d51e7-5060-41a7-a923-b51ba3a4c523" providerId="AD" clId="Web-{35AA5572-FA00-42E0-B7AE-2171FA11534F}" dt="2026-06-16T08:11:52.864" v="380" actId="1076"/>
      <pc:docMkLst>
        <pc:docMk/>
      </pc:docMkLst>
      <pc:sldChg chg="addSp delSp modSp modNotes">
        <pc:chgData name="FIOL Lucile" userId="S::lu.fiol@fiteco.com::778d51e7-5060-41a7-a923-b51ba3a4c523" providerId="AD" clId="Web-{35AA5572-FA00-42E0-B7AE-2171FA11534F}" dt="2026-06-16T08:03:09.171" v="223"/>
        <pc:sldMkLst>
          <pc:docMk/>
          <pc:sldMk cId="940780522" sldId="799"/>
        </pc:sldMkLst>
        <pc:spChg chg="add mod">
          <ac:chgData name="FIOL Lucile" userId="S::lu.fiol@fiteco.com::778d51e7-5060-41a7-a923-b51ba3a4c523" providerId="AD" clId="Web-{35AA5572-FA00-42E0-B7AE-2171FA11534F}" dt="2026-06-16T08:02:15.826" v="210" actId="1076"/>
          <ac:spMkLst>
            <pc:docMk/>
            <pc:sldMk cId="940780522" sldId="799"/>
            <ac:spMk id="9" creationId="{B1B83E4C-721A-F92A-DCBE-0E1EDACBE86A}"/>
          </ac:spMkLst>
        </pc:spChg>
        <pc:spChg chg="add mod">
          <ac:chgData name="FIOL Lucile" userId="S::lu.fiol@fiteco.com::778d51e7-5060-41a7-a923-b51ba3a4c523" providerId="AD" clId="Web-{35AA5572-FA00-42E0-B7AE-2171FA11534F}" dt="2026-06-16T08:02:18.076" v="212" actId="1076"/>
          <ac:spMkLst>
            <pc:docMk/>
            <pc:sldMk cId="940780522" sldId="799"/>
            <ac:spMk id="11" creationId="{C5F6ECD9-B612-6504-CE0F-3A727048370D}"/>
          </ac:spMkLst>
        </pc:spChg>
        <pc:picChg chg="add mod">
          <ac:chgData name="FIOL Lucile" userId="S::lu.fiol@fiteco.com::778d51e7-5060-41a7-a923-b51ba3a4c523" providerId="AD" clId="Web-{35AA5572-FA00-42E0-B7AE-2171FA11534F}" dt="2026-06-16T08:01:10.604" v="205" actId="1076"/>
          <ac:picMkLst>
            <pc:docMk/>
            <pc:sldMk cId="940780522" sldId="799"/>
            <ac:picMk id="2" creationId="{4A51994E-59ED-4AC6-2921-8C999D164332}"/>
          </ac:picMkLst>
        </pc:picChg>
        <pc:picChg chg="add mod">
          <ac:chgData name="FIOL Lucile" userId="S::lu.fiol@fiteco.com::778d51e7-5060-41a7-a923-b51ba3a4c523" providerId="AD" clId="Web-{35AA5572-FA00-42E0-B7AE-2171FA11534F}" dt="2026-06-16T08:02:16.826" v="211" actId="1076"/>
          <ac:picMkLst>
            <pc:docMk/>
            <pc:sldMk cId="940780522" sldId="799"/>
            <ac:picMk id="4" creationId="{E2B190DA-2D45-FE14-742D-A16616B2A8FF}"/>
          </ac:picMkLst>
        </pc:picChg>
        <pc:picChg chg="add mod">
          <ac:chgData name="FIOL Lucile" userId="S::lu.fiol@fiteco.com::778d51e7-5060-41a7-a923-b51ba3a4c523" providerId="AD" clId="Web-{35AA5572-FA00-42E0-B7AE-2171FA11534F}" dt="2026-06-16T08:02:34.623" v="215" actId="14100"/>
          <ac:picMkLst>
            <pc:docMk/>
            <pc:sldMk cId="940780522" sldId="799"/>
            <ac:picMk id="12" creationId="{3DEA7062-5B7F-DFB7-6C5B-3E1E2F45ED77}"/>
          </ac:picMkLst>
        </pc:picChg>
      </pc:sldChg>
      <pc:sldChg chg="modSp">
        <pc:chgData name="FIOL Lucile" userId="S::lu.fiol@fiteco.com::778d51e7-5060-41a7-a923-b51ba3a4c523" providerId="AD" clId="Web-{35AA5572-FA00-42E0-B7AE-2171FA11534F}" dt="2026-06-16T08:08:23.277" v="339" actId="14100"/>
        <pc:sldMkLst>
          <pc:docMk/>
          <pc:sldMk cId="247778904" sldId="800"/>
        </pc:sldMkLst>
        <pc:spChg chg="mod">
          <ac:chgData name="FIOL Lucile" userId="S::lu.fiol@fiteco.com::778d51e7-5060-41a7-a923-b51ba3a4c523" providerId="AD" clId="Web-{35AA5572-FA00-42E0-B7AE-2171FA11534F}" dt="2026-06-16T08:08:23.277" v="339" actId="14100"/>
          <ac:spMkLst>
            <pc:docMk/>
            <pc:sldMk cId="247778904" sldId="800"/>
            <ac:spMk id="4" creationId="{7E000077-3121-E80F-1473-2DF7CD74E1BA}"/>
          </ac:spMkLst>
        </pc:spChg>
      </pc:sldChg>
      <pc:sldChg chg="addSp delSp modSp modNotes">
        <pc:chgData name="FIOL Lucile" userId="S::lu.fiol@fiteco.com::778d51e7-5060-41a7-a923-b51ba3a4c523" providerId="AD" clId="Web-{35AA5572-FA00-42E0-B7AE-2171FA11534F}" dt="2026-06-16T08:10:47.564" v="357" actId="1076"/>
        <pc:sldMkLst>
          <pc:docMk/>
          <pc:sldMk cId="260957172" sldId="1555"/>
        </pc:sldMkLst>
        <pc:spChg chg="mod">
          <ac:chgData name="FIOL Lucile" userId="S::lu.fiol@fiteco.com::778d51e7-5060-41a7-a923-b51ba3a4c523" providerId="AD" clId="Web-{35AA5572-FA00-42E0-B7AE-2171FA11534F}" dt="2026-06-16T08:09:31.561" v="349" actId="20577"/>
          <ac:spMkLst>
            <pc:docMk/>
            <pc:sldMk cId="260957172" sldId="1555"/>
            <ac:spMk id="5" creationId="{D60B5958-359A-6842-CF78-E9EFAF3D0215}"/>
          </ac:spMkLst>
        </pc:spChg>
      </pc:sldChg>
      <pc:sldChg chg="addSp modSp modNotes">
        <pc:chgData name="FIOL Lucile" userId="S::lu.fiol@fiteco.com::778d51e7-5060-41a7-a923-b51ba3a4c523" providerId="AD" clId="Web-{35AA5572-FA00-42E0-B7AE-2171FA11534F}" dt="2026-06-16T07:54:44.229" v="167"/>
        <pc:sldMkLst>
          <pc:docMk/>
          <pc:sldMk cId="1661632402" sldId="1586"/>
        </pc:sldMkLst>
        <pc:picChg chg="add mod">
          <ac:chgData name="FIOL Lucile" userId="S::lu.fiol@fiteco.com::778d51e7-5060-41a7-a923-b51ba3a4c523" providerId="AD" clId="Web-{35AA5572-FA00-42E0-B7AE-2171FA11534F}" dt="2026-06-16T07:54:30.057" v="148" actId="1076"/>
          <ac:picMkLst>
            <pc:docMk/>
            <pc:sldMk cId="1661632402" sldId="1586"/>
            <ac:picMk id="8" creationId="{0F5315ED-84AB-B0C5-580C-F38CB4E9BB02}"/>
          </ac:picMkLst>
        </pc:picChg>
      </pc:sldChg>
      <pc:sldChg chg="modNotes">
        <pc:chgData name="FIOL Lucile" userId="S::lu.fiol@fiteco.com::778d51e7-5060-41a7-a923-b51ba3a4c523" providerId="AD" clId="Web-{35AA5572-FA00-42E0-B7AE-2171FA11534F}" dt="2026-06-16T07:49:35.170" v="16"/>
        <pc:sldMkLst>
          <pc:docMk/>
          <pc:sldMk cId="220347103" sldId="1587"/>
        </pc:sldMkLst>
      </pc:sldChg>
      <pc:sldChg chg="delSp modSp modNotes">
        <pc:chgData name="FIOL Lucile" userId="S::lu.fiol@fiteco.com::778d51e7-5060-41a7-a923-b51ba3a4c523" providerId="AD" clId="Web-{35AA5572-FA00-42E0-B7AE-2171FA11534F}" dt="2026-06-16T07:54:03.384" v="146" actId="20577"/>
        <pc:sldMkLst>
          <pc:docMk/>
          <pc:sldMk cId="3313148241" sldId="1588"/>
        </pc:sldMkLst>
        <pc:spChg chg="mod">
          <ac:chgData name="FIOL Lucile" userId="S::lu.fiol@fiteco.com::778d51e7-5060-41a7-a923-b51ba3a4c523" providerId="AD" clId="Web-{35AA5572-FA00-42E0-B7AE-2171FA11534F}" dt="2026-06-16T07:54:03.384" v="146" actId="20577"/>
          <ac:spMkLst>
            <pc:docMk/>
            <pc:sldMk cId="3313148241" sldId="1588"/>
            <ac:spMk id="5" creationId="{D86A2281-C4A3-D3D3-D5B9-57D71C499E19}"/>
          </ac:spMkLst>
        </pc:spChg>
        <pc:spChg chg="mod">
          <ac:chgData name="FIOL Lucile" userId="S::lu.fiol@fiteco.com::778d51e7-5060-41a7-a923-b51ba3a4c523" providerId="AD" clId="Web-{35AA5572-FA00-42E0-B7AE-2171FA11534F}" dt="2026-06-16T07:49:45.874" v="18" actId="20577"/>
          <ac:spMkLst>
            <pc:docMk/>
            <pc:sldMk cId="3313148241" sldId="1588"/>
            <ac:spMk id="6" creationId="{799C8148-11D1-DD3E-CD44-9B1669354D83}"/>
          </ac:spMkLst>
        </pc:spChg>
        <pc:spChg chg="mod">
          <ac:chgData name="FIOL Lucile" userId="S::lu.fiol@fiteco.com::778d51e7-5060-41a7-a923-b51ba3a4c523" providerId="AD" clId="Web-{35AA5572-FA00-42E0-B7AE-2171FA11534F}" dt="2026-06-16T07:50:12.266" v="20" actId="20577"/>
          <ac:spMkLst>
            <pc:docMk/>
            <pc:sldMk cId="3313148241" sldId="1588"/>
            <ac:spMk id="7" creationId="{68D4475B-BFAA-530F-6901-95B14478940D}"/>
          </ac:spMkLst>
        </pc:spChg>
      </pc:sldChg>
      <pc:sldChg chg="addSp delSp modSp add ord replId modNotes">
        <pc:chgData name="FIOL Lucile" userId="S::lu.fiol@fiteco.com::778d51e7-5060-41a7-a923-b51ba3a4c523" providerId="AD" clId="Web-{35AA5572-FA00-42E0-B7AE-2171FA11534F}" dt="2026-06-16T08:08:00.214" v="330" actId="20577"/>
        <pc:sldMkLst>
          <pc:docMk/>
          <pc:sldMk cId="3038465661" sldId="1591"/>
        </pc:sldMkLst>
        <pc:spChg chg="mod">
          <ac:chgData name="FIOL Lucile" userId="S::lu.fiol@fiteco.com::778d51e7-5060-41a7-a923-b51ba3a4c523" providerId="AD" clId="Web-{35AA5572-FA00-42E0-B7AE-2171FA11534F}" dt="2026-06-16T08:07:39.697" v="324" actId="1076"/>
          <ac:spMkLst>
            <pc:docMk/>
            <pc:sldMk cId="3038465661" sldId="1591"/>
            <ac:spMk id="5" creationId="{3AF8EE66-A6E1-EEA4-4B4D-A3A5203281E9}"/>
          </ac:spMkLst>
        </pc:spChg>
        <pc:spChg chg="mod">
          <ac:chgData name="FIOL Lucile" userId="S::lu.fiol@fiteco.com::778d51e7-5060-41a7-a923-b51ba3a4c523" providerId="AD" clId="Web-{35AA5572-FA00-42E0-B7AE-2171FA11534F}" dt="2026-06-16T08:03:36.344" v="229" actId="20577"/>
          <ac:spMkLst>
            <pc:docMk/>
            <pc:sldMk cId="3038465661" sldId="1591"/>
            <ac:spMk id="6" creationId="{51D0C872-2D5C-6BDD-F530-CF6DF2357179}"/>
          </ac:spMkLst>
        </pc:spChg>
        <pc:spChg chg="mod">
          <ac:chgData name="FIOL Lucile" userId="S::lu.fiol@fiteco.com::778d51e7-5060-41a7-a923-b51ba3a4c523" providerId="AD" clId="Web-{35AA5572-FA00-42E0-B7AE-2171FA11534F}" dt="2026-06-16T08:06:41.008" v="298" actId="20577"/>
          <ac:spMkLst>
            <pc:docMk/>
            <pc:sldMk cId="3038465661" sldId="1591"/>
            <ac:spMk id="7" creationId="{D228AF99-F100-1017-08AC-DD554E5761C7}"/>
          </ac:spMkLst>
        </pc:spChg>
        <pc:spChg chg="add mod">
          <ac:chgData name="FIOL Lucile" userId="S::lu.fiol@fiteco.com::778d51e7-5060-41a7-a923-b51ba3a4c523" providerId="AD" clId="Web-{35AA5572-FA00-42E0-B7AE-2171FA11534F}" dt="2026-06-16T08:08:00.214" v="330" actId="20577"/>
          <ac:spMkLst>
            <pc:docMk/>
            <pc:sldMk cId="3038465661" sldId="1591"/>
            <ac:spMk id="8" creationId="{93399620-CFAE-D076-89A4-797BD3330981}"/>
          </ac:spMkLst>
        </pc:spChg>
        <pc:picChg chg="add mod">
          <ac:chgData name="FIOL Lucile" userId="S::lu.fiol@fiteco.com::778d51e7-5060-41a7-a923-b51ba3a4c523" providerId="AD" clId="Web-{35AA5572-FA00-42E0-B7AE-2171FA11534F}" dt="2026-06-16T08:07:17.603" v="315" actId="1076"/>
          <ac:picMkLst>
            <pc:docMk/>
            <pc:sldMk cId="3038465661" sldId="1591"/>
            <ac:picMk id="4" creationId="{0B551296-648C-1DA0-205E-B0C7109E9A9D}"/>
          </ac:picMkLst>
        </pc:picChg>
      </pc:sldChg>
      <pc:sldChg chg="add replId">
        <pc:chgData name="FIOL Lucile" userId="S::lu.fiol@fiteco.com::778d51e7-5060-41a7-a923-b51ba3a4c523" providerId="AD" clId="Web-{35AA5572-FA00-42E0-B7AE-2171FA11534F}" dt="2026-06-16T08:09:04.154" v="342"/>
        <pc:sldMkLst>
          <pc:docMk/>
          <pc:sldMk cId="3704183951" sldId="1592"/>
        </pc:sldMkLst>
      </pc:sldChg>
      <pc:sldChg chg="addSp modSp add replId modNotes">
        <pc:chgData name="FIOL Lucile" userId="S::lu.fiol@fiteco.com::778d51e7-5060-41a7-a923-b51ba3a4c523" providerId="AD" clId="Web-{35AA5572-FA00-42E0-B7AE-2171FA11534F}" dt="2026-06-16T08:11:52.864" v="380" actId="1076"/>
        <pc:sldMkLst>
          <pc:docMk/>
          <pc:sldMk cId="3505755942" sldId="1593"/>
        </pc:sldMkLst>
        <pc:picChg chg="add mod">
          <ac:chgData name="FIOL Lucile" userId="S::lu.fiol@fiteco.com::778d51e7-5060-41a7-a923-b51ba3a4c523" providerId="AD" clId="Web-{35AA5572-FA00-42E0-B7AE-2171FA11534F}" dt="2026-06-16T08:11:52.864" v="380" actId="1076"/>
          <ac:picMkLst>
            <pc:docMk/>
            <pc:sldMk cId="3505755942" sldId="1593"/>
            <ac:picMk id="2" creationId="{ED8A1E9E-CE5E-E235-7488-28B110CB5B67}"/>
          </ac:picMkLst>
        </pc:picChg>
      </pc:sldChg>
    </pc:docChg>
  </pc:docChgLst>
  <pc:docChgLst>
    <pc:chgData name="Guest User" userId="S::urn:spo:tenantanon#c91606e4-f272-4d31-bbfc-820bba825ea5::" providerId="AD" clId="Web-{782D96A3-0FEB-0D4F-7D46-7D20F8D12E80}"/>
    <pc:docChg chg="modSld">
      <pc:chgData name="Guest User" userId="S::urn:spo:tenantanon#c91606e4-f272-4d31-bbfc-820bba825ea5::" providerId="AD" clId="Web-{782D96A3-0FEB-0D4F-7D46-7D20F8D12E80}" dt="2026-06-17T08:44:04.862" v="308"/>
      <pc:docMkLst>
        <pc:docMk/>
      </pc:docMkLst>
      <pc:sldChg chg="modSp">
        <pc:chgData name="Guest User" userId="S::urn:spo:tenantanon#c91606e4-f272-4d31-bbfc-820bba825ea5::" providerId="AD" clId="Web-{782D96A3-0FEB-0D4F-7D46-7D20F8D12E80}" dt="2026-06-17T08:33:45.255" v="91" actId="20577"/>
        <pc:sldMkLst>
          <pc:docMk/>
          <pc:sldMk cId="2935409531" sldId="858"/>
        </pc:sldMkLst>
        <pc:spChg chg="mod">
          <ac:chgData name="Guest User" userId="S::urn:spo:tenantanon#c91606e4-f272-4d31-bbfc-820bba825ea5::" providerId="AD" clId="Web-{782D96A3-0FEB-0D4F-7D46-7D20F8D12E80}" dt="2026-06-17T08:33:45.255" v="91" actId="20577"/>
          <ac:spMkLst>
            <pc:docMk/>
            <pc:sldMk cId="2935409531" sldId="858"/>
            <ac:spMk id="5" creationId="{C882A260-2DA6-66EE-C531-6680369DDFF0}"/>
          </ac:spMkLst>
        </pc:spChg>
      </pc:sldChg>
      <pc:sldChg chg="modNotes">
        <pc:chgData name="Guest User" userId="S::urn:spo:tenantanon#c91606e4-f272-4d31-bbfc-820bba825ea5::" providerId="AD" clId="Web-{782D96A3-0FEB-0D4F-7D46-7D20F8D12E80}" dt="2026-06-17T08:32:12.280" v="68"/>
        <pc:sldMkLst>
          <pc:docMk/>
          <pc:sldMk cId="185045434" sldId="861"/>
        </pc:sldMkLst>
      </pc:sldChg>
      <pc:sldChg chg="modNotes">
        <pc:chgData name="Guest User" userId="S::urn:spo:tenantanon#c91606e4-f272-4d31-bbfc-820bba825ea5::" providerId="AD" clId="Web-{782D96A3-0FEB-0D4F-7D46-7D20F8D12E80}" dt="2026-06-17T08:44:04.862" v="308"/>
        <pc:sldMkLst>
          <pc:docMk/>
          <pc:sldMk cId="769188190" sldId="1558"/>
        </pc:sldMkLst>
      </pc:sldChg>
      <pc:sldChg chg="modNotes">
        <pc:chgData name="Guest User" userId="S::urn:spo:tenantanon#c91606e4-f272-4d31-bbfc-820bba825ea5::" providerId="AD" clId="Web-{782D96A3-0FEB-0D4F-7D46-7D20F8D12E80}" dt="2026-06-17T08:35:55.561" v="207"/>
        <pc:sldMkLst>
          <pc:docMk/>
          <pc:sldMk cId="3341672787" sldId="1573"/>
        </pc:sldMkLst>
      </pc:sldChg>
      <pc:sldChg chg="addSp modSp modNotes">
        <pc:chgData name="Guest User" userId="S::urn:spo:tenantanon#c91606e4-f272-4d31-bbfc-820bba825ea5::" providerId="AD" clId="Web-{782D96A3-0FEB-0D4F-7D46-7D20F8D12E80}" dt="2026-06-17T08:40:21.799" v="306"/>
        <pc:sldMkLst>
          <pc:docMk/>
          <pc:sldMk cId="1489350177" sldId="1576"/>
        </pc:sldMkLst>
        <pc:spChg chg="add mod">
          <ac:chgData name="Guest User" userId="S::urn:spo:tenantanon#c91606e4-f272-4d31-bbfc-820bba825ea5::" providerId="AD" clId="Web-{782D96A3-0FEB-0D4F-7D46-7D20F8D12E80}" dt="2026-06-17T08:40:18.736" v="305" actId="20577"/>
          <ac:spMkLst>
            <pc:docMk/>
            <pc:sldMk cId="1489350177" sldId="1576"/>
            <ac:spMk id="2" creationId="{28A0C364-3DA8-EFBE-EDEF-9D6859E4D354}"/>
          </ac:spMkLst>
        </pc:spChg>
      </pc:sldChg>
      <pc:sldChg chg="modSp">
        <pc:chgData name="Guest User" userId="S::urn:spo:tenantanon#c91606e4-f272-4d31-bbfc-820bba825ea5::" providerId="AD" clId="Web-{782D96A3-0FEB-0D4F-7D46-7D20F8D12E80}" dt="2026-06-17T08:36:23.766" v="209" actId="20577"/>
        <pc:sldMkLst>
          <pc:docMk/>
          <pc:sldMk cId="4231237559" sldId="1577"/>
        </pc:sldMkLst>
        <pc:spChg chg="mod">
          <ac:chgData name="Guest User" userId="S::urn:spo:tenantanon#c91606e4-f272-4d31-bbfc-820bba825ea5::" providerId="AD" clId="Web-{782D96A3-0FEB-0D4F-7D46-7D20F8D12E80}" dt="2026-06-17T08:36:23.766" v="209" actId="20577"/>
          <ac:spMkLst>
            <pc:docMk/>
            <pc:sldMk cId="4231237559" sldId="1577"/>
            <ac:spMk id="7" creationId="{FDB9B121-6CBC-8E9B-20EF-5C02BA42708E}"/>
          </ac:spMkLst>
        </pc:spChg>
      </pc:sldChg>
    </pc:docChg>
  </pc:docChgLst>
  <pc:docChgLst>
    <pc:chgData name="Guest User" userId="S::urn:spo:tenantanon#c91606e4-f272-4d31-bbfc-820bba825ea5::" providerId="AD" clId="Web-{FFD5B43C-0CBC-92B5-3E6D-8612FB2F2985}"/>
    <pc:docChg chg="delSld modSld sldOrd">
      <pc:chgData name="Guest User" userId="S::urn:spo:tenantanon#c91606e4-f272-4d31-bbfc-820bba825ea5::" providerId="AD" clId="Web-{FFD5B43C-0CBC-92B5-3E6D-8612FB2F2985}" dt="2026-06-29T09:51:17.991" v="59" actId="1076"/>
      <pc:docMkLst>
        <pc:docMk/>
      </pc:docMkLst>
      <pc:sldChg chg="addSp modSp">
        <pc:chgData name="Guest User" userId="S::urn:spo:tenantanon#c91606e4-f272-4d31-bbfc-820bba825ea5::" providerId="AD" clId="Web-{FFD5B43C-0CBC-92B5-3E6D-8612FB2F2985}" dt="2026-06-29T09:32:45.527" v="52"/>
        <pc:sldMkLst>
          <pc:docMk/>
          <pc:sldMk cId="1527709142" sldId="1567"/>
        </pc:sldMkLst>
        <pc:spChg chg="add mod">
          <ac:chgData name="Guest User" userId="S::urn:spo:tenantanon#c91606e4-f272-4d31-bbfc-820bba825ea5::" providerId="AD" clId="Web-{FFD5B43C-0CBC-92B5-3E6D-8612FB2F2985}" dt="2026-06-29T09:32:45.527" v="52"/>
          <ac:spMkLst>
            <pc:docMk/>
            <pc:sldMk cId="1527709142" sldId="1567"/>
            <ac:spMk id="2" creationId="{8879EEC8-5C0A-8781-B433-D4117E993729}"/>
          </ac:spMkLst>
        </pc:spChg>
        <pc:spChg chg="mod">
          <ac:chgData name="Guest User" userId="S::urn:spo:tenantanon#c91606e4-f272-4d31-bbfc-820bba825ea5::" providerId="AD" clId="Web-{FFD5B43C-0CBC-92B5-3E6D-8612FB2F2985}" dt="2026-06-29T09:22:05.409" v="37" actId="20577"/>
          <ac:spMkLst>
            <pc:docMk/>
            <pc:sldMk cId="1527709142" sldId="1567"/>
            <ac:spMk id="5" creationId="{D6825414-5084-47AB-BF6C-5C1059707C95}"/>
          </ac:spMkLst>
        </pc:spChg>
        <pc:spChg chg="mod">
          <ac:chgData name="Guest User" userId="S::urn:spo:tenantanon#c91606e4-f272-4d31-bbfc-820bba825ea5::" providerId="AD" clId="Web-{FFD5B43C-0CBC-92B5-3E6D-8612FB2F2985}" dt="2026-06-29T09:32:16.276" v="45" actId="20577"/>
          <ac:spMkLst>
            <pc:docMk/>
            <pc:sldMk cId="1527709142" sldId="1567"/>
            <ac:spMk id="7" creationId="{DF904A79-A209-0152-3333-4898F6FACB79}"/>
          </ac:spMkLst>
        </pc:spChg>
      </pc:sldChg>
      <pc:sldChg chg="modSp ord">
        <pc:chgData name="Guest User" userId="S::urn:spo:tenantanon#c91606e4-f272-4d31-bbfc-820bba825ea5::" providerId="AD" clId="Web-{FFD5B43C-0CBC-92B5-3E6D-8612FB2F2985}" dt="2026-06-29T09:21:42.955" v="30" actId="20577"/>
        <pc:sldMkLst>
          <pc:docMk/>
          <pc:sldMk cId="571785858" sldId="1571"/>
        </pc:sldMkLst>
        <pc:spChg chg="mod">
          <ac:chgData name="Guest User" userId="S::urn:spo:tenantanon#c91606e4-f272-4d31-bbfc-820bba825ea5::" providerId="AD" clId="Web-{FFD5B43C-0CBC-92B5-3E6D-8612FB2F2985}" dt="2026-06-29T09:15:42.722" v="5" actId="20577"/>
          <ac:spMkLst>
            <pc:docMk/>
            <pc:sldMk cId="571785858" sldId="1571"/>
            <ac:spMk id="3" creationId="{BC0DC48D-5328-7682-7396-A7CE828584C6}"/>
          </ac:spMkLst>
        </pc:spChg>
        <pc:spChg chg="mod">
          <ac:chgData name="Guest User" userId="S::urn:spo:tenantanon#c91606e4-f272-4d31-bbfc-820bba825ea5::" providerId="AD" clId="Web-{FFD5B43C-0CBC-92B5-3E6D-8612FB2F2985}" dt="2026-06-29T09:21:42.955" v="30" actId="20577"/>
          <ac:spMkLst>
            <pc:docMk/>
            <pc:sldMk cId="571785858" sldId="1571"/>
            <ac:spMk id="4" creationId="{A28E8716-65BD-39CC-8092-8C991A7074B4}"/>
          </ac:spMkLst>
        </pc:spChg>
        <pc:spChg chg="mod">
          <ac:chgData name="Guest User" userId="S::urn:spo:tenantanon#c91606e4-f272-4d31-bbfc-820bba825ea5::" providerId="AD" clId="Web-{FFD5B43C-0CBC-92B5-3E6D-8612FB2F2985}" dt="2026-06-29T09:16:52.225" v="23" actId="20577"/>
          <ac:spMkLst>
            <pc:docMk/>
            <pc:sldMk cId="571785858" sldId="1571"/>
            <ac:spMk id="5" creationId="{22D74276-7D77-8C41-A29B-114BD0D08202}"/>
          </ac:spMkLst>
        </pc:spChg>
      </pc:sldChg>
      <pc:sldChg chg="addSp delSp modSp">
        <pc:chgData name="Guest User" userId="S::urn:spo:tenantanon#c91606e4-f272-4d31-bbfc-820bba825ea5::" providerId="AD" clId="Web-{FFD5B43C-0CBC-92B5-3E6D-8612FB2F2985}" dt="2026-06-29T09:51:17.991" v="59" actId="1076"/>
        <pc:sldMkLst>
          <pc:docMk/>
          <pc:sldMk cId="220347103" sldId="1587"/>
        </pc:sldMkLst>
        <pc:spChg chg="add mod">
          <ac:chgData name="Guest User" userId="S::urn:spo:tenantanon#c91606e4-f272-4d31-bbfc-820bba825ea5::" providerId="AD" clId="Web-{FFD5B43C-0CBC-92B5-3E6D-8612FB2F2985}" dt="2026-06-29T09:51:17.991" v="59" actId="1076"/>
          <ac:spMkLst>
            <pc:docMk/>
            <pc:sldMk cId="220347103" sldId="1587"/>
            <ac:spMk id="6" creationId="{E4A2C536-AD0B-5EC8-F9D1-D0244AD213C7}"/>
          </ac:spMkLst>
        </pc:spChg>
      </pc:sldChg>
    </pc:docChg>
  </pc:docChgLst>
  <pc:docChgLst>
    <pc:chgData name="Guest User" userId="S::urn:spo:tenantanon#c91606e4-f272-4d31-bbfc-820bba825ea5::" providerId="AD" clId="Web-{0862BB5A-D212-4062-D0E0-CA0AE78B7113}"/>
    <pc:docChg chg="addSld modSld">
      <pc:chgData name="Guest User" userId="S::urn:spo:tenantanon#c91606e4-f272-4d31-bbfc-820bba825ea5::" providerId="AD" clId="Web-{0862BB5A-D212-4062-D0E0-CA0AE78B7113}" dt="2026-06-30T13:12:58.676" v="2359"/>
      <pc:docMkLst>
        <pc:docMk/>
      </pc:docMkLst>
      <pc:sldChg chg="modNotes">
        <pc:chgData name="Guest User" userId="S::urn:spo:tenantanon#c91606e4-f272-4d31-bbfc-820bba825ea5::" providerId="AD" clId="Web-{0862BB5A-D212-4062-D0E0-CA0AE78B7113}" dt="2026-06-30T12:07:02.480" v="497"/>
        <pc:sldMkLst>
          <pc:docMk/>
          <pc:sldMk cId="918224039" sldId="696"/>
        </pc:sldMkLst>
      </pc:sldChg>
      <pc:sldChg chg="modSp">
        <pc:chgData name="Guest User" userId="S::urn:spo:tenantanon#c91606e4-f272-4d31-bbfc-820bba825ea5::" providerId="AD" clId="Web-{0862BB5A-D212-4062-D0E0-CA0AE78B7113}" dt="2026-06-30T11:51:23.207" v="47" actId="20577"/>
        <pc:sldMkLst>
          <pc:docMk/>
          <pc:sldMk cId="1611006643" sldId="718"/>
        </pc:sldMkLst>
        <pc:spChg chg="mod">
          <ac:chgData name="Guest User" userId="S::urn:spo:tenantanon#c91606e4-f272-4d31-bbfc-820bba825ea5::" providerId="AD" clId="Web-{0862BB5A-D212-4062-D0E0-CA0AE78B7113}" dt="2026-06-30T11:51:23.207" v="47" actId="20577"/>
          <ac:spMkLst>
            <pc:docMk/>
            <pc:sldMk cId="1611006643" sldId="718"/>
            <ac:spMk id="5" creationId="{90BC446B-146F-F675-18E0-69E1AC736CE9}"/>
          </ac:spMkLst>
        </pc:spChg>
        <pc:spChg chg="mod">
          <ac:chgData name="Guest User" userId="S::urn:spo:tenantanon#c91606e4-f272-4d31-bbfc-820bba825ea5::" providerId="AD" clId="Web-{0862BB5A-D212-4062-D0E0-CA0AE78B7113}" dt="2026-06-30T11:49:29.799" v="17"/>
          <ac:spMkLst>
            <pc:docMk/>
            <pc:sldMk cId="1611006643" sldId="718"/>
            <ac:spMk id="6" creationId="{D48B6D90-0D01-5014-2CD6-562253EB4295}"/>
          </ac:spMkLst>
        </pc:spChg>
      </pc:sldChg>
      <pc:sldChg chg="addSp modSp">
        <pc:chgData name="Guest User" userId="S::urn:spo:tenantanon#c91606e4-f272-4d31-bbfc-820bba825ea5::" providerId="AD" clId="Web-{0862BB5A-D212-4062-D0E0-CA0AE78B7113}" dt="2026-06-30T12:40:52.318" v="1071" actId="1076"/>
        <pc:sldMkLst>
          <pc:docMk/>
          <pc:sldMk cId="1573549487" sldId="726"/>
        </pc:sldMkLst>
        <pc:picChg chg="add mod">
          <ac:chgData name="Guest User" userId="S::urn:spo:tenantanon#c91606e4-f272-4d31-bbfc-820bba825ea5::" providerId="AD" clId="Web-{0862BB5A-D212-4062-D0E0-CA0AE78B7113}" dt="2026-06-30T12:40:52.318" v="1071" actId="1076"/>
          <ac:picMkLst>
            <pc:docMk/>
            <pc:sldMk cId="1573549487" sldId="726"/>
            <ac:picMk id="3" creationId="{346C4D40-7785-12B3-F2A7-3CEF43514D4A}"/>
          </ac:picMkLst>
        </pc:picChg>
      </pc:sldChg>
      <pc:sldChg chg="modNotes">
        <pc:chgData name="Guest User" userId="S::urn:spo:tenantanon#c91606e4-f272-4d31-bbfc-820bba825ea5::" providerId="AD" clId="Web-{0862BB5A-D212-4062-D0E0-CA0AE78B7113}" dt="2026-06-30T12:35:02.819" v="1002"/>
        <pc:sldMkLst>
          <pc:docMk/>
          <pc:sldMk cId="769188190" sldId="1558"/>
        </pc:sldMkLst>
      </pc:sldChg>
      <pc:sldChg chg="modSp">
        <pc:chgData name="Guest User" userId="S::urn:spo:tenantanon#c91606e4-f272-4d31-bbfc-820bba825ea5::" providerId="AD" clId="Web-{0862BB5A-D212-4062-D0E0-CA0AE78B7113}" dt="2026-06-30T11:51:53.161" v="54" actId="20577"/>
        <pc:sldMkLst>
          <pc:docMk/>
          <pc:sldMk cId="547153299" sldId="1566"/>
        </pc:sldMkLst>
        <pc:spChg chg="mod">
          <ac:chgData name="Guest User" userId="S::urn:spo:tenantanon#c91606e4-f272-4d31-bbfc-820bba825ea5::" providerId="AD" clId="Web-{0862BB5A-D212-4062-D0E0-CA0AE78B7113}" dt="2026-06-30T11:51:53.161" v="54" actId="20577"/>
          <ac:spMkLst>
            <pc:docMk/>
            <pc:sldMk cId="547153299" sldId="1566"/>
            <ac:spMk id="3" creationId="{082AE675-6C7A-84A8-75D5-BB0B5E27DAB4}"/>
          </ac:spMkLst>
        </pc:spChg>
      </pc:sldChg>
      <pc:sldChg chg="modSp">
        <pc:chgData name="Guest User" userId="S::urn:spo:tenantanon#c91606e4-f272-4d31-bbfc-820bba825ea5::" providerId="AD" clId="Web-{0862BB5A-D212-4062-D0E0-CA0AE78B7113}" dt="2026-06-30T12:06:17.589" v="492" actId="20577"/>
        <pc:sldMkLst>
          <pc:docMk/>
          <pc:sldMk cId="1527709142" sldId="1567"/>
        </pc:sldMkLst>
        <pc:spChg chg="mod">
          <ac:chgData name="Guest User" userId="S::urn:spo:tenantanon#c91606e4-f272-4d31-bbfc-820bba825ea5::" providerId="AD" clId="Web-{0862BB5A-D212-4062-D0E0-CA0AE78B7113}" dt="2026-06-30T12:06:17.589" v="492" actId="20577"/>
          <ac:spMkLst>
            <pc:docMk/>
            <pc:sldMk cId="1527709142" sldId="1567"/>
            <ac:spMk id="6" creationId="{B6EDF01C-6354-8C8E-553A-1EE196F6F59B}"/>
          </ac:spMkLst>
        </pc:spChg>
        <pc:spChg chg="mod">
          <ac:chgData name="Guest User" userId="S::urn:spo:tenantanon#c91606e4-f272-4d31-bbfc-820bba825ea5::" providerId="AD" clId="Web-{0862BB5A-D212-4062-D0E0-CA0AE78B7113}" dt="2026-06-30T12:05:47.416" v="479" actId="1076"/>
          <ac:spMkLst>
            <pc:docMk/>
            <pc:sldMk cId="1527709142" sldId="1567"/>
            <ac:spMk id="7" creationId="{DF904A79-A209-0152-3333-4898F6FACB79}"/>
          </ac:spMkLst>
        </pc:spChg>
      </pc:sldChg>
      <pc:sldChg chg="modNotes">
        <pc:chgData name="Guest User" userId="S::urn:spo:tenantanon#c91606e4-f272-4d31-bbfc-820bba825ea5::" providerId="AD" clId="Web-{0862BB5A-D212-4062-D0E0-CA0AE78B7113}" dt="2026-06-30T13:12:58.676" v="2359"/>
        <pc:sldMkLst>
          <pc:docMk/>
          <pc:sldMk cId="3341672787" sldId="1573"/>
        </pc:sldMkLst>
      </pc:sldChg>
      <pc:sldChg chg="addSp modSp modNotes">
        <pc:chgData name="Guest User" userId="S::urn:spo:tenantanon#c91606e4-f272-4d31-bbfc-820bba825ea5::" providerId="AD" clId="Web-{0862BB5A-D212-4062-D0E0-CA0AE78B7113}" dt="2026-06-30T13:11:59.751" v="2282"/>
        <pc:sldMkLst>
          <pc:docMk/>
          <pc:sldMk cId="3795906666" sldId="1575"/>
        </pc:sldMkLst>
        <pc:spChg chg="add mod">
          <ac:chgData name="Guest User" userId="S::urn:spo:tenantanon#c91606e4-f272-4d31-bbfc-820bba825ea5::" providerId="AD" clId="Web-{0862BB5A-D212-4062-D0E0-CA0AE78B7113}" dt="2026-06-30T13:08:55.275" v="2030" actId="688"/>
          <ac:spMkLst>
            <pc:docMk/>
            <pc:sldMk cId="3795906666" sldId="1575"/>
            <ac:spMk id="2" creationId="{C44C9BD1-606B-0656-E192-CFF48F2E7C36}"/>
          </ac:spMkLst>
        </pc:spChg>
      </pc:sldChg>
      <pc:sldChg chg="modNotes">
        <pc:chgData name="Guest User" userId="S::urn:spo:tenantanon#c91606e4-f272-4d31-bbfc-820bba825ea5::" providerId="AD" clId="Web-{0862BB5A-D212-4062-D0E0-CA0AE78B7113}" dt="2026-06-30T12:35:27.289" v="1005"/>
        <pc:sldMkLst>
          <pc:docMk/>
          <pc:sldMk cId="1489350177" sldId="1576"/>
        </pc:sldMkLst>
      </pc:sldChg>
      <pc:sldChg chg="modSp">
        <pc:chgData name="Guest User" userId="S::urn:spo:tenantanon#c91606e4-f272-4d31-bbfc-820bba825ea5::" providerId="AD" clId="Web-{0862BB5A-D212-4062-D0E0-CA0AE78B7113}" dt="2026-06-30T11:57:36.542" v="107"/>
        <pc:sldMkLst>
          <pc:docMk/>
          <pc:sldMk cId="1242284759" sldId="1582"/>
        </pc:sldMkLst>
        <pc:spChg chg="mod">
          <ac:chgData name="Guest User" userId="S::urn:spo:tenantanon#c91606e4-f272-4d31-bbfc-820bba825ea5::" providerId="AD" clId="Web-{0862BB5A-D212-4062-D0E0-CA0AE78B7113}" dt="2026-06-30T11:50:16.737" v="26" actId="20577"/>
          <ac:spMkLst>
            <pc:docMk/>
            <pc:sldMk cId="1242284759" sldId="1582"/>
            <ac:spMk id="5" creationId="{0D113E80-54F9-85D1-0F93-ACB53E17AA61}"/>
          </ac:spMkLst>
        </pc:spChg>
        <pc:graphicFrameChg chg="mod modGraphic">
          <ac:chgData name="Guest User" userId="S::urn:spo:tenantanon#c91606e4-f272-4d31-bbfc-820bba825ea5::" providerId="AD" clId="Web-{0862BB5A-D212-4062-D0E0-CA0AE78B7113}" dt="2026-06-30T11:57:36.542" v="107"/>
          <ac:graphicFrameMkLst>
            <pc:docMk/>
            <pc:sldMk cId="1242284759" sldId="1582"/>
            <ac:graphicFrameMk id="2" creationId="{2A98307D-CFFD-8501-AFF0-3E3D86823670}"/>
          </ac:graphicFrameMkLst>
        </pc:graphicFrameChg>
      </pc:sldChg>
      <pc:sldChg chg="modSp">
        <pc:chgData name="Guest User" userId="S::urn:spo:tenantanon#c91606e4-f272-4d31-bbfc-820bba825ea5::" providerId="AD" clId="Web-{0862BB5A-D212-4062-D0E0-CA0AE78B7113}" dt="2026-06-30T11:50:56.519" v="38" actId="20577"/>
        <pc:sldMkLst>
          <pc:docMk/>
          <pc:sldMk cId="956406968" sldId="1583"/>
        </pc:sldMkLst>
        <pc:spChg chg="mod">
          <ac:chgData name="Guest User" userId="S::urn:spo:tenantanon#c91606e4-f272-4d31-bbfc-820bba825ea5::" providerId="AD" clId="Web-{0862BB5A-D212-4062-D0E0-CA0AE78B7113}" dt="2026-06-30T11:50:56.519" v="38" actId="20577"/>
          <ac:spMkLst>
            <pc:docMk/>
            <pc:sldMk cId="956406968" sldId="1583"/>
            <ac:spMk id="5" creationId="{3BF86695-03CD-2001-8835-11CE8872E3E6}"/>
          </ac:spMkLst>
        </pc:spChg>
      </pc:sldChg>
      <pc:sldChg chg="addSp delSp modSp modNotes">
        <pc:chgData name="Guest User" userId="S::urn:spo:tenantanon#c91606e4-f272-4d31-bbfc-820bba825ea5::" providerId="AD" clId="Web-{0862BB5A-D212-4062-D0E0-CA0AE78B7113}" dt="2026-06-30T12:32:54.502" v="930"/>
        <pc:sldMkLst>
          <pc:docMk/>
          <pc:sldMk cId="643884977" sldId="1596"/>
        </pc:sldMkLst>
        <pc:spChg chg="mod">
          <ac:chgData name="Guest User" userId="S::urn:spo:tenantanon#c91606e4-f272-4d31-bbfc-820bba825ea5::" providerId="AD" clId="Web-{0862BB5A-D212-4062-D0E0-CA0AE78B7113}" dt="2026-06-30T12:27:24.457" v="854" actId="20577"/>
          <ac:spMkLst>
            <pc:docMk/>
            <pc:sldMk cId="643884977" sldId="1596"/>
            <ac:spMk id="4" creationId="{E8881B14-ECAA-39DE-2F6F-13583621320C}"/>
          </ac:spMkLst>
        </pc:spChg>
        <pc:spChg chg="add mod">
          <ac:chgData name="Guest User" userId="S::urn:spo:tenantanon#c91606e4-f272-4d31-bbfc-820bba825ea5::" providerId="AD" clId="Web-{0862BB5A-D212-4062-D0E0-CA0AE78B7113}" dt="2026-06-30T12:28:18.725" v="872" actId="14100"/>
          <ac:spMkLst>
            <pc:docMk/>
            <pc:sldMk cId="643884977" sldId="1596"/>
            <ac:spMk id="5" creationId="{0C27B4B2-89D7-A048-F9B2-164870BC5520}"/>
          </ac:spMkLst>
        </pc:spChg>
        <pc:spChg chg="add mod">
          <ac:chgData name="Guest User" userId="S::urn:spo:tenantanon#c91606e4-f272-4d31-bbfc-820bba825ea5::" providerId="AD" clId="Web-{0862BB5A-D212-4062-D0E0-CA0AE78B7113}" dt="2026-06-30T12:27:36.504" v="857" actId="1076"/>
          <ac:spMkLst>
            <pc:docMk/>
            <pc:sldMk cId="643884977" sldId="1596"/>
            <ac:spMk id="6" creationId="{4BE1BE79-F551-DDDE-11EB-8790617D04EA}"/>
          </ac:spMkLst>
        </pc:spChg>
        <pc:spChg chg="add mod">
          <ac:chgData name="Guest User" userId="S::urn:spo:tenantanon#c91606e4-f272-4d31-bbfc-820bba825ea5::" providerId="AD" clId="Web-{0862BB5A-D212-4062-D0E0-CA0AE78B7113}" dt="2026-06-30T12:28:03.005" v="866" actId="1076"/>
          <ac:spMkLst>
            <pc:docMk/>
            <pc:sldMk cId="643884977" sldId="1596"/>
            <ac:spMk id="7" creationId="{D51CB93A-FD5F-6002-32F4-8B4AF8592429}"/>
          </ac:spMkLst>
        </pc:spChg>
        <pc:spChg chg="add mod">
          <ac:chgData name="Guest User" userId="S::urn:spo:tenantanon#c91606e4-f272-4d31-bbfc-820bba825ea5::" providerId="AD" clId="Web-{0862BB5A-D212-4062-D0E0-CA0AE78B7113}" dt="2026-06-30T12:30:23.855" v="901" actId="14100"/>
          <ac:spMkLst>
            <pc:docMk/>
            <pc:sldMk cId="643884977" sldId="1596"/>
            <ac:spMk id="8" creationId="{BA9E2EF6-1943-841E-40E9-74E6580D0DE9}"/>
          </ac:spMkLst>
        </pc:spChg>
        <pc:spChg chg="add mod">
          <ac:chgData name="Guest User" userId="S::urn:spo:tenantanon#c91606e4-f272-4d31-bbfc-820bba825ea5::" providerId="AD" clId="Web-{0862BB5A-D212-4062-D0E0-CA0AE78B7113}" dt="2026-06-30T12:28:25.850" v="875" actId="20577"/>
          <ac:spMkLst>
            <pc:docMk/>
            <pc:sldMk cId="643884977" sldId="1596"/>
            <ac:spMk id="9" creationId="{F54546B0-54D2-60E6-8782-4EB7D65EAA86}"/>
          </ac:spMkLst>
        </pc:spChg>
        <pc:spChg chg="add mod">
          <ac:chgData name="Guest User" userId="S::urn:spo:tenantanon#c91606e4-f272-4d31-bbfc-820bba825ea5::" providerId="AD" clId="Web-{0862BB5A-D212-4062-D0E0-CA0AE78B7113}" dt="2026-06-30T12:29:10.211" v="887" actId="1076"/>
          <ac:spMkLst>
            <pc:docMk/>
            <pc:sldMk cId="643884977" sldId="1596"/>
            <ac:spMk id="10" creationId="{A30ACCDC-8415-FDC0-5DD2-03E76E2BD512}"/>
          </ac:spMkLst>
        </pc:spChg>
        <pc:spChg chg="add mod">
          <ac:chgData name="Guest User" userId="S::urn:spo:tenantanon#c91606e4-f272-4d31-bbfc-820bba825ea5::" providerId="AD" clId="Web-{0862BB5A-D212-4062-D0E0-CA0AE78B7113}" dt="2026-06-30T12:30:06.042" v="898" actId="20577"/>
          <ac:spMkLst>
            <pc:docMk/>
            <pc:sldMk cId="643884977" sldId="1596"/>
            <ac:spMk id="11" creationId="{8AACA005-5534-FEC7-1B53-C953B8BCFC63}"/>
          </ac:spMkLst>
        </pc:spChg>
        <pc:spChg chg="add mod">
          <ac:chgData name="Guest User" userId="S::urn:spo:tenantanon#c91606e4-f272-4d31-bbfc-820bba825ea5::" providerId="AD" clId="Web-{0862BB5A-D212-4062-D0E0-CA0AE78B7113}" dt="2026-06-30T12:28:21.537" v="873" actId="14100"/>
          <ac:spMkLst>
            <pc:docMk/>
            <pc:sldMk cId="643884977" sldId="1596"/>
            <ac:spMk id="12" creationId="{FA01F74D-A1B8-A485-275C-D9333915FFDA}"/>
          </ac:spMkLst>
        </pc:spChg>
        <pc:spChg chg="add mod">
          <ac:chgData name="Guest User" userId="S::urn:spo:tenantanon#c91606e4-f272-4d31-bbfc-820bba825ea5::" providerId="AD" clId="Web-{0862BB5A-D212-4062-D0E0-CA0AE78B7113}" dt="2026-06-30T12:30:31.683" v="902" actId="20577"/>
          <ac:spMkLst>
            <pc:docMk/>
            <pc:sldMk cId="643884977" sldId="1596"/>
            <ac:spMk id="13" creationId="{39B56910-37A3-16D0-6B17-9FAD64A67AE6}"/>
          </ac:spMkLst>
        </pc:spChg>
        <pc:picChg chg="add mod">
          <ac:chgData name="Guest User" userId="S::urn:spo:tenantanon#c91606e4-f272-4d31-bbfc-820bba825ea5::" providerId="AD" clId="Web-{0862BB5A-D212-4062-D0E0-CA0AE78B7113}" dt="2026-06-30T12:29:15.180" v="889" actId="1076"/>
          <ac:picMkLst>
            <pc:docMk/>
            <pc:sldMk cId="643884977" sldId="1596"/>
            <ac:picMk id="14" creationId="{11DD8765-83EF-1EE3-22C2-D657BDA705A7}"/>
          </ac:picMkLst>
        </pc:picChg>
        <pc:picChg chg="add mod">
          <ac:chgData name="Guest User" userId="S::urn:spo:tenantanon#c91606e4-f272-4d31-bbfc-820bba825ea5::" providerId="AD" clId="Web-{0862BB5A-D212-4062-D0E0-CA0AE78B7113}" dt="2026-06-30T12:30:11.979" v="899" actId="1076"/>
          <ac:picMkLst>
            <pc:docMk/>
            <pc:sldMk cId="643884977" sldId="1596"/>
            <ac:picMk id="15" creationId="{6BC10026-E2F5-266C-12BE-75C3B9C7AF5D}"/>
          </ac:picMkLst>
        </pc:picChg>
      </pc:sldChg>
      <pc:sldChg chg="addSp delSp modSp">
        <pc:chgData name="Guest User" userId="S::urn:spo:tenantanon#c91606e4-f272-4d31-bbfc-820bba825ea5::" providerId="AD" clId="Web-{0862BB5A-D212-4062-D0E0-CA0AE78B7113}" dt="2026-06-30T12:03:39.539" v="473" actId="1076"/>
        <pc:sldMkLst>
          <pc:docMk/>
          <pc:sldMk cId="1349178301" sldId="1597"/>
        </pc:sldMkLst>
        <pc:spChg chg="mod">
          <ac:chgData name="Guest User" userId="S::urn:spo:tenantanon#c91606e4-f272-4d31-bbfc-820bba825ea5::" providerId="AD" clId="Web-{0862BB5A-D212-4062-D0E0-CA0AE78B7113}" dt="2026-06-30T11:50:31.644" v="28"/>
          <ac:spMkLst>
            <pc:docMk/>
            <pc:sldMk cId="1349178301" sldId="1597"/>
            <ac:spMk id="5" creationId="{13CC72DB-DEE1-580F-F498-84F0595F1439}"/>
          </ac:spMkLst>
        </pc:spChg>
        <pc:graphicFrameChg chg="add mod modGraphic">
          <ac:chgData name="Guest User" userId="S::urn:spo:tenantanon#c91606e4-f272-4d31-bbfc-820bba825ea5::" providerId="AD" clId="Web-{0862BB5A-D212-4062-D0E0-CA0AE78B7113}" dt="2026-06-30T12:03:39.539" v="473" actId="1076"/>
          <ac:graphicFrameMkLst>
            <pc:docMk/>
            <pc:sldMk cId="1349178301" sldId="1597"/>
            <ac:graphicFrameMk id="2" creationId="{6721C125-3FFE-B143-CEE8-C3C8EACA1EC3}"/>
          </ac:graphicFrameMkLst>
        </pc:graphicFrameChg>
      </pc:sldChg>
      <pc:sldChg chg="delSp modSp add replId modNotes">
        <pc:chgData name="Guest User" userId="S::urn:spo:tenantanon#c91606e4-f272-4d31-bbfc-820bba825ea5::" providerId="AD" clId="Web-{0862BB5A-D212-4062-D0E0-CA0AE78B7113}" dt="2026-06-30T12:37:17.481" v="1063"/>
        <pc:sldMkLst>
          <pc:docMk/>
          <pc:sldMk cId="2643080757" sldId="1598"/>
        </pc:sldMkLst>
        <pc:picChg chg="mod modCrop">
          <ac:chgData name="Guest User" userId="S::urn:spo:tenantanon#c91606e4-f272-4d31-bbfc-820bba825ea5::" providerId="AD" clId="Web-{0862BB5A-D212-4062-D0E0-CA0AE78B7113}" dt="2026-06-30T12:31:41.983" v="914" actId="1076"/>
          <ac:picMkLst>
            <pc:docMk/>
            <pc:sldMk cId="2643080757" sldId="1598"/>
            <ac:picMk id="3" creationId="{98D3E861-273C-FF29-191A-51D368C5B673}"/>
          </ac:picMkLst>
        </pc:picChg>
      </pc:sldChg>
    </pc:docChg>
  </pc:docChgLst>
  <pc:docChgLst>
    <pc:chgData name="Guest User" userId="S::urn:spo:tenantanon#c91606e4-f272-4d31-bbfc-820bba825ea5::" providerId="AD" clId="Web-{177DED75-CCE4-80A4-3A4C-E2B72FFB038B}"/>
    <pc:docChg chg="modSld">
      <pc:chgData name="Guest User" userId="S::urn:spo:tenantanon#c91606e4-f272-4d31-bbfc-820bba825ea5::" providerId="AD" clId="Web-{177DED75-CCE4-80A4-3A4C-E2B72FFB038B}" dt="2026-06-29T14:26:35.019" v="0"/>
      <pc:docMkLst>
        <pc:docMk/>
      </pc:docMkLst>
      <pc:sldChg chg="delSp">
        <pc:chgData name="Guest User" userId="S::urn:spo:tenantanon#c91606e4-f272-4d31-bbfc-820bba825ea5::" providerId="AD" clId="Web-{177DED75-CCE4-80A4-3A4C-E2B72FFB038B}" dt="2026-06-29T14:26:35.019" v="0"/>
        <pc:sldMkLst>
          <pc:docMk/>
          <pc:sldMk cId="3341672787" sldId="1573"/>
        </pc:sldMkLst>
      </pc:sldChg>
    </pc:docChg>
  </pc:docChgLst>
  <pc:docChgLst>
    <pc:chgData name="Guest User" userId="S::urn:spo:tenantanon#c91606e4-f272-4d31-bbfc-820bba825ea5::" providerId="AD" clId="Web-{BCFE979A-8894-4EB4-E8C4-043875F0AC2C}"/>
    <pc:docChg chg="addSld delSld modSld">
      <pc:chgData name="Guest User" userId="S::urn:spo:tenantanon#c91606e4-f272-4d31-bbfc-820bba825ea5::" providerId="AD" clId="Web-{BCFE979A-8894-4EB4-E8C4-043875F0AC2C}" dt="2026-06-19T10:45:08.789" v="888"/>
      <pc:docMkLst>
        <pc:docMk/>
      </pc:docMkLst>
      <pc:sldChg chg="modNotes">
        <pc:chgData name="Guest User" userId="S::urn:spo:tenantanon#c91606e4-f272-4d31-bbfc-820bba825ea5::" providerId="AD" clId="Web-{BCFE979A-8894-4EB4-E8C4-043875F0AC2C}" dt="2026-06-19T10:11:42.268" v="187"/>
        <pc:sldMkLst>
          <pc:docMk/>
          <pc:sldMk cId="3093236528" sldId="719"/>
        </pc:sldMkLst>
      </pc:sldChg>
      <pc:sldChg chg="addSp modSp modNotes">
        <pc:chgData name="Guest User" userId="S::urn:spo:tenantanon#c91606e4-f272-4d31-bbfc-820bba825ea5::" providerId="AD" clId="Web-{BCFE979A-8894-4EB4-E8C4-043875F0AC2C}" dt="2026-06-19T10:05:18.680" v="139"/>
        <pc:sldMkLst>
          <pc:docMk/>
          <pc:sldMk cId="2935409531" sldId="858"/>
        </pc:sldMkLst>
        <pc:spChg chg="mod">
          <ac:chgData name="Guest User" userId="S::urn:spo:tenantanon#c91606e4-f272-4d31-bbfc-820bba825ea5::" providerId="AD" clId="Web-{BCFE979A-8894-4EB4-E8C4-043875F0AC2C}" dt="2026-06-19T10:04:59.273" v="98" actId="20577"/>
          <ac:spMkLst>
            <pc:docMk/>
            <pc:sldMk cId="2935409531" sldId="858"/>
            <ac:spMk id="5" creationId="{C882A260-2DA6-66EE-C531-6680369DDFF0}"/>
          </ac:spMkLst>
        </pc:spChg>
        <pc:picChg chg="add mod">
          <ac:chgData name="Guest User" userId="S::urn:spo:tenantanon#c91606e4-f272-4d31-bbfc-820bba825ea5::" providerId="AD" clId="Web-{BCFE979A-8894-4EB4-E8C4-043875F0AC2C}" dt="2026-06-19T09:52:35.880" v="64" actId="1076"/>
          <ac:picMkLst>
            <pc:docMk/>
            <pc:sldMk cId="2935409531" sldId="858"/>
            <ac:picMk id="6" creationId="{EE563B9D-6B72-4821-CF42-C0A9C6DD0FD1}"/>
          </ac:picMkLst>
        </pc:picChg>
      </pc:sldChg>
      <pc:sldChg chg="modSp modNotes">
        <pc:chgData name="Guest User" userId="S::urn:spo:tenantanon#c91606e4-f272-4d31-bbfc-820bba825ea5::" providerId="AD" clId="Web-{BCFE979A-8894-4EB4-E8C4-043875F0AC2C}" dt="2026-06-19T09:43:28.285" v="44"/>
        <pc:sldMkLst>
          <pc:docMk/>
          <pc:sldMk cId="185045434" sldId="861"/>
        </pc:sldMkLst>
        <pc:spChg chg="mod">
          <ac:chgData name="Guest User" userId="S::urn:spo:tenantanon#c91606e4-f272-4d31-bbfc-820bba825ea5::" providerId="AD" clId="Web-{BCFE979A-8894-4EB4-E8C4-043875F0AC2C}" dt="2026-06-19T09:43:02.877" v="22" actId="20577"/>
          <ac:spMkLst>
            <pc:docMk/>
            <pc:sldMk cId="185045434" sldId="861"/>
            <ac:spMk id="5" creationId="{39818752-6BB9-569F-E6F0-2EABF4FB07C4}"/>
          </ac:spMkLst>
        </pc:spChg>
      </pc:sldChg>
      <pc:sldChg chg="modSp modNotes">
        <pc:chgData name="Guest User" userId="S::urn:spo:tenantanon#c91606e4-f272-4d31-bbfc-820bba825ea5::" providerId="AD" clId="Web-{BCFE979A-8894-4EB4-E8C4-043875F0AC2C}" dt="2026-06-19T10:30:47.332" v="432" actId="20577"/>
        <pc:sldMkLst>
          <pc:docMk/>
          <pc:sldMk cId="571785858" sldId="1571"/>
        </pc:sldMkLst>
        <pc:spChg chg="mod">
          <ac:chgData name="Guest User" userId="S::urn:spo:tenantanon#c91606e4-f272-4d31-bbfc-820bba825ea5::" providerId="AD" clId="Web-{BCFE979A-8894-4EB4-E8C4-043875F0AC2C}" dt="2026-06-19T10:30:47.332" v="432" actId="20577"/>
          <ac:spMkLst>
            <pc:docMk/>
            <pc:sldMk cId="571785858" sldId="1571"/>
            <ac:spMk id="5" creationId="{22D74276-7D77-8C41-A29B-114BD0D08202}"/>
          </ac:spMkLst>
        </pc:spChg>
      </pc:sldChg>
      <pc:sldChg chg="addSp modSp modNotes">
        <pc:chgData name="Guest User" userId="S::urn:spo:tenantanon#c91606e4-f272-4d31-bbfc-820bba825ea5::" providerId="AD" clId="Web-{BCFE979A-8894-4EB4-E8C4-043875F0AC2C}" dt="2026-06-19T10:45:08.789" v="888"/>
        <pc:sldMkLst>
          <pc:docMk/>
          <pc:sldMk cId="3341672787" sldId="1573"/>
        </pc:sldMkLst>
        <pc:spChg chg="mod">
          <ac:chgData name="Guest User" userId="S::urn:spo:tenantanon#c91606e4-f272-4d31-bbfc-820bba825ea5::" providerId="AD" clId="Web-{BCFE979A-8894-4EB4-E8C4-043875F0AC2C}" dt="2026-06-19T10:43:08.502" v="733" actId="20577"/>
          <ac:spMkLst>
            <pc:docMk/>
            <pc:sldMk cId="3341672787" sldId="1573"/>
            <ac:spMk id="5" creationId="{4341F946-A7FA-5677-6BD2-553439BA86E1}"/>
          </ac:spMkLst>
        </pc:spChg>
      </pc:sldChg>
      <pc:sldChg chg="modSp modNotes">
        <pc:chgData name="Guest User" userId="S::urn:spo:tenantanon#c91606e4-f272-4d31-bbfc-820bba825ea5::" providerId="AD" clId="Web-{BCFE979A-8894-4EB4-E8C4-043875F0AC2C}" dt="2026-06-19T09:31:34.723" v="14" actId="20577"/>
        <pc:sldMkLst>
          <pc:docMk/>
          <pc:sldMk cId="1489350177" sldId="1576"/>
        </pc:sldMkLst>
        <pc:spChg chg="mod">
          <ac:chgData name="Guest User" userId="S::urn:spo:tenantanon#c91606e4-f272-4d31-bbfc-820bba825ea5::" providerId="AD" clId="Web-{BCFE979A-8894-4EB4-E8C4-043875F0AC2C}" dt="2026-06-19T09:31:34.723" v="14" actId="20577"/>
          <ac:spMkLst>
            <pc:docMk/>
            <pc:sldMk cId="1489350177" sldId="1576"/>
            <ac:spMk id="2" creationId="{28A0C364-3DA8-EFBE-EDEF-9D6859E4D354}"/>
          </ac:spMkLst>
        </pc:spChg>
      </pc:sldChg>
    </pc:docChg>
  </pc:docChgLst>
  <pc:docChgLst>
    <pc:chgData name="Guest User" userId="S::urn:spo:tenantanon#c91606e4-f272-4d31-bbfc-820bba825ea5::" providerId="AD" clId="Web-{9E789B5A-157D-4970-F81F-E8655B0099C6}"/>
    <pc:docChg chg="modSld">
      <pc:chgData name="Guest User" userId="S::urn:spo:tenantanon#c91606e4-f272-4d31-bbfc-820bba825ea5::" providerId="AD" clId="Web-{9E789B5A-157D-4970-F81F-E8655B0099C6}" dt="2026-07-15T13:36:23.244" v="1" actId="1076"/>
      <pc:docMkLst>
        <pc:docMk/>
      </pc:docMkLst>
      <pc:sldChg chg="modSp">
        <pc:chgData name="Guest User" userId="S::urn:spo:tenantanon#c91606e4-f272-4d31-bbfc-820bba825ea5::" providerId="AD" clId="Web-{9E789B5A-157D-4970-F81F-E8655B0099C6}" dt="2026-07-15T13:36:23.244" v="1" actId="1076"/>
        <pc:sldMkLst>
          <pc:docMk/>
          <pc:sldMk cId="2643080757" sldId="1598"/>
        </pc:sldMkLst>
        <pc:picChg chg="mod">
          <ac:chgData name="Guest User" userId="S::urn:spo:tenantanon#c91606e4-f272-4d31-bbfc-820bba825ea5::" providerId="AD" clId="Web-{9E789B5A-157D-4970-F81F-E8655B0099C6}" dt="2026-07-15T13:36:23.244" v="1" actId="1076"/>
          <ac:picMkLst>
            <pc:docMk/>
            <pc:sldMk cId="2643080757" sldId="1598"/>
            <ac:picMk id="3" creationId="{98D3E861-273C-FF29-191A-51D368C5B673}"/>
          </ac:picMkLst>
        </pc:picChg>
      </pc:sldChg>
    </pc:docChg>
  </pc:docChgLst>
  <pc:docChgLst>
    <pc:chgData name="Guest User" userId="S::urn:spo:tenantanon#c91606e4-f272-4d31-bbfc-820bba825ea5::" providerId="AD" clId="Web-{C5FD7693-F6D4-6274-E2CE-33C8DE146AFB}"/>
    <pc:docChg chg="modSld">
      <pc:chgData name="Guest User" userId="S::urn:spo:tenantanon#c91606e4-f272-4d31-bbfc-820bba825ea5::" providerId="AD" clId="Web-{C5FD7693-F6D4-6274-E2CE-33C8DE146AFB}" dt="2026-06-15T12:04:40.756" v="852" actId="20577"/>
      <pc:docMkLst>
        <pc:docMk/>
      </pc:docMkLst>
    </pc:docChg>
  </pc:docChgLst>
  <pc:docChgLst>
    <pc:chgData name="CIVET Annaig" userId="S::a.civet@fiteco.com::79765bbd-8b16-459a-bf48-ad0fdd5a89f1" providerId="AD" clId="Web-{72A59903-D93D-48F4-B965-19FC80744196}"/>
    <pc:docChg chg="modSld">
      <pc:chgData name="CIVET Annaig" userId="S::a.civet@fiteco.com::79765bbd-8b16-459a-bf48-ad0fdd5a89f1" providerId="AD" clId="Web-{72A59903-D93D-48F4-B965-19FC80744196}" dt="2026-06-29T07:36:37.910" v="67"/>
      <pc:docMkLst>
        <pc:docMk/>
      </pc:docMkLst>
      <pc:sldChg chg="modSp modNotes">
        <pc:chgData name="CIVET Annaig" userId="S::a.civet@fiteco.com::79765bbd-8b16-459a-bf48-ad0fdd5a89f1" providerId="AD" clId="Web-{72A59903-D93D-48F4-B965-19FC80744196}" dt="2026-06-29T07:22:36.297" v="49"/>
        <pc:sldMkLst>
          <pc:docMk/>
          <pc:sldMk cId="1242284759" sldId="1582"/>
        </pc:sldMkLst>
        <pc:spChg chg="mod">
          <ac:chgData name="CIVET Annaig" userId="S::a.civet@fiteco.com::79765bbd-8b16-459a-bf48-ad0fdd5a89f1" providerId="AD" clId="Web-{72A59903-D93D-48F4-B965-19FC80744196}" dt="2026-06-29T07:22:06.671" v="11" actId="20577"/>
          <ac:spMkLst>
            <pc:docMk/>
            <pc:sldMk cId="1242284759" sldId="1582"/>
            <ac:spMk id="5" creationId="{0D113E80-54F9-85D1-0F93-ACB53E17AA61}"/>
          </ac:spMkLst>
        </pc:spChg>
      </pc:sldChg>
      <pc:sldChg chg="modNotes">
        <pc:chgData name="CIVET Annaig" userId="S::a.civet@fiteco.com::79765bbd-8b16-459a-bf48-ad0fdd5a89f1" providerId="AD" clId="Web-{72A59903-D93D-48F4-B965-19FC80744196}" dt="2026-06-29T07:36:37.910" v="67"/>
        <pc:sldMkLst>
          <pc:docMk/>
          <pc:sldMk cId="956406968" sldId="1583"/>
        </pc:sldMkLst>
      </pc:sldChg>
      <pc:sldChg chg="modSp">
        <pc:chgData name="CIVET Annaig" userId="S::a.civet@fiteco.com::79765bbd-8b16-459a-bf48-ad0fdd5a89f1" providerId="AD" clId="Web-{72A59903-D93D-48F4-B965-19FC80744196}" dt="2026-06-29T07:22:50.032" v="51" actId="1076"/>
        <pc:sldMkLst>
          <pc:docMk/>
          <pc:sldMk cId="1349178301" sldId="1597"/>
        </pc:sldMkLst>
      </pc:sldChg>
    </pc:docChg>
  </pc:docChgLst>
  <pc:docChgLst>
    <pc:chgData name="Guest User" userId="S::urn:spo:tenantanon#c91606e4-f272-4d31-bbfc-820bba825ea5::" providerId="AD" clId="Web-{AE176F88-8BA1-6CCB-F5DC-245A5652ED40}"/>
    <pc:docChg chg="modSld">
      <pc:chgData name="Guest User" userId="S::urn:spo:tenantanon#c91606e4-f272-4d31-bbfc-820bba825ea5::" providerId="AD" clId="Web-{AE176F88-8BA1-6CCB-F5DC-245A5652ED40}" dt="2026-07-01T13:57:57.200" v="42" actId="20577"/>
      <pc:docMkLst>
        <pc:docMk/>
      </pc:docMkLst>
      <pc:sldChg chg="modSp">
        <pc:chgData name="Guest User" userId="S::urn:spo:tenantanon#c91606e4-f272-4d31-bbfc-820bba825ea5::" providerId="AD" clId="Web-{AE176F88-8BA1-6CCB-F5DC-245A5652ED40}" dt="2026-07-01T13:57:57.200" v="42" actId="20577"/>
        <pc:sldMkLst>
          <pc:docMk/>
          <pc:sldMk cId="404332768" sldId="1560"/>
        </pc:sldMkLst>
        <pc:spChg chg="mod">
          <ac:chgData name="Guest User" userId="S::urn:spo:tenantanon#c91606e4-f272-4d31-bbfc-820bba825ea5::" providerId="AD" clId="Web-{AE176F88-8BA1-6CCB-F5DC-245A5652ED40}" dt="2026-07-01T13:57:16.431" v="27" actId="14100"/>
          <ac:spMkLst>
            <pc:docMk/>
            <pc:sldMk cId="404332768" sldId="1560"/>
            <ac:spMk id="6" creationId="{9ADE2BA6-E06D-FDDA-9EE2-C5E98F2A0EAE}"/>
          </ac:spMkLst>
        </pc:spChg>
        <pc:spChg chg="mod">
          <ac:chgData name="Guest User" userId="S::urn:spo:tenantanon#c91606e4-f272-4d31-bbfc-820bba825ea5::" providerId="AD" clId="Web-{AE176F88-8BA1-6CCB-F5DC-245A5652ED40}" dt="2026-07-01T13:57:57.200" v="42" actId="20577"/>
          <ac:spMkLst>
            <pc:docMk/>
            <pc:sldMk cId="404332768" sldId="1560"/>
            <ac:spMk id="8" creationId="{06D2CEF6-BE57-6979-E272-37618BFDDDD0}"/>
          </ac:spMkLst>
        </pc:spChg>
      </pc:sldChg>
    </pc:docChg>
  </pc:docChgLst>
  <pc:docChgLst>
    <pc:chgData name="FIOL Lucile" userId="S::lu.fiol@fiteco.com::778d51e7-5060-41a7-a923-b51ba3a4c523" providerId="AD" clId="Web-{4644B66C-8487-41EB-B98C-DA8447982FAD}"/>
    <pc:docChg chg="addSld modSld">
      <pc:chgData name="FIOL Lucile" userId="S::lu.fiol@fiteco.com::778d51e7-5060-41a7-a923-b51ba3a4c523" providerId="AD" clId="Web-{4644B66C-8487-41EB-B98C-DA8447982FAD}" dt="2026-06-15T15:00:14.905" v="308" actId="20577"/>
      <pc:docMkLst>
        <pc:docMk/>
      </pc:docMkLst>
      <pc:sldChg chg="modNotes">
        <pc:chgData name="FIOL Lucile" userId="S::lu.fiol@fiteco.com::778d51e7-5060-41a7-a923-b51ba3a4c523" providerId="AD" clId="Web-{4644B66C-8487-41EB-B98C-DA8447982FAD}" dt="2026-06-15T14:50:31.027" v="112"/>
        <pc:sldMkLst>
          <pc:docMk/>
          <pc:sldMk cId="217585904" sldId="259"/>
        </pc:sldMkLst>
      </pc:sldChg>
      <pc:sldChg chg="addSp modSp">
        <pc:chgData name="FIOL Lucile" userId="S::lu.fiol@fiteco.com::778d51e7-5060-41a7-a923-b51ba3a4c523" providerId="AD" clId="Web-{4644B66C-8487-41EB-B98C-DA8447982FAD}" dt="2026-06-15T14:53:31.767" v="191" actId="14100"/>
        <pc:sldMkLst>
          <pc:docMk/>
          <pc:sldMk cId="2649641721" sldId="276"/>
        </pc:sldMkLst>
        <pc:spChg chg="add mod">
          <ac:chgData name="FIOL Lucile" userId="S::lu.fiol@fiteco.com::778d51e7-5060-41a7-a923-b51ba3a4c523" providerId="AD" clId="Web-{4644B66C-8487-41EB-B98C-DA8447982FAD}" dt="2026-06-15T14:52:48.610" v="161" actId="20577"/>
          <ac:spMkLst>
            <pc:docMk/>
            <pc:sldMk cId="2649641721" sldId="276"/>
            <ac:spMk id="6" creationId="{300E97B6-D3D5-2D60-B063-8FE1A1959BDF}"/>
          </ac:spMkLst>
        </pc:spChg>
        <pc:spChg chg="add mod">
          <ac:chgData name="FIOL Lucile" userId="S::lu.fiol@fiteco.com::778d51e7-5060-41a7-a923-b51ba3a4c523" providerId="AD" clId="Web-{4644B66C-8487-41EB-B98C-DA8447982FAD}" dt="2026-06-15T14:53:08.329" v="186" actId="20577"/>
          <ac:spMkLst>
            <pc:docMk/>
            <pc:sldMk cId="2649641721" sldId="276"/>
            <ac:spMk id="7" creationId="{6497CB0E-23CE-EC99-D416-B9D35FDAA650}"/>
          </ac:spMkLst>
        </pc:spChg>
        <pc:picChg chg="add mod">
          <ac:chgData name="FIOL Lucile" userId="S::lu.fiol@fiteco.com::778d51e7-5060-41a7-a923-b51ba3a4c523" providerId="AD" clId="Web-{4644B66C-8487-41EB-B98C-DA8447982FAD}" dt="2026-06-15T14:52:17.859" v="142" actId="14100"/>
          <ac:picMkLst>
            <pc:docMk/>
            <pc:sldMk cId="2649641721" sldId="276"/>
            <ac:picMk id="4" creationId="{6E4F6491-7888-DE28-1EFF-8FCA32D95747}"/>
          </ac:picMkLst>
        </pc:picChg>
        <pc:picChg chg="mod">
          <ac:chgData name="FIOL Lucile" userId="S::lu.fiol@fiteco.com::778d51e7-5060-41a7-a923-b51ba3a4c523" providerId="AD" clId="Web-{4644B66C-8487-41EB-B98C-DA8447982FAD}" dt="2026-06-15T14:52:00.312" v="139" actId="1076"/>
          <ac:picMkLst>
            <pc:docMk/>
            <pc:sldMk cId="2649641721" sldId="276"/>
            <ac:picMk id="5" creationId="{87F4926E-D0D1-8832-2FB4-987FF9DDA2A7}"/>
          </ac:picMkLst>
        </pc:picChg>
        <pc:picChg chg="add mod">
          <ac:chgData name="FIOL Lucile" userId="S::lu.fiol@fiteco.com::778d51e7-5060-41a7-a923-b51ba3a4c523" providerId="AD" clId="Web-{4644B66C-8487-41EB-B98C-DA8447982FAD}" dt="2026-06-15T14:53:31.767" v="191" actId="14100"/>
          <ac:picMkLst>
            <pc:docMk/>
            <pc:sldMk cId="2649641721" sldId="276"/>
            <ac:picMk id="10" creationId="{9AA90A7C-B49A-092C-7D89-88C233BCCDB9}"/>
          </ac:picMkLst>
        </pc:picChg>
      </pc:sldChg>
      <pc:sldChg chg="modNotes">
        <pc:chgData name="FIOL Lucile" userId="S::lu.fiol@fiteco.com::778d51e7-5060-41a7-a923-b51ba3a4c523" providerId="AD" clId="Web-{4644B66C-8487-41EB-B98C-DA8447982FAD}" dt="2026-06-15T14:51:44.936" v="137"/>
        <pc:sldMkLst>
          <pc:docMk/>
          <pc:sldMk cId="174529060" sldId="279"/>
        </pc:sldMkLst>
      </pc:sldChg>
      <pc:sldChg chg="modSp modNotes">
        <pc:chgData name="FIOL Lucile" userId="S::lu.fiol@fiteco.com::778d51e7-5060-41a7-a923-b51ba3a4c523" providerId="AD" clId="Web-{4644B66C-8487-41EB-B98C-DA8447982FAD}" dt="2026-06-15T14:44:57.530" v="18"/>
        <pc:sldMkLst>
          <pc:docMk/>
          <pc:sldMk cId="3450440071" sldId="695"/>
        </pc:sldMkLst>
        <pc:spChg chg="mod">
          <ac:chgData name="FIOL Lucile" userId="S::lu.fiol@fiteco.com::778d51e7-5060-41a7-a923-b51ba3a4c523" providerId="AD" clId="Web-{4644B66C-8487-41EB-B98C-DA8447982FAD}" dt="2026-06-15T14:44:28.920" v="0" actId="20577"/>
          <ac:spMkLst>
            <pc:docMk/>
            <pc:sldMk cId="3450440071" sldId="695"/>
            <ac:spMk id="3" creationId="{4F994D77-6E5E-309F-15EF-338C4E79B66D}"/>
          </ac:spMkLst>
        </pc:spChg>
      </pc:sldChg>
      <pc:sldChg chg="modSp">
        <pc:chgData name="FIOL Lucile" userId="S::lu.fiol@fiteco.com::778d51e7-5060-41a7-a923-b51ba3a4c523" providerId="AD" clId="Web-{4644B66C-8487-41EB-B98C-DA8447982FAD}" dt="2026-06-15T14:54:35.035" v="211" actId="20577"/>
        <pc:sldMkLst>
          <pc:docMk/>
          <pc:sldMk cId="1611006643" sldId="718"/>
        </pc:sldMkLst>
        <pc:spChg chg="mod">
          <ac:chgData name="FIOL Lucile" userId="S::lu.fiol@fiteco.com::778d51e7-5060-41a7-a923-b51ba3a4c523" providerId="AD" clId="Web-{4644B66C-8487-41EB-B98C-DA8447982FAD}" dt="2026-06-15T14:54:35.035" v="211" actId="20577"/>
          <ac:spMkLst>
            <pc:docMk/>
            <pc:sldMk cId="1611006643" sldId="718"/>
            <ac:spMk id="5" creationId="{90BC446B-146F-F675-18E0-69E1AC736CE9}"/>
          </ac:spMkLst>
        </pc:spChg>
      </pc:sldChg>
      <pc:sldChg chg="modSp">
        <pc:chgData name="FIOL Lucile" userId="S::lu.fiol@fiteco.com::778d51e7-5060-41a7-a923-b51ba3a4c523" providerId="AD" clId="Web-{4644B66C-8487-41EB-B98C-DA8447982FAD}" dt="2026-06-15T15:00:14.905" v="308" actId="20577"/>
        <pc:sldMkLst>
          <pc:docMk/>
          <pc:sldMk cId="547153299" sldId="1566"/>
        </pc:sldMkLst>
        <pc:spChg chg="mod">
          <ac:chgData name="FIOL Lucile" userId="S::lu.fiol@fiteco.com::778d51e7-5060-41a7-a923-b51ba3a4c523" providerId="AD" clId="Web-{4644B66C-8487-41EB-B98C-DA8447982FAD}" dt="2026-06-15T15:00:14.905" v="308" actId="20577"/>
          <ac:spMkLst>
            <pc:docMk/>
            <pc:sldMk cId="547153299" sldId="1566"/>
            <ac:spMk id="3" creationId="{082AE675-6C7A-84A8-75D5-BB0B5E27DAB4}"/>
          </ac:spMkLst>
        </pc:spChg>
      </pc:sldChg>
      <pc:sldChg chg="modSp">
        <pc:chgData name="FIOL Lucile" userId="S::lu.fiol@fiteco.com::778d51e7-5060-41a7-a923-b51ba3a4c523" providerId="AD" clId="Web-{4644B66C-8487-41EB-B98C-DA8447982FAD}" dt="2026-06-15T14:58:24.183" v="264" actId="20577"/>
        <pc:sldMkLst>
          <pc:docMk/>
          <pc:sldMk cId="1527709142" sldId="1567"/>
        </pc:sldMkLst>
      </pc:sldChg>
      <pc:sldChg chg="modSp">
        <pc:chgData name="FIOL Lucile" userId="S::lu.fiol@fiteco.com::778d51e7-5060-41a7-a923-b51ba3a4c523" providerId="AD" clId="Web-{4644B66C-8487-41EB-B98C-DA8447982FAD}" dt="2026-06-15T14:56:14.897" v="230"/>
        <pc:sldMkLst>
          <pc:docMk/>
          <pc:sldMk cId="1489350177" sldId="1576"/>
        </pc:sldMkLst>
        <pc:graphicFrameChg chg="mod modGraphic">
          <ac:chgData name="FIOL Lucile" userId="S::lu.fiol@fiteco.com::778d51e7-5060-41a7-a923-b51ba3a4c523" providerId="AD" clId="Web-{4644B66C-8487-41EB-B98C-DA8447982FAD}" dt="2026-06-15T14:56:14.897" v="230"/>
          <ac:graphicFrameMkLst>
            <pc:docMk/>
            <pc:sldMk cId="1489350177" sldId="1576"/>
            <ac:graphicFrameMk id="7" creationId="{DDDEF768-33B7-8355-08EE-53013EE3B009}"/>
          </ac:graphicFrameMkLst>
        </pc:graphicFrameChg>
      </pc:sldChg>
      <pc:sldChg chg="modSp add replId">
        <pc:chgData name="FIOL Lucile" userId="S::lu.fiol@fiteco.com::778d51e7-5060-41a7-a923-b51ba3a4c523" providerId="AD" clId="Web-{4644B66C-8487-41EB-B98C-DA8447982FAD}" dt="2026-06-15T14:48:01.757" v="62" actId="20577"/>
        <pc:sldMkLst>
          <pc:docMk/>
          <pc:sldMk cId="1242284759" sldId="1582"/>
        </pc:sldMkLst>
        <pc:spChg chg="mod">
          <ac:chgData name="FIOL Lucile" userId="S::lu.fiol@fiteco.com::778d51e7-5060-41a7-a923-b51ba3a4c523" providerId="AD" clId="Web-{4644B66C-8487-41EB-B98C-DA8447982FAD}" dt="2026-06-15T14:48:01.757" v="62" actId="20577"/>
          <ac:spMkLst>
            <pc:docMk/>
            <pc:sldMk cId="1242284759" sldId="1582"/>
            <ac:spMk id="5" creationId="{0D113E80-54F9-85D1-0F93-ACB53E17AA61}"/>
          </ac:spMkLst>
        </pc:spChg>
      </pc:sldChg>
      <pc:sldChg chg="modSp add replId">
        <pc:chgData name="FIOL Lucile" userId="S::lu.fiol@fiteco.com::778d51e7-5060-41a7-a923-b51ba3a4c523" providerId="AD" clId="Web-{4644B66C-8487-41EB-B98C-DA8447982FAD}" dt="2026-06-15T14:55:01.489" v="217" actId="20577"/>
        <pc:sldMkLst>
          <pc:docMk/>
          <pc:sldMk cId="956406968" sldId="1583"/>
        </pc:sldMkLst>
        <pc:spChg chg="mod">
          <ac:chgData name="FIOL Lucile" userId="S::lu.fiol@fiteco.com::778d51e7-5060-41a7-a923-b51ba3a4c523" providerId="AD" clId="Web-{4644B66C-8487-41EB-B98C-DA8447982FAD}" dt="2026-06-15T14:55:01.489" v="217" actId="20577"/>
          <ac:spMkLst>
            <pc:docMk/>
            <pc:sldMk cId="956406968" sldId="1583"/>
            <ac:spMk id="5" creationId="{3BF86695-03CD-2001-8835-11CE8872E3E6}"/>
          </ac:spMkLst>
        </pc:spChg>
      </pc:sldChg>
    </pc:docChg>
  </pc:docChgLst>
  <pc:docChgLst>
    <pc:chgData name="FIOL Lucile" userId="S::lu.fiol@fiteco.com::778d51e7-5060-41a7-a923-b51ba3a4c523" providerId="AD" clId="Web-{D70B7B9F-D544-4125-8232-CB664137A6AE}"/>
    <pc:docChg chg="delSld modSld">
      <pc:chgData name="FIOL Lucile" userId="S::lu.fiol@fiteco.com::778d51e7-5060-41a7-a923-b51ba3a4c523" providerId="AD" clId="Web-{D70B7B9F-D544-4125-8232-CB664137A6AE}" dt="2026-06-16T13:24:47.847" v="145" actId="1076"/>
      <pc:docMkLst>
        <pc:docMk/>
      </pc:docMkLst>
      <pc:sldChg chg="modSp">
        <pc:chgData name="FIOL Lucile" userId="S::lu.fiol@fiteco.com::778d51e7-5060-41a7-a923-b51ba3a4c523" providerId="AD" clId="Web-{D70B7B9F-D544-4125-8232-CB664137A6AE}" dt="2026-06-16T13:06:55.450" v="141" actId="1076"/>
        <pc:sldMkLst>
          <pc:docMk/>
          <pc:sldMk cId="2649641721" sldId="276"/>
        </pc:sldMkLst>
        <pc:spChg chg="mod">
          <ac:chgData name="FIOL Lucile" userId="S::lu.fiol@fiteco.com::778d51e7-5060-41a7-a923-b51ba3a4c523" providerId="AD" clId="Web-{D70B7B9F-D544-4125-8232-CB664137A6AE}" dt="2026-06-16T13:06:34.825" v="139" actId="1076"/>
          <ac:spMkLst>
            <pc:docMk/>
            <pc:sldMk cId="2649641721" sldId="276"/>
            <ac:spMk id="6" creationId="{300E97B6-D3D5-2D60-B063-8FE1A1959BDF}"/>
          </ac:spMkLst>
        </pc:spChg>
        <pc:picChg chg="mod">
          <ac:chgData name="FIOL Lucile" userId="S::lu.fiol@fiteco.com::778d51e7-5060-41a7-a923-b51ba3a4c523" providerId="AD" clId="Web-{D70B7B9F-D544-4125-8232-CB664137A6AE}" dt="2026-06-16T13:06:55.450" v="141" actId="1076"/>
          <ac:picMkLst>
            <pc:docMk/>
            <pc:sldMk cId="2649641721" sldId="276"/>
            <ac:picMk id="10" creationId="{9AA90A7C-B49A-092C-7D89-88C233BCCDB9}"/>
          </ac:picMkLst>
        </pc:picChg>
      </pc:sldChg>
      <pc:sldChg chg="modSp">
        <pc:chgData name="FIOL Lucile" userId="S::lu.fiol@fiteco.com::778d51e7-5060-41a7-a923-b51ba3a4c523" providerId="AD" clId="Web-{D70B7B9F-D544-4125-8232-CB664137A6AE}" dt="2026-06-16T12:47:36.617" v="0" actId="20577"/>
        <pc:sldMkLst>
          <pc:docMk/>
          <pc:sldMk cId="174529060" sldId="279"/>
        </pc:sldMkLst>
        <pc:spChg chg="mod">
          <ac:chgData name="FIOL Lucile" userId="S::lu.fiol@fiteco.com::778d51e7-5060-41a7-a923-b51ba3a4c523" providerId="AD" clId="Web-{D70B7B9F-D544-4125-8232-CB664137A6AE}" dt="2026-06-16T12:47:36.617" v="0" actId="20577"/>
          <ac:spMkLst>
            <pc:docMk/>
            <pc:sldMk cId="174529060" sldId="279"/>
            <ac:spMk id="4" creationId="{208E307D-BC11-83AF-033A-4E3D17B6E764}"/>
          </ac:spMkLst>
        </pc:spChg>
      </pc:sldChg>
      <pc:sldChg chg="modSp">
        <pc:chgData name="FIOL Lucile" userId="S::lu.fiol@fiteco.com::778d51e7-5060-41a7-a923-b51ba3a4c523" providerId="AD" clId="Web-{D70B7B9F-D544-4125-8232-CB664137A6AE}" dt="2026-06-16T12:48:27.257" v="1" actId="14100"/>
        <pc:sldMkLst>
          <pc:docMk/>
          <pc:sldMk cId="1653778530" sldId="797"/>
        </pc:sldMkLst>
        <pc:picChg chg="mod">
          <ac:chgData name="FIOL Lucile" userId="S::lu.fiol@fiteco.com::778d51e7-5060-41a7-a923-b51ba3a4c523" providerId="AD" clId="Web-{D70B7B9F-D544-4125-8232-CB664137A6AE}" dt="2026-06-16T12:48:27.257" v="1" actId="14100"/>
          <ac:picMkLst>
            <pc:docMk/>
            <pc:sldMk cId="1653778530" sldId="797"/>
            <ac:picMk id="9" creationId="{5A0F1FE8-868E-FA7A-5176-7DCC72C1225B}"/>
          </ac:picMkLst>
        </pc:picChg>
      </pc:sldChg>
      <pc:sldChg chg="addSp delSp modSp">
        <pc:chgData name="FIOL Lucile" userId="S::lu.fiol@fiteco.com::778d51e7-5060-41a7-a923-b51ba3a4c523" providerId="AD" clId="Web-{D70B7B9F-D544-4125-8232-CB664137A6AE}" dt="2026-06-16T13:24:47.847" v="145" actId="1076"/>
        <pc:sldMkLst>
          <pc:docMk/>
          <pc:sldMk cId="207500180" sldId="1449"/>
        </pc:sldMkLst>
        <pc:picChg chg="mod">
          <ac:chgData name="FIOL Lucile" userId="S::lu.fiol@fiteco.com::778d51e7-5060-41a7-a923-b51ba3a4c523" providerId="AD" clId="Web-{D70B7B9F-D544-4125-8232-CB664137A6AE}" dt="2026-06-16T12:50:56.631" v="9" actId="1076"/>
          <ac:picMkLst>
            <pc:docMk/>
            <pc:sldMk cId="207500180" sldId="1449"/>
            <ac:picMk id="10" creationId="{5569EEC4-3054-12B9-FA83-ED6D296CAD9C}"/>
          </ac:picMkLst>
        </pc:picChg>
        <pc:picChg chg="mod">
          <ac:chgData name="FIOL Lucile" userId="S::lu.fiol@fiteco.com::778d51e7-5060-41a7-a923-b51ba3a4c523" providerId="AD" clId="Web-{D70B7B9F-D544-4125-8232-CB664137A6AE}" dt="2026-06-16T13:24:47.847" v="145" actId="1076"/>
          <ac:picMkLst>
            <pc:docMk/>
            <pc:sldMk cId="207500180" sldId="1449"/>
            <ac:picMk id="13" creationId="{D43A2F42-1927-AD62-A8AD-F4F72A762E8D}"/>
          </ac:picMkLst>
        </pc:picChg>
      </pc:sldChg>
      <pc:sldChg chg="addSp delSp modSp modNotes">
        <pc:chgData name="FIOL Lucile" userId="S::lu.fiol@fiteco.com::778d51e7-5060-41a7-a923-b51ba3a4c523" providerId="AD" clId="Web-{D70B7B9F-D544-4125-8232-CB664137A6AE}" dt="2026-06-16T12:58:02.455" v="75"/>
        <pc:sldMkLst>
          <pc:docMk/>
          <pc:sldMk cId="260957172" sldId="1555"/>
        </pc:sldMkLst>
        <pc:picChg chg="add mod">
          <ac:chgData name="FIOL Lucile" userId="S::lu.fiol@fiteco.com::778d51e7-5060-41a7-a923-b51ba3a4c523" providerId="AD" clId="Web-{D70B7B9F-D544-4125-8232-CB664137A6AE}" dt="2026-06-16T12:57:46.518" v="67" actId="1076"/>
          <ac:picMkLst>
            <pc:docMk/>
            <pc:sldMk cId="260957172" sldId="1555"/>
            <ac:picMk id="8" creationId="{B6916FBB-E6F8-C31A-518E-DAF59D66455B}"/>
          </ac:picMkLst>
        </pc:picChg>
      </pc:sldChg>
      <pc:sldChg chg="modSp">
        <pc:chgData name="FIOL Lucile" userId="S::lu.fiol@fiteco.com::778d51e7-5060-41a7-a923-b51ba3a4c523" providerId="AD" clId="Web-{D70B7B9F-D544-4125-8232-CB664137A6AE}" dt="2026-06-16T12:49:35.444" v="5" actId="20577"/>
        <pc:sldMkLst>
          <pc:docMk/>
          <pc:sldMk cId="3075828907" sldId="1584"/>
        </pc:sldMkLst>
        <pc:spChg chg="mod">
          <ac:chgData name="FIOL Lucile" userId="S::lu.fiol@fiteco.com::778d51e7-5060-41a7-a923-b51ba3a4c523" providerId="AD" clId="Web-{D70B7B9F-D544-4125-8232-CB664137A6AE}" dt="2026-06-16T12:49:35.444" v="5" actId="20577"/>
          <ac:spMkLst>
            <pc:docMk/>
            <pc:sldMk cId="3075828907" sldId="1584"/>
            <ac:spMk id="5" creationId="{894C156B-0AE0-94A9-9C47-E3BF99B3DDF4}"/>
          </ac:spMkLst>
        </pc:spChg>
      </pc:sldChg>
      <pc:sldChg chg="modSp">
        <pc:chgData name="FIOL Lucile" userId="S::lu.fiol@fiteco.com::778d51e7-5060-41a7-a923-b51ba3a4c523" providerId="AD" clId="Web-{D70B7B9F-D544-4125-8232-CB664137A6AE}" dt="2026-06-16T12:54:55.910" v="54" actId="20577"/>
        <pc:sldMkLst>
          <pc:docMk/>
          <pc:sldMk cId="2142137114" sldId="1585"/>
        </pc:sldMkLst>
        <pc:spChg chg="mod">
          <ac:chgData name="FIOL Lucile" userId="S::lu.fiol@fiteco.com::778d51e7-5060-41a7-a923-b51ba3a4c523" providerId="AD" clId="Web-{D70B7B9F-D544-4125-8232-CB664137A6AE}" dt="2026-06-16T12:54:55.910" v="54" actId="20577"/>
          <ac:spMkLst>
            <pc:docMk/>
            <pc:sldMk cId="2142137114" sldId="1585"/>
            <ac:spMk id="5" creationId="{006B76A7-D23F-9DAC-A2FC-AB6C51E2BD7A}"/>
          </ac:spMkLst>
        </pc:spChg>
      </pc:sldChg>
      <pc:sldChg chg="modSp">
        <pc:chgData name="FIOL Lucile" userId="S::lu.fiol@fiteco.com::778d51e7-5060-41a7-a923-b51ba3a4c523" providerId="AD" clId="Web-{D70B7B9F-D544-4125-8232-CB664137A6AE}" dt="2026-06-16T12:50:03.694" v="7" actId="1076"/>
        <pc:sldMkLst>
          <pc:docMk/>
          <pc:sldMk cId="1661632402" sldId="1586"/>
        </pc:sldMkLst>
        <pc:picChg chg="mod">
          <ac:chgData name="FIOL Lucile" userId="S::lu.fiol@fiteco.com::778d51e7-5060-41a7-a923-b51ba3a4c523" providerId="AD" clId="Web-{D70B7B9F-D544-4125-8232-CB664137A6AE}" dt="2026-06-16T12:50:03.694" v="7" actId="1076"/>
          <ac:picMkLst>
            <pc:docMk/>
            <pc:sldMk cId="1661632402" sldId="1586"/>
            <ac:picMk id="14" creationId="{DE3E2FFF-C492-AEEE-4FC8-ACD3E57CFEE6}"/>
          </ac:picMkLst>
        </pc:picChg>
      </pc:sldChg>
      <pc:sldChg chg="modSp modNotes">
        <pc:chgData name="FIOL Lucile" userId="S::lu.fiol@fiteco.com::778d51e7-5060-41a7-a923-b51ba3a4c523" providerId="AD" clId="Web-{D70B7B9F-D544-4125-8232-CB664137A6AE}" dt="2026-06-16T13:04:38.858" v="137"/>
        <pc:sldMkLst>
          <pc:docMk/>
          <pc:sldMk cId="3704183951" sldId="1592"/>
        </pc:sldMkLst>
        <pc:spChg chg="mod">
          <ac:chgData name="FIOL Lucile" userId="S::lu.fiol@fiteco.com::778d51e7-5060-41a7-a923-b51ba3a4c523" providerId="AD" clId="Web-{D70B7B9F-D544-4125-8232-CB664137A6AE}" dt="2026-06-16T13:00:24.610" v="100" actId="20577"/>
          <ac:spMkLst>
            <pc:docMk/>
            <pc:sldMk cId="3704183951" sldId="1592"/>
            <ac:spMk id="5" creationId="{4E2ABE12-3A58-FA75-9BA7-603B383E9446}"/>
          </ac:spMkLst>
        </pc:spChg>
      </pc:sldChg>
      <pc:sldChg chg="addSp delSp modSp modNotes">
        <pc:chgData name="FIOL Lucile" userId="S::lu.fiol@fiteco.com::778d51e7-5060-41a7-a923-b51ba3a4c523" providerId="AD" clId="Web-{D70B7B9F-D544-4125-8232-CB664137A6AE}" dt="2026-06-16T12:58:23.439" v="82"/>
        <pc:sldMkLst>
          <pc:docMk/>
          <pc:sldMk cId="3505755942" sldId="1593"/>
        </pc:sldMkLst>
        <pc:picChg chg="mod">
          <ac:chgData name="FIOL Lucile" userId="S::lu.fiol@fiteco.com::778d51e7-5060-41a7-a923-b51ba3a4c523" providerId="AD" clId="Web-{D70B7B9F-D544-4125-8232-CB664137A6AE}" dt="2026-06-16T12:58:12.424" v="79" actId="1076"/>
          <ac:picMkLst>
            <pc:docMk/>
            <pc:sldMk cId="3505755942" sldId="1593"/>
            <ac:picMk id="2" creationId="{ED8A1E9E-CE5E-E235-7488-28B110CB5B67}"/>
          </ac:picMkLst>
        </pc:picChg>
        <pc:picChg chg="add mod">
          <ac:chgData name="FIOL Lucile" userId="S::lu.fiol@fiteco.com::778d51e7-5060-41a7-a923-b51ba3a4c523" providerId="AD" clId="Web-{D70B7B9F-D544-4125-8232-CB664137A6AE}" dt="2026-06-16T12:58:10.033" v="78" actId="1076"/>
          <ac:picMkLst>
            <pc:docMk/>
            <pc:sldMk cId="3505755942" sldId="1593"/>
            <ac:picMk id="8" creationId="{4EFBEF76-CB80-C672-8A21-9EEE8D7BF881}"/>
          </ac:picMkLst>
        </pc:picChg>
      </pc:sldChg>
    </pc:docChg>
  </pc:docChgLst>
  <pc:docChgLst>
    <pc:chgData name="FIOL Lucile" userId="S::lu.fiol@fiteco.com::778d51e7-5060-41a7-a923-b51ba3a4c523" providerId="AD" clId="Web-{109BA8EC-A613-4424-A308-E3FAB1C1B5B6}"/>
    <pc:docChg chg="modSld">
      <pc:chgData name="FIOL Lucile" userId="S::lu.fiol@fiteco.com::778d51e7-5060-41a7-a923-b51ba3a4c523" providerId="AD" clId="Web-{109BA8EC-A613-4424-A308-E3FAB1C1B5B6}" dt="2026-06-17T08:52:17.156" v="53" actId="20577"/>
      <pc:docMkLst>
        <pc:docMk/>
      </pc:docMkLst>
      <pc:sldChg chg="modSp">
        <pc:chgData name="FIOL Lucile" userId="S::lu.fiol@fiteco.com::778d51e7-5060-41a7-a923-b51ba3a4c523" providerId="AD" clId="Web-{109BA8EC-A613-4424-A308-E3FAB1C1B5B6}" dt="2026-06-17T08:44:11.762" v="46" actId="20577"/>
        <pc:sldMkLst>
          <pc:docMk/>
          <pc:sldMk cId="2744281181" sldId="725"/>
        </pc:sldMkLst>
        <pc:spChg chg="mod">
          <ac:chgData name="FIOL Lucile" userId="S::lu.fiol@fiteco.com::778d51e7-5060-41a7-a923-b51ba3a4c523" providerId="AD" clId="Web-{109BA8EC-A613-4424-A308-E3FAB1C1B5B6}" dt="2026-06-17T08:44:11.762" v="46" actId="20577"/>
          <ac:spMkLst>
            <pc:docMk/>
            <pc:sldMk cId="2744281181" sldId="725"/>
            <ac:spMk id="2" creationId="{73A4B0B4-1A3E-691C-07E9-FDED1CC4F5FD}"/>
          </ac:spMkLst>
        </pc:spChg>
      </pc:sldChg>
      <pc:sldChg chg="modSp">
        <pc:chgData name="FIOL Lucile" userId="S::lu.fiol@fiteco.com::778d51e7-5060-41a7-a923-b51ba3a4c523" providerId="AD" clId="Web-{109BA8EC-A613-4424-A308-E3FAB1C1B5B6}" dt="2026-06-17T08:33:22.716" v="31" actId="20577"/>
        <pc:sldMkLst>
          <pc:docMk/>
          <pc:sldMk cId="2935409531" sldId="858"/>
        </pc:sldMkLst>
        <pc:spChg chg="mod">
          <ac:chgData name="FIOL Lucile" userId="S::lu.fiol@fiteco.com::778d51e7-5060-41a7-a923-b51ba3a4c523" providerId="AD" clId="Web-{109BA8EC-A613-4424-A308-E3FAB1C1B5B6}" dt="2026-06-17T08:33:22.716" v="31" actId="20577"/>
          <ac:spMkLst>
            <pc:docMk/>
            <pc:sldMk cId="2935409531" sldId="858"/>
            <ac:spMk id="5" creationId="{C882A260-2DA6-66EE-C531-6680369DDFF0}"/>
          </ac:spMkLst>
        </pc:spChg>
      </pc:sldChg>
      <pc:sldChg chg="modSp">
        <pc:chgData name="FIOL Lucile" userId="S::lu.fiol@fiteco.com::778d51e7-5060-41a7-a923-b51ba3a4c523" providerId="AD" clId="Web-{109BA8EC-A613-4424-A308-E3FAB1C1B5B6}" dt="2026-06-17T08:28:02.444" v="1" actId="20577"/>
        <pc:sldMkLst>
          <pc:docMk/>
          <pc:sldMk cId="547153299" sldId="1566"/>
        </pc:sldMkLst>
        <pc:spChg chg="mod">
          <ac:chgData name="FIOL Lucile" userId="S::lu.fiol@fiteco.com::778d51e7-5060-41a7-a923-b51ba3a4c523" providerId="AD" clId="Web-{109BA8EC-A613-4424-A308-E3FAB1C1B5B6}" dt="2026-06-17T08:28:02.444" v="1" actId="20577"/>
          <ac:spMkLst>
            <pc:docMk/>
            <pc:sldMk cId="547153299" sldId="1566"/>
            <ac:spMk id="3" creationId="{082AE675-6C7A-84A8-75D5-BB0B5E27DAB4}"/>
          </ac:spMkLst>
        </pc:spChg>
      </pc:sldChg>
      <pc:sldChg chg="modSp">
        <pc:chgData name="FIOL Lucile" userId="S::lu.fiol@fiteco.com::778d51e7-5060-41a7-a923-b51ba3a4c523" providerId="AD" clId="Web-{109BA8EC-A613-4424-A308-E3FAB1C1B5B6}" dt="2026-06-17T08:28:28.680" v="26" actId="20577"/>
        <pc:sldMkLst>
          <pc:docMk/>
          <pc:sldMk cId="1527709142" sldId="1567"/>
        </pc:sldMkLst>
      </pc:sldChg>
      <pc:sldChg chg="modSp">
        <pc:chgData name="FIOL Lucile" userId="S::lu.fiol@fiteco.com::778d51e7-5060-41a7-a923-b51ba3a4c523" providerId="AD" clId="Web-{109BA8EC-A613-4424-A308-E3FAB1C1B5B6}" dt="2026-06-17T08:36:17.901" v="45" actId="20577"/>
        <pc:sldMkLst>
          <pc:docMk/>
          <pc:sldMk cId="4231237559" sldId="1577"/>
        </pc:sldMkLst>
        <pc:spChg chg="mod">
          <ac:chgData name="FIOL Lucile" userId="S::lu.fiol@fiteco.com::778d51e7-5060-41a7-a923-b51ba3a4c523" providerId="AD" clId="Web-{109BA8EC-A613-4424-A308-E3FAB1C1B5B6}" dt="2026-06-17T08:36:17.901" v="45" actId="20577"/>
          <ac:spMkLst>
            <pc:docMk/>
            <pc:sldMk cId="4231237559" sldId="1577"/>
            <ac:spMk id="7" creationId="{FDB9B121-6CBC-8E9B-20EF-5C02BA42708E}"/>
          </ac:spMkLst>
        </pc:spChg>
      </pc:sldChg>
      <pc:sldChg chg="modSp">
        <pc:chgData name="FIOL Lucile" userId="S::lu.fiol@fiteco.com::778d51e7-5060-41a7-a923-b51ba3a4c523" providerId="AD" clId="Web-{109BA8EC-A613-4424-A308-E3FAB1C1B5B6}" dt="2026-06-17T08:47:01.133" v="52" actId="20577"/>
        <pc:sldMkLst>
          <pc:docMk/>
          <pc:sldMk cId="3313148241" sldId="1588"/>
        </pc:sldMkLst>
        <pc:spChg chg="mod">
          <ac:chgData name="FIOL Lucile" userId="S::lu.fiol@fiteco.com::778d51e7-5060-41a7-a923-b51ba3a4c523" providerId="AD" clId="Web-{109BA8EC-A613-4424-A308-E3FAB1C1B5B6}" dt="2026-06-17T08:47:01.133" v="52" actId="20577"/>
          <ac:spMkLst>
            <pc:docMk/>
            <pc:sldMk cId="3313148241" sldId="1588"/>
            <ac:spMk id="5" creationId="{D86A2281-C4A3-D3D3-D5B9-57D71C499E19}"/>
          </ac:spMkLst>
        </pc:spChg>
      </pc:sldChg>
    </pc:docChg>
  </pc:docChgLst>
  <pc:docChgLst>
    <pc:chgData name="CIVET Annaig" userId="79765bbd-8b16-459a-bf48-ad0fdd5a89f1" providerId="ADAL" clId="{556F76C8-08C1-48A7-A287-A1781B08E4E8}"/>
    <pc:docChg chg="undo custSel addSld delSld modSld sldOrd">
      <pc:chgData name="CIVET Annaig" userId="79765bbd-8b16-459a-bf48-ad0fdd5a89f1" providerId="ADAL" clId="{556F76C8-08C1-48A7-A287-A1781B08E4E8}" dt="2026-06-25T13:06:17.006" v="2214" actId="6549"/>
      <pc:docMkLst>
        <pc:docMk/>
      </pc:docMkLst>
      <pc:sldChg chg="modSp mod">
        <pc:chgData name="CIVET Annaig" userId="79765bbd-8b16-459a-bf48-ad0fdd5a89f1" providerId="ADAL" clId="{556F76C8-08C1-48A7-A287-A1781B08E4E8}" dt="2026-06-25T09:52:00.002" v="5" actId="13926"/>
        <pc:sldMkLst>
          <pc:docMk/>
          <pc:sldMk cId="3450440071" sldId="695"/>
        </pc:sldMkLst>
        <pc:spChg chg="mod">
          <ac:chgData name="CIVET Annaig" userId="79765bbd-8b16-459a-bf48-ad0fdd5a89f1" providerId="ADAL" clId="{556F76C8-08C1-48A7-A287-A1781B08E4E8}" dt="2026-06-25T09:52:00.002" v="5" actId="13926"/>
          <ac:spMkLst>
            <pc:docMk/>
            <pc:sldMk cId="3450440071" sldId="695"/>
            <ac:spMk id="3" creationId="{4F994D77-6E5E-309F-15EF-338C4E79B66D}"/>
          </ac:spMkLst>
        </pc:spChg>
      </pc:sldChg>
      <pc:sldChg chg="addSp modSp mod modNotesTx">
        <pc:chgData name="CIVET Annaig" userId="79765bbd-8b16-459a-bf48-ad0fdd5a89f1" providerId="ADAL" clId="{556F76C8-08C1-48A7-A287-A1781B08E4E8}" dt="2026-06-25T12:54:32.568" v="1831" actId="403"/>
        <pc:sldMkLst>
          <pc:docMk/>
          <pc:sldMk cId="1611006643" sldId="718"/>
        </pc:sldMkLst>
        <pc:spChg chg="add mod">
          <ac:chgData name="CIVET Annaig" userId="79765bbd-8b16-459a-bf48-ad0fdd5a89f1" providerId="ADAL" clId="{556F76C8-08C1-48A7-A287-A1781B08E4E8}" dt="2026-06-25T12:08:22.445" v="1709" actId="1076"/>
          <ac:spMkLst>
            <pc:docMk/>
            <pc:sldMk cId="1611006643" sldId="718"/>
            <ac:spMk id="2" creationId="{4CC02413-2A02-C5F8-317F-22FBD3A51792}"/>
          </ac:spMkLst>
        </pc:spChg>
        <pc:spChg chg="mod">
          <ac:chgData name="CIVET Annaig" userId="79765bbd-8b16-459a-bf48-ad0fdd5a89f1" providerId="ADAL" clId="{556F76C8-08C1-48A7-A287-A1781B08E4E8}" dt="2026-06-25T12:08:20.314" v="1708" actId="1076"/>
          <ac:spMkLst>
            <pc:docMk/>
            <pc:sldMk cId="1611006643" sldId="718"/>
            <ac:spMk id="5" creationId="{90BC446B-146F-F675-18E0-69E1AC736CE9}"/>
          </ac:spMkLst>
        </pc:spChg>
        <pc:spChg chg="add mod">
          <ac:chgData name="CIVET Annaig" userId="79765bbd-8b16-459a-bf48-ad0fdd5a89f1" providerId="ADAL" clId="{556F76C8-08C1-48A7-A287-A1781B08E4E8}" dt="2026-06-25T12:54:32.568" v="1831" actId="403"/>
          <ac:spMkLst>
            <pc:docMk/>
            <pc:sldMk cId="1611006643" sldId="718"/>
            <ac:spMk id="6" creationId="{D48B6D90-0D01-5014-2CD6-562253EB4295}"/>
          </ac:spMkLst>
        </pc:spChg>
      </pc:sldChg>
      <pc:sldChg chg="addSp delSp modSp mod modNotesTx">
        <pc:chgData name="CIVET Annaig" userId="79765bbd-8b16-459a-bf48-ad0fdd5a89f1" providerId="ADAL" clId="{556F76C8-08C1-48A7-A287-A1781B08E4E8}" dt="2026-06-25T10:10:08.138" v="712" actId="1076"/>
        <pc:sldMkLst>
          <pc:docMk/>
          <pc:sldMk cId="547153299" sldId="1566"/>
        </pc:sldMkLst>
        <pc:spChg chg="mod">
          <ac:chgData name="CIVET Annaig" userId="79765bbd-8b16-459a-bf48-ad0fdd5a89f1" providerId="ADAL" clId="{556F76C8-08C1-48A7-A287-A1781B08E4E8}" dt="2026-06-25T10:02:46.376" v="256" actId="20577"/>
          <ac:spMkLst>
            <pc:docMk/>
            <pc:sldMk cId="547153299" sldId="1566"/>
            <ac:spMk id="3" creationId="{082AE675-6C7A-84A8-75D5-BB0B5E27DAB4}"/>
          </ac:spMkLst>
        </pc:spChg>
        <pc:picChg chg="add mod">
          <ac:chgData name="CIVET Annaig" userId="79765bbd-8b16-459a-bf48-ad0fdd5a89f1" providerId="ADAL" clId="{556F76C8-08C1-48A7-A287-A1781B08E4E8}" dt="2026-06-25T10:10:08.138" v="712" actId="1076"/>
          <ac:picMkLst>
            <pc:docMk/>
            <pc:sldMk cId="547153299" sldId="1566"/>
            <ac:picMk id="5" creationId="{AF7E53C8-7A5E-076B-523D-25E6C7BF624E}"/>
          </ac:picMkLst>
        </pc:picChg>
      </pc:sldChg>
      <pc:sldChg chg="addSp delSp modSp mod modNotesTx">
        <pc:chgData name="CIVET Annaig" userId="79765bbd-8b16-459a-bf48-ad0fdd5a89f1" providerId="ADAL" clId="{556F76C8-08C1-48A7-A287-A1781B08E4E8}" dt="2026-06-25T10:00:56.855" v="57" actId="20577"/>
        <pc:sldMkLst>
          <pc:docMk/>
          <pc:sldMk cId="1527709142" sldId="1567"/>
        </pc:sldMkLst>
        <pc:spChg chg="add mod">
          <ac:chgData name="CIVET Annaig" userId="79765bbd-8b16-459a-bf48-ad0fdd5a89f1" providerId="ADAL" clId="{556F76C8-08C1-48A7-A287-A1781B08E4E8}" dt="2026-06-25T09:59:22.120" v="28" actId="1076"/>
          <ac:spMkLst>
            <pc:docMk/>
            <pc:sldMk cId="1527709142" sldId="1567"/>
            <ac:spMk id="5" creationId="{D6825414-5084-47AB-BF6C-5C1059707C95}"/>
          </ac:spMkLst>
        </pc:spChg>
        <pc:spChg chg="add mod">
          <ac:chgData name="CIVET Annaig" userId="79765bbd-8b16-459a-bf48-ad0fdd5a89f1" providerId="ADAL" clId="{556F76C8-08C1-48A7-A287-A1781B08E4E8}" dt="2026-06-25T09:59:28.390" v="29"/>
          <ac:spMkLst>
            <pc:docMk/>
            <pc:sldMk cId="1527709142" sldId="1567"/>
            <ac:spMk id="6" creationId="{B6EDF01C-6354-8C8E-553A-1EE196F6F59B}"/>
          </ac:spMkLst>
        </pc:spChg>
        <pc:spChg chg="add mod">
          <ac:chgData name="CIVET Annaig" userId="79765bbd-8b16-459a-bf48-ad0fdd5a89f1" providerId="ADAL" clId="{556F76C8-08C1-48A7-A287-A1781B08E4E8}" dt="2026-06-25T10:00:47.877" v="56" actId="1076"/>
          <ac:spMkLst>
            <pc:docMk/>
            <pc:sldMk cId="1527709142" sldId="1567"/>
            <ac:spMk id="7" creationId="{DF904A79-A209-0152-3333-4898F6FACB79}"/>
          </ac:spMkLst>
        </pc:spChg>
      </pc:sldChg>
      <pc:sldChg chg="addSp modSp mod modNotesTx">
        <pc:chgData name="CIVET Annaig" userId="79765bbd-8b16-459a-bf48-ad0fdd5a89f1" providerId="ADAL" clId="{556F76C8-08C1-48A7-A287-A1781B08E4E8}" dt="2026-06-25T13:01:49.227" v="2141" actId="113"/>
        <pc:sldMkLst>
          <pc:docMk/>
          <pc:sldMk cId="1242284759" sldId="1582"/>
        </pc:sldMkLst>
        <pc:spChg chg="add mod">
          <ac:chgData name="CIVET Annaig" userId="79765bbd-8b16-459a-bf48-ad0fdd5a89f1" providerId="ADAL" clId="{556F76C8-08C1-48A7-A287-A1781B08E4E8}" dt="2026-06-25T11:53:19.391" v="1304" actId="1076"/>
          <ac:spMkLst>
            <pc:docMk/>
            <pc:sldMk cId="1242284759" sldId="1582"/>
            <ac:spMk id="3" creationId="{1D1E3B64-7A99-6D62-3CBC-E1BB2214178B}"/>
          </ac:spMkLst>
        </pc:spChg>
        <pc:spChg chg="mod">
          <ac:chgData name="CIVET Annaig" userId="79765bbd-8b16-459a-bf48-ad0fdd5a89f1" providerId="ADAL" clId="{556F76C8-08C1-48A7-A287-A1781B08E4E8}" dt="2026-06-25T12:55:00.557" v="1837" actId="20577"/>
          <ac:spMkLst>
            <pc:docMk/>
            <pc:sldMk cId="1242284759" sldId="1582"/>
            <ac:spMk id="5" creationId="{0D113E80-54F9-85D1-0F93-ACB53E17AA61}"/>
          </ac:spMkLst>
        </pc:spChg>
        <pc:graphicFrameChg chg="add mod">
          <ac:chgData name="CIVET Annaig" userId="79765bbd-8b16-459a-bf48-ad0fdd5a89f1" providerId="ADAL" clId="{556F76C8-08C1-48A7-A287-A1781B08E4E8}" dt="2026-06-25T12:11:21.227" v="1803" actId="1076"/>
          <ac:graphicFrameMkLst>
            <pc:docMk/>
            <pc:sldMk cId="1242284759" sldId="1582"/>
            <ac:graphicFrameMk id="2" creationId="{2A98307D-CFFD-8501-AFF0-3E3D86823670}"/>
          </ac:graphicFrameMkLst>
        </pc:graphicFrameChg>
      </pc:sldChg>
      <pc:sldChg chg="modSp mod modNotesTx">
        <pc:chgData name="CIVET Annaig" userId="79765bbd-8b16-459a-bf48-ad0fdd5a89f1" providerId="ADAL" clId="{556F76C8-08C1-48A7-A287-A1781B08E4E8}" dt="2026-06-25T13:06:17.006" v="2214" actId="6549"/>
        <pc:sldMkLst>
          <pc:docMk/>
          <pc:sldMk cId="956406968" sldId="1583"/>
        </pc:sldMkLst>
        <pc:spChg chg="mod">
          <ac:chgData name="CIVET Annaig" userId="79765bbd-8b16-459a-bf48-ad0fdd5a89f1" providerId="ADAL" clId="{556F76C8-08C1-48A7-A287-A1781B08E4E8}" dt="2026-06-25T13:04:18.613" v="2167" actId="20577"/>
          <ac:spMkLst>
            <pc:docMk/>
            <pc:sldMk cId="956406968" sldId="1583"/>
            <ac:spMk id="5" creationId="{3BF86695-03CD-2001-8835-11CE8872E3E6}"/>
          </ac:spMkLst>
        </pc:spChg>
      </pc:sldChg>
      <pc:sldChg chg="addSp modSp new mod">
        <pc:chgData name="CIVET Annaig" userId="79765bbd-8b16-459a-bf48-ad0fdd5a89f1" providerId="ADAL" clId="{556F76C8-08C1-48A7-A287-A1781B08E4E8}" dt="2026-06-25T11:52:09.768" v="1299" actId="14100"/>
        <pc:sldMkLst>
          <pc:docMk/>
          <pc:sldMk cId="643884977" sldId="1596"/>
        </pc:sldMkLst>
        <pc:spChg chg="add mod">
          <ac:chgData name="CIVET Annaig" userId="79765bbd-8b16-459a-bf48-ad0fdd5a89f1" providerId="ADAL" clId="{556F76C8-08C1-48A7-A287-A1781B08E4E8}" dt="2026-06-25T11:41:43.291" v="1292"/>
          <ac:spMkLst>
            <pc:docMk/>
            <pc:sldMk cId="643884977" sldId="1596"/>
            <ac:spMk id="2" creationId="{0CE4096A-6A66-2E54-03FE-8D139CBDC6B5}"/>
          </ac:spMkLst>
        </pc:spChg>
        <pc:spChg chg="add mod">
          <ac:chgData name="CIVET Annaig" userId="79765bbd-8b16-459a-bf48-ad0fdd5a89f1" providerId="ADAL" clId="{556F76C8-08C1-48A7-A287-A1781B08E4E8}" dt="2026-06-25T11:52:09.768" v="1299" actId="14100"/>
          <ac:spMkLst>
            <pc:docMk/>
            <pc:sldMk cId="643884977" sldId="1596"/>
            <ac:spMk id="4" creationId="{E8881B14-ECAA-39DE-2F6F-13583621320C}"/>
          </ac:spMkLst>
        </pc:spChg>
      </pc:sldChg>
      <pc:sldChg chg="addSp delSp modSp add mod modNotesTx">
        <pc:chgData name="CIVET Annaig" userId="79765bbd-8b16-459a-bf48-ad0fdd5a89f1" providerId="ADAL" clId="{556F76C8-08C1-48A7-A287-A1781B08E4E8}" dt="2026-06-25T13:02:52.083" v="2164" actId="404"/>
        <pc:sldMkLst>
          <pc:docMk/>
          <pc:sldMk cId="1349178301" sldId="1597"/>
        </pc:sldMkLst>
        <pc:spChg chg="mod">
          <ac:chgData name="CIVET Annaig" userId="79765bbd-8b16-459a-bf48-ad0fdd5a89f1" providerId="ADAL" clId="{556F76C8-08C1-48A7-A287-A1781B08E4E8}" dt="2026-06-25T13:02:52.083" v="2164" actId="404"/>
          <ac:spMkLst>
            <pc:docMk/>
            <pc:sldMk cId="1349178301" sldId="1597"/>
            <ac:spMk id="5" creationId="{13CC72DB-DEE1-580F-F498-84F0595F1439}"/>
          </ac:spMkLst>
        </pc:spChg>
      </pc:sldChg>
    </pc:docChg>
  </pc:docChgLst>
  <pc:docChgLst>
    <pc:chgData name="CIVET Annaig" userId="S::a.civet@fiteco.com::79765bbd-8b16-459a-bf48-ad0fdd5a89f1" providerId="AD" clId="Web-{2B61D4A6-205A-49CC-B857-ABC33DEA974F}"/>
    <pc:docChg chg="delSld">
      <pc:chgData name="CIVET Annaig" userId="S::a.civet@fiteco.com::79765bbd-8b16-459a-bf48-ad0fdd5a89f1" providerId="AD" clId="Web-{2B61D4A6-205A-49CC-B857-ABC33DEA974F}" dt="2026-06-23T14:01:30.191" v="0"/>
      <pc:docMkLst>
        <pc:docMk/>
      </pc:docMkLst>
    </pc:docChg>
  </pc:docChgLst>
  <pc:docChgLst>
    <pc:chgData name="Guest User" userId="S::urn:spo:tenantanon#c91606e4-f272-4d31-bbfc-820bba825ea5::" providerId="AD" clId="Web-{F5F34192-B81A-8285-CA8A-F4C00531AFF2}"/>
    <pc:docChg chg="delSld modSld">
      <pc:chgData name="Guest User" userId="S::urn:spo:tenantanon#c91606e4-f272-4d31-bbfc-820bba825ea5::" providerId="AD" clId="Web-{F5F34192-B81A-8285-CA8A-F4C00531AFF2}" dt="2026-06-29T14:44:32.334" v="277"/>
      <pc:docMkLst>
        <pc:docMk/>
      </pc:docMkLst>
      <pc:sldChg chg="modNotes">
        <pc:chgData name="Guest User" userId="S::urn:spo:tenantanon#c91606e4-f272-4d31-bbfc-820bba825ea5::" providerId="AD" clId="Web-{F5F34192-B81A-8285-CA8A-F4C00531AFF2}" dt="2026-06-29T14:44:32.334" v="277"/>
        <pc:sldMkLst>
          <pc:docMk/>
          <pc:sldMk cId="3093236528" sldId="719"/>
        </pc:sldMkLst>
      </pc:sldChg>
      <pc:sldChg chg="modNotes">
        <pc:chgData name="Guest User" userId="S::urn:spo:tenantanon#c91606e4-f272-4d31-bbfc-820bba825ea5::" providerId="AD" clId="Web-{F5F34192-B81A-8285-CA8A-F4C00531AFF2}" dt="2026-06-29T14:42:27.107" v="46"/>
        <pc:sldMkLst>
          <pc:docMk/>
          <pc:sldMk cId="571785858" sldId="1571"/>
        </pc:sldMkLst>
      </pc:sldChg>
      <pc:sldChg chg="modNotes">
        <pc:chgData name="Guest User" userId="S::urn:spo:tenantanon#c91606e4-f272-4d31-bbfc-820bba825ea5::" providerId="AD" clId="Web-{F5F34192-B81A-8285-CA8A-F4C00531AFF2}" dt="2026-06-29T14:36:52.297" v="20"/>
        <pc:sldMkLst>
          <pc:docMk/>
          <pc:sldMk cId="3795906666" sldId="1575"/>
        </pc:sldMkLst>
      </pc:sldChg>
      <pc:sldChg chg="modNotes">
        <pc:chgData name="Guest User" userId="S::urn:spo:tenantanon#c91606e4-f272-4d31-bbfc-820bba825ea5::" providerId="AD" clId="Web-{F5F34192-B81A-8285-CA8A-F4C00531AFF2}" dt="2026-06-29T14:40:35.055" v="33"/>
        <pc:sldMkLst>
          <pc:docMk/>
          <pc:sldMk cId="643884977" sldId="1596"/>
        </pc:sldMkLst>
      </pc:sldChg>
    </pc:docChg>
  </pc:docChgLst>
  <pc:docChgLst>
    <pc:chgData name="Guest User" userId="S::urn:spo:tenantanon#c91606e4-f272-4d31-bbfc-820bba825ea5::" providerId="AD" clId="Web-{75C3146B-F0BE-F697-EE6E-C779447988B1}"/>
    <pc:docChg chg="modSld">
      <pc:chgData name="Guest User" userId="S::urn:spo:tenantanon#c91606e4-f272-4d31-bbfc-820bba825ea5::" providerId="AD" clId="Web-{75C3146B-F0BE-F697-EE6E-C779447988B1}" dt="2026-06-26T07:17:07.549" v="44" actId="20577"/>
      <pc:docMkLst>
        <pc:docMk/>
      </pc:docMkLst>
      <pc:sldChg chg="modSp">
        <pc:chgData name="Guest User" userId="S::urn:spo:tenantanon#c91606e4-f272-4d31-bbfc-820bba825ea5::" providerId="AD" clId="Web-{75C3146B-F0BE-F697-EE6E-C779447988B1}" dt="2026-06-26T07:15:54.219" v="16" actId="20577"/>
        <pc:sldMkLst>
          <pc:docMk/>
          <pc:sldMk cId="547153299" sldId="1566"/>
        </pc:sldMkLst>
        <pc:spChg chg="mod">
          <ac:chgData name="Guest User" userId="S::urn:spo:tenantanon#c91606e4-f272-4d31-bbfc-820bba825ea5::" providerId="AD" clId="Web-{75C3146B-F0BE-F697-EE6E-C779447988B1}" dt="2026-06-26T07:15:54.219" v="16" actId="20577"/>
          <ac:spMkLst>
            <pc:docMk/>
            <pc:sldMk cId="547153299" sldId="1566"/>
            <ac:spMk id="3" creationId="{082AE675-6C7A-84A8-75D5-BB0B5E27DAB4}"/>
          </ac:spMkLst>
        </pc:spChg>
      </pc:sldChg>
      <pc:sldChg chg="modSp">
        <pc:chgData name="Guest User" userId="S::urn:spo:tenantanon#c91606e4-f272-4d31-bbfc-820bba825ea5::" providerId="AD" clId="Web-{75C3146B-F0BE-F697-EE6E-C779447988B1}" dt="2026-06-26T07:14:31.981" v="1" actId="20577"/>
        <pc:sldMkLst>
          <pc:docMk/>
          <pc:sldMk cId="956406968" sldId="1583"/>
        </pc:sldMkLst>
        <pc:spChg chg="mod">
          <ac:chgData name="Guest User" userId="S::urn:spo:tenantanon#c91606e4-f272-4d31-bbfc-820bba825ea5::" providerId="AD" clId="Web-{75C3146B-F0BE-F697-EE6E-C779447988B1}" dt="2026-06-26T07:14:31.981" v="1" actId="20577"/>
          <ac:spMkLst>
            <pc:docMk/>
            <pc:sldMk cId="956406968" sldId="1583"/>
            <ac:spMk id="5" creationId="{3BF86695-03CD-2001-8835-11CE8872E3E6}"/>
          </ac:spMkLst>
        </pc:spChg>
      </pc:sldChg>
      <pc:sldChg chg="modSp">
        <pc:chgData name="Guest User" userId="S::urn:spo:tenantanon#c91606e4-f272-4d31-bbfc-820bba825ea5::" providerId="AD" clId="Web-{75C3146B-F0BE-F697-EE6E-C779447988B1}" dt="2026-06-26T07:16:01.985" v="21" actId="20577"/>
        <pc:sldMkLst>
          <pc:docMk/>
          <pc:sldMk cId="643884977" sldId="1596"/>
        </pc:sldMkLst>
        <pc:spChg chg="mod">
          <ac:chgData name="Guest User" userId="S::urn:spo:tenantanon#c91606e4-f272-4d31-bbfc-820bba825ea5::" providerId="AD" clId="Web-{75C3146B-F0BE-F697-EE6E-C779447988B1}" dt="2026-06-26T07:16:01.985" v="21" actId="20577"/>
          <ac:spMkLst>
            <pc:docMk/>
            <pc:sldMk cId="643884977" sldId="1596"/>
            <ac:spMk id="4" creationId="{E8881B14-ECAA-39DE-2F6F-13583621320C}"/>
          </ac:spMkLst>
        </pc:spChg>
      </pc:sldChg>
    </pc:docChg>
  </pc:docChgLst>
  <pc:docChgLst>
    <pc:chgData name="Guest User" userId="S::urn:spo:tenantanon#c91606e4-f272-4d31-bbfc-820bba825ea5::" providerId="AD" clId="Web-{DD4BD51C-9443-DBFA-AC1A-CF38EF26B775}"/>
    <pc:docChg chg="modSld sldOrd">
      <pc:chgData name="Guest User" userId="S::urn:spo:tenantanon#c91606e4-f272-4d31-bbfc-820bba825ea5::" providerId="AD" clId="Web-{DD4BD51C-9443-DBFA-AC1A-CF38EF26B775}" dt="2026-06-28T20:36:26.431" v="5080"/>
      <pc:docMkLst>
        <pc:docMk/>
      </pc:docMkLst>
      <pc:sldChg chg="modNotes">
        <pc:chgData name="Guest User" userId="S::urn:spo:tenantanon#c91606e4-f272-4d31-bbfc-820bba825ea5::" providerId="AD" clId="Web-{DD4BD51C-9443-DBFA-AC1A-CF38EF26B775}" dt="2026-06-28T14:32:32.116" v="271"/>
        <pc:sldMkLst>
          <pc:docMk/>
          <pc:sldMk cId="918224039" sldId="696"/>
        </pc:sldMkLst>
      </pc:sldChg>
      <pc:sldChg chg="modSp modNotes">
        <pc:chgData name="Guest User" userId="S::urn:spo:tenantanon#c91606e4-f272-4d31-bbfc-820bba825ea5::" providerId="AD" clId="Web-{DD4BD51C-9443-DBFA-AC1A-CF38EF26B775}" dt="2026-06-28T20:32:05.733" v="5063"/>
        <pc:sldMkLst>
          <pc:docMk/>
          <pc:sldMk cId="3093236528" sldId="719"/>
        </pc:sldMkLst>
        <pc:spChg chg="mod">
          <ac:chgData name="Guest User" userId="S::urn:spo:tenantanon#c91606e4-f272-4d31-bbfc-820bba825ea5::" providerId="AD" clId="Web-{DD4BD51C-9443-DBFA-AC1A-CF38EF26B775}" dt="2026-06-28T13:48:55.198" v="38" actId="20577"/>
          <ac:spMkLst>
            <pc:docMk/>
            <pc:sldMk cId="3093236528" sldId="719"/>
            <ac:spMk id="3" creationId="{561FEB17-1B03-4F92-83A6-0609E9D27402}"/>
          </ac:spMkLst>
        </pc:spChg>
      </pc:sldChg>
      <pc:sldChg chg="modNotes">
        <pc:chgData name="Guest User" userId="S::urn:spo:tenantanon#c91606e4-f272-4d31-bbfc-820bba825ea5::" providerId="AD" clId="Web-{DD4BD51C-9443-DBFA-AC1A-CF38EF26B775}" dt="2026-06-28T15:30:39.694" v="2368"/>
        <pc:sldMkLst>
          <pc:docMk/>
          <pc:sldMk cId="2963814536" sldId="795"/>
        </pc:sldMkLst>
      </pc:sldChg>
      <pc:sldChg chg="modNotes">
        <pc:chgData name="Guest User" userId="S::urn:spo:tenantanon#c91606e4-f272-4d31-bbfc-820bba825ea5::" providerId="AD" clId="Web-{DD4BD51C-9443-DBFA-AC1A-CF38EF26B775}" dt="2026-06-28T20:06:30.220" v="3813"/>
        <pc:sldMkLst>
          <pc:docMk/>
          <pc:sldMk cId="2935409531" sldId="858"/>
        </pc:sldMkLst>
      </pc:sldChg>
      <pc:sldChg chg="modSp modNotes">
        <pc:chgData name="Guest User" userId="S::urn:spo:tenantanon#c91606e4-f272-4d31-bbfc-820bba825ea5::" providerId="AD" clId="Web-{DD4BD51C-9443-DBFA-AC1A-CF38EF26B775}" dt="2026-06-28T19:41:32.144" v="3231"/>
        <pc:sldMkLst>
          <pc:docMk/>
          <pc:sldMk cId="185045434" sldId="861"/>
        </pc:sldMkLst>
        <pc:spChg chg="mod">
          <ac:chgData name="Guest User" userId="S::urn:spo:tenantanon#c91606e4-f272-4d31-bbfc-820bba825ea5::" providerId="AD" clId="Web-{DD4BD51C-9443-DBFA-AC1A-CF38EF26B775}" dt="2026-06-28T19:34:58.957" v="3118" actId="20577"/>
          <ac:spMkLst>
            <pc:docMk/>
            <pc:sldMk cId="185045434" sldId="861"/>
            <ac:spMk id="5" creationId="{39818752-6BB9-569F-E6F0-2EABF4FB07C4}"/>
          </ac:spMkLst>
        </pc:spChg>
      </pc:sldChg>
      <pc:sldChg chg="modNotes">
        <pc:chgData name="Guest User" userId="S::urn:spo:tenantanon#c91606e4-f272-4d31-bbfc-820bba825ea5::" providerId="AD" clId="Web-{DD4BD51C-9443-DBFA-AC1A-CF38EF26B775}" dt="2026-06-28T14:32:45.523" v="293"/>
        <pc:sldMkLst>
          <pc:docMk/>
          <pc:sldMk cId="2958151970" sldId="1451"/>
        </pc:sldMkLst>
      </pc:sldChg>
      <pc:sldChg chg="modNotes">
        <pc:chgData name="Guest User" userId="S::urn:spo:tenantanon#c91606e4-f272-4d31-bbfc-820bba825ea5::" providerId="AD" clId="Web-{DD4BD51C-9443-DBFA-AC1A-CF38EF26B775}" dt="2026-06-28T14:59:09.774" v="910"/>
        <pc:sldMkLst>
          <pc:docMk/>
          <pc:sldMk cId="2259650361" sldId="1557"/>
        </pc:sldMkLst>
      </pc:sldChg>
      <pc:sldChg chg="modSp modNotes">
        <pc:chgData name="Guest User" userId="S::urn:spo:tenantanon#c91606e4-f272-4d31-bbfc-820bba825ea5::" providerId="AD" clId="Web-{DD4BD51C-9443-DBFA-AC1A-CF38EF26B775}" dt="2026-06-28T15:08:54.174" v="1269"/>
        <pc:sldMkLst>
          <pc:docMk/>
          <pc:sldMk cId="769188190" sldId="1558"/>
        </pc:sldMkLst>
        <pc:spChg chg="mod">
          <ac:chgData name="Guest User" userId="S::urn:spo:tenantanon#c91606e4-f272-4d31-bbfc-820bba825ea5::" providerId="AD" clId="Web-{DD4BD51C-9443-DBFA-AC1A-CF38EF26B775}" dt="2026-06-28T15:03:44.363" v="1009" actId="20577"/>
          <ac:spMkLst>
            <pc:docMk/>
            <pc:sldMk cId="769188190" sldId="1558"/>
            <ac:spMk id="5" creationId="{90057B07-470E-C739-1136-C19715474DC4}"/>
          </ac:spMkLst>
        </pc:spChg>
      </pc:sldChg>
      <pc:sldChg chg="modNotes">
        <pc:chgData name="Guest User" userId="S::urn:spo:tenantanon#c91606e4-f272-4d31-bbfc-820bba825ea5::" providerId="AD" clId="Web-{DD4BD51C-9443-DBFA-AC1A-CF38EF26B775}" dt="2026-06-28T16:59:55.884" v="3037"/>
        <pc:sldMkLst>
          <pc:docMk/>
          <pc:sldMk cId="404332768" sldId="1560"/>
        </pc:sldMkLst>
      </pc:sldChg>
      <pc:sldChg chg="modNotes">
        <pc:chgData name="Guest User" userId="S::urn:spo:tenantanon#c91606e4-f272-4d31-bbfc-820bba825ea5::" providerId="AD" clId="Web-{DD4BD51C-9443-DBFA-AC1A-CF38EF26B775}" dt="2026-06-28T19:27:53.206" v="3038"/>
        <pc:sldMkLst>
          <pc:docMk/>
          <pc:sldMk cId="1489350177" sldId="1576"/>
        </pc:sldMkLst>
      </pc:sldChg>
      <pc:sldChg chg="modSp modNotes">
        <pc:chgData name="Guest User" userId="S::urn:spo:tenantanon#c91606e4-f272-4d31-bbfc-820bba825ea5::" providerId="AD" clId="Web-{DD4BD51C-9443-DBFA-AC1A-CF38EF26B775}" dt="2026-06-28T20:36:26.431" v="5080"/>
        <pc:sldMkLst>
          <pc:docMk/>
          <pc:sldMk cId="4231237559" sldId="1577"/>
        </pc:sldMkLst>
        <pc:spChg chg="mod">
          <ac:chgData name="Guest User" userId="S::urn:spo:tenantanon#c91606e4-f272-4d31-bbfc-820bba825ea5::" providerId="AD" clId="Web-{DD4BD51C-9443-DBFA-AC1A-CF38EF26B775}" dt="2026-06-28T20:20:05.486" v="4307" actId="20577"/>
          <ac:spMkLst>
            <pc:docMk/>
            <pc:sldMk cId="4231237559" sldId="1577"/>
            <ac:spMk id="7" creationId="{FDB9B121-6CBC-8E9B-20EF-5C02BA42708E}"/>
          </ac:spMkLst>
        </pc:spChg>
      </pc:sldChg>
    </pc:docChg>
  </pc:docChgLst>
  <pc:docChgLst>
    <pc:chgData name="FIOL Lucile" userId="S::lu.fiol@fiteco.com::778d51e7-5060-41a7-a923-b51ba3a4c523" providerId="AD" clId="Web-{9E036C4A-C335-4D56-9BAA-8B16DEDB8F29}"/>
    <pc:docChg chg="addSld modSld sldOrd">
      <pc:chgData name="FIOL Lucile" userId="S::lu.fiol@fiteco.com::778d51e7-5060-41a7-a923-b51ba3a4c523" providerId="AD" clId="Web-{9E036C4A-C335-4D56-9BAA-8B16DEDB8F29}" dt="2026-06-16T07:44:26.093" v="215"/>
      <pc:docMkLst>
        <pc:docMk/>
      </pc:docMkLst>
      <pc:sldChg chg="modSp">
        <pc:chgData name="FIOL Lucile" userId="S::lu.fiol@fiteco.com::778d51e7-5060-41a7-a923-b51ba3a4c523" providerId="AD" clId="Web-{9E036C4A-C335-4D56-9BAA-8B16DEDB8F29}" dt="2026-06-16T07:42:14.822" v="152" actId="20577"/>
        <pc:sldMkLst>
          <pc:docMk/>
          <pc:sldMk cId="1709385313" sldId="1523"/>
        </pc:sldMkLst>
        <pc:spChg chg="mod">
          <ac:chgData name="FIOL Lucile" userId="S::lu.fiol@fiteco.com::778d51e7-5060-41a7-a923-b51ba3a4c523" providerId="AD" clId="Web-{9E036C4A-C335-4D56-9BAA-8B16DEDB8F29}" dt="2026-06-16T07:42:14.822" v="152" actId="20577"/>
          <ac:spMkLst>
            <pc:docMk/>
            <pc:sldMk cId="1709385313" sldId="1523"/>
            <ac:spMk id="5" creationId="{C751EB6B-E2CE-4DCA-C48F-940252CCD435}"/>
          </ac:spMkLst>
        </pc:spChg>
        <pc:picChg chg="mod">
          <ac:chgData name="FIOL Lucile" userId="S::lu.fiol@fiteco.com::778d51e7-5060-41a7-a923-b51ba3a4c523" providerId="AD" clId="Web-{9E036C4A-C335-4D56-9BAA-8B16DEDB8F29}" dt="2026-06-16T07:42:11.541" v="148" actId="1076"/>
          <ac:picMkLst>
            <pc:docMk/>
            <pc:sldMk cId="1709385313" sldId="1523"/>
            <ac:picMk id="12" creationId="{2D3AD15C-C52B-0FB5-09A1-E913F413DDCB}"/>
          </ac:picMkLst>
        </pc:picChg>
      </pc:sldChg>
      <pc:sldChg chg="modSp">
        <pc:chgData name="FIOL Lucile" userId="S::lu.fiol@fiteco.com::778d51e7-5060-41a7-a923-b51ba3a4c523" providerId="AD" clId="Web-{9E036C4A-C335-4D56-9BAA-8B16DEDB8F29}" dt="2026-06-16T07:42:19.072" v="153" actId="20577"/>
        <pc:sldMkLst>
          <pc:docMk/>
          <pc:sldMk cId="556308043" sldId="1569"/>
        </pc:sldMkLst>
        <pc:spChg chg="mod">
          <ac:chgData name="FIOL Lucile" userId="S::lu.fiol@fiteco.com::778d51e7-5060-41a7-a923-b51ba3a4c523" providerId="AD" clId="Web-{9E036C4A-C335-4D56-9BAA-8B16DEDB8F29}" dt="2026-06-16T07:42:19.072" v="153" actId="20577"/>
          <ac:spMkLst>
            <pc:docMk/>
            <pc:sldMk cId="556308043" sldId="1569"/>
            <ac:spMk id="5" creationId="{E82F6865-E4CB-AD1B-1097-AE8C502DE060}"/>
          </ac:spMkLst>
        </pc:spChg>
      </pc:sldChg>
      <pc:sldChg chg="modSp">
        <pc:chgData name="FIOL Lucile" userId="S::lu.fiol@fiteco.com::778d51e7-5060-41a7-a923-b51ba3a4c523" providerId="AD" clId="Web-{9E036C4A-C335-4D56-9BAA-8B16DEDB8F29}" dt="2026-06-16T07:42:22.635" v="154" actId="20577"/>
        <pc:sldMkLst>
          <pc:docMk/>
          <pc:sldMk cId="3075828907" sldId="1584"/>
        </pc:sldMkLst>
        <pc:spChg chg="mod">
          <ac:chgData name="FIOL Lucile" userId="S::lu.fiol@fiteco.com::778d51e7-5060-41a7-a923-b51ba3a4c523" providerId="AD" clId="Web-{9E036C4A-C335-4D56-9BAA-8B16DEDB8F29}" dt="2026-06-16T07:42:22.635" v="154" actId="20577"/>
          <ac:spMkLst>
            <pc:docMk/>
            <pc:sldMk cId="3075828907" sldId="1584"/>
            <ac:spMk id="7" creationId="{C1479303-9573-91C8-DAF0-EAD1CE8680B5}"/>
          </ac:spMkLst>
        </pc:spChg>
      </pc:sldChg>
      <pc:sldChg chg="addSp delSp modSp add ord replId modNotes">
        <pc:chgData name="FIOL Lucile" userId="S::lu.fiol@fiteco.com::778d51e7-5060-41a7-a923-b51ba3a4c523" providerId="AD" clId="Web-{9E036C4A-C335-4D56-9BAA-8B16DEDB8F29}" dt="2026-06-16T07:44:26.093" v="215"/>
        <pc:sldMkLst>
          <pc:docMk/>
          <pc:sldMk cId="1661632402" sldId="1586"/>
        </pc:sldMkLst>
        <pc:spChg chg="mod">
          <ac:chgData name="FIOL Lucile" userId="S::lu.fiol@fiteco.com::778d51e7-5060-41a7-a923-b51ba3a4c523" providerId="AD" clId="Web-{9E036C4A-C335-4D56-9BAA-8B16DEDB8F29}" dt="2026-06-16T07:37:57.045" v="35" actId="20577"/>
          <ac:spMkLst>
            <pc:docMk/>
            <pc:sldMk cId="1661632402" sldId="1586"/>
            <ac:spMk id="4" creationId="{36AD6633-C591-CC89-A055-3488FE828B06}"/>
          </ac:spMkLst>
        </pc:spChg>
        <pc:spChg chg="mod">
          <ac:chgData name="FIOL Lucile" userId="S::lu.fiol@fiteco.com::778d51e7-5060-41a7-a923-b51ba3a4c523" providerId="AD" clId="Web-{9E036C4A-C335-4D56-9BAA-8B16DEDB8F29}" dt="2026-06-16T07:41:59.790" v="147" actId="20577"/>
          <ac:spMkLst>
            <pc:docMk/>
            <pc:sldMk cId="1661632402" sldId="1586"/>
            <ac:spMk id="5" creationId="{F48E906C-B0EE-FE4B-7178-2E4E15EC8C3F}"/>
          </ac:spMkLst>
        </pc:spChg>
        <pc:picChg chg="mod">
          <ac:chgData name="FIOL Lucile" userId="S::lu.fiol@fiteco.com::778d51e7-5060-41a7-a923-b51ba3a4c523" providerId="AD" clId="Web-{9E036C4A-C335-4D56-9BAA-8B16DEDB8F29}" dt="2026-06-16T07:39:08.033" v="47" actId="1076"/>
          <ac:picMkLst>
            <pc:docMk/>
            <pc:sldMk cId="1661632402" sldId="1586"/>
            <ac:picMk id="14" creationId="{DE3E2FFF-C492-AEEE-4FC8-ACD3E57CFEE6}"/>
          </ac:picMkLst>
        </pc:picChg>
        <pc:inkChg chg="add">
          <ac:chgData name="FIOL Lucile" userId="S::lu.fiol@fiteco.com::778d51e7-5060-41a7-a923-b51ba3a4c523" providerId="AD" clId="Web-{9E036C4A-C335-4D56-9BAA-8B16DEDB8F29}" dt="2026-06-16T07:43:44.794" v="201"/>
          <ac:inkMkLst>
            <pc:docMk/>
            <pc:sldMk cId="1661632402" sldId="1586"/>
            <ac:inkMk id="6" creationId="{6913D8E9-963B-7780-EF84-3C5CD839CC59}"/>
          </ac:inkMkLst>
        </pc:inkChg>
      </pc:sldChg>
      <pc:sldChg chg="addSp delSp modSp add ord replId modNotes">
        <pc:chgData name="FIOL Lucile" userId="S::lu.fiol@fiteco.com::778d51e7-5060-41a7-a923-b51ba3a4c523" providerId="AD" clId="Web-{9E036C4A-C335-4D56-9BAA-8B16DEDB8F29}" dt="2026-06-16T07:43:29.841" v="200"/>
        <pc:sldMkLst>
          <pc:docMk/>
          <pc:sldMk cId="220347103" sldId="1587"/>
        </pc:sldMkLst>
        <pc:spChg chg="mod">
          <ac:chgData name="FIOL Lucile" userId="S::lu.fiol@fiteco.com::778d51e7-5060-41a7-a923-b51ba3a4c523" providerId="AD" clId="Web-{9E036C4A-C335-4D56-9BAA-8B16DEDB8F29}" dt="2026-06-16T07:41:53.321" v="145" actId="20577"/>
          <ac:spMkLst>
            <pc:docMk/>
            <pc:sldMk cId="220347103" sldId="1587"/>
            <ac:spMk id="4" creationId="{546FA4EA-B132-B42E-55BC-020D31816C42}"/>
          </ac:spMkLst>
        </pc:spChg>
        <pc:spChg chg="mod">
          <ac:chgData name="FIOL Lucile" userId="S::lu.fiol@fiteco.com::778d51e7-5060-41a7-a923-b51ba3a4c523" providerId="AD" clId="Web-{9E036C4A-C335-4D56-9BAA-8B16DEDB8F29}" dt="2026-06-16T07:42:29.510" v="157" actId="20577"/>
          <ac:spMkLst>
            <pc:docMk/>
            <pc:sldMk cId="220347103" sldId="1587"/>
            <ac:spMk id="5" creationId="{0DBA6149-5682-E50D-6B34-5BFFCEE03EE9}"/>
          </ac:spMkLst>
        </pc:spChg>
        <pc:spChg chg="mod">
          <ac:chgData name="FIOL Lucile" userId="S::lu.fiol@fiteco.com::778d51e7-5060-41a7-a923-b51ba3a4c523" providerId="AD" clId="Web-{9E036C4A-C335-4D56-9BAA-8B16DEDB8F29}" dt="2026-06-16T07:42:56.152" v="159" actId="1076"/>
          <ac:spMkLst>
            <pc:docMk/>
            <pc:sldMk cId="220347103" sldId="1587"/>
            <ac:spMk id="9" creationId="{AD106988-D371-C3DD-F089-A30A9849CC2D}"/>
          </ac:spMkLst>
        </pc:spChg>
        <pc:picChg chg="add mod">
          <ac:chgData name="FIOL Lucile" userId="S::lu.fiol@fiteco.com::778d51e7-5060-41a7-a923-b51ba3a4c523" providerId="AD" clId="Web-{9E036C4A-C335-4D56-9BAA-8B16DEDB8F29}" dt="2026-06-16T07:41:45.852" v="143" actId="1076"/>
          <ac:picMkLst>
            <pc:docMk/>
            <pc:sldMk cId="220347103" sldId="1587"/>
            <ac:picMk id="2" creationId="{B4E081E7-61C5-E99B-3413-EBFE231D679C}"/>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6T07:44:55.108"/>
    </inkml:context>
    <inkml:brush xml:id="br0">
      <inkml:brushProperty name="width" value="0.1" units="cm"/>
      <inkml:brushProperty name="height" value="0.1" units="cm"/>
      <inkml:brushProperty name="color" value="#E71224"/>
    </inkml:brush>
  </inkml:definitions>
  <inkml:trace contextRef="#ctx0" brushRef="#br0">12250 9528 16383 0 0,'0'-6'0'0'0,"0"-1"0"0"0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6T07:48:56.310"/>
    </inkml:context>
    <inkml:brush xml:id="br0">
      <inkml:brushProperty name="width" value="0.1" units="cm"/>
      <inkml:brushProperty name="height" value="0.1" units="cm"/>
      <inkml:brushProperty name="color" value="#E71224"/>
    </inkml:brush>
  </inkml:definitions>
  <inkml:trace contextRef="#ctx0" brushRef="#br0">14923 18470 16383 0 0,'5'0'0'0'0,"2"-6"0"0"0,0-1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1"/>
            <a:ext cx="2889938"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777607" y="1"/>
            <a:ext cx="2889938" cy="498056"/>
          </a:xfrm>
          <a:prstGeom prst="rect">
            <a:avLst/>
          </a:prstGeom>
        </p:spPr>
        <p:txBody>
          <a:bodyPr vert="horz" lIns="91440" tIns="45720" rIns="91440" bIns="45720" rtlCol="0"/>
          <a:lstStyle>
            <a:lvl1pPr algn="r">
              <a:defRPr sz="1200"/>
            </a:lvl1pPr>
          </a:lstStyle>
          <a:p>
            <a:fld id="{53252EED-1B66-40C9-8426-C9E1CC30AA45}" type="datetimeFigureOut">
              <a:rPr lang="fr-FR" smtClean="0"/>
              <a:t>16/09/2026</a:t>
            </a:fld>
            <a:endParaRPr lang="fr-FR"/>
          </a:p>
        </p:txBody>
      </p:sp>
      <p:sp>
        <p:nvSpPr>
          <p:cNvPr id="4" name="Espace réservé de l'image des diapositives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66909" y="4777194"/>
            <a:ext cx="5335270" cy="3908615"/>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9428584"/>
            <a:ext cx="2889938"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777607" y="9428584"/>
            <a:ext cx="2889938" cy="498055"/>
          </a:xfrm>
          <a:prstGeom prst="rect">
            <a:avLst/>
          </a:prstGeom>
        </p:spPr>
        <p:txBody>
          <a:bodyPr vert="horz" lIns="91440" tIns="45720" rIns="91440" bIns="45720" rtlCol="0" anchor="b"/>
          <a:lstStyle>
            <a:lvl1pPr algn="r">
              <a:defRPr sz="1200"/>
            </a:lvl1pPr>
          </a:lstStyle>
          <a:p>
            <a:fld id="{0910B20E-BFE3-41E1-A49B-15A522566010}" type="slidenum">
              <a:rPr lang="fr-FR" smtClean="0"/>
              <a:t>‹N°›</a:t>
            </a:fld>
            <a:endParaRPr lang="fr-FR"/>
          </a:p>
        </p:txBody>
      </p:sp>
    </p:spTree>
    <p:extLst>
      <p:ext uri="{BB962C8B-B14F-4D97-AF65-F5344CB8AC3E}">
        <p14:creationId xmlns:p14="http://schemas.microsoft.com/office/powerpoint/2010/main" val="26141072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a:latin typeface="Calibri"/>
                <a:ea typeface="Calibri"/>
                <a:cs typeface="Calibri"/>
              </a:rPr>
              <a:t>REMERCIEMENTS</a:t>
            </a:r>
          </a:p>
          <a:p>
            <a:r>
              <a:rPr lang="en-US">
                <a:latin typeface="Calibri"/>
                <a:ea typeface="Calibri"/>
                <a:cs typeface="Calibri"/>
              </a:rPr>
              <a:t>MA PRESENTATION </a:t>
            </a:r>
          </a:p>
          <a:p>
            <a:r>
              <a:rPr lang="en-US">
                <a:latin typeface="Calibri"/>
                <a:ea typeface="Calibri"/>
                <a:cs typeface="Calibri"/>
              </a:rPr>
              <a:t>SUPPORT DISPONIBLES DANS MY FITECO</a:t>
            </a:r>
          </a:p>
          <a:p>
            <a:endParaRPr lang="en-US">
              <a:latin typeface="Calibri"/>
              <a:ea typeface="Calibri"/>
              <a:cs typeface="Calibri"/>
            </a:endParaRPr>
          </a:p>
        </p:txBody>
      </p:sp>
      <p:sp>
        <p:nvSpPr>
          <p:cNvPr id="4" name="Espace réservé du numéro de diapositive 3"/>
          <p:cNvSpPr>
            <a:spLocks noGrp="1"/>
          </p:cNvSpPr>
          <p:nvPr>
            <p:ph type="sldNum" sz="quarter" idx="5"/>
          </p:nvPr>
        </p:nvSpPr>
        <p:spPr/>
        <p:txBody>
          <a:bodyPr/>
          <a:lstStyle/>
          <a:p>
            <a:fld id="{0910B20E-BFE3-41E1-A49B-15A522566010}" type="slidenum">
              <a:rPr lang="fr-FR" smtClean="0"/>
              <a:t>1</a:t>
            </a:fld>
            <a:endParaRPr lang="fr-FR"/>
          </a:p>
        </p:txBody>
      </p:sp>
    </p:spTree>
    <p:extLst>
      <p:ext uri="{BB962C8B-B14F-4D97-AF65-F5344CB8AC3E}">
        <p14:creationId xmlns:p14="http://schemas.microsoft.com/office/powerpoint/2010/main" val="15053159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a:latin typeface="Calibri"/>
                <a:ea typeface="Calibri"/>
                <a:cs typeface="Calibri"/>
              </a:rPr>
              <a:t>PRESENTATION DU SERVCIE SOCIAL  / 2 équipes / </a:t>
            </a:r>
            <a:endParaRPr lang="en-US"/>
          </a:p>
          <a:p>
            <a:r>
              <a:rPr lang="en-US">
                <a:latin typeface="Calibri"/>
                <a:ea typeface="Calibri"/>
                <a:cs typeface="Calibri"/>
              </a:rPr>
              <a:t>EQUIPE PAIE : </a:t>
            </a:r>
            <a:r>
              <a:rPr lang="en-US" err="1">
                <a:latin typeface="Calibri"/>
                <a:ea typeface="Calibri"/>
                <a:cs typeface="Calibri"/>
              </a:rPr>
              <a:t>pilotée</a:t>
            </a:r>
            <a:r>
              <a:rPr lang="en-US">
                <a:latin typeface="Calibri"/>
                <a:ea typeface="Calibri"/>
                <a:cs typeface="Calibri"/>
              </a:rPr>
              <a:t> par Adeline // Annaïg </a:t>
            </a:r>
            <a:r>
              <a:rPr lang="en-US" err="1">
                <a:latin typeface="Calibri"/>
                <a:ea typeface="Calibri"/>
                <a:cs typeface="Calibri"/>
              </a:rPr>
              <a:t>ici</a:t>
            </a:r>
            <a:r>
              <a:rPr lang="en-US">
                <a:latin typeface="Calibri"/>
                <a:ea typeface="Calibri"/>
                <a:cs typeface="Calibri"/>
              </a:rPr>
              <a:t> </a:t>
            </a:r>
            <a:r>
              <a:rPr lang="en-US" err="1">
                <a:latin typeface="Calibri"/>
                <a:ea typeface="Calibri"/>
                <a:cs typeface="Calibri"/>
              </a:rPr>
              <a:t>présente</a:t>
            </a:r>
            <a:r>
              <a:rPr lang="en-US">
                <a:latin typeface="Calibri"/>
                <a:ea typeface="Calibri"/>
                <a:cs typeface="Calibri"/>
              </a:rPr>
              <a:t> (gestion de la </a:t>
            </a:r>
            <a:r>
              <a:rPr lang="en-US" err="1">
                <a:latin typeface="Calibri"/>
                <a:ea typeface="Calibri"/>
                <a:cs typeface="Calibri"/>
              </a:rPr>
              <a:t>paie</a:t>
            </a:r>
            <a:r>
              <a:rPr lang="en-US">
                <a:latin typeface="Calibri"/>
                <a:ea typeface="Calibri"/>
                <a:cs typeface="Calibri"/>
              </a:rPr>
              <a:t>, DSN, </a:t>
            </a:r>
            <a:r>
              <a:rPr lang="en-US" err="1">
                <a:latin typeface="Calibri"/>
                <a:ea typeface="Calibri"/>
                <a:cs typeface="Calibri"/>
              </a:rPr>
              <a:t>calcul</a:t>
            </a:r>
            <a:r>
              <a:rPr lang="en-US">
                <a:latin typeface="Calibri"/>
                <a:ea typeface="Calibri"/>
                <a:cs typeface="Calibri"/>
              </a:rPr>
              <a:t> des charges, DAT...)</a:t>
            </a:r>
            <a:endParaRPr lang="en-US"/>
          </a:p>
          <a:p>
            <a:r>
              <a:rPr lang="en-US">
                <a:latin typeface="Calibri"/>
                <a:ea typeface="Calibri"/>
                <a:cs typeface="Calibri"/>
              </a:rPr>
              <a:t>EQUIPE JURIDIQUE/RH : </a:t>
            </a:r>
            <a:r>
              <a:rPr lang="en-US" err="1">
                <a:latin typeface="Calibri"/>
                <a:ea typeface="Calibri"/>
                <a:cs typeface="Calibri"/>
              </a:rPr>
              <a:t>pilotée</a:t>
            </a:r>
            <a:r>
              <a:rPr lang="en-US">
                <a:latin typeface="Calibri"/>
                <a:ea typeface="Calibri"/>
                <a:cs typeface="Calibri"/>
              </a:rPr>
              <a:t> par moi </a:t>
            </a:r>
            <a:r>
              <a:rPr lang="en-US" err="1">
                <a:latin typeface="Calibri"/>
                <a:ea typeface="Calibri"/>
                <a:cs typeface="Calibri"/>
              </a:rPr>
              <a:t>même</a:t>
            </a:r>
            <a:r>
              <a:rPr lang="en-US">
                <a:latin typeface="Calibri"/>
                <a:ea typeface="Calibri"/>
                <a:cs typeface="Calibri"/>
              </a:rPr>
              <a:t> - Anaïs </a:t>
            </a:r>
            <a:r>
              <a:rPr lang="en-US" err="1">
                <a:latin typeface="Calibri"/>
                <a:ea typeface="Calibri"/>
                <a:cs typeface="Calibri"/>
              </a:rPr>
              <a:t>ici</a:t>
            </a:r>
            <a:r>
              <a:rPr lang="en-US">
                <a:latin typeface="Calibri"/>
                <a:ea typeface="Calibri"/>
                <a:cs typeface="Calibri"/>
              </a:rPr>
              <a:t> </a:t>
            </a:r>
            <a:r>
              <a:rPr lang="en-US" err="1">
                <a:latin typeface="Calibri"/>
                <a:ea typeface="Calibri"/>
                <a:cs typeface="Calibri"/>
              </a:rPr>
              <a:t>présente</a:t>
            </a:r>
            <a:r>
              <a:rPr lang="en-US">
                <a:latin typeface="Calibri"/>
                <a:ea typeface="Calibri"/>
                <a:cs typeface="Calibri"/>
              </a:rPr>
              <a:t> - missions </a:t>
            </a:r>
            <a:r>
              <a:rPr lang="en-US" err="1">
                <a:latin typeface="Calibri"/>
                <a:ea typeface="Calibri"/>
                <a:cs typeface="Calibri"/>
              </a:rPr>
              <a:t>exceptionnelles</a:t>
            </a:r>
            <a:r>
              <a:rPr lang="en-US">
                <a:latin typeface="Calibri"/>
                <a:ea typeface="Calibri"/>
                <a:cs typeface="Calibri"/>
              </a:rPr>
              <a:t> : </a:t>
            </a:r>
            <a:r>
              <a:rPr lang="en-US" err="1">
                <a:latin typeface="Calibri"/>
                <a:ea typeface="Calibri"/>
                <a:cs typeface="Calibri"/>
              </a:rPr>
              <a:t>élections</a:t>
            </a:r>
            <a:r>
              <a:rPr lang="en-US">
                <a:latin typeface="Calibri"/>
                <a:ea typeface="Calibri"/>
                <a:cs typeface="Calibri"/>
              </a:rPr>
              <a:t> </a:t>
            </a:r>
            <a:r>
              <a:rPr lang="en-US" err="1">
                <a:latin typeface="Calibri"/>
                <a:ea typeface="Calibri"/>
                <a:cs typeface="Calibri"/>
              </a:rPr>
              <a:t>cse</a:t>
            </a:r>
            <a:r>
              <a:rPr lang="en-US">
                <a:latin typeface="Calibri"/>
                <a:ea typeface="Calibri"/>
                <a:cs typeface="Calibri"/>
              </a:rPr>
              <a:t>, </a:t>
            </a:r>
            <a:r>
              <a:rPr lang="en-US" err="1">
                <a:latin typeface="Calibri"/>
                <a:ea typeface="Calibri"/>
                <a:cs typeface="Calibri"/>
              </a:rPr>
              <a:t>épargne</a:t>
            </a:r>
            <a:r>
              <a:rPr lang="en-US">
                <a:latin typeface="Calibri"/>
                <a:ea typeface="Calibri"/>
                <a:cs typeface="Calibri"/>
              </a:rPr>
              <a:t> </a:t>
            </a:r>
            <a:r>
              <a:rPr lang="en-US" err="1">
                <a:latin typeface="Calibri"/>
                <a:ea typeface="Calibri"/>
                <a:cs typeface="Calibri"/>
              </a:rPr>
              <a:t>salariale</a:t>
            </a:r>
            <a:r>
              <a:rPr lang="en-US">
                <a:latin typeface="Calibri"/>
                <a:ea typeface="Calibri"/>
                <a:cs typeface="Calibri"/>
              </a:rPr>
              <a:t>, </a:t>
            </a:r>
            <a:r>
              <a:rPr lang="en-US" err="1">
                <a:latin typeface="Calibri"/>
                <a:ea typeface="Calibri"/>
                <a:cs typeface="Calibri"/>
              </a:rPr>
              <a:t>réglementaire</a:t>
            </a:r>
            <a:r>
              <a:rPr lang="en-US">
                <a:latin typeface="Calibri"/>
                <a:ea typeface="Calibri"/>
                <a:cs typeface="Calibri"/>
              </a:rPr>
              <a:t> </a:t>
            </a:r>
            <a:r>
              <a:rPr lang="en-US" err="1">
                <a:latin typeface="Calibri"/>
                <a:ea typeface="Calibri"/>
                <a:cs typeface="Calibri"/>
              </a:rPr>
              <a:t>duerp</a:t>
            </a:r>
            <a:r>
              <a:rPr lang="en-US">
                <a:latin typeface="Calibri"/>
                <a:ea typeface="Calibri"/>
                <a:cs typeface="Calibri"/>
              </a:rPr>
              <a:t> / RI...</a:t>
            </a:r>
          </a:p>
        </p:txBody>
      </p:sp>
      <p:sp>
        <p:nvSpPr>
          <p:cNvPr id="4" name="Espace réservé du numéro de diapositive 3"/>
          <p:cNvSpPr>
            <a:spLocks noGrp="1"/>
          </p:cNvSpPr>
          <p:nvPr>
            <p:ph type="sldNum" sz="quarter" idx="5"/>
          </p:nvPr>
        </p:nvSpPr>
        <p:spPr/>
        <p:txBody>
          <a:bodyPr/>
          <a:lstStyle/>
          <a:p>
            <a:fld id="{0910B20E-BFE3-41E1-A49B-15A522566010}" type="slidenum">
              <a:rPr lang="fr-FR" smtClean="0"/>
              <a:t>2</a:t>
            </a:fld>
            <a:endParaRPr lang="fr-FR"/>
          </a:p>
        </p:txBody>
      </p:sp>
    </p:spTree>
    <p:extLst>
      <p:ext uri="{BB962C8B-B14F-4D97-AF65-F5344CB8AC3E}">
        <p14:creationId xmlns:p14="http://schemas.microsoft.com/office/powerpoint/2010/main" val="32317809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50000"/>
              </a:lnSpc>
              <a:spcBef>
                <a:spcPts val="1000"/>
              </a:spcBef>
            </a:pPr>
            <a:r>
              <a:rPr lang="fr-FR"/>
              <a:t>Paysage social en mutation rapide</a:t>
            </a:r>
            <a:endParaRPr lang="en-US"/>
          </a:p>
          <a:p>
            <a:pPr algn="just">
              <a:lnSpc>
                <a:spcPct val="150000"/>
              </a:lnSpc>
              <a:spcBef>
                <a:spcPts val="1000"/>
              </a:spcBef>
            </a:pPr>
            <a:r>
              <a:rPr lang="fr-FR"/>
              <a:t>Les dirigeants qui comprennent les évolutions du 1er semestre 2026 prennent une longueur d’avance. </a:t>
            </a:r>
            <a:endParaRPr lang="en-US"/>
          </a:p>
          <a:p>
            <a:pPr algn="just">
              <a:lnSpc>
                <a:spcPct val="150000"/>
              </a:lnSpc>
              <a:spcBef>
                <a:spcPts val="1000"/>
              </a:spcBef>
            </a:pPr>
            <a:r>
              <a:rPr lang="fr-FR"/>
              <a:t>En tant que dirigeant, vous ne pouvez pas vous permettre de le découvrir trop tard. </a:t>
            </a:r>
          </a:p>
        </p:txBody>
      </p:sp>
      <p:sp>
        <p:nvSpPr>
          <p:cNvPr id="4" name="Slide Number Placeholder 3"/>
          <p:cNvSpPr>
            <a:spLocks noGrp="1"/>
          </p:cNvSpPr>
          <p:nvPr>
            <p:ph type="sldNum" sz="quarter" idx="5"/>
          </p:nvPr>
        </p:nvSpPr>
        <p:spPr/>
        <p:txBody>
          <a:bodyPr/>
          <a:lstStyle/>
          <a:p>
            <a:fld id="{0910B20E-BFE3-41E1-A49B-15A522566010}" type="slidenum">
              <a:rPr lang="fr-FR" smtClean="0"/>
              <a:t>3</a:t>
            </a:fld>
            <a:endParaRPr lang="fr-FR"/>
          </a:p>
        </p:txBody>
      </p:sp>
    </p:spTree>
    <p:extLst>
      <p:ext uri="{BB962C8B-B14F-4D97-AF65-F5344CB8AC3E}">
        <p14:creationId xmlns:p14="http://schemas.microsoft.com/office/powerpoint/2010/main" val="2013588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a:t>Bonjour, je me </a:t>
            </a:r>
            <a:r>
              <a:rPr lang="en-US" err="1"/>
              <a:t>présente</a:t>
            </a:r>
            <a:r>
              <a:rPr lang="en-US"/>
              <a:t>, Annaïg CIVET, </a:t>
            </a:r>
            <a:r>
              <a:rPr lang="en-US" err="1"/>
              <a:t>Gestionnaire</a:t>
            </a:r>
            <a:r>
              <a:rPr lang="en-US"/>
              <a:t> de </a:t>
            </a:r>
            <a:r>
              <a:rPr lang="en-US" err="1"/>
              <a:t>paie</a:t>
            </a:r>
            <a:r>
              <a:rPr lang="en-US"/>
              <a:t> chez </a:t>
            </a:r>
            <a:r>
              <a:rPr lang="en-US" err="1"/>
              <a:t>Fiteco</a:t>
            </a:r>
            <a:r>
              <a:rPr lang="en-US"/>
              <a:t> </a:t>
            </a:r>
            <a:r>
              <a:rPr lang="en-US" err="1"/>
              <a:t>depuis</a:t>
            </a:r>
            <a:r>
              <a:rPr lang="en-US"/>
              <a:t> bientôt 6 ans. </a:t>
            </a:r>
            <a:endParaRPr lang="en-US">
              <a:solidFill>
                <a:srgbClr val="444444"/>
              </a:solidFill>
            </a:endParaRPr>
          </a:p>
          <a:p>
            <a:endParaRPr lang="en-US"/>
          </a:p>
          <a:p>
            <a:r>
              <a:rPr lang="en-US"/>
              <a:t>Je </a:t>
            </a:r>
            <a:r>
              <a:rPr lang="en-US" err="1"/>
              <a:t>vais</a:t>
            </a:r>
            <a:r>
              <a:rPr lang="en-US"/>
              <a:t> vous </a:t>
            </a:r>
            <a:r>
              <a:rPr lang="en-US" err="1"/>
              <a:t>présenter</a:t>
            </a:r>
            <a:r>
              <a:rPr lang="en-US"/>
              <a:t> </a:t>
            </a:r>
            <a:r>
              <a:rPr lang="en-US" err="1"/>
              <a:t>différentes</a:t>
            </a:r>
            <a:r>
              <a:rPr lang="en-US"/>
              <a:t> </a:t>
            </a:r>
            <a:r>
              <a:rPr lang="en-US" err="1"/>
              <a:t>actualités</a:t>
            </a:r>
            <a:r>
              <a:rPr lang="en-US"/>
              <a:t> </a:t>
            </a:r>
            <a:r>
              <a:rPr lang="en-US" err="1"/>
              <a:t>paie</a:t>
            </a:r>
            <a:r>
              <a:rPr lang="en-US"/>
              <a:t> </a:t>
            </a:r>
            <a:r>
              <a:rPr lang="en-US" err="1"/>
              <a:t>qu'il</a:t>
            </a:r>
            <a:r>
              <a:rPr lang="en-US"/>
              <a:t> y a </a:t>
            </a:r>
            <a:r>
              <a:rPr lang="en-US" err="1"/>
              <a:t>pu</a:t>
            </a:r>
            <a:r>
              <a:rPr lang="en-US"/>
              <a:t> </a:t>
            </a:r>
            <a:r>
              <a:rPr lang="en-US" err="1"/>
              <a:t>avoir</a:t>
            </a:r>
            <a:r>
              <a:rPr lang="en-US"/>
              <a:t> sur </a:t>
            </a:r>
            <a:r>
              <a:rPr lang="en-US" err="1"/>
              <a:t>ce</a:t>
            </a:r>
            <a:r>
              <a:rPr lang="en-US"/>
              <a:t> 1er </a:t>
            </a:r>
            <a:r>
              <a:rPr lang="en-US" err="1"/>
              <a:t>semestre</a:t>
            </a:r>
            <a:r>
              <a:rPr lang="en-US"/>
              <a:t> 2026 . Si </a:t>
            </a:r>
            <a:r>
              <a:rPr lang="en-US" err="1"/>
              <a:t>certaines</a:t>
            </a:r>
            <a:r>
              <a:rPr lang="en-US"/>
              <a:t> questions vous </a:t>
            </a:r>
            <a:r>
              <a:rPr lang="en-US" err="1"/>
              <a:t>viennent</a:t>
            </a:r>
            <a:r>
              <a:rPr lang="en-US"/>
              <a:t>, nous </a:t>
            </a:r>
            <a:r>
              <a:rPr lang="en-US" err="1"/>
              <a:t>pourrons</a:t>
            </a:r>
            <a:r>
              <a:rPr lang="en-US"/>
              <a:t> </a:t>
            </a:r>
            <a:r>
              <a:rPr lang="en-US" err="1"/>
              <a:t>revenir</a:t>
            </a:r>
            <a:r>
              <a:rPr lang="en-US"/>
              <a:t> dessus à la fin, pendant un temps </a:t>
            </a:r>
            <a:r>
              <a:rPr lang="en-US" err="1"/>
              <a:t>d'échange</a:t>
            </a:r>
            <a:r>
              <a:rPr lang="en-US"/>
              <a:t> </a:t>
            </a:r>
          </a:p>
        </p:txBody>
      </p:sp>
      <p:sp>
        <p:nvSpPr>
          <p:cNvPr id="4" name="Espace réservé du numéro de diapositive 3"/>
          <p:cNvSpPr>
            <a:spLocks noGrp="1"/>
          </p:cNvSpPr>
          <p:nvPr>
            <p:ph type="sldNum" sz="quarter" idx="5"/>
          </p:nvPr>
        </p:nvSpPr>
        <p:spPr/>
        <p:txBody>
          <a:bodyPr/>
          <a:lstStyle/>
          <a:p>
            <a:fld id="{0910B20E-BFE3-41E1-A49B-15A522566010}" type="slidenum">
              <a:rPr lang="fr-FR" smtClean="0"/>
              <a:t>4</a:t>
            </a:fld>
            <a:endParaRPr lang="fr-FR"/>
          </a:p>
        </p:txBody>
      </p:sp>
    </p:spTree>
    <p:extLst>
      <p:ext uri="{BB962C8B-B14F-4D97-AF65-F5344CB8AC3E}">
        <p14:creationId xmlns:p14="http://schemas.microsoft.com/office/powerpoint/2010/main" val="2749536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rtl="0" fontAlgn="base"/>
            <a:r>
              <a:rPr lang="fr-FR" sz="1200" b="0" i="0" u="none" strike="noStrike" kern="1200">
                <a:solidFill>
                  <a:schemeClr val="tx1"/>
                </a:solidFill>
                <a:effectLst/>
                <a:latin typeface="+mn-lt"/>
                <a:ea typeface="+mn-ea"/>
                <a:cs typeface="+mn-cs"/>
              </a:rPr>
              <a:t>Pour rappel, le SMIC doit être revalorisé en cours d'année lorsque l'indice des prix à la consommation de référence à augmenter</a:t>
            </a:r>
            <a:r>
              <a:rPr lang="fr-FR" sz="1200" b="1" i="0" u="none" strike="noStrike" kern="1200">
                <a:solidFill>
                  <a:schemeClr val="tx1"/>
                </a:solidFill>
                <a:effectLst/>
                <a:latin typeface="+mn-lt"/>
                <a:ea typeface="+mn-ea"/>
                <a:cs typeface="+mn-cs"/>
              </a:rPr>
              <a:t> d'au moins 2 %</a:t>
            </a:r>
            <a:r>
              <a:rPr lang="fr-FR" sz="1200" b="0" i="0" u="none" strike="noStrike" kern="1200">
                <a:solidFill>
                  <a:schemeClr val="tx1"/>
                </a:solidFill>
                <a:effectLst/>
                <a:latin typeface="+mn-lt"/>
                <a:ea typeface="+mn-ea"/>
                <a:cs typeface="+mn-cs"/>
              </a:rPr>
              <a:t> par rapport à l'indice constaté lors de la dernière revalorisation. </a:t>
            </a:r>
            <a:r>
              <a:rPr lang="en-US" sz="1200" b="0" i="0" kern="1200">
                <a:solidFill>
                  <a:schemeClr val="tx1"/>
                </a:solidFill>
                <a:effectLst/>
                <a:latin typeface="+mn-lt"/>
                <a:ea typeface="+mn-ea"/>
                <a:cs typeface="+mn-cs"/>
              </a:rPr>
              <a:t>​</a:t>
            </a:r>
          </a:p>
          <a:p>
            <a:pPr rtl="0" fontAlgn="base"/>
            <a:r>
              <a:rPr lang="fr-FR" sz="1200" b="0" i="0" u="none" strike="noStrike" kern="1200">
                <a:solidFill>
                  <a:schemeClr val="tx1"/>
                </a:solidFill>
                <a:effectLst/>
                <a:latin typeface="+mn-lt"/>
                <a:ea typeface="+mn-ea"/>
                <a:cs typeface="+mn-cs"/>
              </a:rPr>
              <a:t>Si l’évolution inférieure à 2% = aucune revalorisation</a:t>
            </a:r>
            <a:endParaRPr lang="fr-FR" sz="1200" b="0" i="0" kern="1200">
              <a:solidFill>
                <a:schemeClr val="tx1"/>
              </a:solidFill>
              <a:effectLst/>
              <a:latin typeface="+mn-lt"/>
              <a:ea typeface="+mn-ea"/>
              <a:cs typeface="+mn-cs"/>
            </a:endParaRPr>
          </a:p>
          <a:p>
            <a:pPr rtl="0" fontAlgn="base"/>
            <a:endParaRPr lang="en-US" sz="1200" b="0" i="0" kern="1200">
              <a:solidFill>
                <a:schemeClr val="tx1"/>
              </a:solidFill>
              <a:effectLst/>
              <a:latin typeface="+mn-lt"/>
              <a:ea typeface="+mn-ea"/>
              <a:cs typeface="+mn-cs"/>
            </a:endParaRPr>
          </a:p>
          <a:p>
            <a:pPr fontAlgn="base"/>
            <a:r>
              <a:rPr lang="en-US" sz="1200" b="0" i="0" kern="1200">
                <a:solidFill>
                  <a:schemeClr val="tx1"/>
                </a:solidFill>
                <a:effectLst/>
                <a:latin typeface="+mn-lt"/>
                <a:ea typeface="+mn-ea"/>
                <a:cs typeface="+mn-cs"/>
              </a:rPr>
              <a:t>De </a:t>
            </a:r>
            <a:r>
              <a:rPr lang="en-US" sz="1200" b="0" i="0" kern="1200" err="1">
                <a:solidFill>
                  <a:schemeClr val="tx1"/>
                </a:solidFill>
                <a:effectLst/>
                <a:latin typeface="+mn-lt"/>
                <a:ea typeface="+mn-ea"/>
                <a:cs typeface="+mn-cs"/>
              </a:rPr>
              <a:t>ce</a:t>
            </a:r>
            <a:r>
              <a:rPr lang="en-US" sz="1200" b="0" i="0" kern="1200">
                <a:solidFill>
                  <a:schemeClr val="tx1"/>
                </a:solidFill>
                <a:effectLst/>
                <a:latin typeface="+mn-lt"/>
                <a:ea typeface="+mn-ea"/>
                <a:cs typeface="+mn-cs"/>
              </a:rPr>
              <a:t> fait, </a:t>
            </a:r>
            <a:r>
              <a:rPr lang="fr-FR">
                <a:solidFill>
                  <a:srgbClr val="212529"/>
                </a:solidFill>
                <a:highlight>
                  <a:srgbClr val="FFFFFF"/>
                </a:highlight>
              </a:rPr>
              <a:t>le Smic horaire brut a été revalorisé et fixé à </a:t>
            </a:r>
            <a:r>
              <a:rPr lang="fr-FR" b="1">
                <a:solidFill>
                  <a:srgbClr val="212529"/>
                </a:solidFill>
                <a:highlight>
                  <a:srgbClr val="FFFFFF"/>
                </a:highlight>
              </a:rPr>
              <a:t>12,31 €</a:t>
            </a:r>
            <a:r>
              <a:rPr lang="fr-FR">
                <a:solidFill>
                  <a:srgbClr val="212529"/>
                </a:solidFill>
                <a:highlight>
                  <a:srgbClr val="FFFFFF"/>
                </a:highlight>
              </a:rPr>
              <a:t> soit un montant mensuel brut à </a:t>
            </a:r>
            <a:r>
              <a:rPr lang="fr-FR" b="1">
                <a:solidFill>
                  <a:srgbClr val="212529"/>
                </a:solidFill>
                <a:highlight>
                  <a:srgbClr val="FFFFFF"/>
                </a:highlight>
              </a:rPr>
              <a:t>1 867,02 € </a:t>
            </a:r>
            <a:r>
              <a:rPr lang="fr-FR" b="0">
                <a:solidFill>
                  <a:srgbClr val="212529"/>
                </a:solidFill>
                <a:highlight>
                  <a:srgbClr val="FFFFFF"/>
                </a:highlight>
              </a:rPr>
              <a:t>depuis le 01</a:t>
            </a:r>
            <a:r>
              <a:rPr lang="fr-FR" b="0" baseline="30000">
                <a:solidFill>
                  <a:srgbClr val="212529"/>
                </a:solidFill>
                <a:highlight>
                  <a:srgbClr val="FFFFFF"/>
                </a:highlight>
              </a:rPr>
              <a:t>er</a:t>
            </a:r>
            <a:r>
              <a:rPr lang="fr-FR" b="0">
                <a:solidFill>
                  <a:srgbClr val="212529"/>
                </a:solidFill>
                <a:highlight>
                  <a:srgbClr val="FFFFFF"/>
                </a:highlight>
              </a:rPr>
              <a:t> juin 2026 (soit une augmentation de 2,41% du fait de la hausse des prix de l’énergie, notamment le carburant)</a:t>
            </a:r>
            <a:endParaRPr lang="fr-FR" b="0"/>
          </a:p>
          <a:p>
            <a:r>
              <a:rPr lang="fr-FR">
                <a:solidFill>
                  <a:srgbClr val="212529"/>
                </a:solidFill>
                <a:highlight>
                  <a:srgbClr val="FFFFFF"/>
                </a:highlight>
              </a:rPr>
              <a:t>Et le minimum garanti s'établit à </a:t>
            </a:r>
            <a:r>
              <a:rPr lang="fr-FR" b="1">
                <a:solidFill>
                  <a:srgbClr val="212529"/>
                </a:solidFill>
                <a:highlight>
                  <a:srgbClr val="FFFFFF"/>
                </a:highlight>
              </a:rPr>
              <a:t>4,35 €</a:t>
            </a:r>
            <a:r>
              <a:rPr lang="fr-FR">
                <a:solidFill>
                  <a:srgbClr val="212529"/>
                </a:solidFill>
                <a:highlight>
                  <a:srgbClr val="FFFFFF"/>
                </a:highlight>
              </a:rPr>
              <a:t>.</a:t>
            </a:r>
          </a:p>
          <a:p>
            <a:pPr rtl="0" fontAlgn="base"/>
            <a:endParaRPr lang="en-US" sz="1200" b="0" i="0" kern="1200">
              <a:solidFill>
                <a:schemeClr val="tx1"/>
              </a:solidFill>
              <a:effectLst/>
              <a:latin typeface="+mn-lt"/>
              <a:ea typeface="+mn-ea"/>
              <a:cs typeface="+mn-cs"/>
            </a:endParaRPr>
          </a:p>
          <a:p>
            <a:pPr rtl="0" fontAlgn="base"/>
            <a:r>
              <a:rPr lang="fr-FR" sz="1200" b="0" i="0" kern="1200">
                <a:solidFill>
                  <a:schemeClr val="tx1"/>
                </a:solidFill>
                <a:effectLst/>
                <a:latin typeface="+mn-lt"/>
                <a:ea typeface="+mn-ea"/>
                <a:cs typeface="+mn-cs"/>
              </a:rPr>
              <a:t>​</a:t>
            </a:r>
            <a:endParaRPr lang="fr-FR"/>
          </a:p>
        </p:txBody>
      </p:sp>
      <p:sp>
        <p:nvSpPr>
          <p:cNvPr id="4" name="Espace réservé du numéro de diapositive 3"/>
          <p:cNvSpPr>
            <a:spLocks noGrp="1"/>
          </p:cNvSpPr>
          <p:nvPr>
            <p:ph type="sldNum" sz="quarter" idx="5"/>
          </p:nvPr>
        </p:nvSpPr>
        <p:spPr/>
        <p:txBody>
          <a:bodyPr/>
          <a:lstStyle/>
          <a:p>
            <a:fld id="{0910B20E-BFE3-41E1-A49B-15A522566010}" type="slidenum">
              <a:rPr lang="fr-FR" smtClean="0"/>
              <a:t>5</a:t>
            </a:fld>
            <a:endParaRPr lang="fr-FR"/>
          </a:p>
        </p:txBody>
      </p:sp>
    </p:spTree>
    <p:extLst>
      <p:ext uri="{BB962C8B-B14F-4D97-AF65-F5344CB8AC3E}">
        <p14:creationId xmlns:p14="http://schemas.microsoft.com/office/powerpoint/2010/main" val="1988218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72250-9586-58F2-E84B-32B2D3C8781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D471A5C-47BF-0898-BB1C-3C637719A02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E8514C8-E2FB-1C51-7966-26A6A1C928B9}"/>
              </a:ext>
            </a:extLst>
          </p:cNvPr>
          <p:cNvSpPr>
            <a:spLocks noGrp="1"/>
          </p:cNvSpPr>
          <p:nvPr>
            <p:ph type="body" idx="1"/>
          </p:nvPr>
        </p:nvSpPr>
        <p:spPr/>
        <p:txBody>
          <a:bodyPr/>
          <a:lstStyle/>
          <a:p>
            <a:r>
              <a:rPr lang="fr-FR" sz="1200" b="0" i="0" kern="1200">
                <a:solidFill>
                  <a:schemeClr val="tx1"/>
                </a:solidFill>
                <a:effectLst/>
                <a:latin typeface="+mn-lt"/>
                <a:ea typeface="+mn-ea"/>
                <a:cs typeface="+mn-cs"/>
              </a:rPr>
              <a:t>Le montant maximale de la prime diffère selon la taille de l’entreprise et du niveau de diplôme préparé comme le montre le tableau,</a:t>
            </a:r>
            <a:endParaRPr lang="fr-FR">
              <a:ea typeface="+mn-ea"/>
              <a:cs typeface="+mn-cs"/>
            </a:endParaRPr>
          </a:p>
          <a:p>
            <a:r>
              <a:rPr lang="fr-FR" sz="1200" b="0" i="0" kern="1200">
                <a:solidFill>
                  <a:schemeClr val="tx1"/>
                </a:solidFill>
                <a:effectLst/>
                <a:latin typeface="+mn-lt"/>
                <a:ea typeface="+mn-ea"/>
                <a:cs typeface="+mn-cs"/>
              </a:rPr>
              <a:t>A noter, </a:t>
            </a:r>
            <a:r>
              <a:rPr lang="fr-FR"/>
              <a:t>que </a:t>
            </a:r>
            <a:r>
              <a:rPr lang="fr-FR" sz="1200" b="0" i="0" kern="1200">
                <a:solidFill>
                  <a:schemeClr val="tx1"/>
                </a:solidFill>
                <a:effectLst/>
                <a:latin typeface="+mn-lt"/>
                <a:ea typeface="+mn-ea"/>
                <a:cs typeface="+mn-cs"/>
              </a:rPr>
              <a:t>pour les apprentis en situations de handicap la prime reste à 6 000€ (1</a:t>
            </a:r>
            <a:r>
              <a:rPr lang="fr-FR" sz="1200" b="0" i="0" kern="1200" baseline="30000">
                <a:solidFill>
                  <a:schemeClr val="tx1"/>
                </a:solidFill>
                <a:effectLst/>
                <a:latin typeface="+mn-lt"/>
                <a:ea typeface="+mn-ea"/>
                <a:cs typeface="+mn-cs"/>
              </a:rPr>
              <a:t>ère</a:t>
            </a:r>
            <a:r>
              <a:rPr lang="fr-FR" sz="1200" b="0" i="0" kern="1200">
                <a:solidFill>
                  <a:schemeClr val="tx1"/>
                </a:solidFill>
                <a:effectLst/>
                <a:latin typeface="+mn-lt"/>
                <a:ea typeface="+mn-ea"/>
                <a:cs typeface="+mn-cs"/>
              </a:rPr>
              <a:t> année de contrat)</a:t>
            </a:r>
          </a:p>
          <a:p>
            <a:endParaRPr lang="fr-FR">
              <a:solidFill>
                <a:srgbClr val="000000"/>
              </a:solidFill>
            </a:endParaRPr>
          </a:p>
          <a:p>
            <a:pPr fontAlgn="t"/>
            <a:r>
              <a:rPr lang="fr-FR" sz="1200" b="1" i="0" kern="1200">
                <a:solidFill>
                  <a:schemeClr val="tx1"/>
                </a:solidFill>
                <a:effectLst/>
                <a:latin typeface="+mn-lt"/>
                <a:ea typeface="+mn-ea"/>
                <a:cs typeface="+mn-cs"/>
              </a:rPr>
              <a:t>L’aide unique </a:t>
            </a:r>
            <a:r>
              <a:rPr lang="fr-FR" sz="1200" b="0" i="0" kern="1200">
                <a:solidFill>
                  <a:schemeClr val="tx1"/>
                </a:solidFill>
                <a:effectLst/>
                <a:latin typeface="+mn-lt"/>
                <a:ea typeface="+mn-ea"/>
                <a:cs typeface="+mn-cs"/>
              </a:rPr>
              <a:t>c’est </a:t>
            </a:r>
            <a:r>
              <a:rPr lang="fr-FR" sz="1200" b="1" i="0" kern="1200">
                <a:solidFill>
                  <a:schemeClr val="tx1"/>
                </a:solidFill>
                <a:effectLst/>
                <a:latin typeface="+mn-lt"/>
                <a:ea typeface="+mn-ea"/>
                <a:cs typeface="+mn-cs"/>
              </a:rPr>
              <a:t>l’aide</a:t>
            </a:r>
            <a:r>
              <a:rPr lang="fr-FR" b="1"/>
              <a:t> </a:t>
            </a:r>
            <a:r>
              <a:rPr lang="fr-FR" sz="1200" b="0" i="0" kern="1200">
                <a:solidFill>
                  <a:schemeClr val="tx1"/>
                </a:solidFill>
                <a:effectLst/>
                <a:latin typeface="+mn-lt"/>
                <a:ea typeface="+mn-ea"/>
                <a:cs typeface="+mn-cs"/>
              </a:rPr>
              <a:t>uniquement pour les CAP/BAC </a:t>
            </a:r>
          </a:p>
          <a:p>
            <a:pPr fontAlgn="t"/>
            <a:r>
              <a:rPr lang="fr-FR" sz="1200" b="1" i="0" kern="1200">
                <a:solidFill>
                  <a:schemeClr val="tx1"/>
                </a:solidFill>
                <a:effectLst/>
                <a:latin typeface="+mn-lt"/>
                <a:ea typeface="+mn-ea"/>
                <a:cs typeface="+mn-cs"/>
              </a:rPr>
              <a:t>L’aide Exceptionnelle </a:t>
            </a:r>
            <a:r>
              <a:rPr lang="fr-FR" sz="1200" b="0" i="0" kern="1200">
                <a:solidFill>
                  <a:schemeClr val="tx1"/>
                </a:solidFill>
                <a:effectLst/>
                <a:latin typeface="+mn-lt"/>
                <a:ea typeface="+mn-ea"/>
                <a:cs typeface="+mn-cs"/>
              </a:rPr>
              <a:t>concerne les niveaux supérieurs (BTS, Licence, master,,,) ou pour les grandes entreprises</a:t>
            </a:r>
          </a:p>
          <a:p>
            <a:endParaRPr lang="fr-FR" sz="1200" b="0" i="0" kern="1200">
              <a:solidFill>
                <a:schemeClr val="tx1"/>
              </a:solidFill>
              <a:effectLst/>
              <a:latin typeface="+mn-lt"/>
            </a:endParaRPr>
          </a:p>
          <a:p>
            <a:r>
              <a:rPr lang="fr-FR"/>
              <a:t>L'aide est </a:t>
            </a:r>
            <a:r>
              <a:rPr lang="fr-FR" err="1"/>
              <a:t>degressive</a:t>
            </a:r>
            <a:r>
              <a:rPr lang="fr-FR"/>
              <a:t> selon le niveau de diplôme. </a:t>
            </a:r>
          </a:p>
          <a:p>
            <a:pPr fontAlgn="t"/>
            <a:endParaRPr lang="fr-FR"/>
          </a:p>
          <a:p>
            <a:endParaRPr lang="fr-FR"/>
          </a:p>
        </p:txBody>
      </p:sp>
      <p:sp>
        <p:nvSpPr>
          <p:cNvPr id="4" name="Espace réservé du numéro de diapositive 3">
            <a:extLst>
              <a:ext uri="{FF2B5EF4-FFF2-40B4-BE49-F238E27FC236}">
                <a16:creationId xmlns:a16="http://schemas.microsoft.com/office/drawing/2014/main" id="{FA52663D-AC0B-F27E-4CB8-F582F255564A}"/>
              </a:ext>
            </a:extLst>
          </p:cNvPr>
          <p:cNvSpPr>
            <a:spLocks noGrp="1"/>
          </p:cNvSpPr>
          <p:nvPr>
            <p:ph type="sldNum" sz="quarter" idx="5"/>
          </p:nvPr>
        </p:nvSpPr>
        <p:spPr/>
        <p:txBody>
          <a:bodyPr/>
          <a:lstStyle/>
          <a:p>
            <a:fld id="{0910B20E-BFE3-41E1-A49B-15A522566010}" type="slidenum">
              <a:rPr lang="fr-FR" smtClean="0"/>
              <a:t>6</a:t>
            </a:fld>
            <a:endParaRPr lang="fr-FR"/>
          </a:p>
        </p:txBody>
      </p:sp>
    </p:spTree>
    <p:extLst>
      <p:ext uri="{BB962C8B-B14F-4D97-AF65-F5344CB8AC3E}">
        <p14:creationId xmlns:p14="http://schemas.microsoft.com/office/powerpoint/2010/main" val="37059854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DE227-0F05-4758-40B7-2A42A027328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67C0E6-0079-0D6B-ECC7-8BE67026AB3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2BEE544-2475-CE0F-BAE3-09E9415AE481}"/>
              </a:ext>
            </a:extLst>
          </p:cNvPr>
          <p:cNvSpPr>
            <a:spLocks noGrp="1"/>
          </p:cNvSpPr>
          <p:nvPr>
            <p:ph type="body" idx="1"/>
          </p:nvPr>
        </p:nvSpPr>
        <p:spPr/>
        <p:txBody>
          <a:bodyPr/>
          <a:lstStyle/>
          <a:p>
            <a:r>
              <a:rPr lang="fr-FR"/>
              <a:t>Les</a:t>
            </a:r>
            <a:r>
              <a:rPr lang="fr-FR" sz="1200" b="0" i="0" kern="1200">
                <a:solidFill>
                  <a:schemeClr val="tx1"/>
                </a:solidFill>
                <a:effectLst/>
                <a:latin typeface="+mn-lt"/>
                <a:ea typeface="+mn-ea"/>
                <a:cs typeface="+mn-cs"/>
              </a:rPr>
              <a:t> primes aux employeurs d’apprentis baissent en 2026 par rapport à 2025</a:t>
            </a:r>
            <a:r>
              <a:rPr lang="fr-FR"/>
              <a:t> mais </a:t>
            </a:r>
            <a:r>
              <a:rPr lang="fr-FR" sz="1200" b="0" i="0" kern="1200">
                <a:solidFill>
                  <a:schemeClr val="tx1"/>
                </a:solidFill>
                <a:effectLst/>
                <a:latin typeface="+mn-lt"/>
                <a:ea typeface="+mn-ea"/>
                <a:cs typeface="+mn-cs"/>
              </a:rPr>
              <a:t>ce sont les niveaux </a:t>
            </a:r>
            <a:r>
              <a:rPr lang="fr-FR"/>
              <a:t>de diplôme </a:t>
            </a:r>
            <a:r>
              <a:rPr lang="fr-FR" sz="1200" b="0" i="0" kern="1200">
                <a:solidFill>
                  <a:schemeClr val="tx1"/>
                </a:solidFill>
                <a:effectLst/>
                <a:latin typeface="+mn-lt"/>
                <a:ea typeface="+mn-ea"/>
                <a:cs typeface="+mn-cs"/>
              </a:rPr>
              <a:t>bac+3 et bac+5 qui sont les plus touchés, avec une baisse pouvant atteindre 3000€ dans les entreprises de -250 salariés.</a:t>
            </a:r>
            <a:endParaRPr lang="fr-FR">
              <a:ea typeface="+mn-ea"/>
              <a:cs typeface="+mn-cs"/>
            </a:endParaRPr>
          </a:p>
        </p:txBody>
      </p:sp>
      <p:sp>
        <p:nvSpPr>
          <p:cNvPr id="4" name="Espace réservé du numéro de diapositive 3">
            <a:extLst>
              <a:ext uri="{FF2B5EF4-FFF2-40B4-BE49-F238E27FC236}">
                <a16:creationId xmlns:a16="http://schemas.microsoft.com/office/drawing/2014/main" id="{CD3BC2F1-D520-403F-7F7D-19C41692C344}"/>
              </a:ext>
            </a:extLst>
          </p:cNvPr>
          <p:cNvSpPr>
            <a:spLocks noGrp="1"/>
          </p:cNvSpPr>
          <p:nvPr>
            <p:ph type="sldNum" sz="quarter" idx="5"/>
          </p:nvPr>
        </p:nvSpPr>
        <p:spPr/>
        <p:txBody>
          <a:bodyPr/>
          <a:lstStyle/>
          <a:p>
            <a:fld id="{0910B20E-BFE3-41E1-A49B-15A522566010}" type="slidenum">
              <a:rPr lang="fr-FR" smtClean="0"/>
              <a:t>7</a:t>
            </a:fld>
            <a:endParaRPr lang="fr-FR"/>
          </a:p>
        </p:txBody>
      </p:sp>
    </p:spTree>
    <p:extLst>
      <p:ext uri="{BB962C8B-B14F-4D97-AF65-F5344CB8AC3E}">
        <p14:creationId xmlns:p14="http://schemas.microsoft.com/office/powerpoint/2010/main" val="33102090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C2EB-8656-5507-31F0-CA38FA5A02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E4A09A4-3D39-C6A1-2AB7-3BEB5ADA40D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D60652A-BE51-0EAD-480E-E2A72928D6B1}"/>
              </a:ext>
            </a:extLst>
          </p:cNvPr>
          <p:cNvSpPr>
            <a:spLocks noGrp="1"/>
          </p:cNvSpPr>
          <p:nvPr>
            <p:ph type="body" idx="1"/>
          </p:nvPr>
        </p:nvSpPr>
        <p:spPr/>
        <p:txBody>
          <a:bodyPr/>
          <a:lstStyle/>
          <a:p>
            <a:pPr fontAlgn="t"/>
            <a:r>
              <a:rPr lang="fr-FR"/>
              <a:t>La</a:t>
            </a:r>
            <a:r>
              <a:rPr lang="fr-FR" sz="1200" i="0" kern="1200">
                <a:solidFill>
                  <a:schemeClr val="tx1"/>
                </a:solidFill>
                <a:effectLst/>
                <a:latin typeface="+mn-lt"/>
                <a:ea typeface="+mn-ea"/>
                <a:cs typeface="+mn-cs"/>
              </a:rPr>
              <a:t> réduction générale </a:t>
            </a:r>
            <a:r>
              <a:rPr lang="fr-FR"/>
              <a:t>: "</a:t>
            </a:r>
            <a:r>
              <a:rPr lang="fr-FR" sz="1200" b="1" i="0" kern="1200">
                <a:solidFill>
                  <a:schemeClr val="tx1"/>
                </a:solidFill>
                <a:effectLst/>
                <a:latin typeface="+mn-lt"/>
                <a:ea typeface="+mn-ea"/>
                <a:cs typeface="+mn-cs"/>
              </a:rPr>
              <a:t>aide</a:t>
            </a:r>
            <a:r>
              <a:rPr lang="fr-FR" b="1"/>
              <a:t>"</a:t>
            </a:r>
            <a:r>
              <a:rPr lang="fr-FR" sz="1200" b="1" i="0" kern="1200">
                <a:solidFill>
                  <a:schemeClr val="tx1"/>
                </a:solidFill>
                <a:effectLst/>
                <a:latin typeface="+mn-lt"/>
                <a:ea typeface="+mn-ea"/>
                <a:cs typeface="+mn-cs"/>
              </a:rPr>
              <a:t> de l’État</a:t>
            </a:r>
            <a:r>
              <a:rPr lang="fr-FR" sz="1200" b="0" i="0" kern="1200">
                <a:solidFill>
                  <a:schemeClr val="tx1"/>
                </a:solidFill>
                <a:effectLst/>
                <a:latin typeface="+mn-lt"/>
                <a:ea typeface="+mn-ea"/>
                <a:cs typeface="+mn-cs"/>
              </a:rPr>
              <a:t>, </a:t>
            </a:r>
            <a:r>
              <a:rPr lang="fr-FR"/>
              <a:t>diminue les</a:t>
            </a:r>
            <a:r>
              <a:rPr lang="fr-FR" sz="1200" b="1" i="0" kern="1200">
                <a:solidFill>
                  <a:schemeClr val="tx1"/>
                </a:solidFill>
                <a:effectLst/>
                <a:latin typeface="+mn-lt"/>
                <a:ea typeface="+mn-ea"/>
                <a:cs typeface="+mn-cs"/>
              </a:rPr>
              <a:t> charges</a:t>
            </a:r>
            <a:r>
              <a:rPr lang="fr-FR" sz="1200" b="0" i="0" kern="1200">
                <a:solidFill>
                  <a:schemeClr val="tx1"/>
                </a:solidFill>
                <a:effectLst/>
                <a:latin typeface="+mn-lt"/>
                <a:ea typeface="+mn-ea"/>
                <a:cs typeface="+mn-cs"/>
              </a:rPr>
              <a:t> sur les salaires les plus bas, elle </a:t>
            </a:r>
            <a:r>
              <a:rPr lang="fr-FR"/>
              <a:t>concernait</a:t>
            </a:r>
            <a:r>
              <a:rPr lang="fr-FR" sz="1200" b="0" i="0" kern="1200">
                <a:solidFill>
                  <a:schemeClr val="tx1"/>
                </a:solidFill>
                <a:effectLst/>
                <a:latin typeface="+mn-lt"/>
                <a:ea typeface="+mn-ea"/>
                <a:cs typeface="+mn-cs"/>
              </a:rPr>
              <a:t> les salariés </a:t>
            </a:r>
            <a:r>
              <a:rPr lang="fr-FR"/>
              <a:t>qui gagnaient </a:t>
            </a:r>
            <a:r>
              <a:rPr lang="fr-FR" sz="1200" b="1" i="0" kern="1200">
                <a:solidFill>
                  <a:schemeClr val="tx1"/>
                </a:solidFill>
                <a:effectLst/>
                <a:latin typeface="+mn-lt"/>
                <a:ea typeface="+mn-ea"/>
                <a:cs typeface="+mn-cs"/>
              </a:rPr>
              <a:t>jusqu’à environ 1,6 fois le SMIC</a:t>
            </a:r>
            <a:r>
              <a:rPr lang="fr-FR" b="1"/>
              <a:t>. </a:t>
            </a:r>
            <a:r>
              <a:rPr lang="fr-FR" sz="1200" b="0" i="0" kern="1200">
                <a:solidFill>
                  <a:schemeClr val="tx1"/>
                </a:solidFill>
                <a:effectLst/>
                <a:latin typeface="+mn-lt"/>
                <a:ea typeface="+mn-ea"/>
                <a:cs typeface="+mn-cs"/>
              </a:rPr>
              <a:t>L’Objectif est d’encourager l’emploi,</a:t>
            </a:r>
            <a:r>
              <a:rPr lang="fr-FR"/>
              <a:t> </a:t>
            </a:r>
            <a:r>
              <a:rPr lang="fr-FR" sz="1200" b="0" i="0" kern="1200">
                <a:solidFill>
                  <a:schemeClr val="tx1"/>
                </a:solidFill>
                <a:effectLst/>
                <a:latin typeface="+mn-lt"/>
                <a:ea typeface="+mn-ea"/>
                <a:cs typeface="+mn-cs"/>
              </a:rPr>
              <a:t>pour les postes les moins rémunérés</a:t>
            </a:r>
            <a:endParaRPr lang="fr-FR"/>
          </a:p>
          <a:p>
            <a:r>
              <a:rPr lang="fr-FR"/>
              <a:t>À compter du 01/01/2026, la réduction générale évolue pour intégrer les rémunérations allant jusqu'à &lt; 3 fois le SMIC (avec une aide dégressive jusqu'à ce seuil)</a:t>
            </a:r>
            <a:endParaRPr lang="fr-FR" sz="1200" b="0" i="0" kern="1200">
              <a:solidFill>
                <a:schemeClr val="tx1"/>
              </a:solidFill>
              <a:effectLst/>
              <a:latin typeface="+mn-lt"/>
            </a:endParaRPr>
          </a:p>
          <a:p>
            <a:endParaRPr lang="fr-FR"/>
          </a:p>
          <a:p>
            <a:r>
              <a:rPr lang="fr-FR"/>
              <a:t>Avoir conclu un contrat de travail et relevé du régime d'assurance chômage pour en bénéficier</a:t>
            </a:r>
          </a:p>
          <a:p>
            <a:pPr fontAlgn="t"/>
            <a:endParaRPr lang="fr-FR"/>
          </a:p>
          <a:p>
            <a:pPr fontAlgn="t"/>
            <a:r>
              <a:rPr lang="fr-FR" b="1"/>
              <a:t>Objectif :</a:t>
            </a:r>
            <a:r>
              <a:rPr lang="fr-FR" sz="1200" b="1" i="0" kern="1200">
                <a:solidFill>
                  <a:schemeClr val="tx1"/>
                </a:solidFill>
                <a:effectLst/>
                <a:latin typeface="+mn-lt"/>
                <a:ea typeface="+mn-ea"/>
                <a:cs typeface="+mn-cs"/>
              </a:rPr>
              <a:t> </a:t>
            </a:r>
            <a:r>
              <a:rPr lang="fr-FR" b="1"/>
              <a:t>simplifier et</a:t>
            </a:r>
            <a:r>
              <a:rPr lang="fr-FR" sz="1200" b="1" i="0" kern="1200">
                <a:solidFill>
                  <a:schemeClr val="tx1"/>
                </a:solidFill>
                <a:effectLst/>
                <a:latin typeface="+mn-lt"/>
                <a:ea typeface="+mn-ea"/>
                <a:cs typeface="+mn-cs"/>
              </a:rPr>
              <a:t> </a:t>
            </a:r>
            <a:r>
              <a:rPr lang="fr-FR" b="1"/>
              <a:t>harmoniser le</a:t>
            </a:r>
            <a:r>
              <a:rPr lang="fr-FR" sz="1200" b="1" i="0" kern="1200">
                <a:solidFill>
                  <a:schemeClr val="tx1"/>
                </a:solidFill>
                <a:effectLst/>
                <a:latin typeface="+mn-lt"/>
                <a:ea typeface="+mn-ea"/>
                <a:cs typeface="+mn-cs"/>
              </a:rPr>
              <a:t> </a:t>
            </a:r>
            <a:r>
              <a:rPr lang="fr-FR" sz="1200" b="0" i="0" kern="1200">
                <a:solidFill>
                  <a:schemeClr val="tx1"/>
                </a:solidFill>
                <a:effectLst/>
                <a:latin typeface="+mn-lt"/>
                <a:ea typeface="+mn-ea"/>
                <a:cs typeface="+mn-cs"/>
              </a:rPr>
              <a:t>système actuel</a:t>
            </a:r>
            <a:r>
              <a:rPr lang="fr-FR"/>
              <a:t> pour </a:t>
            </a:r>
            <a:r>
              <a:rPr lang="fr-FR" sz="1200" b="0" i="0" kern="1200">
                <a:solidFill>
                  <a:schemeClr val="tx1"/>
                </a:solidFill>
                <a:effectLst/>
                <a:latin typeface="+mn-lt"/>
                <a:ea typeface="+mn-ea"/>
                <a:cs typeface="+mn-cs"/>
              </a:rPr>
              <a:t>rendre le calcul des allégements de charges : plus simple, plus lisible</a:t>
            </a:r>
            <a:r>
              <a:rPr lang="fr-FR"/>
              <a:t>. </a:t>
            </a:r>
          </a:p>
          <a:p>
            <a:r>
              <a:rPr lang="fr-FR"/>
              <a:t>Ce changement nous concerne surtout nous en tant que professionnel de paie, à votre niveau vous constaterez une ligne en négatif sur le bulletin de salaire.</a:t>
            </a:r>
          </a:p>
        </p:txBody>
      </p:sp>
      <p:sp>
        <p:nvSpPr>
          <p:cNvPr id="4" name="Espace réservé du numéro de diapositive 3">
            <a:extLst>
              <a:ext uri="{FF2B5EF4-FFF2-40B4-BE49-F238E27FC236}">
                <a16:creationId xmlns:a16="http://schemas.microsoft.com/office/drawing/2014/main" id="{ACBBC63A-6C92-B3FF-BD8A-5D58D51BD10E}"/>
              </a:ext>
            </a:extLst>
          </p:cNvPr>
          <p:cNvSpPr>
            <a:spLocks noGrp="1"/>
          </p:cNvSpPr>
          <p:nvPr>
            <p:ph type="sldNum" sz="quarter" idx="5"/>
          </p:nvPr>
        </p:nvSpPr>
        <p:spPr/>
        <p:txBody>
          <a:bodyPr/>
          <a:lstStyle/>
          <a:p>
            <a:fld id="{0910B20E-BFE3-41E1-A49B-15A522566010}" type="slidenum">
              <a:rPr lang="fr-FR" smtClean="0"/>
              <a:t>8</a:t>
            </a:fld>
            <a:endParaRPr lang="fr-FR"/>
          </a:p>
        </p:txBody>
      </p:sp>
    </p:spTree>
    <p:extLst>
      <p:ext uri="{BB962C8B-B14F-4D97-AF65-F5344CB8AC3E}">
        <p14:creationId xmlns:p14="http://schemas.microsoft.com/office/powerpoint/2010/main" val="25038144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8BB75-C72E-14A0-E602-76EDA666455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1C2BECB-BDDC-3D33-2D48-2910A9F2345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3461A8-77FD-213E-6B58-4EA69D7A6E39}"/>
              </a:ext>
            </a:extLst>
          </p:cNvPr>
          <p:cNvSpPr>
            <a:spLocks noGrp="1"/>
          </p:cNvSpPr>
          <p:nvPr>
            <p:ph type="body" idx="1"/>
          </p:nvPr>
        </p:nvSpPr>
        <p:spPr/>
        <p:txBody>
          <a:bodyPr/>
          <a:lstStyle/>
          <a:p>
            <a:r>
              <a:rPr lang="fr-FR" sz="1200" i="0" kern="1200">
                <a:solidFill>
                  <a:schemeClr val="tx1"/>
                </a:solidFill>
                <a:effectLst/>
                <a:latin typeface="+mn-lt"/>
                <a:ea typeface="+mn-ea"/>
                <a:cs typeface="+mn-cs"/>
              </a:rPr>
              <a:t>Cette mesure </a:t>
            </a:r>
            <a:r>
              <a:rPr lang="fr-FR"/>
              <a:t>est déjà en place depuis le 1er janvier 2026,</a:t>
            </a:r>
            <a:endParaRPr lang="fr-FR" sz="1200" i="0" kern="1200">
              <a:solidFill>
                <a:schemeClr val="tx1"/>
              </a:solidFill>
              <a:effectLst/>
              <a:latin typeface="+mn-lt"/>
            </a:endParaRPr>
          </a:p>
          <a:p>
            <a:r>
              <a:rPr lang="fr-FR" sz="1200" i="0" kern="1200">
                <a:solidFill>
                  <a:schemeClr val="tx1"/>
                </a:solidFill>
                <a:effectLst/>
                <a:latin typeface="+mn-lt"/>
                <a:ea typeface="+mn-ea"/>
                <a:cs typeface="+mn-cs"/>
              </a:rPr>
              <a:t>L’impact financier est important pour l’entreprise, il faudra donc anticiper ces montants lors des négociations et des départs</a:t>
            </a:r>
            <a:r>
              <a:rPr lang="fr-FR"/>
              <a:t> s'il y en a à l'avenir</a:t>
            </a:r>
            <a:endParaRPr lang="fr-FR" sz="1200" i="0" kern="1200">
              <a:solidFill>
                <a:schemeClr val="tx1"/>
              </a:solidFill>
              <a:effectLst/>
              <a:latin typeface="+mn-lt"/>
            </a:endParaRPr>
          </a:p>
          <a:p>
            <a:endParaRPr lang="fr-FR" sz="1200" b="1" i="0" kern="1200">
              <a:solidFill>
                <a:schemeClr val="tx1"/>
              </a:solidFill>
              <a:effectLst/>
              <a:latin typeface="+mn-lt"/>
              <a:ea typeface="+mn-ea"/>
              <a:cs typeface="+mn-cs"/>
            </a:endParaRPr>
          </a:p>
        </p:txBody>
      </p:sp>
      <p:sp>
        <p:nvSpPr>
          <p:cNvPr id="4" name="Espace réservé du numéro de diapositive 3">
            <a:extLst>
              <a:ext uri="{FF2B5EF4-FFF2-40B4-BE49-F238E27FC236}">
                <a16:creationId xmlns:a16="http://schemas.microsoft.com/office/drawing/2014/main" id="{6F53C542-281C-C7E1-76F0-1DF8D85C50AC}"/>
              </a:ext>
            </a:extLst>
          </p:cNvPr>
          <p:cNvSpPr>
            <a:spLocks noGrp="1"/>
          </p:cNvSpPr>
          <p:nvPr>
            <p:ph type="sldNum" sz="quarter" idx="5"/>
          </p:nvPr>
        </p:nvSpPr>
        <p:spPr/>
        <p:txBody>
          <a:bodyPr/>
          <a:lstStyle/>
          <a:p>
            <a:fld id="{0910B20E-BFE3-41E1-A49B-15A522566010}" type="slidenum">
              <a:rPr lang="fr-FR" smtClean="0"/>
              <a:t>9</a:t>
            </a:fld>
            <a:endParaRPr lang="fr-FR"/>
          </a:p>
        </p:txBody>
      </p:sp>
    </p:spTree>
    <p:extLst>
      <p:ext uri="{BB962C8B-B14F-4D97-AF65-F5344CB8AC3E}">
        <p14:creationId xmlns:p14="http://schemas.microsoft.com/office/powerpoint/2010/main" val="17525476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a:t>Application aux naissances et adoptions depuis le 1er janvier 2026</a:t>
            </a:r>
            <a:r>
              <a:rPr lang="fr-FR"/>
              <a:t> (+ enfants dont le terme était prévu à partir du 01/01/2026 mais nés avant).</a:t>
            </a:r>
            <a:r>
              <a:rPr lang="en-US"/>
              <a:t> </a:t>
            </a:r>
          </a:p>
          <a:p>
            <a:r>
              <a:rPr lang="fr-FR"/>
              <a:t>Les modalités de mise en œuvre de ce nouveau dispositif seront précisées ultérieurement.</a:t>
            </a:r>
          </a:p>
          <a:p>
            <a:r>
              <a:rPr lang="fr-FR"/>
              <a:t> </a:t>
            </a:r>
          </a:p>
          <a:p>
            <a:r>
              <a:rPr lang="fr-FR"/>
              <a:t>Date de mise en pratique : 1er juillet 2026,</a:t>
            </a:r>
            <a:r>
              <a:rPr lang="en-US"/>
              <a:t> </a:t>
            </a:r>
            <a:endParaRPr lang="fr-FR"/>
          </a:p>
          <a:p>
            <a:endParaRPr lang="fr-FR"/>
          </a:p>
          <a:p>
            <a:endParaRPr lang="en-US"/>
          </a:p>
        </p:txBody>
      </p:sp>
      <p:sp>
        <p:nvSpPr>
          <p:cNvPr id="4" name="Espace réservé du numéro de diapositive 3"/>
          <p:cNvSpPr>
            <a:spLocks noGrp="1"/>
          </p:cNvSpPr>
          <p:nvPr>
            <p:ph type="sldNum" sz="quarter" idx="5"/>
          </p:nvPr>
        </p:nvSpPr>
        <p:spPr/>
        <p:txBody>
          <a:bodyPr/>
          <a:lstStyle/>
          <a:p>
            <a:fld id="{0910B20E-BFE3-41E1-A49B-15A522566010}" type="slidenum">
              <a:rPr lang="fr-FR" smtClean="0"/>
              <a:t>10</a:t>
            </a:fld>
            <a:endParaRPr lang="fr-FR"/>
          </a:p>
        </p:txBody>
      </p:sp>
    </p:spTree>
    <p:extLst>
      <p:ext uri="{BB962C8B-B14F-4D97-AF65-F5344CB8AC3E}">
        <p14:creationId xmlns:p14="http://schemas.microsoft.com/office/powerpoint/2010/main" val="38412621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B7DC5-C63B-3AB2-DFE7-38D2D440CF0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AD5326A-14BD-8489-372E-A267C64C4DA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FEF701A-CFB2-8948-5F11-723241FFE379}"/>
              </a:ext>
            </a:extLst>
          </p:cNvPr>
          <p:cNvSpPr>
            <a:spLocks noGrp="1"/>
          </p:cNvSpPr>
          <p:nvPr>
            <p:ph type="body" idx="1"/>
          </p:nvPr>
        </p:nvSpPr>
        <p:spPr/>
        <p:txBody>
          <a:bodyPr/>
          <a:lstStyle/>
          <a:p>
            <a:r>
              <a:rPr lang="fr-FR"/>
              <a:t>Délai : à prendre dans les 9 mois suivant la naissance de l'enfant et avoir soldé la totalité de son congé paternité pour en bénéficier</a:t>
            </a:r>
            <a:endParaRPr lang="en-US"/>
          </a:p>
          <a:p>
            <a:endParaRPr lang="fr-FR"/>
          </a:p>
          <a:p>
            <a:r>
              <a:rPr lang="fr-FR"/>
              <a:t>Durée : 1 à 2 mois par parent ,conjointement ou séparément, consécutif ou fractionné </a:t>
            </a:r>
            <a:endParaRPr lang="en-US"/>
          </a:p>
          <a:p>
            <a:endParaRPr lang="en-US"/>
          </a:p>
          <a:p>
            <a:pPr algn="just">
              <a:lnSpc>
                <a:spcPts val="2100"/>
              </a:lnSpc>
            </a:pPr>
            <a:r>
              <a:rPr lang="fr-FR"/>
              <a:t>Prise en charge : 70% du salaire net le 1er mois et 60% le 2ème mois (CPAM).</a:t>
            </a:r>
            <a:r>
              <a:rPr lang="en-US" dirty="0"/>
              <a:t> </a:t>
            </a:r>
          </a:p>
          <a:p>
            <a:pPr algn="just">
              <a:lnSpc>
                <a:spcPts val="2100"/>
              </a:lnSpc>
            </a:pPr>
            <a:endParaRPr lang="en-US"/>
          </a:p>
          <a:p>
            <a:pPr algn="just">
              <a:lnSpc>
                <a:spcPts val="2100"/>
              </a:lnSpc>
            </a:pPr>
            <a:endParaRPr lang="en-US"/>
          </a:p>
          <a:p>
            <a:endParaRPr lang="fr-FR"/>
          </a:p>
          <a:p>
            <a:r>
              <a:rPr lang="fr-FR" b="1" u="sng"/>
              <a:t>Intervention de ANAÏS -&gt; </a:t>
            </a:r>
            <a:r>
              <a:rPr lang="fr-FR"/>
              <a:t>"J'en profite, je rebondis, il faut quand même que le salarié puisse informer son employeur.....</a:t>
            </a:r>
            <a:br>
              <a:rPr lang="fr-FR" b="1" u="sng" dirty="0">
                <a:cs typeface="+mn-lt"/>
              </a:rPr>
            </a:br>
            <a:r>
              <a:rPr lang="fr-FR" u="sng"/>
              <a:t>Information de l'employeur</a:t>
            </a:r>
            <a:endParaRPr lang="en-US"/>
          </a:p>
          <a:p>
            <a:r>
              <a:rPr lang="fr-FR"/>
              <a:t>- Délai de prévenance : 1 mois avant le départ, par LRAR ou remise en main propre</a:t>
            </a:r>
            <a:endParaRPr lang="en-US"/>
          </a:p>
          <a:p>
            <a:pPr lvl="2"/>
            <a:r>
              <a:rPr lang="fr-FR"/>
              <a:t>-&gt; Réduit à 15 j si le congé est pris immédiatement après le congé paternité/d'adoption</a:t>
            </a:r>
            <a:endParaRPr lang="en-US"/>
          </a:p>
          <a:p>
            <a:pPr lvl="2"/>
            <a:endParaRPr lang="fr-FR"/>
          </a:p>
          <a:p>
            <a:r>
              <a:rPr lang="fr-FR"/>
              <a:t>- Informations : la durée et la date de prise du congé </a:t>
            </a:r>
            <a:endParaRPr lang="en-US"/>
          </a:p>
          <a:p>
            <a:endParaRPr lang="en-US"/>
          </a:p>
        </p:txBody>
      </p:sp>
      <p:sp>
        <p:nvSpPr>
          <p:cNvPr id="4" name="Espace réservé du numéro de diapositive 3">
            <a:extLst>
              <a:ext uri="{FF2B5EF4-FFF2-40B4-BE49-F238E27FC236}">
                <a16:creationId xmlns:a16="http://schemas.microsoft.com/office/drawing/2014/main" id="{5657CDC4-12FE-2751-83B0-D5AF86560AB4}"/>
              </a:ext>
            </a:extLst>
          </p:cNvPr>
          <p:cNvSpPr>
            <a:spLocks noGrp="1"/>
          </p:cNvSpPr>
          <p:nvPr>
            <p:ph type="sldNum" sz="quarter" idx="5"/>
          </p:nvPr>
        </p:nvSpPr>
        <p:spPr/>
        <p:txBody>
          <a:bodyPr/>
          <a:lstStyle/>
          <a:p>
            <a:fld id="{0910B20E-BFE3-41E1-A49B-15A522566010}" type="slidenum">
              <a:rPr lang="fr-FR" smtClean="0"/>
              <a:t>11</a:t>
            </a:fld>
            <a:endParaRPr lang="fr-FR"/>
          </a:p>
        </p:txBody>
      </p:sp>
    </p:spTree>
    <p:extLst>
      <p:ext uri="{BB962C8B-B14F-4D97-AF65-F5344CB8AC3E}">
        <p14:creationId xmlns:p14="http://schemas.microsoft.com/office/powerpoint/2010/main" val="10513684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3786B-D6BC-4F82-7D40-A50F8ABF0B8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509ED03-BB05-A6B2-9004-9933768C9A8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E33F5E2-E2DD-2849-8B73-4F1C8577E3B7}"/>
              </a:ext>
            </a:extLst>
          </p:cNvPr>
          <p:cNvSpPr>
            <a:spLocks noGrp="1"/>
          </p:cNvSpPr>
          <p:nvPr>
            <p:ph type="body" idx="1"/>
          </p:nvPr>
        </p:nvSpPr>
        <p:spPr/>
        <p:txBody>
          <a:bodyPr/>
          <a:lstStyle/>
          <a:p>
            <a:r>
              <a:rPr lang="fr-FR">
                <a:cs typeface="+mn-lt"/>
              </a:rPr>
              <a:t>LUCILE : pas une nouveauté, </a:t>
            </a:r>
            <a:endParaRPr lang="en-US">
              <a:cs typeface="+mn-lt"/>
            </a:endParaRPr>
          </a:p>
          <a:p>
            <a:r>
              <a:rPr lang="fr-FR">
                <a:cs typeface="+mn-lt"/>
              </a:rPr>
              <a:t>Gouvernement a modifié les modalités d'exonération de cette prime</a:t>
            </a:r>
            <a:br>
              <a:rPr lang="fr-FR">
                <a:cs typeface="+mn-lt"/>
              </a:rPr>
            </a:br>
            <a:r>
              <a:rPr lang="fr-FR">
                <a:cs typeface="+mn-lt"/>
              </a:rPr>
              <a:t>Contexte</a:t>
            </a:r>
            <a:r>
              <a:rPr lang="fr-FR"/>
              <a:t> actuel = augmentation du coût du carburant = agir </a:t>
            </a:r>
            <a:endParaRPr lang="en-US"/>
          </a:p>
          <a:p>
            <a:endParaRPr lang="fr-FR"/>
          </a:p>
          <a:p>
            <a:r>
              <a:rPr lang="fr-FR"/>
              <a:t>2ème point : exemple travailleurs de nuits</a:t>
            </a:r>
          </a:p>
          <a:p>
            <a:endParaRPr lang="fr-FR"/>
          </a:p>
          <a:p>
            <a:r>
              <a:rPr lang="fr-FR"/>
              <a:t>En revanche, certains salariés sont </a:t>
            </a:r>
            <a:r>
              <a:rPr lang="fr-FR" b="1"/>
              <a:t>exclus du dispositif :</a:t>
            </a:r>
            <a:r>
              <a:rPr lang="fr-FR"/>
              <a:t> ceux disposant d’un véhicule de fonction avec prise en charge du carburant ou de la recharge électrique, de ceux logés à proximité de leur lieu de travail sans frais de transport, ainsi que de ceux dont les déplacements sont intégralement pris en charge par l’employeur.</a:t>
            </a:r>
          </a:p>
          <a:p>
            <a:endParaRPr lang="fr-FR"/>
          </a:p>
          <a:p>
            <a:r>
              <a:rPr lang="fr-FR"/>
              <a:t>Objectifs de cette prime : motiver ses salariés, soutenir leur pouvoir d'achat en instaurant une prime dénommée "prime carburant" ou encore "prime transport". </a:t>
            </a:r>
            <a:endParaRPr lang="fr-FR">
              <a:cs typeface="+mn-lt"/>
            </a:endParaRPr>
          </a:p>
          <a:p>
            <a:r>
              <a:rPr lang="fr-FR"/>
              <a:t>l'employeur prend en charge tout ou partie des frais de carburant ou d’alimentation d’un véhicule électrique, hybride rechargeable ou à hydrogène engagés par certains salariés pour leurs déplacements entre leur résidence habituelle et leur lieu de travail. </a:t>
            </a:r>
            <a:br>
              <a:rPr lang="fr-FR">
                <a:cs typeface="+mn-lt"/>
              </a:rPr>
            </a:br>
            <a:r>
              <a:rPr lang="fr-FR"/>
              <a:t>--&gt; ce dispositif reste facultatif</a:t>
            </a:r>
            <a:endParaRPr lang="en-US"/>
          </a:p>
        </p:txBody>
      </p:sp>
      <p:sp>
        <p:nvSpPr>
          <p:cNvPr id="4" name="Espace réservé du numéro de diapositive 3">
            <a:extLst>
              <a:ext uri="{FF2B5EF4-FFF2-40B4-BE49-F238E27FC236}">
                <a16:creationId xmlns:a16="http://schemas.microsoft.com/office/drawing/2014/main" id="{0E1EE35B-4D86-A27A-D3C9-E77E67D2CCE5}"/>
              </a:ext>
            </a:extLst>
          </p:cNvPr>
          <p:cNvSpPr>
            <a:spLocks noGrp="1"/>
          </p:cNvSpPr>
          <p:nvPr>
            <p:ph type="sldNum" sz="quarter" idx="5"/>
          </p:nvPr>
        </p:nvSpPr>
        <p:spPr/>
        <p:txBody>
          <a:bodyPr/>
          <a:lstStyle/>
          <a:p>
            <a:fld id="{7588CE97-4D95-4093-964B-F0E24615FF45}" type="slidenum">
              <a:rPr lang="fr-FR" smtClean="0"/>
              <a:t>12</a:t>
            </a:fld>
            <a:endParaRPr lang="fr-FR"/>
          </a:p>
        </p:txBody>
      </p:sp>
    </p:spTree>
    <p:extLst>
      <p:ext uri="{BB962C8B-B14F-4D97-AF65-F5344CB8AC3E}">
        <p14:creationId xmlns:p14="http://schemas.microsoft.com/office/powerpoint/2010/main" val="19779557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F8752-0EFC-38A7-3281-0A843635944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E376C75-9FD4-612D-DFA2-D677D726115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02E2523-189C-EC50-FCF6-1053B2BBCEE4}"/>
              </a:ext>
            </a:extLst>
          </p:cNvPr>
          <p:cNvSpPr>
            <a:spLocks noGrp="1"/>
          </p:cNvSpPr>
          <p:nvPr>
            <p:ph type="body" idx="1"/>
          </p:nvPr>
        </p:nvSpPr>
        <p:spPr/>
        <p:txBody>
          <a:bodyPr/>
          <a:lstStyle/>
          <a:p>
            <a:r>
              <a:rPr lang="fr-FR"/>
              <a:t>Seulement si question d'un client : </a:t>
            </a:r>
          </a:p>
          <a:p>
            <a:r>
              <a:rPr lang="fr-FR" i="1"/>
              <a:t>Temps partiel : en bénéficie aussi</a:t>
            </a:r>
          </a:p>
          <a:p>
            <a:r>
              <a:rPr lang="fr-FR" i="1">
                <a:solidFill>
                  <a:srgbClr val="3A3A3A"/>
                </a:solidFill>
                <a:highlight>
                  <a:srgbClr val="FFFFFF"/>
                </a:highlight>
              </a:rPr>
              <a:t>la prise en charge dépend de la durée de leur travail :</a:t>
            </a:r>
            <a:endParaRPr lang="fr-FR" i="1"/>
          </a:p>
          <a:p>
            <a:pPr marL="171450" indent="-171450">
              <a:buFont typeface="Arial"/>
              <a:buChar char="•"/>
            </a:pPr>
            <a:r>
              <a:rPr lang="fr-FR" i="1">
                <a:solidFill>
                  <a:srgbClr val="3A3A3A"/>
                </a:solidFill>
                <a:highlight>
                  <a:srgbClr val="FFFFFF"/>
                </a:highlight>
              </a:rPr>
              <a:t>Si la durée est </a:t>
            </a:r>
            <a:r>
              <a:rPr lang="fr-FR" b="1" i="1">
                <a:solidFill>
                  <a:srgbClr val="3A3A3A"/>
                </a:solidFill>
                <a:highlight>
                  <a:srgbClr val="FFFFFF"/>
                </a:highlight>
              </a:rPr>
              <a:t>supérieure à 50 %</a:t>
            </a:r>
            <a:r>
              <a:rPr lang="fr-FR" i="1">
                <a:solidFill>
                  <a:srgbClr val="3A3A3A"/>
                </a:solidFill>
                <a:highlight>
                  <a:srgbClr val="FFFFFF"/>
                </a:highlight>
              </a:rPr>
              <a:t> de la durée légale du travail hebdomadaire ou conventionnelle, la prise en charge </a:t>
            </a:r>
            <a:r>
              <a:rPr lang="fr-FR" b="1" i="1">
                <a:solidFill>
                  <a:srgbClr val="3A3A3A"/>
                </a:solidFill>
                <a:highlight>
                  <a:srgbClr val="FFFFFF"/>
                </a:highlight>
              </a:rPr>
              <a:t>doit s'appliquer comme pour un salarié à temps complet</a:t>
            </a:r>
            <a:r>
              <a:rPr lang="fr-FR" i="1">
                <a:solidFill>
                  <a:srgbClr val="3A3A3A"/>
                </a:solidFill>
                <a:highlight>
                  <a:srgbClr val="FFFFFF"/>
                </a:highlight>
              </a:rPr>
              <a:t>.</a:t>
            </a:r>
            <a:endParaRPr lang="fr-FR" i="1"/>
          </a:p>
          <a:p>
            <a:pPr marL="171450" indent="-171450">
              <a:buFont typeface="Arial"/>
              <a:buChar char="•"/>
            </a:pPr>
            <a:r>
              <a:rPr lang="fr-FR" i="1">
                <a:solidFill>
                  <a:srgbClr val="3A3A3A"/>
                </a:solidFill>
                <a:highlight>
                  <a:srgbClr val="FFFFFF"/>
                </a:highlight>
              </a:rPr>
              <a:t>Si la durée est </a:t>
            </a:r>
            <a:r>
              <a:rPr lang="fr-FR" b="1" i="1">
                <a:solidFill>
                  <a:srgbClr val="3A3A3A"/>
                </a:solidFill>
                <a:highlight>
                  <a:srgbClr val="FFFFFF"/>
                </a:highlight>
              </a:rPr>
              <a:t>inférieure à 50 %</a:t>
            </a:r>
            <a:r>
              <a:rPr lang="fr-FR" i="1">
                <a:solidFill>
                  <a:srgbClr val="3A3A3A"/>
                </a:solidFill>
                <a:highlight>
                  <a:srgbClr val="FFFFFF"/>
                </a:highlight>
              </a:rPr>
              <a:t> de la durée légale du travail hebdomadaire ou conventionnelle, la prise en charge de l'employeur doit être </a:t>
            </a:r>
            <a:r>
              <a:rPr lang="fr-FR" b="1" i="1">
                <a:solidFill>
                  <a:srgbClr val="3A3A3A"/>
                </a:solidFill>
                <a:highlight>
                  <a:srgbClr val="FFFFFF"/>
                </a:highlight>
              </a:rPr>
              <a:t>proportionnelle du nombre d'heures travaillées par rapport à la moitié de la durée du travail à temps complet</a:t>
            </a:r>
            <a:r>
              <a:rPr lang="fr-FR" i="1">
                <a:solidFill>
                  <a:srgbClr val="3A3A3A"/>
                </a:solidFill>
                <a:highlight>
                  <a:srgbClr val="FFFFFF"/>
                </a:highlight>
              </a:rPr>
              <a:t>.</a:t>
            </a:r>
            <a:endParaRPr lang="fr-FR" i="1"/>
          </a:p>
          <a:p>
            <a:endParaRPr lang="fr-FR"/>
          </a:p>
          <a:p>
            <a:endParaRPr lang="fr-FR"/>
          </a:p>
          <a:p>
            <a:r>
              <a:rPr lang="fr-FR" b="1" u="sng"/>
              <a:t>ANAÏS</a:t>
            </a:r>
            <a:br>
              <a:rPr lang="fr-FR">
                <a:cs typeface="+mn-lt"/>
              </a:rPr>
            </a:br>
            <a:r>
              <a:rPr lang="fr-FR"/>
              <a:t>N'oubliez pas d'ailleurs de demander des justificatifs, notamment la carte grise et le justificatif de domicile</a:t>
            </a:r>
          </a:p>
          <a:p>
            <a:endParaRPr lang="fr-FR"/>
          </a:p>
          <a:p>
            <a:r>
              <a:rPr lang="fr-FR"/>
              <a:t>Nous avons fait le tour des principales actualités paies de ce 1er semestre, je vais maintenant passer la main à ma collègue Anaïs justement, qui va maintenant vous présenter les actualités en droit social</a:t>
            </a:r>
          </a:p>
        </p:txBody>
      </p:sp>
      <p:sp>
        <p:nvSpPr>
          <p:cNvPr id="4" name="Espace réservé du numéro de diapositive 3">
            <a:extLst>
              <a:ext uri="{FF2B5EF4-FFF2-40B4-BE49-F238E27FC236}">
                <a16:creationId xmlns:a16="http://schemas.microsoft.com/office/drawing/2014/main" id="{C6F1BC5D-023A-889E-F4E3-26A39895E3B8}"/>
              </a:ext>
            </a:extLst>
          </p:cNvPr>
          <p:cNvSpPr>
            <a:spLocks noGrp="1"/>
          </p:cNvSpPr>
          <p:nvPr>
            <p:ph type="sldNum" sz="quarter" idx="5"/>
          </p:nvPr>
        </p:nvSpPr>
        <p:spPr/>
        <p:txBody>
          <a:bodyPr/>
          <a:lstStyle/>
          <a:p>
            <a:fld id="{0910B20E-BFE3-41E1-A49B-15A522566010}" type="slidenum">
              <a:rPr lang="fr-FR" smtClean="0"/>
              <a:t>13</a:t>
            </a:fld>
            <a:endParaRPr lang="fr-FR"/>
          </a:p>
        </p:txBody>
      </p:sp>
    </p:spTree>
    <p:extLst>
      <p:ext uri="{BB962C8B-B14F-4D97-AF65-F5344CB8AC3E}">
        <p14:creationId xmlns:p14="http://schemas.microsoft.com/office/powerpoint/2010/main" val="39416743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 PRESENTER</a:t>
            </a:r>
            <a:endParaRPr lang="en-US"/>
          </a:p>
          <a:p>
            <a:endParaRPr lang="en-US">
              <a:latin typeface="Calibri"/>
              <a:ea typeface="Calibri"/>
              <a:cs typeface="Calibri"/>
            </a:endParaRPr>
          </a:p>
          <a:p>
            <a:r>
              <a:rPr lang="en-US">
                <a:latin typeface="Calibri"/>
                <a:ea typeface="Calibri"/>
                <a:cs typeface="Calibri"/>
              </a:rPr>
              <a:t>Merci Annaïg pour </a:t>
            </a:r>
            <a:r>
              <a:rPr lang="en-US" err="1">
                <a:latin typeface="Calibri"/>
                <a:ea typeface="Calibri"/>
                <a:cs typeface="Calibri"/>
              </a:rPr>
              <a:t>cette</a:t>
            </a:r>
            <a:r>
              <a:rPr lang="en-US">
                <a:latin typeface="Calibri"/>
                <a:ea typeface="Calibri"/>
                <a:cs typeface="Calibri"/>
              </a:rPr>
              <a:t> </a:t>
            </a:r>
            <a:r>
              <a:rPr lang="en-US" err="1">
                <a:latin typeface="Calibri"/>
                <a:ea typeface="Calibri"/>
                <a:cs typeface="Calibri"/>
              </a:rPr>
              <a:t>présentation</a:t>
            </a:r>
            <a:r>
              <a:rPr lang="en-US">
                <a:latin typeface="Calibri"/>
                <a:ea typeface="Calibri"/>
                <a:cs typeface="Calibri"/>
              </a:rPr>
              <a:t>. </a:t>
            </a:r>
            <a:br>
              <a:rPr lang="en-US">
                <a:latin typeface="Calibri"/>
                <a:ea typeface="Calibri"/>
                <a:cs typeface="Calibri"/>
              </a:rPr>
            </a:br>
            <a:br>
              <a:rPr lang="en-US">
                <a:latin typeface="Calibri"/>
                <a:ea typeface="Calibri"/>
                <a:cs typeface="Calibri"/>
              </a:rPr>
            </a:br>
            <a:r>
              <a:rPr lang="en-US">
                <a:latin typeface="Calibri"/>
                <a:ea typeface="Calibri"/>
                <a:cs typeface="Calibri"/>
              </a:rPr>
              <a:t>Je </a:t>
            </a:r>
            <a:r>
              <a:rPr lang="en-US" err="1">
                <a:latin typeface="Calibri"/>
                <a:ea typeface="Calibri"/>
                <a:cs typeface="Calibri"/>
              </a:rPr>
              <a:t>vais</a:t>
            </a:r>
            <a:r>
              <a:rPr lang="en-US">
                <a:latin typeface="Calibri"/>
                <a:ea typeface="Calibri"/>
                <a:cs typeface="Calibri"/>
              </a:rPr>
              <a:t> </a:t>
            </a:r>
            <a:r>
              <a:rPr lang="en-US" err="1">
                <a:latin typeface="Calibri"/>
                <a:ea typeface="Calibri"/>
                <a:cs typeface="Calibri"/>
              </a:rPr>
              <a:t>maintenant</a:t>
            </a:r>
            <a:r>
              <a:rPr lang="en-US">
                <a:latin typeface="Calibri"/>
                <a:ea typeface="Calibri"/>
                <a:cs typeface="Calibri"/>
              </a:rPr>
              <a:t> vous </a:t>
            </a:r>
            <a:r>
              <a:rPr lang="en-US" err="1">
                <a:latin typeface="Calibri"/>
                <a:ea typeface="Calibri"/>
                <a:cs typeface="Calibri"/>
              </a:rPr>
              <a:t>présenter</a:t>
            </a:r>
            <a:r>
              <a:rPr lang="en-US">
                <a:latin typeface="Calibri"/>
                <a:ea typeface="Calibri"/>
                <a:cs typeface="Calibri"/>
              </a:rPr>
              <a:t> les </a:t>
            </a:r>
            <a:r>
              <a:rPr lang="en-US" err="1">
                <a:latin typeface="Calibri"/>
                <a:ea typeface="Calibri"/>
                <a:cs typeface="Calibri"/>
              </a:rPr>
              <a:t>principales</a:t>
            </a:r>
            <a:r>
              <a:rPr lang="en-US">
                <a:latin typeface="Calibri"/>
                <a:ea typeface="Calibri"/>
                <a:cs typeface="Calibri"/>
              </a:rPr>
              <a:t> </a:t>
            </a:r>
            <a:r>
              <a:rPr lang="en-US" err="1">
                <a:latin typeface="Calibri"/>
                <a:ea typeface="Calibri"/>
                <a:cs typeface="Calibri"/>
              </a:rPr>
              <a:t>actualités</a:t>
            </a:r>
            <a:r>
              <a:rPr lang="en-US">
                <a:latin typeface="Calibri"/>
                <a:ea typeface="Calibri"/>
                <a:cs typeface="Calibri"/>
              </a:rPr>
              <a:t> </a:t>
            </a:r>
            <a:r>
              <a:rPr lang="en-US" err="1">
                <a:latin typeface="Calibri"/>
                <a:ea typeface="Calibri"/>
                <a:cs typeface="Calibri"/>
              </a:rPr>
              <a:t>juridiques</a:t>
            </a:r>
            <a:r>
              <a:rPr lang="en-US">
                <a:latin typeface="Calibri"/>
                <a:ea typeface="Calibri"/>
                <a:cs typeface="Calibri"/>
              </a:rPr>
              <a:t> </a:t>
            </a:r>
            <a:r>
              <a:rPr lang="en-US" err="1">
                <a:latin typeface="Calibri"/>
                <a:ea typeface="Calibri"/>
                <a:cs typeface="Calibri"/>
              </a:rPr>
              <a:t>depuis</a:t>
            </a:r>
            <a:r>
              <a:rPr lang="en-US">
                <a:latin typeface="Calibri"/>
                <a:ea typeface="Calibri"/>
                <a:cs typeface="Calibri"/>
              </a:rPr>
              <a:t> </a:t>
            </a:r>
            <a:r>
              <a:rPr lang="en-US" err="1">
                <a:latin typeface="Calibri"/>
                <a:ea typeface="Calibri"/>
                <a:cs typeface="Calibri"/>
              </a:rPr>
              <a:t>ce</a:t>
            </a:r>
            <a:r>
              <a:rPr lang="en-US">
                <a:latin typeface="Calibri"/>
                <a:ea typeface="Calibri"/>
                <a:cs typeface="Calibri"/>
              </a:rPr>
              <a:t> début </a:t>
            </a:r>
            <a:r>
              <a:rPr lang="en-US" err="1">
                <a:latin typeface="Calibri"/>
                <a:ea typeface="Calibri"/>
                <a:cs typeface="Calibri"/>
              </a:rPr>
              <a:t>d'année</a:t>
            </a:r>
            <a:r>
              <a:rPr lang="en-US">
                <a:latin typeface="Calibri"/>
                <a:ea typeface="Calibri"/>
                <a:cs typeface="Calibri"/>
              </a:rPr>
              <a:t>. Nous </a:t>
            </a:r>
            <a:r>
              <a:rPr lang="en-US" err="1">
                <a:latin typeface="Calibri"/>
                <a:ea typeface="Calibri"/>
                <a:cs typeface="Calibri"/>
              </a:rPr>
              <a:t>allons</a:t>
            </a:r>
            <a:r>
              <a:rPr lang="en-US">
                <a:latin typeface="Calibri"/>
                <a:ea typeface="Calibri"/>
                <a:cs typeface="Calibri"/>
              </a:rPr>
              <a:t> </a:t>
            </a:r>
            <a:r>
              <a:rPr lang="en-US" err="1">
                <a:latin typeface="Calibri"/>
                <a:ea typeface="Calibri"/>
                <a:cs typeface="Calibri"/>
              </a:rPr>
              <a:t>revenir</a:t>
            </a:r>
            <a:r>
              <a:rPr lang="en-US">
                <a:latin typeface="Calibri"/>
                <a:ea typeface="Calibri"/>
                <a:cs typeface="Calibri"/>
              </a:rPr>
              <a:t> sur les </a:t>
            </a:r>
            <a:r>
              <a:rPr lang="en-US" err="1">
                <a:latin typeface="Calibri"/>
                <a:ea typeface="Calibri"/>
                <a:cs typeface="Calibri"/>
              </a:rPr>
              <a:t>évolutions</a:t>
            </a:r>
            <a:r>
              <a:rPr lang="en-US">
                <a:latin typeface="Calibri"/>
                <a:ea typeface="Calibri"/>
                <a:cs typeface="Calibri"/>
              </a:rPr>
              <a:t> </a:t>
            </a:r>
            <a:r>
              <a:rPr lang="en-US" err="1">
                <a:latin typeface="Calibri"/>
                <a:ea typeface="Calibri"/>
                <a:cs typeface="Calibri"/>
              </a:rPr>
              <a:t>législatives</a:t>
            </a:r>
            <a:r>
              <a:rPr lang="en-US">
                <a:latin typeface="Calibri"/>
                <a:ea typeface="Calibri"/>
                <a:cs typeface="Calibri"/>
              </a:rPr>
              <a:t> et </a:t>
            </a:r>
            <a:r>
              <a:rPr lang="en-US" err="1">
                <a:latin typeface="Calibri"/>
                <a:ea typeface="Calibri"/>
                <a:cs typeface="Calibri"/>
              </a:rPr>
              <a:t>réglementaires</a:t>
            </a:r>
            <a:r>
              <a:rPr lang="en-US">
                <a:latin typeface="Calibri"/>
                <a:ea typeface="Calibri"/>
                <a:cs typeface="Calibri"/>
              </a:rPr>
              <a:t> </a:t>
            </a:r>
            <a:r>
              <a:rPr lang="en-US" err="1">
                <a:latin typeface="Calibri"/>
                <a:ea typeface="Calibri"/>
                <a:cs typeface="Calibri"/>
              </a:rPr>
              <a:t>pouvant</a:t>
            </a:r>
            <a:r>
              <a:rPr lang="en-US">
                <a:latin typeface="Calibri"/>
                <a:ea typeface="Calibri"/>
                <a:cs typeface="Calibri"/>
              </a:rPr>
              <a:t> </a:t>
            </a:r>
            <a:r>
              <a:rPr lang="en-US" err="1">
                <a:latin typeface="Calibri"/>
                <a:ea typeface="Calibri"/>
                <a:cs typeface="Calibri"/>
              </a:rPr>
              <a:t>avoir</a:t>
            </a:r>
            <a:r>
              <a:rPr lang="en-US">
                <a:latin typeface="Calibri"/>
                <a:ea typeface="Calibri"/>
                <a:cs typeface="Calibri"/>
              </a:rPr>
              <a:t> des </a:t>
            </a:r>
            <a:r>
              <a:rPr lang="en-US" err="1">
                <a:latin typeface="Calibri"/>
                <a:ea typeface="Calibri"/>
                <a:cs typeface="Calibri"/>
              </a:rPr>
              <a:t>conséquences</a:t>
            </a:r>
            <a:r>
              <a:rPr lang="en-US">
                <a:latin typeface="Calibri"/>
                <a:ea typeface="Calibri"/>
                <a:cs typeface="Calibri"/>
              </a:rPr>
              <a:t> sur la gestion de </a:t>
            </a:r>
            <a:r>
              <a:rPr lang="en-US" err="1">
                <a:latin typeface="Calibri"/>
                <a:ea typeface="Calibri"/>
                <a:cs typeface="Calibri"/>
              </a:rPr>
              <a:t>votre</a:t>
            </a:r>
            <a:r>
              <a:rPr lang="en-US">
                <a:latin typeface="Calibri"/>
                <a:ea typeface="Calibri"/>
                <a:cs typeface="Calibri"/>
              </a:rPr>
              <a:t> personnel. </a:t>
            </a:r>
            <a:endParaRPr lang="en-US"/>
          </a:p>
          <a:p>
            <a:endParaRPr lang="en-US">
              <a:latin typeface="Calibri"/>
              <a:ea typeface="Calibri"/>
              <a:cs typeface="Calibri"/>
            </a:endParaRPr>
          </a:p>
          <a:p>
            <a:r>
              <a:rPr lang="en-US">
                <a:latin typeface="Calibri"/>
                <a:ea typeface="Calibri"/>
                <a:cs typeface="Calibri"/>
              </a:rPr>
              <a:t>Si </a:t>
            </a:r>
            <a:r>
              <a:rPr lang="en-US" err="1">
                <a:latin typeface="Calibri"/>
                <a:ea typeface="Calibri"/>
                <a:cs typeface="Calibri"/>
              </a:rPr>
              <a:t>certaines</a:t>
            </a:r>
            <a:r>
              <a:rPr lang="en-US">
                <a:latin typeface="Calibri"/>
                <a:ea typeface="Calibri"/>
                <a:cs typeface="Calibri"/>
              </a:rPr>
              <a:t> questions vous </a:t>
            </a:r>
            <a:r>
              <a:rPr lang="en-US" err="1">
                <a:latin typeface="Calibri"/>
                <a:ea typeface="Calibri"/>
                <a:cs typeface="Calibri"/>
              </a:rPr>
              <a:t>viennent</a:t>
            </a:r>
            <a:r>
              <a:rPr lang="en-US">
                <a:latin typeface="Calibri"/>
                <a:ea typeface="Calibri"/>
                <a:cs typeface="Calibri"/>
              </a:rPr>
              <a:t>, </a:t>
            </a:r>
            <a:r>
              <a:rPr lang="en-US" err="1">
                <a:latin typeface="Calibri"/>
                <a:ea typeface="Calibri"/>
                <a:cs typeface="Calibri"/>
              </a:rPr>
              <a:t>n'hésitez</a:t>
            </a:r>
            <a:r>
              <a:rPr lang="en-US">
                <a:latin typeface="Calibri"/>
                <a:ea typeface="Calibri"/>
                <a:cs typeface="Calibri"/>
              </a:rPr>
              <a:t> pas à les noter, nous </a:t>
            </a:r>
            <a:r>
              <a:rPr lang="en-US" err="1">
                <a:latin typeface="Calibri"/>
                <a:ea typeface="Calibri"/>
                <a:cs typeface="Calibri"/>
              </a:rPr>
              <a:t>prendrons</a:t>
            </a:r>
            <a:r>
              <a:rPr lang="en-US">
                <a:latin typeface="Calibri"/>
                <a:ea typeface="Calibri"/>
                <a:cs typeface="Calibri"/>
              </a:rPr>
              <a:t> un temps </a:t>
            </a:r>
            <a:r>
              <a:rPr lang="en-US" err="1">
                <a:latin typeface="Calibri"/>
                <a:ea typeface="Calibri"/>
                <a:cs typeface="Calibri"/>
              </a:rPr>
              <a:t>d'échange</a:t>
            </a:r>
            <a:r>
              <a:rPr lang="en-US">
                <a:latin typeface="Calibri"/>
                <a:ea typeface="Calibri"/>
                <a:cs typeface="Calibri"/>
              </a:rPr>
              <a:t> à la fin. </a:t>
            </a:r>
          </a:p>
        </p:txBody>
      </p:sp>
      <p:sp>
        <p:nvSpPr>
          <p:cNvPr id="4" name="Slide Number Placeholder 3"/>
          <p:cNvSpPr>
            <a:spLocks noGrp="1"/>
          </p:cNvSpPr>
          <p:nvPr>
            <p:ph type="sldNum" sz="quarter" idx="5"/>
          </p:nvPr>
        </p:nvSpPr>
        <p:spPr/>
        <p:txBody>
          <a:bodyPr/>
          <a:lstStyle/>
          <a:p>
            <a:fld id="{0910B20E-BFE3-41E1-A49B-15A522566010}" type="slidenum">
              <a:rPr lang="fr-FR" smtClean="0"/>
              <a:t>14</a:t>
            </a:fld>
            <a:endParaRPr lang="fr-FR"/>
          </a:p>
        </p:txBody>
      </p:sp>
    </p:spTree>
    <p:extLst>
      <p:ext uri="{BB962C8B-B14F-4D97-AF65-F5344CB8AC3E}">
        <p14:creationId xmlns:p14="http://schemas.microsoft.com/office/powerpoint/2010/main" val="3935606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Sur le </a:t>
            </a:r>
            <a:r>
              <a:rPr lang="en-US" err="1">
                <a:latin typeface="Calibri"/>
                <a:ea typeface="Calibri"/>
                <a:cs typeface="Calibri"/>
              </a:rPr>
              <a:t>thème</a:t>
            </a:r>
            <a:r>
              <a:rPr lang="en-US">
                <a:latin typeface="Calibri"/>
                <a:ea typeface="Calibri"/>
                <a:cs typeface="Calibri"/>
              </a:rPr>
              <a:t> de </a:t>
            </a:r>
            <a:r>
              <a:rPr lang="en-US" err="1">
                <a:latin typeface="Calibri"/>
                <a:ea typeface="Calibri"/>
                <a:cs typeface="Calibri"/>
              </a:rPr>
              <a:t>contentieux</a:t>
            </a:r>
            <a:r>
              <a:rPr lang="en-US">
                <a:latin typeface="Calibri"/>
                <a:ea typeface="Calibri"/>
                <a:cs typeface="Calibri"/>
              </a:rPr>
              <a:t>...</a:t>
            </a:r>
          </a:p>
        </p:txBody>
      </p:sp>
      <p:sp>
        <p:nvSpPr>
          <p:cNvPr id="4" name="Slide Number Placeholder 3"/>
          <p:cNvSpPr>
            <a:spLocks noGrp="1"/>
          </p:cNvSpPr>
          <p:nvPr>
            <p:ph type="sldNum" sz="quarter" idx="5"/>
          </p:nvPr>
        </p:nvSpPr>
        <p:spPr/>
        <p:txBody>
          <a:bodyPr/>
          <a:lstStyle/>
          <a:p>
            <a:fld id="{0910B20E-BFE3-41E1-A49B-15A522566010}" type="slidenum">
              <a:rPr lang="fr-FR" smtClean="0"/>
              <a:t>15</a:t>
            </a:fld>
            <a:endParaRPr lang="fr-FR"/>
          </a:p>
        </p:txBody>
      </p:sp>
    </p:spTree>
    <p:extLst>
      <p:ext uri="{BB962C8B-B14F-4D97-AF65-F5344CB8AC3E}">
        <p14:creationId xmlns:p14="http://schemas.microsoft.com/office/powerpoint/2010/main" val="29348410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D02C4-B972-5B2C-762A-B56C5CE2868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008733E-B657-74D8-9F3C-319D3C20032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09484F-842D-693F-0467-B6F3D3654D64}"/>
              </a:ext>
            </a:extLst>
          </p:cNvPr>
          <p:cNvSpPr>
            <a:spLocks noGrp="1"/>
          </p:cNvSpPr>
          <p:nvPr>
            <p:ph type="body" idx="1"/>
          </p:nvPr>
        </p:nvSpPr>
        <p:spPr/>
        <p:txBody>
          <a:bodyPr/>
          <a:lstStyle/>
          <a:p>
            <a:r>
              <a:rPr lang="fr-FR"/>
              <a:t>On commence par une nouveauté qui est entrée en vigueur le 1er mars 2026, et qui concerne la procédure judicaire. </a:t>
            </a:r>
            <a:endParaRPr lang="en-US"/>
          </a:p>
          <a:p>
            <a:endParaRPr lang="fr-FR"/>
          </a:p>
          <a:p>
            <a:r>
              <a:rPr lang="fr-FR">
                <a:solidFill>
                  <a:srgbClr val="000000"/>
                </a:solidFill>
              </a:rPr>
              <a:t>Désormais, un droit de timbre de 50 euros est exigé pour saisir certaines juridictions. Il doit être acquitté, de préférence, par voie dématérialisée avant l'introduction en justice. </a:t>
            </a:r>
          </a:p>
          <a:p>
            <a:endParaRPr lang="fr-FR">
              <a:solidFill>
                <a:srgbClr val="000000"/>
              </a:solidFill>
            </a:endParaRPr>
          </a:p>
          <a:p>
            <a:r>
              <a:rPr lang="fr-FR">
                <a:solidFill>
                  <a:srgbClr val="000000"/>
                </a:solidFill>
              </a:rPr>
              <a:t>L'objectif du Législateur est d'éviter les recours abusifs, instaurer une forme de solidarité financière entre les justiciables et contribuer au financement de l'aide juridictionnelle. </a:t>
            </a:r>
          </a:p>
          <a:p>
            <a:endParaRPr lang="fr-FR">
              <a:solidFill>
                <a:srgbClr val="000000"/>
              </a:solidFill>
            </a:endParaRPr>
          </a:p>
          <a:p>
            <a:r>
              <a:rPr lang="fr-FR">
                <a:solidFill>
                  <a:srgbClr val="000000"/>
                </a:solidFill>
              </a:rPr>
              <a:t>Vigilance ici, si cette formalité n'est pas respectée, le juge pourra déclarer la demande irrecevable. Dans certains cas (délai max pour agir), la personne pourrait être empêché de revenir devant le juge pour les mêmes faits. </a:t>
            </a:r>
            <a:br>
              <a:rPr lang="fr-FR">
                <a:cs typeface="+mn-lt"/>
              </a:rPr>
            </a:br>
            <a:br>
              <a:rPr lang="fr-FR">
                <a:cs typeface="+mn-lt"/>
              </a:rPr>
            </a:br>
            <a:br>
              <a:rPr lang="fr-FR">
                <a:cs typeface="+mn-lt"/>
              </a:rPr>
            </a:br>
            <a:r>
              <a:rPr lang="fr-FR">
                <a:solidFill>
                  <a:srgbClr val="000000"/>
                </a:solidFill>
                <a:highlight>
                  <a:srgbClr val="00FFFF"/>
                </a:highlight>
              </a:rPr>
              <a:t>- Tribunal judiciaire </a:t>
            </a:r>
          </a:p>
          <a:p>
            <a:pPr marL="171450" indent="-171450">
              <a:buFont typeface="Calibri"/>
              <a:buChar char="-"/>
            </a:pPr>
            <a:r>
              <a:rPr lang="fr-FR">
                <a:solidFill>
                  <a:srgbClr val="000000"/>
                </a:solidFill>
                <a:highlight>
                  <a:srgbClr val="00FFFF"/>
                </a:highlight>
              </a:rPr>
              <a:t>Conseil de prud'hommes </a:t>
            </a:r>
          </a:p>
          <a:p>
            <a:r>
              <a:rPr lang="fr-FR">
                <a:solidFill>
                  <a:srgbClr val="000000"/>
                </a:solidFill>
                <a:highlight>
                  <a:srgbClr val="00FFFF"/>
                </a:highlight>
              </a:rPr>
              <a:t>=&gt; en 1er instance </a:t>
            </a:r>
          </a:p>
        </p:txBody>
      </p:sp>
      <p:sp>
        <p:nvSpPr>
          <p:cNvPr id="4" name="Espace réservé du numéro de diapositive 3">
            <a:extLst>
              <a:ext uri="{FF2B5EF4-FFF2-40B4-BE49-F238E27FC236}">
                <a16:creationId xmlns:a16="http://schemas.microsoft.com/office/drawing/2014/main" id="{ABA98D59-61F7-305C-B303-EA09C29898AA}"/>
              </a:ext>
            </a:extLst>
          </p:cNvPr>
          <p:cNvSpPr>
            <a:spLocks noGrp="1"/>
          </p:cNvSpPr>
          <p:nvPr>
            <p:ph type="sldNum" sz="quarter" idx="5"/>
          </p:nvPr>
        </p:nvSpPr>
        <p:spPr/>
        <p:txBody>
          <a:bodyPr/>
          <a:lstStyle/>
          <a:p>
            <a:fld id="{7588CE97-4D95-4093-964B-F0E24615FF45}" type="slidenum">
              <a:rPr lang="fr-FR" smtClean="0"/>
              <a:t>16</a:t>
            </a:fld>
            <a:endParaRPr lang="fr-FR"/>
          </a:p>
        </p:txBody>
      </p:sp>
    </p:spTree>
    <p:extLst>
      <p:ext uri="{BB962C8B-B14F-4D97-AF65-F5344CB8AC3E}">
        <p14:creationId xmlns:p14="http://schemas.microsoft.com/office/powerpoint/2010/main" val="33861061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latin typeface="Calibri"/>
                <a:ea typeface="Calibri"/>
                <a:cs typeface="Calibri"/>
              </a:rPr>
              <a:t>Maitenant</a:t>
            </a:r>
            <a:r>
              <a:rPr lang="en-US">
                <a:latin typeface="Calibri"/>
                <a:ea typeface="Calibri"/>
                <a:cs typeface="Calibri"/>
              </a:rPr>
              <a:t> sur le </a:t>
            </a:r>
            <a:r>
              <a:rPr lang="en-US" err="1">
                <a:latin typeface="Calibri"/>
                <a:ea typeface="Calibri"/>
                <a:cs typeface="Calibri"/>
              </a:rPr>
              <a:t>thème</a:t>
            </a:r>
            <a:r>
              <a:rPr lang="en-US">
                <a:latin typeface="Calibri"/>
                <a:ea typeface="Calibri"/>
                <a:cs typeface="Calibri"/>
              </a:rPr>
              <a:t> de </a:t>
            </a:r>
            <a:r>
              <a:rPr lang="en-US" err="1">
                <a:latin typeface="Calibri"/>
                <a:ea typeface="Calibri"/>
                <a:cs typeface="Calibri"/>
              </a:rPr>
              <a:t>l'exécution</a:t>
            </a:r>
            <a:r>
              <a:rPr lang="en-US">
                <a:latin typeface="Calibri"/>
                <a:ea typeface="Calibri"/>
                <a:cs typeface="Calibri"/>
              </a:rPr>
              <a:t> du </a:t>
            </a:r>
            <a:r>
              <a:rPr lang="en-US" err="1">
                <a:latin typeface="Calibri"/>
                <a:ea typeface="Calibri"/>
                <a:cs typeface="Calibri"/>
              </a:rPr>
              <a:t>contrat</a:t>
            </a:r>
            <a:r>
              <a:rPr lang="en-US">
                <a:latin typeface="Calibri"/>
                <a:ea typeface="Calibri"/>
                <a:cs typeface="Calibri"/>
              </a:rPr>
              <a:t> de travail...</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0910B20E-BFE3-41E1-A49B-15A522566010}" type="slidenum">
              <a:rPr lang="fr-FR" smtClean="0"/>
              <a:t>17</a:t>
            </a:fld>
            <a:endParaRPr lang="fr-FR"/>
          </a:p>
        </p:txBody>
      </p:sp>
    </p:spTree>
    <p:extLst>
      <p:ext uri="{BB962C8B-B14F-4D97-AF65-F5344CB8AC3E}">
        <p14:creationId xmlns:p14="http://schemas.microsoft.com/office/powerpoint/2010/main" val="19534622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D873C-4471-E9B3-419E-CD03BE44921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5C66516-92C1-BB79-8210-B08F1444857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A7FFCA7-14FF-9BC5-DB87-5B0B754B6FF5}"/>
              </a:ext>
            </a:extLst>
          </p:cNvPr>
          <p:cNvSpPr>
            <a:spLocks noGrp="1"/>
          </p:cNvSpPr>
          <p:nvPr>
            <p:ph type="body" idx="1"/>
          </p:nvPr>
        </p:nvSpPr>
        <p:spPr/>
        <p:txBody>
          <a:bodyPr/>
          <a:lstStyle/>
          <a:p>
            <a:r>
              <a:rPr lang="fr-FR"/>
              <a:t>Cette deuxième actualité intervient dans le cadre de la Loi du 24 octobre 2025. </a:t>
            </a:r>
          </a:p>
          <a:p>
            <a:endParaRPr lang="fr-FR"/>
          </a:p>
          <a:p>
            <a:r>
              <a:rPr lang="fr-FR"/>
              <a:t>Elle porte sur l'évolution de l'entretien professionnel, qui devient désormais l'entretien de parcours professionnel. </a:t>
            </a:r>
          </a:p>
          <a:p>
            <a:endParaRPr lang="fr-FR"/>
          </a:p>
          <a:p>
            <a:r>
              <a:rPr lang="fr-FR"/>
              <a:t>Ce changement ne se limite pas à une simple dénomination, la Loi a également changé sa périodicité. Auparavant, l'entretien devait avoir lieu tous les 2 ans, et désormais c'est tous les 4 ans, avec un 1er entretien devant intervenir dans la 1ère année suivant l'embauche. </a:t>
            </a:r>
          </a:p>
          <a:p>
            <a:endParaRPr lang="fr-FR"/>
          </a:p>
          <a:p>
            <a:endParaRPr lang="fr-FR"/>
          </a:p>
          <a:p>
            <a:r>
              <a:rPr lang="fr-FR" b="1" u="sng"/>
              <a:t>Intervention de LUCILE</a:t>
            </a:r>
            <a:r>
              <a:rPr lang="fr-FR"/>
              <a:t> : </a:t>
            </a:r>
          </a:p>
          <a:p>
            <a:pPr marL="171450" indent="-171450">
              <a:buFont typeface="Calibri"/>
              <a:buChar char="-"/>
            </a:pPr>
            <a:r>
              <a:rPr lang="fr-FR"/>
              <a:t>Rappel sur le sujet évoqué lors d'une dernière réunion clients </a:t>
            </a:r>
          </a:p>
          <a:p>
            <a:pPr marL="171450" indent="-171450">
              <a:buFont typeface="Calibri"/>
              <a:buChar char="-"/>
            </a:pPr>
            <a:r>
              <a:rPr lang="fr-FR"/>
              <a:t>Accompagnement possible</a:t>
            </a:r>
          </a:p>
          <a:p>
            <a:endParaRPr lang="fr-FR">
              <a:highlight>
                <a:srgbClr val="00FFFF"/>
              </a:highlight>
            </a:endParaRPr>
          </a:p>
          <a:p>
            <a:endParaRPr lang="fr-FR">
              <a:highlight>
                <a:srgbClr val="00FFFF"/>
              </a:highlight>
            </a:endParaRPr>
          </a:p>
          <a:p>
            <a:endParaRPr lang="fr-FR">
              <a:highlight>
                <a:srgbClr val="00FFFF"/>
              </a:highlight>
            </a:endParaRPr>
          </a:p>
          <a:p>
            <a:r>
              <a:rPr lang="fr-FR">
                <a:highlight>
                  <a:srgbClr val="00FFFF"/>
                </a:highlight>
              </a:rPr>
              <a:t>Le contenu de l'entretien a également été modifié : </a:t>
            </a:r>
          </a:p>
          <a:p>
            <a:endParaRPr lang="fr-FR">
              <a:highlight>
                <a:srgbClr val="00FFFF"/>
              </a:highlight>
            </a:endParaRPr>
          </a:p>
          <a:p>
            <a:pPr marL="285750" indent="-285750">
              <a:buFont typeface="Calibri"/>
              <a:buChar char="-"/>
            </a:pPr>
            <a:r>
              <a:rPr lang="fr-FR">
                <a:highlight>
                  <a:srgbClr val="00FFFF"/>
                </a:highlight>
              </a:rPr>
              <a:t>Compétences et qualifications : situation actuelle et évolutions possibles ; </a:t>
            </a:r>
            <a:endParaRPr lang="en-US">
              <a:highlight>
                <a:srgbClr val="00FFFF"/>
              </a:highlight>
            </a:endParaRPr>
          </a:p>
          <a:p>
            <a:endParaRPr lang="fr-FR">
              <a:highlight>
                <a:srgbClr val="00FFFF"/>
              </a:highlight>
            </a:endParaRPr>
          </a:p>
          <a:p>
            <a:pPr marL="285750" indent="-285750">
              <a:buFont typeface="Calibri"/>
              <a:buChar char="-"/>
            </a:pPr>
            <a:r>
              <a:rPr lang="fr-FR">
                <a:highlight>
                  <a:srgbClr val="00FFFF"/>
                </a:highlight>
              </a:rPr>
              <a:t>Parcours professionnels, au regard des évolutions des métiers et des perspectives d’emploi dans l’entreprise ;</a:t>
            </a:r>
            <a:endParaRPr lang="en-US">
              <a:highlight>
                <a:srgbClr val="00FFFF"/>
              </a:highlight>
            </a:endParaRPr>
          </a:p>
          <a:p>
            <a:endParaRPr lang="fr-FR">
              <a:highlight>
                <a:srgbClr val="00FFFF"/>
              </a:highlight>
            </a:endParaRPr>
          </a:p>
          <a:p>
            <a:pPr marL="285750" indent="-285750">
              <a:buFont typeface="Calibri"/>
              <a:buChar char="-"/>
            </a:pPr>
            <a:r>
              <a:rPr lang="fr-FR">
                <a:highlight>
                  <a:srgbClr val="00FFFF"/>
                </a:highlight>
              </a:rPr>
              <a:t>Besoins de formation : adaptation au poste, évolution ou projet personnel ; </a:t>
            </a:r>
            <a:endParaRPr lang="en-US">
              <a:highlight>
                <a:srgbClr val="00FFFF"/>
              </a:highlight>
            </a:endParaRPr>
          </a:p>
          <a:p>
            <a:endParaRPr lang="fr-FR">
              <a:highlight>
                <a:srgbClr val="00FFFF"/>
              </a:highlight>
            </a:endParaRPr>
          </a:p>
          <a:p>
            <a:pPr marL="285750" indent="-285750">
              <a:buFont typeface="Calibri"/>
              <a:buChar char="-"/>
            </a:pPr>
            <a:r>
              <a:rPr lang="fr-FR">
                <a:highlight>
                  <a:srgbClr val="00FFFF"/>
                </a:highlight>
              </a:rPr>
              <a:t>Souhaits d’évolution professionnelle : mobilité, reconversion, transition professionnelle, VAE, bilan de compétences ; </a:t>
            </a:r>
            <a:endParaRPr lang="en-US">
              <a:highlight>
                <a:srgbClr val="00FFFF"/>
              </a:highlight>
            </a:endParaRPr>
          </a:p>
          <a:p>
            <a:endParaRPr lang="fr-FR">
              <a:highlight>
                <a:srgbClr val="00FFFF"/>
              </a:highlight>
            </a:endParaRPr>
          </a:p>
          <a:p>
            <a:pPr marL="285750" indent="-285750">
              <a:buFont typeface="Calibri"/>
              <a:buChar char="-"/>
            </a:pPr>
            <a:r>
              <a:rPr lang="fr-FR" err="1">
                <a:highlight>
                  <a:srgbClr val="00FFFF"/>
                </a:highlight>
              </a:rPr>
              <a:t>Mobilisatin</a:t>
            </a:r>
            <a:r>
              <a:rPr lang="fr-FR">
                <a:highlight>
                  <a:srgbClr val="00FFFF"/>
                </a:highlight>
              </a:rPr>
              <a:t> du CPF : utilisation du compte, abondements employeur, conseil en évolution professionnelle (CEP).</a:t>
            </a:r>
          </a:p>
          <a:p>
            <a:endParaRPr lang="fr-FR"/>
          </a:p>
        </p:txBody>
      </p:sp>
      <p:sp>
        <p:nvSpPr>
          <p:cNvPr id="4" name="Espace réservé du numéro de diapositive 3">
            <a:extLst>
              <a:ext uri="{FF2B5EF4-FFF2-40B4-BE49-F238E27FC236}">
                <a16:creationId xmlns:a16="http://schemas.microsoft.com/office/drawing/2014/main" id="{AB68D590-37A8-35C0-354F-835E50AAAC59}"/>
              </a:ext>
            </a:extLst>
          </p:cNvPr>
          <p:cNvSpPr>
            <a:spLocks noGrp="1"/>
          </p:cNvSpPr>
          <p:nvPr>
            <p:ph type="sldNum" sz="quarter" idx="5"/>
          </p:nvPr>
        </p:nvSpPr>
        <p:spPr/>
        <p:txBody>
          <a:bodyPr/>
          <a:lstStyle/>
          <a:p>
            <a:fld id="{7588CE97-4D95-4093-964B-F0E24615FF45}" type="slidenum">
              <a:rPr lang="fr-FR" smtClean="0"/>
              <a:t>18</a:t>
            </a:fld>
            <a:endParaRPr lang="fr-FR"/>
          </a:p>
        </p:txBody>
      </p:sp>
    </p:spTree>
    <p:extLst>
      <p:ext uri="{BB962C8B-B14F-4D97-AF65-F5344CB8AC3E}">
        <p14:creationId xmlns:p14="http://schemas.microsoft.com/office/powerpoint/2010/main" val="10766583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Il faut toutefois être attentif, car un accord d'entreprise ou de branche peut prévoir une autre périodicité, à condition de ne pas dépasser 4 ans. </a:t>
            </a:r>
            <a:endParaRPr lang="fr-FR">
              <a:solidFill>
                <a:srgbClr val="444444"/>
              </a:solidFill>
            </a:endParaRPr>
          </a:p>
          <a:p>
            <a:endParaRPr lang="fr-FR"/>
          </a:p>
          <a:p>
            <a:r>
              <a:rPr lang="fr-FR"/>
              <a:t>C'est pourquoi le législateur a accordé aux partenaires sociaux de vérifier si la périodicité prévue par la convention est conforme aux nouvelles dispositions légales, et de la renégocier jusqu'au 1er octobre 2026. </a:t>
            </a:r>
          </a:p>
          <a:p>
            <a:endParaRPr lang="fr-FR"/>
          </a:p>
          <a:p>
            <a:endParaRPr lang="fr-FR"/>
          </a:p>
          <a:p>
            <a:r>
              <a:rPr lang="fr-FR"/>
              <a:t>Deux situations peuvent se présenter : </a:t>
            </a:r>
          </a:p>
          <a:p>
            <a:pPr marL="228600" indent="-228600">
              <a:buAutoNum type="arabicPeriod"/>
            </a:pPr>
            <a:r>
              <a:rPr lang="fr-FR"/>
              <a:t>Soit l'accord prévoit déjà une périodicité inférieure ou égale à 4 ans, et elle pourra continuer à s'appliquer (mais les partenaires sociaux peuvent décider de modifier) ; </a:t>
            </a:r>
          </a:p>
          <a:p>
            <a:pPr marL="228600" indent="-228600">
              <a:buAutoNum type="arabicPeriod"/>
            </a:pPr>
            <a:r>
              <a:rPr lang="fr-FR"/>
              <a:t>Soit l'accord prévoit une périodicité supérieure à 4 ans, et elle devra être adaptée pour respecter cette nouvelle limite. </a:t>
            </a:r>
          </a:p>
          <a:p>
            <a:pPr marL="228600" indent="-228600">
              <a:buAutoNum type="arabicPeriod"/>
            </a:pPr>
            <a:endParaRPr lang="fr-FR"/>
          </a:p>
          <a:p>
            <a:r>
              <a:rPr lang="fr-FR"/>
              <a:t>Ils ont une simple obligation de négocier, et non de conclure un accord. Il peut arriver que les partenaires sociaux ne trouvent pas d'accord, dans ce cas-là, les dispositions non conformes deviendront caduques au 1er octobre 2026, et la périodicité de 4 ans s'appliquera. </a:t>
            </a:r>
            <a:endParaRPr lang="fr-FR">
              <a:solidFill>
                <a:srgbClr val="000000"/>
              </a:solidFill>
            </a:endParaRPr>
          </a:p>
          <a:p>
            <a:br>
              <a:rPr lang="en-US">
                <a:cs typeface="+mn-lt"/>
              </a:rPr>
            </a:br>
            <a:br>
              <a:rPr lang="en-US">
                <a:cs typeface="+mn-lt"/>
              </a:rPr>
            </a:br>
            <a:r>
              <a:rPr lang="fr-FR">
                <a:highlight>
                  <a:srgbClr val="00FFFF"/>
                </a:highlight>
              </a:rPr>
              <a:t>Nous ça sera notre rôle de consulter s'il y a eu des changements dans la convention collective, et inscrire la périodicité la plus favorable dans la convention collective.</a:t>
            </a:r>
            <a:endParaRPr lang="fr-FR">
              <a:solidFill>
                <a:srgbClr val="444444"/>
              </a:solidFill>
            </a:endParaRPr>
          </a:p>
        </p:txBody>
      </p:sp>
      <p:sp>
        <p:nvSpPr>
          <p:cNvPr id="4" name="Slide Number Placeholder 3"/>
          <p:cNvSpPr>
            <a:spLocks noGrp="1"/>
          </p:cNvSpPr>
          <p:nvPr>
            <p:ph type="sldNum" sz="quarter" idx="5"/>
          </p:nvPr>
        </p:nvSpPr>
        <p:spPr/>
        <p:txBody>
          <a:bodyPr/>
          <a:lstStyle/>
          <a:p>
            <a:fld id="{0910B20E-BFE3-41E1-A49B-15A522566010}" type="slidenum">
              <a:rPr lang="fr-FR" smtClean="0"/>
              <a:t>19</a:t>
            </a:fld>
            <a:endParaRPr lang="fr-FR"/>
          </a:p>
        </p:txBody>
      </p:sp>
    </p:spTree>
    <p:extLst>
      <p:ext uri="{BB962C8B-B14F-4D97-AF65-F5344CB8AC3E}">
        <p14:creationId xmlns:p14="http://schemas.microsoft.com/office/powerpoint/2010/main" val="2572315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7D98C-46F9-ECEC-C35E-E44CE8B9DF7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07A594-59DD-4D5F-4AFF-17F81735213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E3EAA99-CA7D-0F25-2CF5-E0E4D2E19A44}"/>
              </a:ext>
            </a:extLst>
          </p:cNvPr>
          <p:cNvSpPr>
            <a:spLocks noGrp="1"/>
          </p:cNvSpPr>
          <p:nvPr>
            <p:ph type="body" idx="1"/>
          </p:nvPr>
        </p:nvSpPr>
        <p:spPr/>
        <p:txBody>
          <a:bodyPr/>
          <a:lstStyle/>
          <a:p>
            <a:pPr algn="just"/>
            <a:r>
              <a:rPr lang="fr-FR"/>
              <a:t>Une nouvelle périodicité s'impose également pour l'entretien de bilan, désormais c'est tous les 8 ans au lieu de 6. </a:t>
            </a:r>
          </a:p>
          <a:p>
            <a:pPr algn="just"/>
            <a:endParaRPr lang="fr-FR"/>
          </a:p>
          <a:p>
            <a:pPr algn="just"/>
            <a:r>
              <a:rPr lang="fr-FR"/>
              <a:t>Le législateur a également souhaité renforcer l'accompagnement des salariés tout au long de leur carrière avec une attention particulière pour les salariés expérimentés, en créant deux nouveaux entretiens : </a:t>
            </a:r>
          </a:p>
          <a:p>
            <a:pPr algn="just"/>
            <a:r>
              <a:rPr lang="fr-FR"/>
              <a:t>- l'entretien de parcours professionnel renforcé de mi-carrière  = dans les 2 mois suivant la </a:t>
            </a:r>
            <a:r>
              <a:rPr lang="fr-FR" b="1">
                <a:solidFill>
                  <a:schemeClr val="accent1"/>
                </a:solidFill>
              </a:rPr>
              <a:t>visite médicale de mi-carrière</a:t>
            </a:r>
            <a:r>
              <a:rPr lang="fr-FR"/>
              <a:t> </a:t>
            </a:r>
            <a:r>
              <a:rPr lang="fr-FR">
                <a:highlight>
                  <a:srgbClr val="FFFF00"/>
                </a:highlight>
              </a:rPr>
              <a:t>*</a:t>
            </a:r>
          </a:p>
          <a:p>
            <a:pPr algn="just"/>
            <a:r>
              <a:rPr lang="fr-FR"/>
              <a:t>- l'entretien de fin de carrière = 2 ans avant que le salarié atteigne ses 60 ans. </a:t>
            </a:r>
          </a:p>
          <a:p>
            <a:pPr algn="just"/>
            <a:endParaRPr lang="fr-FR"/>
          </a:p>
          <a:p>
            <a:pPr algn="just"/>
            <a:r>
              <a:rPr lang="fr-FR">
                <a:solidFill>
                  <a:srgbClr val="3A3A3A"/>
                </a:solidFill>
                <a:highlight>
                  <a:srgbClr val="FFFF00"/>
                </a:highlight>
              </a:rPr>
              <a:t>*</a:t>
            </a:r>
            <a:r>
              <a:rPr lang="fr-FR">
                <a:solidFill>
                  <a:srgbClr val="3A3A3A"/>
                </a:solidFill>
              </a:rPr>
              <a:t> a lieu dans l'année civile où le salarié</a:t>
            </a:r>
            <a:r>
              <a:rPr lang="fr-FR" b="1">
                <a:solidFill>
                  <a:srgbClr val="3A3A3A"/>
                </a:solidFill>
              </a:rPr>
              <a:t> atteint 45 ans</a:t>
            </a:r>
            <a:r>
              <a:rPr lang="fr-FR">
                <a:solidFill>
                  <a:srgbClr val="3A3A3A"/>
                </a:solidFill>
              </a:rPr>
              <a:t>.</a:t>
            </a:r>
            <a:endParaRPr lang="fr-FR">
              <a:solidFill>
                <a:srgbClr val="444444"/>
              </a:solidFill>
            </a:endParaRPr>
          </a:p>
          <a:p>
            <a:pPr algn="just"/>
            <a:r>
              <a:rPr lang="fr-FR">
                <a:solidFill>
                  <a:srgbClr val="3A3A3A"/>
                </a:solidFill>
                <a:highlight>
                  <a:srgbClr val="00FFFF"/>
                </a:highlight>
              </a:rPr>
              <a:t>Cet examen peut être organisé avant 45 ans en même temps qu'une autre visite médicale. Dans ce cas, le médecin du travail doit examiner le salarié dans les </a:t>
            </a:r>
            <a:r>
              <a:rPr lang="fr-FR" b="1">
                <a:solidFill>
                  <a:srgbClr val="3A3A3A"/>
                </a:solidFill>
                <a:highlight>
                  <a:srgbClr val="00FFFF"/>
                </a:highlight>
              </a:rPr>
              <a:t>2 ans avant l'année de son 45e anniversaire</a:t>
            </a:r>
            <a:r>
              <a:rPr lang="fr-FR">
                <a:solidFill>
                  <a:srgbClr val="3A3A3A"/>
                </a:solidFill>
                <a:highlight>
                  <a:srgbClr val="00FFFF"/>
                </a:highlight>
              </a:rPr>
              <a:t>.</a:t>
            </a:r>
          </a:p>
          <a:p>
            <a:pPr algn="just"/>
            <a:endParaRPr lang="fr-FR"/>
          </a:p>
          <a:p>
            <a:pPr marL="285750" indent="-285750" algn="just">
              <a:buFont typeface="Arial"/>
              <a:buChar char="•"/>
            </a:pPr>
            <a:r>
              <a:rPr lang="fr-FR">
                <a:highlight>
                  <a:srgbClr val="00FFFF"/>
                </a:highlight>
              </a:rPr>
              <a:t>Contenu de l'entretien de fin de carrière : </a:t>
            </a:r>
            <a:endParaRPr lang="en-US">
              <a:solidFill>
                <a:srgbClr val="444444"/>
              </a:solidFill>
              <a:highlight>
                <a:srgbClr val="00FFFF"/>
              </a:highlight>
            </a:endParaRPr>
          </a:p>
          <a:p>
            <a:pPr marL="259080" indent="-259080" algn="just">
              <a:buFont typeface="Arial"/>
              <a:buChar char="•"/>
            </a:pPr>
            <a:r>
              <a:rPr lang="fr-FR">
                <a:highlight>
                  <a:srgbClr val="00FFFF"/>
                </a:highlight>
              </a:rPr>
              <a:t>Sujets habituels de l’entretien de parcours professionnel</a:t>
            </a:r>
            <a:endParaRPr lang="en-US">
              <a:solidFill>
                <a:srgbClr val="444444"/>
              </a:solidFill>
              <a:highlight>
                <a:srgbClr val="00FFFF"/>
              </a:highlight>
            </a:endParaRPr>
          </a:p>
          <a:p>
            <a:pPr marL="259080" indent="-259080" algn="just">
              <a:buFont typeface="Arial"/>
              <a:buChar char="•"/>
            </a:pPr>
            <a:r>
              <a:rPr lang="fr-FR">
                <a:highlight>
                  <a:srgbClr val="00FFFF"/>
                </a:highlight>
              </a:rPr>
              <a:t>Conditions de maintien dans l’emploi </a:t>
            </a:r>
            <a:endParaRPr lang="en-US">
              <a:solidFill>
                <a:srgbClr val="444444"/>
              </a:solidFill>
              <a:highlight>
                <a:srgbClr val="00FFFF"/>
              </a:highlight>
            </a:endParaRPr>
          </a:p>
          <a:p>
            <a:pPr marL="259080" indent="-259080" algn="just">
              <a:buFont typeface="Arial"/>
              <a:buChar char="•"/>
            </a:pPr>
            <a:r>
              <a:rPr lang="fr-FR">
                <a:highlight>
                  <a:srgbClr val="00FFFF"/>
                </a:highlight>
              </a:rPr>
              <a:t>Information des possibles aménagements de fin de carrière </a:t>
            </a:r>
            <a:endParaRPr lang="en-US">
              <a:solidFill>
                <a:srgbClr val="444444"/>
              </a:solidFill>
              <a:highlight>
                <a:srgbClr val="00FFFF"/>
              </a:highlight>
            </a:endParaRPr>
          </a:p>
          <a:p>
            <a:pPr marL="259080" indent="-259080" algn="just">
              <a:buFont typeface="Arial"/>
              <a:buChar char="•"/>
            </a:pPr>
            <a:r>
              <a:rPr lang="fr-FR">
                <a:highlight>
                  <a:srgbClr val="00FFFF"/>
                </a:highlight>
              </a:rPr>
              <a:t>Informations des possibilités de passage à temps partiel ou de retraite progressive</a:t>
            </a:r>
          </a:p>
          <a:p>
            <a:pPr marL="259080" indent="-259080" algn="just">
              <a:buFont typeface="Arial"/>
              <a:buChar char="•"/>
            </a:pPr>
            <a:endParaRPr lang="fr-FR"/>
          </a:p>
          <a:p>
            <a:pPr marL="259080" indent="-259080" algn="just">
              <a:buFont typeface="Arial"/>
              <a:buChar char="•"/>
            </a:pPr>
            <a:endParaRPr lang="fr-FR">
              <a:highlight>
                <a:srgbClr val="00FFFF"/>
              </a:highlight>
            </a:endParaRPr>
          </a:p>
          <a:p>
            <a:pPr algn="just"/>
            <a:endParaRPr lang="fr-FR">
              <a:solidFill>
                <a:srgbClr val="3A3A3A"/>
              </a:solidFill>
              <a:highlight>
                <a:srgbClr val="00FFFF"/>
              </a:highlight>
            </a:endParaRPr>
          </a:p>
          <a:p>
            <a:r>
              <a:rPr lang="fr-FR" b="1" u="sng">
                <a:solidFill>
                  <a:srgbClr val="000000"/>
                </a:solidFill>
                <a:highlight>
                  <a:srgbClr val="00FFFF"/>
                </a:highlight>
              </a:rPr>
              <a:t>Fréquence et moment clés des entretiens</a:t>
            </a:r>
            <a:endParaRPr lang="en-US">
              <a:solidFill>
                <a:srgbClr val="000000"/>
              </a:solidFill>
              <a:highlight>
                <a:srgbClr val="00FFFF"/>
              </a:highlight>
            </a:endParaRPr>
          </a:p>
          <a:p>
            <a:endParaRPr lang="fr-FR">
              <a:solidFill>
                <a:srgbClr val="000000"/>
              </a:solidFill>
              <a:highlight>
                <a:srgbClr val="00FFFF"/>
              </a:highlight>
            </a:endParaRPr>
          </a:p>
          <a:p>
            <a:r>
              <a:rPr lang="fr-FR">
                <a:solidFill>
                  <a:srgbClr val="000000"/>
                </a:solidFill>
                <a:highlight>
                  <a:srgbClr val="00FFFF"/>
                </a:highlight>
              </a:rPr>
              <a:t>Pas de remise à zéro des compteurs. </a:t>
            </a:r>
            <a:endParaRPr lang="fr-FR">
              <a:highlight>
                <a:srgbClr val="00FFFF"/>
              </a:highlight>
            </a:endParaRPr>
          </a:p>
          <a:p>
            <a:pPr algn="just"/>
            <a:endParaRPr lang="fr-FR" b="1">
              <a:solidFill>
                <a:srgbClr val="3A3A3A"/>
              </a:solidFill>
              <a:highlight>
                <a:srgbClr val="00FFFF"/>
              </a:highlight>
            </a:endParaRPr>
          </a:p>
          <a:p>
            <a:r>
              <a:rPr lang="fr-FR">
                <a:solidFill>
                  <a:srgbClr val="000000"/>
                </a:solidFill>
                <a:highlight>
                  <a:srgbClr val="00FFFF"/>
                </a:highlight>
              </a:rPr>
              <a:t>L'entretien de parcours professionnel et le bilan s’effectuent à partir de la date du dernier entretien réalisé. </a:t>
            </a:r>
            <a:endParaRPr lang="en-US">
              <a:solidFill>
                <a:srgbClr val="444444"/>
              </a:solidFill>
              <a:highlight>
                <a:srgbClr val="00FFFF"/>
              </a:highlight>
            </a:endParaRPr>
          </a:p>
          <a:p>
            <a:r>
              <a:rPr lang="fr-FR">
                <a:solidFill>
                  <a:srgbClr val="000000"/>
                </a:solidFill>
                <a:highlight>
                  <a:srgbClr val="00FFFF"/>
                </a:highlight>
              </a:rPr>
              <a:t>Tandis que les autres entretiens doivent être organisés à des moments précis du parcours professionnel, donc aux dates prévues par la loi, même lorsqu’un autre entretien professionnel a eu lieu peu de temps auparavant.</a:t>
            </a:r>
            <a:br>
              <a:rPr lang="fr-FR">
                <a:highlight>
                  <a:srgbClr val="00FFFF"/>
                </a:highlight>
                <a:cs typeface="+mn-lt"/>
              </a:rPr>
            </a:br>
            <a:r>
              <a:rPr lang="fr-FR">
                <a:solidFill>
                  <a:srgbClr val="000000"/>
                </a:solidFill>
                <a:highlight>
                  <a:srgbClr val="00FFFF"/>
                </a:highlight>
              </a:rPr>
              <a:t>Exemple. - Si un entretien a été fait le jour d’avant de la visite médicale de mi-carrière, l’employeur devra en refaire un dans les 2 mois qui suivent.</a:t>
            </a:r>
            <a:endParaRPr lang="en-US">
              <a:solidFill>
                <a:srgbClr val="444444"/>
              </a:solidFill>
              <a:highlight>
                <a:srgbClr val="00FFFF"/>
              </a:highlight>
            </a:endParaRPr>
          </a:p>
          <a:p>
            <a:endParaRPr lang="fr-FR">
              <a:solidFill>
                <a:srgbClr val="444444"/>
              </a:solidFill>
              <a:highlight>
                <a:srgbClr val="00FFFF"/>
              </a:highlight>
            </a:endParaRPr>
          </a:p>
          <a:p>
            <a:r>
              <a:rPr lang="fr-FR">
                <a:solidFill>
                  <a:srgbClr val="000000"/>
                </a:solidFill>
                <a:highlight>
                  <a:srgbClr val="00FFFF"/>
                </a:highlight>
              </a:rPr>
              <a:t>La date de réalisation des divers entretiens s'apprécie en fonction de l’ancienneté réelle du salarié dans l’entreprise : on ne prend en compte que les années entièrement écoulées depuis sa date d'embauche, et des périodes assimilées à du temps de travail effectif (sauf dispositions conventionnelles plus favorables). </a:t>
            </a:r>
            <a:endParaRPr lang="en-US">
              <a:solidFill>
                <a:srgbClr val="444444"/>
              </a:solidFill>
              <a:highlight>
                <a:srgbClr val="00FFFF"/>
              </a:highlight>
            </a:endParaRPr>
          </a:p>
          <a:p>
            <a:endParaRPr lang="fr-FR">
              <a:solidFill>
                <a:srgbClr val="444444"/>
              </a:solidFill>
            </a:endParaRPr>
          </a:p>
          <a:p>
            <a:r>
              <a:rPr lang="fr-FR" b="1">
                <a:solidFill>
                  <a:srgbClr val="000000"/>
                </a:solidFill>
                <a:highlight>
                  <a:srgbClr val="C0C0C0"/>
                </a:highlight>
              </a:rPr>
              <a:t>“En années révolues”</a:t>
            </a:r>
            <a:r>
              <a:rPr lang="fr-FR">
                <a:solidFill>
                  <a:srgbClr val="000000"/>
                </a:solidFill>
                <a:highlight>
                  <a:srgbClr val="C0C0C0"/>
                </a:highlight>
              </a:rPr>
              <a:t> signifie </a:t>
            </a:r>
            <a:r>
              <a:rPr lang="fr-FR" b="1">
                <a:solidFill>
                  <a:srgbClr val="000000"/>
                </a:solidFill>
                <a:highlight>
                  <a:srgbClr val="C0C0C0"/>
                </a:highlight>
              </a:rPr>
              <a:t>années complètement écoulées</a:t>
            </a:r>
            <a:r>
              <a:rPr lang="fr-FR">
                <a:solidFill>
                  <a:srgbClr val="000000"/>
                </a:solidFill>
                <a:highlight>
                  <a:srgbClr val="C0C0C0"/>
                </a:highlight>
              </a:rPr>
              <a:t> (anniversaires atteints).</a:t>
            </a:r>
            <a:endParaRPr lang="en-US">
              <a:solidFill>
                <a:srgbClr val="444444"/>
              </a:solidFill>
              <a:highlight>
                <a:srgbClr val="C0C0C0"/>
              </a:highlight>
            </a:endParaRPr>
          </a:p>
          <a:p>
            <a:r>
              <a:rPr lang="fr-FR">
                <a:solidFill>
                  <a:srgbClr val="000000"/>
                </a:solidFill>
                <a:highlight>
                  <a:srgbClr val="C0C0C0"/>
                </a:highlight>
              </a:rPr>
              <a:t>On ne compte que les années pleinement terminées, pas l’année en cours.</a:t>
            </a:r>
            <a:br>
              <a:rPr lang="fr-FR">
                <a:highlight>
                  <a:srgbClr val="C0C0C0"/>
                </a:highlight>
                <a:cs typeface="+mn-lt"/>
              </a:rPr>
            </a:br>
            <a:r>
              <a:rPr lang="fr-FR">
                <a:solidFill>
                  <a:srgbClr val="000000"/>
                </a:solidFill>
                <a:highlight>
                  <a:srgbClr val="C0C0C0"/>
                </a:highlight>
              </a:rPr>
              <a:t>Exemple. - Un salarié est embauché le </a:t>
            </a:r>
            <a:r>
              <a:rPr lang="fr-FR" b="1">
                <a:solidFill>
                  <a:srgbClr val="000000"/>
                </a:solidFill>
                <a:highlight>
                  <a:srgbClr val="C0C0C0"/>
                </a:highlight>
              </a:rPr>
              <a:t>15 mars 2018, l'entretien doit être réalisé le 15 mars 2022</a:t>
            </a:r>
            <a:r>
              <a:rPr lang="fr-FR">
                <a:solidFill>
                  <a:srgbClr val="000000"/>
                </a:solidFill>
                <a:highlight>
                  <a:srgbClr val="C0C0C0"/>
                </a:highlight>
              </a:rPr>
              <a:t>.</a:t>
            </a:r>
            <a:br>
              <a:rPr lang="fr-FR">
                <a:cs typeface="+mn-lt"/>
              </a:rPr>
            </a:br>
            <a:endParaRPr lang="fr-FR">
              <a:solidFill>
                <a:srgbClr val="444444"/>
              </a:solidFill>
            </a:endParaRPr>
          </a:p>
          <a:p>
            <a:r>
              <a:rPr lang="fr-FR">
                <a:solidFill>
                  <a:srgbClr val="000000"/>
                </a:solidFill>
                <a:highlight>
                  <a:srgbClr val="00FFFF"/>
                </a:highlight>
              </a:rPr>
              <a:t>En cas de transfert d'entreprise, l’ancienneté acquise chez le précédent employeur est conservée et le nouvel employeur reprend le cycle des entretiens déjà engagé. </a:t>
            </a:r>
            <a:endParaRPr lang="fr-FR">
              <a:highlight>
                <a:srgbClr val="00FFFF"/>
              </a:highlight>
            </a:endParaRPr>
          </a:p>
          <a:p>
            <a:pPr algn="just">
              <a:buFont typeface="Wingdings,Sans-Serif"/>
            </a:pPr>
            <a:endParaRPr lang="fr-FR"/>
          </a:p>
        </p:txBody>
      </p:sp>
      <p:sp>
        <p:nvSpPr>
          <p:cNvPr id="4" name="Espace réservé du numéro de diapositive 3">
            <a:extLst>
              <a:ext uri="{FF2B5EF4-FFF2-40B4-BE49-F238E27FC236}">
                <a16:creationId xmlns:a16="http://schemas.microsoft.com/office/drawing/2014/main" id="{C873C5A1-67BA-981F-9AD4-8209FBAA27BE}"/>
              </a:ext>
            </a:extLst>
          </p:cNvPr>
          <p:cNvSpPr>
            <a:spLocks noGrp="1"/>
          </p:cNvSpPr>
          <p:nvPr>
            <p:ph type="sldNum" sz="quarter" idx="5"/>
          </p:nvPr>
        </p:nvSpPr>
        <p:spPr/>
        <p:txBody>
          <a:bodyPr/>
          <a:lstStyle/>
          <a:p>
            <a:fld id="{7588CE97-4D95-4093-964B-F0E24615FF45}" type="slidenum">
              <a:rPr lang="fr-FR" smtClean="0"/>
              <a:t>20</a:t>
            </a:fld>
            <a:endParaRPr lang="fr-FR"/>
          </a:p>
        </p:txBody>
      </p:sp>
    </p:spTree>
    <p:extLst>
      <p:ext uri="{BB962C8B-B14F-4D97-AF65-F5344CB8AC3E}">
        <p14:creationId xmlns:p14="http://schemas.microsoft.com/office/powerpoint/2010/main" val="19367699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731CA-438A-5634-6DF1-0467682DDE6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F5D2312-5671-E1BD-06AA-417D0F9CA99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A29510E-7AB2-86EE-6643-16B0A83F8FB0}"/>
              </a:ext>
            </a:extLst>
          </p:cNvPr>
          <p:cNvSpPr>
            <a:spLocks noGrp="1"/>
          </p:cNvSpPr>
          <p:nvPr>
            <p:ph type="body" idx="1"/>
          </p:nvPr>
        </p:nvSpPr>
        <p:spPr/>
        <p:txBody>
          <a:bodyPr/>
          <a:lstStyle/>
          <a:p>
            <a:r>
              <a:rPr lang="fr-FR" b="1">
                <a:highlight>
                  <a:srgbClr val="FFFF00"/>
                </a:highlight>
              </a:rPr>
              <a:t>On en parle rapidement vu que vous n'êtes pas concernés. </a:t>
            </a:r>
            <a:endParaRPr lang="fr-FR">
              <a:highlight>
                <a:srgbClr val="FFFF00"/>
              </a:highlight>
              <a:ea typeface="Calibri"/>
              <a:cs typeface="Calibri"/>
            </a:endParaRPr>
          </a:p>
          <a:p>
            <a:br>
              <a:rPr lang="fr-FR">
                <a:cs typeface="+mn-lt"/>
              </a:rPr>
            </a:br>
            <a:r>
              <a:rPr lang="fr-FR">
                <a:solidFill>
                  <a:srgbClr val="000000"/>
                </a:solidFill>
              </a:rPr>
              <a:t>Pour rappel, le 1er mai est un jour férié et chômé. Il ne peut être une cause de réduction de salaire, les salariés doivent percevoir une indemnité égale au salaire perdu du fait de ce chômage. </a:t>
            </a:r>
            <a:endParaRPr lang="fr-FR"/>
          </a:p>
          <a:p>
            <a:endParaRPr lang="fr-FR"/>
          </a:p>
          <a:p>
            <a:r>
              <a:rPr lang="fr-FR"/>
              <a:t>Ici, nous avons un projet de loi qui vise à déroger à ce principe. Il autoriserait les artisans boulangers-pâtissiers et les artisans fleuristes à faire travailleur leurs salariés ce jour-ci,  sous conditions strictes : consentement du salarié (accord écrit), rémunération doublée, l'accord de branche le prévoit.</a:t>
            </a:r>
            <a:endParaRPr lang="fr-FR">
              <a:ea typeface="Calibri"/>
              <a:cs typeface="Calibri"/>
            </a:endParaRPr>
          </a:p>
          <a:p>
            <a:endParaRPr lang="fr-FR">
              <a:solidFill>
                <a:srgbClr val="000000"/>
              </a:solidFill>
              <a:ea typeface="Calibri"/>
              <a:cs typeface="Calibri"/>
            </a:endParaRPr>
          </a:p>
          <a:p>
            <a:r>
              <a:rPr lang="fr-FR"/>
              <a:t>Ce nouveau cadre ne s’appliquera toutefois qu’à partir du </a:t>
            </a:r>
            <a:r>
              <a:rPr lang="fr-FR" b="1"/>
              <a:t>1er mai 2027</a:t>
            </a:r>
            <a:r>
              <a:rPr lang="fr-FR"/>
              <a:t>, après adoption définitive du texte. </a:t>
            </a:r>
            <a:r>
              <a:rPr lang="fr-FR">
                <a:highlight>
                  <a:srgbClr val="FFFF00"/>
                </a:highlight>
              </a:rPr>
              <a:t>Mais pour l'instant le texte n'est pas définitivement adopté (en cours de procédure législative). </a:t>
            </a:r>
          </a:p>
          <a:p>
            <a:endParaRPr lang="fr-FR">
              <a:ea typeface="Calibri"/>
              <a:cs typeface="Calibri"/>
            </a:endParaRPr>
          </a:p>
          <a:p>
            <a:endParaRPr lang="fr-FR">
              <a:ea typeface="Calibri"/>
              <a:cs typeface="Calibri"/>
            </a:endParaRPr>
          </a:p>
          <a:p>
            <a:r>
              <a:rPr lang="fr-FR">
                <a:ea typeface="Calibri"/>
              </a:rPr>
              <a:t>Rappel important : </a:t>
            </a:r>
            <a:r>
              <a:rPr lang="fr-FR"/>
              <a:t>Aujourd'hui, le Code du travail permet à certains établissements et services de faire travailler leurs salariés le 1er mai, car leur activité ne peut pas être interrompue.</a:t>
            </a:r>
            <a:r>
              <a:rPr lang="fr-FR">
                <a:ea typeface="Calibri"/>
              </a:rPr>
              <a:t> Dans ce cas, les salariés perçoivent, en plus de leur salaire, une indemnité égale au montant de ce salaire. </a:t>
            </a:r>
          </a:p>
        </p:txBody>
      </p:sp>
      <p:sp>
        <p:nvSpPr>
          <p:cNvPr id="4" name="Espace réservé du numéro de diapositive 3">
            <a:extLst>
              <a:ext uri="{FF2B5EF4-FFF2-40B4-BE49-F238E27FC236}">
                <a16:creationId xmlns:a16="http://schemas.microsoft.com/office/drawing/2014/main" id="{8DCA51E8-71BC-A711-727D-897387B10281}"/>
              </a:ext>
            </a:extLst>
          </p:cNvPr>
          <p:cNvSpPr>
            <a:spLocks noGrp="1"/>
          </p:cNvSpPr>
          <p:nvPr>
            <p:ph type="sldNum" sz="quarter" idx="5"/>
          </p:nvPr>
        </p:nvSpPr>
        <p:spPr/>
        <p:txBody>
          <a:bodyPr/>
          <a:lstStyle/>
          <a:p>
            <a:fld id="{7588CE97-4D95-4093-964B-F0E24615FF45}" type="slidenum">
              <a:rPr lang="fr-FR" smtClean="0"/>
              <a:t>21</a:t>
            </a:fld>
            <a:endParaRPr lang="fr-FR"/>
          </a:p>
        </p:txBody>
      </p:sp>
    </p:spTree>
    <p:extLst>
      <p:ext uri="{BB962C8B-B14F-4D97-AF65-F5344CB8AC3E}">
        <p14:creationId xmlns:p14="http://schemas.microsoft.com/office/powerpoint/2010/main" val="16844972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828E4-A129-DE1D-5C15-FBC1509D306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7E1AD8D-4D61-0DF8-A150-007896F32C3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D72BDAC-09FA-27E4-137E-6E320E77E161}"/>
              </a:ext>
            </a:extLst>
          </p:cNvPr>
          <p:cNvSpPr>
            <a:spLocks noGrp="1"/>
          </p:cNvSpPr>
          <p:nvPr>
            <p:ph type="body" idx="1"/>
          </p:nvPr>
        </p:nvSpPr>
        <p:spPr/>
        <p:txBody>
          <a:bodyPr/>
          <a:lstStyle/>
          <a:p>
            <a:r>
              <a:rPr lang="fr-FR">
                <a:solidFill>
                  <a:srgbClr val="000000"/>
                </a:solidFill>
              </a:rPr>
              <a:t>À travers la Loi du 12 juin 2026, le législateur est d'accompagner et simplifier la vie quotidienne des parents d'enfants gravement malade (maladie ou accident grave, handicap grave). </a:t>
            </a:r>
          </a:p>
          <a:p>
            <a:endParaRPr lang="fr-FR">
              <a:solidFill>
                <a:srgbClr val="000000"/>
              </a:solidFill>
            </a:endParaRPr>
          </a:p>
          <a:p>
            <a:r>
              <a:rPr lang="fr-FR">
                <a:ea typeface="Calibri"/>
                <a:cs typeface="Calibri"/>
              </a:rPr>
              <a:t>Il leur accorde davantage de temps et une grande souplesse dans leur activité professionnelle. </a:t>
            </a:r>
          </a:p>
          <a:p>
            <a:endParaRPr lang="fr-FR">
              <a:ea typeface="Calibri"/>
              <a:cs typeface="Calibri"/>
            </a:endParaRPr>
          </a:p>
          <a:p>
            <a:r>
              <a:rPr lang="fr-FR">
                <a:ea typeface="Calibri"/>
                <a:cs typeface="Calibri"/>
              </a:rPr>
              <a:t>Première mesure : la durée du congé spécifique à ce cas est doublée, il passe de 5 à 10 jours ouvrables (la CCN peut prévoir une durée plus élevée).</a:t>
            </a:r>
          </a:p>
          <a:p>
            <a:endParaRPr lang="fr-FR">
              <a:ea typeface="Calibri"/>
              <a:cs typeface="Calibri"/>
            </a:endParaRPr>
          </a:p>
          <a:p>
            <a:r>
              <a:rPr lang="fr-FR">
                <a:ea typeface="Calibri"/>
                <a:cs typeface="Calibri"/>
              </a:rPr>
              <a:t>Deuxième mesure : la loi prévoit également un élargissement du bénéfice des horaires individualisées. Jusqu'à présent, cet aménagement concernait les proches aidants. Il devrait être ouvert aux parents ou représentants légaux. </a:t>
            </a:r>
          </a:p>
          <a:p>
            <a:endParaRPr lang="fr-FR">
              <a:ea typeface="Calibri"/>
              <a:cs typeface="Calibri"/>
            </a:endParaRPr>
          </a:p>
          <a:p>
            <a:r>
              <a:rPr lang="fr-FR">
                <a:highlight>
                  <a:srgbClr val="00FFFF"/>
                </a:highlight>
              </a:rPr>
              <a:t>Un parent est défini par son lien avec l'enfant, alors qu'un proche aidant est défini par l'aide qu'il apporte à une personne dépendante (sœur, oncle, cousin, </a:t>
            </a:r>
            <a:r>
              <a:rPr lang="fr-FR" err="1">
                <a:highlight>
                  <a:srgbClr val="00FFFF"/>
                </a:highlight>
              </a:rPr>
              <a:t>etc</a:t>
            </a:r>
            <a:r>
              <a:rPr lang="fr-FR">
                <a:highlight>
                  <a:srgbClr val="00FFFF"/>
                </a:highlight>
              </a:rPr>
              <a:t>).</a:t>
            </a:r>
          </a:p>
          <a:p>
            <a:endParaRPr lang="fr-FR" u="sng">
              <a:ea typeface="Calibri"/>
              <a:cs typeface="Calibri"/>
            </a:endParaRPr>
          </a:p>
          <a:p>
            <a:r>
              <a:rPr lang="fr-FR">
                <a:ea typeface="Calibri"/>
                <a:cs typeface="Calibri"/>
              </a:rPr>
              <a:t>Cette loi n'est pas encore applicable à ce jour. Son entrée en vigueur est prévue 18 mois après la promulgation de la Loi, donc ce n'est pas pour maintenant. </a:t>
            </a:r>
          </a:p>
          <a:p>
            <a:endParaRPr lang="fr-FR">
              <a:solidFill>
                <a:srgbClr val="000000"/>
              </a:solidFill>
              <a:ea typeface="Calibri"/>
              <a:cs typeface="Calibri"/>
            </a:endParaRPr>
          </a:p>
          <a:p>
            <a:endParaRPr lang="fr-FR">
              <a:solidFill>
                <a:srgbClr val="263C46"/>
              </a:solidFill>
              <a:ea typeface="Calibri"/>
              <a:cs typeface="Calibri"/>
            </a:endParaRPr>
          </a:p>
          <a:p>
            <a:endParaRPr lang="fr-FR">
              <a:solidFill>
                <a:srgbClr val="263C46"/>
              </a:solidFill>
              <a:ea typeface="Calibri"/>
              <a:cs typeface="Calibri"/>
            </a:endParaRPr>
          </a:p>
        </p:txBody>
      </p:sp>
      <p:sp>
        <p:nvSpPr>
          <p:cNvPr id="4" name="Espace réservé du numéro de diapositive 3">
            <a:extLst>
              <a:ext uri="{FF2B5EF4-FFF2-40B4-BE49-F238E27FC236}">
                <a16:creationId xmlns:a16="http://schemas.microsoft.com/office/drawing/2014/main" id="{567DC990-9330-8EB0-37F0-45FDDADE1AC7}"/>
              </a:ext>
            </a:extLst>
          </p:cNvPr>
          <p:cNvSpPr>
            <a:spLocks noGrp="1"/>
          </p:cNvSpPr>
          <p:nvPr>
            <p:ph type="sldNum" sz="quarter" idx="5"/>
          </p:nvPr>
        </p:nvSpPr>
        <p:spPr/>
        <p:txBody>
          <a:bodyPr/>
          <a:lstStyle/>
          <a:p>
            <a:fld id="{7588CE97-4D95-4093-964B-F0E24615FF45}" type="slidenum">
              <a:rPr lang="fr-FR" smtClean="0"/>
              <a:t>22</a:t>
            </a:fld>
            <a:endParaRPr lang="fr-FR"/>
          </a:p>
        </p:txBody>
      </p:sp>
    </p:spTree>
    <p:extLst>
      <p:ext uri="{BB962C8B-B14F-4D97-AF65-F5344CB8AC3E}">
        <p14:creationId xmlns:p14="http://schemas.microsoft.com/office/powerpoint/2010/main" val="3744175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56700-4E23-FA6F-EBEE-3654ADC9497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9569452-4BA7-844A-23BC-434B8DB37C1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6F6F896-14AB-575E-19AA-B6AD08E2666D}"/>
              </a:ext>
            </a:extLst>
          </p:cNvPr>
          <p:cNvSpPr>
            <a:spLocks noGrp="1"/>
          </p:cNvSpPr>
          <p:nvPr>
            <p:ph type="body" idx="1"/>
          </p:nvPr>
        </p:nvSpPr>
        <p:spPr/>
        <p:txBody>
          <a:bodyPr/>
          <a:lstStyle/>
          <a:p>
            <a:r>
              <a:rPr lang="fr-FR"/>
              <a:t>Nous avons une loi de l'année dernière qui instaure un dispositif de reconversion professionnelle. </a:t>
            </a:r>
          </a:p>
          <a:p>
            <a:r>
              <a:rPr lang="fr-FR"/>
              <a:t>Il est entré en vigueur depuis le 1er février 2026. </a:t>
            </a:r>
          </a:p>
          <a:p>
            <a:r>
              <a:rPr lang="fr-FR"/>
              <a:t>Et donne tout simplement la possibilité pour le salarié de se reconvertir, tout en conservant son contrat de travail et donc son statut de salarié. </a:t>
            </a:r>
          </a:p>
          <a:p>
            <a:endParaRPr lang="fr-FR"/>
          </a:p>
          <a:p>
            <a:r>
              <a:rPr lang="fr-FR"/>
              <a:t>Il est simplement en formation pour changer ou faire évoluer son métier, formation interne ou externe. </a:t>
            </a:r>
          </a:p>
          <a:p>
            <a:r>
              <a:rPr lang="fr-FR"/>
              <a:t>Interne = au sein des locaux de l'entreprise. </a:t>
            </a:r>
          </a:p>
          <a:p>
            <a:r>
              <a:rPr lang="fr-FR"/>
              <a:t>Externe = CT dans son entreprise habituelle, mais formation dans une entreprise B. </a:t>
            </a:r>
            <a:br>
              <a:rPr lang="fr-FR" b="1">
                <a:cs typeface="+mn-lt"/>
              </a:rPr>
            </a:br>
            <a:br>
              <a:rPr lang="fr-FR" b="1">
                <a:cs typeface="+mn-lt"/>
              </a:rPr>
            </a:br>
            <a:r>
              <a:rPr lang="fr-FR"/>
              <a:t>C'est ouvert à </a:t>
            </a:r>
            <a:r>
              <a:rPr lang="fr-FR" b="1"/>
              <a:t>tous les salariés</a:t>
            </a:r>
            <a:r>
              <a:rPr lang="fr-FR"/>
              <a:t>, sans condition d’âge ou de statut. </a:t>
            </a:r>
          </a:p>
          <a:p>
            <a:r>
              <a:rPr lang="fr-FR">
                <a:cs typeface="+mn-lt"/>
              </a:rPr>
              <a:t>Mais l'employeur </a:t>
            </a:r>
            <a:r>
              <a:rPr lang="fr-FR" b="1">
                <a:solidFill>
                  <a:srgbClr val="E4003A"/>
                </a:solidFill>
              </a:rPr>
              <a:t>n'est pas tenu d'accepter la demande de reconversion par le salarié. </a:t>
            </a:r>
            <a:endParaRPr lang="fr-FR">
              <a:cs typeface="+mn-lt"/>
            </a:endParaRPr>
          </a:p>
          <a:p>
            <a:endParaRPr lang="fr-FR" b="1">
              <a:solidFill>
                <a:srgbClr val="E4003A"/>
              </a:solidFill>
              <a:cs typeface="+mn-lt"/>
            </a:endParaRPr>
          </a:p>
          <a:p>
            <a:r>
              <a:rPr lang="fr-FR" b="1">
                <a:solidFill>
                  <a:srgbClr val="E4003A"/>
                </a:solidFill>
                <a:cs typeface="+mn-lt"/>
              </a:rPr>
              <a:t>C'est bien l'employeur contractuellement lié avec son salarié qui met en place ce dispositif.</a:t>
            </a:r>
          </a:p>
          <a:p>
            <a:br>
              <a:rPr lang="fr-FR">
                <a:cs typeface="+mn-lt"/>
              </a:rPr>
            </a:br>
            <a:br>
              <a:rPr lang="fr-FR">
                <a:cs typeface="+mn-lt"/>
              </a:rPr>
            </a:br>
            <a:r>
              <a:rPr lang="fr-FR">
                <a:solidFill>
                  <a:srgbClr val="3A3A3A"/>
                </a:solidFill>
                <a:highlight>
                  <a:srgbClr val="00FFFF"/>
                </a:highlight>
              </a:rPr>
              <a:t>L’accord de branche, d’entreprise ou la décision unilatérale de l’employeur porte notamment sur :</a:t>
            </a:r>
            <a:endParaRPr lang="fr-FR">
              <a:highlight>
                <a:srgbClr val="00FFFF"/>
              </a:highlight>
            </a:endParaRPr>
          </a:p>
          <a:p>
            <a:pPr marL="171450" indent="-171450">
              <a:buFont typeface="Arial"/>
              <a:buChar char="•"/>
            </a:pPr>
            <a:r>
              <a:rPr lang="fr-FR">
                <a:solidFill>
                  <a:srgbClr val="3A3A3A"/>
                </a:solidFill>
                <a:highlight>
                  <a:srgbClr val="00FFFF"/>
                </a:highlight>
              </a:rPr>
              <a:t>La prise en charge de l’écart éventuel de rémunération du salarié dont le contrat de travail est suspendu pendant la période de reconversion externe ;</a:t>
            </a:r>
            <a:endParaRPr lang="fr-FR">
              <a:highlight>
                <a:srgbClr val="00FFFF"/>
              </a:highlight>
            </a:endParaRPr>
          </a:p>
          <a:p>
            <a:pPr marL="171450" indent="-171450">
              <a:buFont typeface="Arial"/>
              <a:buChar char="•"/>
            </a:pPr>
            <a:r>
              <a:rPr lang="fr-FR">
                <a:solidFill>
                  <a:srgbClr val="3A3A3A"/>
                </a:solidFill>
                <a:highlight>
                  <a:srgbClr val="00FFFF"/>
                </a:highlight>
              </a:rPr>
              <a:t>Les conditions dans lesquelles la durée de la période de reconversion et des actions de formation peuvent être augmentées ;</a:t>
            </a:r>
            <a:endParaRPr lang="fr-FR">
              <a:highlight>
                <a:srgbClr val="00FFFF"/>
              </a:highlight>
            </a:endParaRPr>
          </a:p>
          <a:p>
            <a:pPr marL="171450" indent="-171450">
              <a:buFont typeface="Arial"/>
              <a:buChar char="•"/>
            </a:pPr>
            <a:r>
              <a:rPr lang="fr-FR">
                <a:solidFill>
                  <a:srgbClr val="3A3A3A"/>
                </a:solidFill>
                <a:highlight>
                  <a:srgbClr val="00FFFF"/>
                </a:highlight>
              </a:rPr>
              <a:t>Le montant des indemnités versées au titre de la rupture du contrat de travail ;</a:t>
            </a:r>
            <a:endParaRPr lang="fr-FR">
              <a:highlight>
                <a:srgbClr val="00FFFF"/>
              </a:highlight>
            </a:endParaRPr>
          </a:p>
          <a:p>
            <a:pPr marL="171450" indent="-171450">
              <a:buFont typeface="Arial"/>
              <a:buChar char="•"/>
            </a:pPr>
            <a:r>
              <a:rPr lang="fr-FR">
                <a:solidFill>
                  <a:srgbClr val="3A3A3A"/>
                </a:solidFill>
                <a:highlight>
                  <a:srgbClr val="00FFFF"/>
                </a:highlight>
              </a:rPr>
              <a:t>Les conditions dans lesquelles le salarié peut mobiliser son CPF ;</a:t>
            </a:r>
            <a:endParaRPr lang="fr-FR">
              <a:highlight>
                <a:srgbClr val="00FFFF"/>
              </a:highlight>
            </a:endParaRPr>
          </a:p>
          <a:p>
            <a:pPr marL="171450" indent="-171450">
              <a:buFont typeface="Arial"/>
              <a:buChar char="•"/>
            </a:pPr>
            <a:r>
              <a:rPr lang="fr-FR">
                <a:solidFill>
                  <a:srgbClr val="3A3A3A"/>
                </a:solidFill>
                <a:highlight>
                  <a:srgbClr val="00FFFF"/>
                </a:highlight>
              </a:rPr>
              <a:t>Les conditions dans lesquelles certains frais annexes (hébergement, restauration, transport) peuvent être pris en charge.</a:t>
            </a:r>
            <a:endParaRPr lang="fr-FR">
              <a:highlight>
                <a:srgbClr val="00FFFF"/>
              </a:highlight>
            </a:endParaRPr>
          </a:p>
          <a:p>
            <a:endParaRPr lang="fr-FR"/>
          </a:p>
        </p:txBody>
      </p:sp>
      <p:sp>
        <p:nvSpPr>
          <p:cNvPr id="4" name="Espace réservé du numéro de diapositive 3">
            <a:extLst>
              <a:ext uri="{FF2B5EF4-FFF2-40B4-BE49-F238E27FC236}">
                <a16:creationId xmlns:a16="http://schemas.microsoft.com/office/drawing/2014/main" id="{E188AF0A-992E-F5A9-4C84-08FD3A228A6A}"/>
              </a:ext>
            </a:extLst>
          </p:cNvPr>
          <p:cNvSpPr>
            <a:spLocks noGrp="1"/>
          </p:cNvSpPr>
          <p:nvPr>
            <p:ph type="sldNum" sz="quarter" idx="5"/>
          </p:nvPr>
        </p:nvSpPr>
        <p:spPr/>
        <p:txBody>
          <a:bodyPr/>
          <a:lstStyle/>
          <a:p>
            <a:fld id="{7588CE97-4D95-4093-964B-F0E24615FF45}" type="slidenum">
              <a:rPr lang="fr-FR" smtClean="0"/>
              <a:t>23</a:t>
            </a:fld>
            <a:endParaRPr lang="fr-FR"/>
          </a:p>
        </p:txBody>
      </p:sp>
    </p:spTree>
    <p:extLst>
      <p:ext uri="{BB962C8B-B14F-4D97-AF65-F5344CB8AC3E}">
        <p14:creationId xmlns:p14="http://schemas.microsoft.com/office/powerpoint/2010/main" val="25787084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0E77F-1FE4-7C56-8A41-E713C6BB062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600D500-2414-0061-64DD-C922E00EE16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450CA0D-7ABC-74EF-52BC-F6AAD00BE280}"/>
              </a:ext>
            </a:extLst>
          </p:cNvPr>
          <p:cNvSpPr>
            <a:spLocks noGrp="1"/>
          </p:cNvSpPr>
          <p:nvPr>
            <p:ph type="body" idx="1"/>
          </p:nvPr>
        </p:nvSpPr>
        <p:spPr/>
        <p:txBody>
          <a:bodyPr/>
          <a:lstStyle/>
          <a:p>
            <a:r>
              <a:rPr lang="fr-FR"/>
              <a:t>Le recours à ce dispositif nécessite un accord commun des parties, formalisé par un écrit, dont un formulaire CERFA est à remplir, vous pouvez trouver ce formulaire sur le site du service public. </a:t>
            </a:r>
          </a:p>
          <a:p>
            <a:endParaRPr lang="fr-FR"/>
          </a:p>
          <a:p>
            <a:r>
              <a:rPr lang="fr-FR"/>
              <a:t>Je ne vais pas rentrer dans les détails, mais une certaine procédure est à respecter (notamment le délai pour remplir le CERFA, pour l'instruction du dossier par l'OPCO et le début de la période de reconversion). </a:t>
            </a:r>
          </a:p>
          <a:p>
            <a:endParaRPr lang="fr-FR">
              <a:cs typeface="+mn-lt"/>
            </a:endParaRPr>
          </a:p>
          <a:p>
            <a:r>
              <a:rPr lang="fr-FR">
                <a:cs typeface="+mn-lt"/>
              </a:rPr>
              <a:t>La période de reconversion peut être financée par l'OPCO. </a:t>
            </a:r>
            <a:br>
              <a:rPr lang="fr-FR">
                <a:cs typeface="+mn-lt"/>
              </a:rPr>
            </a:br>
            <a:r>
              <a:rPr lang="fr-FR">
                <a:cs typeface="+mn-lt"/>
              </a:rPr>
              <a:t>C'est l'OPCO qui décide de la prise en charge ou non, l'organisme dispose d'un délai de 20 jours pour y répondre. À défaut de réponse, cela vaut refus implicite. </a:t>
            </a:r>
            <a:br>
              <a:rPr lang="fr-FR">
                <a:cs typeface="+mn-lt"/>
              </a:rPr>
            </a:br>
            <a:br>
              <a:rPr lang="fr-FR">
                <a:cs typeface="+mn-lt"/>
              </a:rPr>
            </a:br>
            <a:r>
              <a:rPr lang="fr-FR">
                <a:cs typeface="+mn-lt"/>
              </a:rPr>
              <a:t>L'organisme compétent est différent selon le type de reconversion : </a:t>
            </a:r>
          </a:p>
          <a:p>
            <a:pPr marL="171450" indent="-171450">
              <a:buFont typeface="Calibri"/>
              <a:buChar char="-"/>
            </a:pPr>
            <a:r>
              <a:rPr lang="fr-FR">
                <a:cs typeface="+mn-lt"/>
              </a:rPr>
              <a:t>Reconversion interne : OPCO de l'employeur, </a:t>
            </a:r>
          </a:p>
          <a:p>
            <a:pPr marL="171450" indent="-171450">
              <a:buFont typeface="Calibri"/>
              <a:buChar char="-"/>
            </a:pPr>
            <a:r>
              <a:rPr lang="fr-FR"/>
              <a:t>Reconversion externe : OPCO de l'entreprise d'accueil.</a:t>
            </a:r>
          </a:p>
          <a:p>
            <a:endParaRPr lang="fr-FR"/>
          </a:p>
          <a:p>
            <a:r>
              <a:rPr lang="fr-FR" b="1"/>
              <a:t>Possible pour le salarié de cofinancer la formation via son CPF </a:t>
            </a:r>
            <a:endParaRPr lang="en-US">
              <a:solidFill>
                <a:srgbClr val="444444"/>
              </a:solidFill>
            </a:endParaRPr>
          </a:p>
          <a:p>
            <a:pPr marL="171450" indent="-171450">
              <a:buFont typeface="Calibri"/>
              <a:buChar char="-"/>
            </a:pPr>
            <a:r>
              <a:rPr lang="fr-FR"/>
              <a:t>(</a:t>
            </a:r>
            <a:r>
              <a:rPr lang="fr-FR" b="1">
                <a:solidFill>
                  <a:srgbClr val="E4003A"/>
                </a:solidFill>
              </a:rPr>
              <a:t>accord nécessaire</a:t>
            </a:r>
            <a:r>
              <a:rPr lang="fr-FR"/>
              <a:t>) </a:t>
            </a:r>
            <a:r>
              <a:rPr lang="en-US"/>
              <a:t> </a:t>
            </a:r>
            <a:endParaRPr lang="fr-FR"/>
          </a:p>
          <a:p>
            <a:endParaRPr lang="fr-FR">
              <a:cs typeface="+mn-lt"/>
            </a:endParaRPr>
          </a:p>
          <a:p>
            <a:br>
              <a:rPr lang="fr-FR">
                <a:cs typeface="+mn-lt"/>
              </a:rPr>
            </a:br>
            <a:br>
              <a:rPr lang="fr-FR">
                <a:cs typeface="+mn-lt"/>
              </a:rPr>
            </a:br>
            <a:r>
              <a:rPr lang="fr-FR">
                <a:highlight>
                  <a:srgbClr val="00FFFF"/>
                </a:highlight>
              </a:rPr>
              <a:t>- Période d'essai obligatoire en cas de reconversion externe </a:t>
            </a:r>
            <a:endParaRPr lang="en-US">
              <a:highlight>
                <a:srgbClr val="00FFFF"/>
              </a:highlight>
            </a:endParaRPr>
          </a:p>
          <a:p>
            <a:pPr>
              <a:buFont typeface="Arial,Sans-Serif"/>
            </a:pPr>
            <a:endParaRPr lang="fr-FR">
              <a:solidFill>
                <a:srgbClr val="3A3A3A"/>
              </a:solidFill>
            </a:endParaRPr>
          </a:p>
          <a:p>
            <a:pPr>
              <a:buFont typeface="Arial,Sans-Serif"/>
            </a:pPr>
            <a:endParaRPr lang="fr-FR">
              <a:solidFill>
                <a:srgbClr val="3A3A3A"/>
              </a:solidFill>
              <a:highlight>
                <a:srgbClr val="00FFFF"/>
              </a:highlight>
            </a:endParaRPr>
          </a:p>
          <a:p>
            <a:r>
              <a:rPr lang="fr-FR" u="sng">
                <a:solidFill>
                  <a:srgbClr val="000000"/>
                </a:solidFill>
                <a:highlight>
                  <a:srgbClr val="00FFFF"/>
                </a:highlight>
              </a:rPr>
              <a:t>Financement</a:t>
            </a:r>
            <a:endParaRPr lang="en-US">
              <a:solidFill>
                <a:srgbClr val="000000"/>
              </a:solidFill>
              <a:highlight>
                <a:srgbClr val="00FFFF"/>
              </a:highlight>
            </a:endParaRPr>
          </a:p>
          <a:p>
            <a:endParaRPr lang="fr-FR">
              <a:solidFill>
                <a:srgbClr val="000000"/>
              </a:solidFill>
              <a:highlight>
                <a:srgbClr val="00FFFF"/>
              </a:highlight>
            </a:endParaRPr>
          </a:p>
          <a:p>
            <a:pPr marL="285750" indent="-285750">
              <a:buFont typeface="Calibri"/>
              <a:buChar char="-"/>
            </a:pPr>
            <a:r>
              <a:rPr lang="fr-FR">
                <a:solidFill>
                  <a:schemeClr val="accent1"/>
                </a:solidFill>
                <a:highlight>
                  <a:srgbClr val="00FFFF"/>
                </a:highlight>
              </a:rPr>
              <a:t>Financement des frais de formation</a:t>
            </a:r>
            <a:endParaRPr lang="en-US">
              <a:solidFill>
                <a:srgbClr val="000000"/>
              </a:solidFill>
              <a:highlight>
                <a:srgbClr val="00FFFF"/>
              </a:highlight>
            </a:endParaRPr>
          </a:p>
          <a:p>
            <a:r>
              <a:rPr lang="fr-FR">
                <a:solidFill>
                  <a:srgbClr val="000000"/>
                </a:solidFill>
                <a:highlight>
                  <a:srgbClr val="00FFFF"/>
                </a:highlight>
              </a:rPr>
              <a:t>Prise en charge par l’OPCO dans la </a:t>
            </a:r>
            <a:r>
              <a:rPr lang="fr-FR" u="sng">
                <a:solidFill>
                  <a:srgbClr val="000000"/>
                </a:solidFill>
                <a:highlight>
                  <a:srgbClr val="00FFFF"/>
                </a:highlight>
              </a:rPr>
              <a:t>limite des montants fixés par la branche </a:t>
            </a:r>
            <a:r>
              <a:rPr lang="fr-FR">
                <a:solidFill>
                  <a:srgbClr val="000000"/>
                </a:solidFill>
                <a:highlight>
                  <a:srgbClr val="00FFFF"/>
                </a:highlight>
              </a:rPr>
              <a:t>ou, à défaut : </a:t>
            </a:r>
            <a:endParaRPr lang="en-US">
              <a:solidFill>
                <a:srgbClr val="000000"/>
              </a:solidFill>
              <a:highlight>
                <a:srgbClr val="00FFFF"/>
              </a:highlight>
            </a:endParaRPr>
          </a:p>
          <a:p>
            <a:pPr marL="742950" lvl="1" indent="-285750">
              <a:buFont typeface="Arial,Sans-Serif"/>
              <a:buChar char="•"/>
            </a:pPr>
            <a:r>
              <a:rPr lang="fr-FR">
                <a:solidFill>
                  <a:srgbClr val="000000"/>
                </a:solidFill>
                <a:highlight>
                  <a:srgbClr val="00FFFF"/>
                </a:highlight>
              </a:rPr>
              <a:t>9,15 € par heure, </a:t>
            </a:r>
            <a:endParaRPr lang="en-US">
              <a:solidFill>
                <a:srgbClr val="000000"/>
              </a:solidFill>
              <a:highlight>
                <a:srgbClr val="00FFFF"/>
              </a:highlight>
            </a:endParaRPr>
          </a:p>
          <a:p>
            <a:pPr marL="742950" lvl="1" indent="-285750">
              <a:buFont typeface="Arial,Sans-Serif"/>
              <a:buChar char="•"/>
            </a:pPr>
            <a:r>
              <a:rPr lang="fr-FR">
                <a:solidFill>
                  <a:srgbClr val="000000"/>
                </a:solidFill>
                <a:highlight>
                  <a:srgbClr val="00FFFF"/>
                </a:highlight>
              </a:rPr>
              <a:t>Pour un montant moyen de 5 000 € par période de reconversion. </a:t>
            </a:r>
            <a:endParaRPr lang="en-US">
              <a:solidFill>
                <a:srgbClr val="000000"/>
              </a:solidFill>
              <a:highlight>
                <a:srgbClr val="00FFFF"/>
              </a:highlight>
            </a:endParaRPr>
          </a:p>
          <a:p>
            <a:endParaRPr lang="fr-FR">
              <a:solidFill>
                <a:srgbClr val="000000"/>
              </a:solidFill>
              <a:highlight>
                <a:srgbClr val="00FFFF"/>
              </a:highlight>
            </a:endParaRPr>
          </a:p>
          <a:p>
            <a:pPr marL="285750" indent="-285750">
              <a:buFont typeface="Calibri"/>
              <a:buChar char="-"/>
            </a:pPr>
            <a:r>
              <a:rPr lang="fr-FR">
                <a:solidFill>
                  <a:schemeClr val="accent1"/>
                </a:solidFill>
                <a:highlight>
                  <a:srgbClr val="00FFFF"/>
                </a:highlight>
              </a:rPr>
              <a:t>Frais annexes et du différentiel de rémunération</a:t>
            </a:r>
            <a:endParaRPr lang="en-US">
              <a:solidFill>
                <a:srgbClr val="000000"/>
              </a:solidFill>
              <a:highlight>
                <a:srgbClr val="00FFFF"/>
              </a:highlight>
            </a:endParaRPr>
          </a:p>
          <a:p>
            <a:pPr marL="285750" indent="-285750">
              <a:buFont typeface="Calibri"/>
              <a:buChar char="-"/>
            </a:pPr>
            <a:r>
              <a:rPr lang="fr-FR">
                <a:solidFill>
                  <a:srgbClr val="000000"/>
                </a:solidFill>
                <a:highlight>
                  <a:srgbClr val="00FFFF"/>
                </a:highlight>
              </a:rPr>
              <a:t>Si accord ou décision unilatérale le prévoit, prise en charge des frais annexes pour </a:t>
            </a:r>
            <a:r>
              <a:rPr lang="fr-FR" u="sng">
                <a:solidFill>
                  <a:srgbClr val="000000"/>
                </a:solidFill>
                <a:highlight>
                  <a:srgbClr val="00FFFF"/>
                </a:highlight>
              </a:rPr>
              <a:t>toute reconversion</a:t>
            </a:r>
            <a:r>
              <a:rPr lang="fr-FR">
                <a:solidFill>
                  <a:srgbClr val="000000"/>
                </a:solidFill>
                <a:highlight>
                  <a:srgbClr val="00FFFF"/>
                </a:highlight>
              </a:rPr>
              <a:t>. </a:t>
            </a:r>
            <a:endParaRPr lang="en-US">
              <a:solidFill>
                <a:srgbClr val="000000"/>
              </a:solidFill>
              <a:highlight>
                <a:srgbClr val="00FFFF"/>
              </a:highlight>
            </a:endParaRPr>
          </a:p>
          <a:p>
            <a:endParaRPr lang="fr-FR">
              <a:solidFill>
                <a:srgbClr val="000000"/>
              </a:solidFill>
              <a:highlight>
                <a:srgbClr val="00FFFF"/>
              </a:highlight>
            </a:endParaRPr>
          </a:p>
          <a:p>
            <a:pPr marL="171450" indent="-171450">
              <a:buFont typeface="Calibri"/>
              <a:buChar char="-"/>
            </a:pPr>
            <a:r>
              <a:rPr lang="fr-FR">
                <a:solidFill>
                  <a:srgbClr val="000000"/>
                </a:solidFill>
                <a:highlight>
                  <a:srgbClr val="00FFFF"/>
                </a:highlight>
              </a:rPr>
              <a:t>Pour la reconversion </a:t>
            </a:r>
            <a:r>
              <a:rPr lang="fr-FR" u="sng">
                <a:solidFill>
                  <a:srgbClr val="000000"/>
                </a:solidFill>
                <a:highlight>
                  <a:srgbClr val="00FFFF"/>
                </a:highlight>
              </a:rPr>
              <a:t>externe</a:t>
            </a:r>
            <a:r>
              <a:rPr lang="fr-FR">
                <a:solidFill>
                  <a:srgbClr val="000000"/>
                </a:solidFill>
                <a:highlight>
                  <a:srgbClr val="00FFFF"/>
                </a:highlight>
              </a:rPr>
              <a:t>, l’OPCO peut financer le différentiel de rémunération entre l’entreprise d’origine et d’accueil </a:t>
            </a:r>
            <a:br>
              <a:rPr lang="fr-FR">
                <a:highlight>
                  <a:srgbClr val="00FFFF"/>
                </a:highlight>
                <a:cs typeface="+mn-lt"/>
              </a:rPr>
            </a:br>
            <a:endParaRPr lang="fr-FR">
              <a:highlight>
                <a:srgbClr val="00FFFF"/>
              </a:highlight>
            </a:endParaRPr>
          </a:p>
          <a:p>
            <a:endParaRPr lang="fr-FR" b="1">
              <a:highlight>
                <a:srgbClr val="00FFFF"/>
              </a:highlight>
            </a:endParaRPr>
          </a:p>
          <a:p>
            <a:pPr>
              <a:buFont typeface="Arial,Sans-Serif"/>
            </a:pPr>
            <a:br>
              <a:rPr lang="fr-FR">
                <a:highlight>
                  <a:srgbClr val="00FFFF"/>
                </a:highlight>
                <a:cs typeface="+mn-lt"/>
              </a:rPr>
            </a:br>
            <a:r>
              <a:rPr lang="fr-FR">
                <a:highlight>
                  <a:srgbClr val="00FFFF"/>
                </a:highlight>
              </a:rPr>
              <a:t>Le salarié peut cofinancer la formation via son CPF, avec son accord : </a:t>
            </a:r>
            <a:r>
              <a:rPr lang="en-US">
                <a:highlight>
                  <a:srgbClr val="00FFFF"/>
                </a:highlight>
              </a:rPr>
              <a:t> </a:t>
            </a:r>
            <a:endParaRPr lang="en-US">
              <a:solidFill>
                <a:srgbClr val="444444"/>
              </a:solidFill>
              <a:highlight>
                <a:srgbClr val="00FFFF"/>
              </a:highlight>
            </a:endParaRPr>
          </a:p>
          <a:p>
            <a:pPr marL="285750" indent="-285750">
              <a:buFont typeface="Calibri"/>
              <a:buChar char="-"/>
            </a:pPr>
            <a:r>
              <a:rPr lang="fr-FR">
                <a:highlight>
                  <a:srgbClr val="00FFFF"/>
                </a:highlight>
              </a:rPr>
              <a:t>jusqu’à </a:t>
            </a:r>
            <a:r>
              <a:rPr lang="fr-FR" b="1">
                <a:highlight>
                  <a:srgbClr val="00FFFF"/>
                </a:highlight>
              </a:rPr>
              <a:t>50%</a:t>
            </a:r>
            <a:r>
              <a:rPr lang="fr-FR">
                <a:highlight>
                  <a:srgbClr val="00FFFF"/>
                </a:highlight>
              </a:rPr>
              <a:t> des droits pour une reconversion </a:t>
            </a:r>
            <a:r>
              <a:rPr lang="fr-FR" u="sng">
                <a:highlight>
                  <a:srgbClr val="00FFFF"/>
                </a:highlight>
              </a:rPr>
              <a:t>interne</a:t>
            </a:r>
            <a:r>
              <a:rPr lang="fr-FR">
                <a:highlight>
                  <a:srgbClr val="00FFFF"/>
                </a:highlight>
              </a:rPr>
              <a:t>, </a:t>
            </a:r>
            <a:r>
              <a:rPr lang="en-US">
                <a:highlight>
                  <a:srgbClr val="00FFFF"/>
                </a:highlight>
              </a:rPr>
              <a:t> </a:t>
            </a:r>
            <a:endParaRPr lang="en-US">
              <a:solidFill>
                <a:srgbClr val="444444"/>
              </a:solidFill>
              <a:highlight>
                <a:srgbClr val="00FFFF"/>
              </a:highlight>
            </a:endParaRPr>
          </a:p>
          <a:p>
            <a:pPr marL="285750" indent="-285750">
              <a:buFont typeface="Calibri"/>
              <a:buChar char="-"/>
            </a:pPr>
            <a:r>
              <a:rPr lang="fr-FR">
                <a:highlight>
                  <a:srgbClr val="00FFFF"/>
                </a:highlight>
              </a:rPr>
              <a:t>jusqu’à </a:t>
            </a:r>
            <a:r>
              <a:rPr lang="fr-FR" b="1">
                <a:highlight>
                  <a:srgbClr val="00FFFF"/>
                </a:highlight>
              </a:rPr>
              <a:t>100%</a:t>
            </a:r>
            <a:r>
              <a:rPr lang="fr-FR">
                <a:highlight>
                  <a:srgbClr val="00FFFF"/>
                </a:highlight>
              </a:rPr>
              <a:t> des droits pour une reconversion </a:t>
            </a:r>
            <a:r>
              <a:rPr lang="fr-FR" u="sng">
                <a:highlight>
                  <a:srgbClr val="00FFFF"/>
                </a:highlight>
              </a:rPr>
              <a:t>externe</a:t>
            </a:r>
            <a:r>
              <a:rPr lang="fr-FR">
                <a:highlight>
                  <a:srgbClr val="00FFFF"/>
                </a:highlight>
              </a:rPr>
              <a:t>. </a:t>
            </a:r>
          </a:p>
        </p:txBody>
      </p:sp>
      <p:sp>
        <p:nvSpPr>
          <p:cNvPr id="4" name="Espace réservé du numéro de diapositive 3">
            <a:extLst>
              <a:ext uri="{FF2B5EF4-FFF2-40B4-BE49-F238E27FC236}">
                <a16:creationId xmlns:a16="http://schemas.microsoft.com/office/drawing/2014/main" id="{382DFCE8-9BA0-1BB3-3C74-BA0C6D91D69D}"/>
              </a:ext>
            </a:extLst>
          </p:cNvPr>
          <p:cNvSpPr>
            <a:spLocks noGrp="1"/>
          </p:cNvSpPr>
          <p:nvPr>
            <p:ph type="sldNum" sz="quarter" idx="5"/>
          </p:nvPr>
        </p:nvSpPr>
        <p:spPr/>
        <p:txBody>
          <a:bodyPr/>
          <a:lstStyle/>
          <a:p>
            <a:fld id="{7588CE97-4D95-4093-964B-F0E24615FF45}" type="slidenum">
              <a:rPr lang="fr-FR" smtClean="0"/>
              <a:t>24</a:t>
            </a:fld>
            <a:endParaRPr lang="fr-FR"/>
          </a:p>
        </p:txBody>
      </p:sp>
    </p:spTree>
    <p:extLst>
      <p:ext uri="{BB962C8B-B14F-4D97-AF65-F5344CB8AC3E}">
        <p14:creationId xmlns:p14="http://schemas.microsoft.com/office/powerpoint/2010/main" val="42487633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F6148-E162-0A67-C415-66EC1D87ABD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06B772E-936B-700C-4DD3-D6A1DB28187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76D5D45-D52D-CD69-C87D-929F0D665A02}"/>
              </a:ext>
            </a:extLst>
          </p:cNvPr>
          <p:cNvSpPr>
            <a:spLocks noGrp="1"/>
          </p:cNvSpPr>
          <p:nvPr>
            <p:ph type="body" idx="1"/>
          </p:nvPr>
        </p:nvSpPr>
        <p:spPr/>
        <p:txBody>
          <a:bodyPr/>
          <a:lstStyle/>
          <a:p>
            <a:r>
              <a:rPr lang="fr-FR"/>
              <a:t>Cette actualité concerne les règles d'indemnisation de l'assurance chômage à la suite d'une rupture conventionnelle. </a:t>
            </a:r>
          </a:p>
          <a:p>
            <a:endParaRPr lang="fr-FR"/>
          </a:p>
          <a:p>
            <a:r>
              <a:rPr lang="fr-FR"/>
              <a:t>La loi a été adopté le mois dernier, et elle prévoit de réduire la durée d'indemnisation de certaines catégories de demandeurs d'emploi pour favoriser un retour plus rapide à l'emploi. </a:t>
            </a:r>
          </a:p>
          <a:p>
            <a:endParaRPr lang="fr-FR"/>
          </a:p>
          <a:p>
            <a:r>
              <a:rPr lang="fr-FR"/>
              <a:t>Les allocataires de moins de 55 ans voient leur durée maximale d'indemnisation réduire de 3 mois, nous passons de 18 mois à 15 mois. </a:t>
            </a:r>
          </a:p>
          <a:p>
            <a:endParaRPr lang="fr-FR"/>
          </a:p>
          <a:p>
            <a:r>
              <a:rPr lang="fr-FR"/>
              <a:t>Ensuite, pour les allocataires entre 55 ans et 57 ans,  la durée d'indemnisation maximale est réduite de 2 mois, passant de 22,50 mois à 20,50 mois. </a:t>
            </a:r>
          </a:p>
          <a:p>
            <a:endParaRPr lang="fr-FR"/>
          </a:p>
          <a:p>
            <a:r>
              <a:rPr lang="fr-FR"/>
              <a:t>Et enfin, pour les allocataires âgés de 57 ans ou plus, la durée passe de 27 mois à 20,50 mois, ce qui est fortement réduit. </a:t>
            </a:r>
          </a:p>
          <a:p>
            <a:endParaRPr lang="fr-FR"/>
          </a:p>
          <a:p>
            <a:br>
              <a:rPr lang="fr-FR">
                <a:cs typeface="+mn-lt"/>
              </a:rPr>
            </a:br>
            <a:r>
              <a:rPr lang="fr-FR"/>
              <a:t>Lorsque vous envisagez une rupture conventionnelle, il faut bien évoquer les conséquences de la rupture du contrat. </a:t>
            </a:r>
          </a:p>
        </p:txBody>
      </p:sp>
      <p:sp>
        <p:nvSpPr>
          <p:cNvPr id="4" name="Espace réservé du numéro de diapositive 3">
            <a:extLst>
              <a:ext uri="{FF2B5EF4-FFF2-40B4-BE49-F238E27FC236}">
                <a16:creationId xmlns:a16="http://schemas.microsoft.com/office/drawing/2014/main" id="{7C1ABE4B-49C4-E118-A089-19CE849103C0}"/>
              </a:ext>
            </a:extLst>
          </p:cNvPr>
          <p:cNvSpPr>
            <a:spLocks noGrp="1"/>
          </p:cNvSpPr>
          <p:nvPr>
            <p:ph type="sldNum" sz="quarter" idx="5"/>
          </p:nvPr>
        </p:nvSpPr>
        <p:spPr/>
        <p:txBody>
          <a:bodyPr/>
          <a:lstStyle/>
          <a:p>
            <a:fld id="{7588CE97-4D95-4093-964B-F0E24615FF45}" type="slidenum">
              <a:rPr lang="fr-FR" smtClean="0"/>
              <a:t>26</a:t>
            </a:fld>
            <a:endParaRPr lang="fr-FR"/>
          </a:p>
        </p:txBody>
      </p:sp>
    </p:spTree>
    <p:extLst>
      <p:ext uri="{BB962C8B-B14F-4D97-AF65-F5344CB8AC3E}">
        <p14:creationId xmlns:p14="http://schemas.microsoft.com/office/powerpoint/2010/main" val="2770492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Nous </a:t>
            </a:r>
            <a:r>
              <a:rPr lang="en-US" err="1">
                <a:latin typeface="Calibri"/>
                <a:ea typeface="Calibri"/>
                <a:cs typeface="Calibri"/>
              </a:rPr>
              <a:t>avons</a:t>
            </a:r>
            <a:r>
              <a:rPr lang="en-US">
                <a:latin typeface="Calibri"/>
                <a:ea typeface="Calibri"/>
                <a:cs typeface="Calibri"/>
              </a:rPr>
              <a:t> </a:t>
            </a:r>
            <a:r>
              <a:rPr lang="en-US" err="1">
                <a:latin typeface="Calibri"/>
                <a:ea typeface="Calibri"/>
                <a:cs typeface="Calibri"/>
              </a:rPr>
              <a:t>une</a:t>
            </a:r>
            <a:r>
              <a:rPr lang="en-US">
                <a:latin typeface="Calibri"/>
                <a:ea typeface="Calibri"/>
                <a:cs typeface="Calibri"/>
              </a:rPr>
              <a:t> Loi du 25 </a:t>
            </a:r>
            <a:r>
              <a:rPr lang="en-US" err="1">
                <a:latin typeface="Calibri"/>
                <a:ea typeface="Calibri"/>
                <a:cs typeface="Calibri"/>
              </a:rPr>
              <a:t>juin</a:t>
            </a:r>
            <a:r>
              <a:rPr lang="en-US">
                <a:latin typeface="Calibri"/>
                <a:ea typeface="Calibri"/>
                <a:cs typeface="Calibri"/>
              </a:rPr>
              <a:t> 2026 qui vise à </a:t>
            </a:r>
            <a:r>
              <a:rPr lang="en-US" err="1">
                <a:latin typeface="Calibri"/>
                <a:ea typeface="Calibri"/>
                <a:cs typeface="Calibri"/>
              </a:rPr>
              <a:t>renforcer</a:t>
            </a:r>
            <a:r>
              <a:rPr lang="en-US">
                <a:latin typeface="Calibri"/>
                <a:ea typeface="Calibri"/>
                <a:cs typeface="Calibri"/>
              </a:rPr>
              <a:t> les </a:t>
            </a:r>
            <a:r>
              <a:rPr lang="en-US" err="1">
                <a:latin typeface="Calibri"/>
                <a:ea typeface="Calibri"/>
                <a:cs typeface="Calibri"/>
              </a:rPr>
              <a:t>conséquences</a:t>
            </a:r>
            <a:r>
              <a:rPr lang="en-US">
                <a:latin typeface="Calibri"/>
                <a:ea typeface="Calibri"/>
                <a:cs typeface="Calibri"/>
              </a:rPr>
              <a:t> </a:t>
            </a:r>
            <a:r>
              <a:rPr lang="en-US" err="1">
                <a:latin typeface="Calibri"/>
                <a:ea typeface="Calibri"/>
                <a:cs typeface="Calibri"/>
              </a:rPr>
              <a:t>attachées</a:t>
            </a:r>
            <a:r>
              <a:rPr lang="en-US">
                <a:latin typeface="Calibri"/>
                <a:ea typeface="Calibri"/>
                <a:cs typeface="Calibri"/>
              </a:rPr>
              <a:t> à </a:t>
            </a:r>
            <a:r>
              <a:rPr lang="en-US" err="1">
                <a:latin typeface="Calibri"/>
                <a:ea typeface="Calibri"/>
                <a:cs typeface="Calibri"/>
              </a:rPr>
              <a:t>l'absence</a:t>
            </a:r>
            <a:r>
              <a:rPr lang="en-US">
                <a:latin typeface="Calibri"/>
                <a:ea typeface="Calibri"/>
                <a:cs typeface="Calibri"/>
              </a:rPr>
              <a:t> de document unique </a:t>
            </a:r>
            <a:r>
              <a:rPr lang="en-US" err="1">
                <a:latin typeface="Calibri"/>
                <a:ea typeface="Calibri"/>
                <a:cs typeface="Calibri"/>
              </a:rPr>
              <a:t>d'évaluation</a:t>
            </a:r>
            <a:r>
              <a:rPr lang="en-US">
                <a:latin typeface="Calibri"/>
                <a:ea typeface="Calibri"/>
                <a:cs typeface="Calibri"/>
              </a:rPr>
              <a:t> des </a:t>
            </a:r>
            <a:r>
              <a:rPr lang="en-US" err="1">
                <a:latin typeface="Calibri"/>
                <a:ea typeface="Calibri"/>
                <a:cs typeface="Calibri"/>
              </a:rPr>
              <a:t>risques</a:t>
            </a:r>
            <a:r>
              <a:rPr lang="en-US">
                <a:latin typeface="Calibri"/>
                <a:ea typeface="Calibri"/>
                <a:cs typeface="Calibri"/>
              </a:rPr>
              <a:t> </a:t>
            </a:r>
            <a:r>
              <a:rPr lang="en-US" err="1">
                <a:latin typeface="Calibri"/>
                <a:ea typeface="Calibri"/>
                <a:cs typeface="Calibri"/>
              </a:rPr>
              <a:t>professionnels</a:t>
            </a:r>
            <a:r>
              <a:rPr lang="en-US">
                <a:latin typeface="Calibri"/>
                <a:ea typeface="Calibri"/>
                <a:cs typeface="Calibri"/>
              </a:rPr>
              <a:t>. </a:t>
            </a:r>
          </a:p>
          <a:p>
            <a:endParaRPr lang="en-US">
              <a:latin typeface="Calibri"/>
              <a:ea typeface="Calibri"/>
              <a:cs typeface="Calibri"/>
            </a:endParaRPr>
          </a:p>
          <a:p>
            <a:r>
              <a:rPr lang="en-US" err="1">
                <a:latin typeface="Calibri"/>
                <a:ea typeface="Calibri"/>
                <a:cs typeface="Calibri"/>
              </a:rPr>
              <a:t>Désormais</a:t>
            </a:r>
            <a:r>
              <a:rPr lang="en-US">
                <a:latin typeface="Calibri"/>
                <a:ea typeface="Calibri"/>
                <a:cs typeface="Calibri"/>
              </a:rPr>
              <a:t>, </a:t>
            </a:r>
            <a:r>
              <a:rPr lang="en-US" err="1">
                <a:latin typeface="Calibri"/>
                <a:ea typeface="Calibri"/>
                <a:cs typeface="Calibri"/>
              </a:rPr>
              <a:t>lorsqu'est</a:t>
            </a:r>
            <a:r>
              <a:rPr lang="en-US">
                <a:latin typeface="Calibri"/>
                <a:ea typeface="Calibri"/>
                <a:cs typeface="Calibri"/>
              </a:rPr>
              <a:t> </a:t>
            </a:r>
            <a:r>
              <a:rPr lang="en-US" err="1">
                <a:latin typeface="Calibri"/>
                <a:ea typeface="Calibri"/>
                <a:cs typeface="Calibri"/>
              </a:rPr>
              <a:t>constaté</a:t>
            </a:r>
            <a:r>
              <a:rPr lang="en-US">
                <a:latin typeface="Calibri"/>
                <a:ea typeface="Calibri"/>
                <a:cs typeface="Calibri"/>
              </a:rPr>
              <a:t> </a:t>
            </a:r>
            <a:r>
              <a:rPr lang="en-US" err="1">
                <a:latin typeface="Calibri"/>
                <a:ea typeface="Calibri"/>
                <a:cs typeface="Calibri"/>
              </a:rPr>
              <a:t>qu'un</a:t>
            </a:r>
            <a:r>
              <a:rPr lang="en-US">
                <a:latin typeface="Calibri"/>
                <a:ea typeface="Calibri"/>
                <a:cs typeface="Calibri"/>
              </a:rPr>
              <a:t> </a:t>
            </a:r>
            <a:r>
              <a:rPr lang="en-US" err="1">
                <a:latin typeface="Calibri"/>
                <a:ea typeface="Calibri"/>
                <a:cs typeface="Calibri"/>
              </a:rPr>
              <a:t>employeur</a:t>
            </a:r>
            <a:r>
              <a:rPr lang="en-US">
                <a:latin typeface="Calibri"/>
                <a:ea typeface="Calibri"/>
                <a:cs typeface="Calibri"/>
              </a:rPr>
              <a:t> </a:t>
            </a:r>
            <a:r>
              <a:rPr lang="en-US" err="1">
                <a:latin typeface="Calibri"/>
                <a:ea typeface="Calibri"/>
                <a:cs typeface="Calibri"/>
              </a:rPr>
              <a:t>n'a</a:t>
            </a:r>
            <a:r>
              <a:rPr lang="en-US">
                <a:latin typeface="Calibri"/>
                <a:ea typeface="Calibri"/>
                <a:cs typeface="Calibri"/>
              </a:rPr>
              <a:t> pas </a:t>
            </a:r>
            <a:r>
              <a:rPr lang="en-US" err="1">
                <a:latin typeface="Calibri"/>
                <a:ea typeface="Calibri"/>
                <a:cs typeface="Calibri"/>
              </a:rPr>
              <a:t>établi</a:t>
            </a:r>
            <a:r>
              <a:rPr lang="en-US">
                <a:latin typeface="Calibri"/>
                <a:ea typeface="Calibri"/>
                <a:cs typeface="Calibri"/>
              </a:rPr>
              <a:t> son DUERP, </a:t>
            </a:r>
            <a:r>
              <a:rPr lang="en-US" err="1">
                <a:latin typeface="Calibri"/>
                <a:ea typeface="Calibri"/>
                <a:cs typeface="Calibri"/>
              </a:rPr>
              <a:t>l'inspection</a:t>
            </a:r>
            <a:r>
              <a:rPr lang="en-US">
                <a:latin typeface="Calibri"/>
                <a:ea typeface="Calibri"/>
                <a:cs typeface="Calibri"/>
              </a:rPr>
              <a:t> du travail </a:t>
            </a:r>
            <a:r>
              <a:rPr lang="en-US" err="1">
                <a:latin typeface="Calibri"/>
                <a:ea typeface="Calibri"/>
                <a:cs typeface="Calibri"/>
              </a:rPr>
              <a:t>pourra</a:t>
            </a:r>
            <a:r>
              <a:rPr lang="en-US">
                <a:latin typeface="Calibri"/>
                <a:ea typeface="Calibri"/>
                <a:cs typeface="Calibri"/>
              </a:rPr>
              <a:t> soit </a:t>
            </a:r>
            <a:r>
              <a:rPr lang="en-US" err="1">
                <a:latin typeface="Calibri"/>
                <a:ea typeface="Calibri"/>
                <a:cs typeface="Calibri"/>
              </a:rPr>
              <a:t>adresser</a:t>
            </a:r>
            <a:r>
              <a:rPr lang="en-US">
                <a:latin typeface="Calibri"/>
                <a:ea typeface="Calibri"/>
                <a:cs typeface="Calibri"/>
              </a:rPr>
              <a:t> un </a:t>
            </a:r>
            <a:r>
              <a:rPr lang="en-US" err="1">
                <a:latin typeface="Calibri"/>
                <a:ea typeface="Calibri"/>
                <a:cs typeface="Calibri"/>
              </a:rPr>
              <a:t>avertissement</a:t>
            </a:r>
            <a:r>
              <a:rPr lang="en-US">
                <a:latin typeface="Calibri"/>
                <a:ea typeface="Calibri"/>
                <a:cs typeface="Calibri"/>
              </a:rPr>
              <a:t>, soit </a:t>
            </a:r>
            <a:r>
              <a:rPr lang="en-US" err="1">
                <a:latin typeface="Calibri"/>
                <a:ea typeface="Calibri"/>
                <a:cs typeface="Calibri"/>
              </a:rPr>
              <a:t>prononcer</a:t>
            </a:r>
            <a:r>
              <a:rPr lang="en-US">
                <a:latin typeface="Calibri"/>
                <a:ea typeface="Calibri"/>
                <a:cs typeface="Calibri"/>
              </a:rPr>
              <a:t> </a:t>
            </a:r>
            <a:r>
              <a:rPr lang="en-US" err="1">
                <a:latin typeface="Calibri"/>
                <a:ea typeface="Calibri"/>
                <a:cs typeface="Calibri"/>
              </a:rPr>
              <a:t>une</a:t>
            </a:r>
            <a:r>
              <a:rPr lang="en-US">
                <a:latin typeface="Calibri"/>
                <a:ea typeface="Calibri"/>
                <a:cs typeface="Calibri"/>
              </a:rPr>
              <a:t> </a:t>
            </a:r>
            <a:r>
              <a:rPr lang="en-US" err="1">
                <a:latin typeface="Calibri"/>
                <a:ea typeface="Calibri"/>
                <a:cs typeface="Calibri"/>
              </a:rPr>
              <a:t>amende</a:t>
            </a:r>
            <a:r>
              <a:rPr lang="en-US">
                <a:latin typeface="Calibri"/>
                <a:ea typeface="Calibri"/>
                <a:cs typeface="Calibri"/>
              </a:rPr>
              <a:t> administrative, à condition </a:t>
            </a:r>
            <a:r>
              <a:rPr lang="en-US" err="1">
                <a:latin typeface="Calibri"/>
                <a:ea typeface="Calibri"/>
                <a:cs typeface="Calibri"/>
              </a:rPr>
              <a:t>qu'aucune</a:t>
            </a:r>
            <a:r>
              <a:rPr lang="en-US">
                <a:latin typeface="Calibri"/>
                <a:ea typeface="Calibri"/>
                <a:cs typeface="Calibri"/>
              </a:rPr>
              <a:t> </a:t>
            </a:r>
            <a:r>
              <a:rPr lang="en-US" err="1">
                <a:latin typeface="Calibri"/>
                <a:ea typeface="Calibri"/>
                <a:cs typeface="Calibri"/>
              </a:rPr>
              <a:t>poursuite</a:t>
            </a:r>
            <a:r>
              <a:rPr lang="en-US">
                <a:latin typeface="Calibri"/>
                <a:ea typeface="Calibri"/>
                <a:cs typeface="Calibri"/>
              </a:rPr>
              <a:t> </a:t>
            </a:r>
            <a:r>
              <a:rPr lang="en-US" err="1">
                <a:latin typeface="Calibri"/>
                <a:ea typeface="Calibri"/>
                <a:cs typeface="Calibri"/>
              </a:rPr>
              <a:t>pénale</a:t>
            </a:r>
            <a:r>
              <a:rPr lang="en-US">
                <a:latin typeface="Calibri"/>
                <a:ea typeface="Calibri"/>
                <a:cs typeface="Calibri"/>
              </a:rPr>
              <a:t> ne soit </a:t>
            </a:r>
            <a:r>
              <a:rPr lang="en-US" err="1">
                <a:latin typeface="Calibri"/>
                <a:ea typeface="Calibri"/>
                <a:cs typeface="Calibri"/>
              </a:rPr>
              <a:t>engagée</a:t>
            </a:r>
            <a:r>
              <a:rPr lang="en-US">
                <a:latin typeface="Calibri"/>
                <a:ea typeface="Calibri"/>
                <a:cs typeface="Calibri"/>
              </a:rPr>
              <a:t>. </a:t>
            </a:r>
          </a:p>
          <a:p>
            <a:endParaRPr lang="en-US">
              <a:latin typeface="Calibri"/>
              <a:ea typeface="Calibri"/>
              <a:cs typeface="Calibri"/>
            </a:endParaRPr>
          </a:p>
          <a:p>
            <a:r>
              <a:rPr lang="en-US">
                <a:latin typeface="Calibri"/>
                <a:ea typeface="Calibri"/>
                <a:cs typeface="Calibri"/>
              </a:rPr>
              <a:t>Cette </a:t>
            </a:r>
            <a:r>
              <a:rPr lang="en-US" err="1">
                <a:latin typeface="Calibri"/>
                <a:ea typeface="Calibri"/>
                <a:cs typeface="Calibri"/>
              </a:rPr>
              <a:t>amende</a:t>
            </a:r>
            <a:r>
              <a:rPr lang="en-US">
                <a:latin typeface="Calibri"/>
                <a:ea typeface="Calibri"/>
                <a:cs typeface="Calibri"/>
              </a:rPr>
              <a:t> est </a:t>
            </a:r>
            <a:r>
              <a:rPr lang="en-US" err="1">
                <a:latin typeface="Calibri"/>
                <a:ea typeface="Calibri"/>
                <a:cs typeface="Calibri"/>
              </a:rPr>
              <a:t>calculée</a:t>
            </a:r>
            <a:r>
              <a:rPr lang="en-US">
                <a:latin typeface="Calibri"/>
                <a:ea typeface="Calibri"/>
                <a:cs typeface="Calibri"/>
              </a:rPr>
              <a:t> par </a:t>
            </a:r>
            <a:r>
              <a:rPr lang="en-US" err="1">
                <a:latin typeface="Calibri"/>
                <a:ea typeface="Calibri"/>
                <a:cs typeface="Calibri"/>
              </a:rPr>
              <a:t>salarié</a:t>
            </a:r>
            <a:r>
              <a:rPr lang="en-US">
                <a:latin typeface="Calibri"/>
                <a:ea typeface="Calibri"/>
                <a:cs typeface="Calibri"/>
              </a:rPr>
              <a:t> </a:t>
            </a:r>
            <a:r>
              <a:rPr lang="en-US" err="1">
                <a:latin typeface="Calibri"/>
                <a:ea typeface="Calibri"/>
                <a:cs typeface="Calibri"/>
              </a:rPr>
              <a:t>concerné</a:t>
            </a:r>
            <a:r>
              <a:rPr lang="en-US">
                <a:latin typeface="Calibri"/>
                <a:ea typeface="Calibri"/>
                <a:cs typeface="Calibri"/>
              </a:rPr>
              <a:t>. Son </a:t>
            </a:r>
            <a:r>
              <a:rPr lang="en-US" err="1">
                <a:latin typeface="Calibri"/>
                <a:ea typeface="Calibri"/>
                <a:cs typeface="Calibri"/>
              </a:rPr>
              <a:t>montant</a:t>
            </a:r>
            <a:r>
              <a:rPr lang="en-US">
                <a:latin typeface="Calibri"/>
                <a:ea typeface="Calibri"/>
                <a:cs typeface="Calibri"/>
              </a:rPr>
              <a:t> </a:t>
            </a:r>
            <a:r>
              <a:rPr lang="en-US" err="1">
                <a:latin typeface="Calibri"/>
                <a:ea typeface="Calibri"/>
                <a:cs typeface="Calibri"/>
              </a:rPr>
              <a:t>peut</a:t>
            </a:r>
            <a:r>
              <a:rPr lang="en-US">
                <a:latin typeface="Calibri"/>
                <a:ea typeface="Calibri"/>
                <a:cs typeface="Calibri"/>
              </a:rPr>
              <a:t> </a:t>
            </a:r>
            <a:r>
              <a:rPr lang="en-US" err="1">
                <a:latin typeface="Calibri"/>
                <a:ea typeface="Calibri"/>
                <a:cs typeface="Calibri"/>
              </a:rPr>
              <a:t>donc</a:t>
            </a:r>
            <a:r>
              <a:rPr lang="en-US">
                <a:latin typeface="Calibri"/>
                <a:ea typeface="Calibri"/>
                <a:cs typeface="Calibri"/>
              </a:rPr>
              <a:t> </a:t>
            </a:r>
            <a:r>
              <a:rPr lang="en-US" err="1">
                <a:latin typeface="Calibri"/>
                <a:ea typeface="Calibri"/>
                <a:cs typeface="Calibri"/>
              </a:rPr>
              <a:t>rapidement</a:t>
            </a:r>
            <a:r>
              <a:rPr lang="en-US">
                <a:latin typeface="Calibri"/>
                <a:ea typeface="Calibri"/>
                <a:cs typeface="Calibri"/>
              </a:rPr>
              <a:t> </a:t>
            </a:r>
            <a:r>
              <a:rPr lang="en-US" err="1">
                <a:latin typeface="Calibri"/>
                <a:ea typeface="Calibri"/>
                <a:cs typeface="Calibri"/>
              </a:rPr>
              <a:t>devenir</a:t>
            </a:r>
            <a:r>
              <a:rPr lang="en-US">
                <a:latin typeface="Calibri"/>
                <a:ea typeface="Calibri"/>
                <a:cs typeface="Calibri"/>
              </a:rPr>
              <a:t> important et il est </a:t>
            </a:r>
            <a:r>
              <a:rPr lang="en-US" err="1">
                <a:latin typeface="Calibri"/>
                <a:ea typeface="Calibri"/>
                <a:cs typeface="Calibri"/>
              </a:rPr>
              <a:t>majoré</a:t>
            </a:r>
            <a:r>
              <a:rPr lang="en-US">
                <a:latin typeface="Calibri"/>
                <a:ea typeface="Calibri"/>
                <a:cs typeface="Calibri"/>
              </a:rPr>
              <a:t> </a:t>
            </a:r>
            <a:r>
              <a:rPr lang="en-US" err="1">
                <a:latin typeface="Calibri"/>
                <a:ea typeface="Calibri"/>
                <a:cs typeface="Calibri"/>
              </a:rPr>
              <a:t>en</a:t>
            </a:r>
            <a:r>
              <a:rPr lang="en-US">
                <a:latin typeface="Calibri"/>
                <a:ea typeface="Calibri"/>
                <a:cs typeface="Calibri"/>
              </a:rPr>
              <a:t> </a:t>
            </a:r>
            <a:r>
              <a:rPr lang="en-US" err="1">
                <a:latin typeface="Calibri"/>
                <a:ea typeface="Calibri"/>
                <a:cs typeface="Calibri"/>
              </a:rPr>
              <a:t>cas</a:t>
            </a:r>
            <a:r>
              <a:rPr lang="en-US">
                <a:latin typeface="Calibri"/>
                <a:ea typeface="Calibri"/>
                <a:cs typeface="Calibri"/>
              </a:rPr>
              <a:t> de </a:t>
            </a:r>
            <a:r>
              <a:rPr lang="en-US" err="1">
                <a:latin typeface="Calibri"/>
                <a:ea typeface="Calibri"/>
                <a:cs typeface="Calibri"/>
              </a:rPr>
              <a:t>récidive</a:t>
            </a:r>
            <a:r>
              <a:rPr lang="en-US">
                <a:latin typeface="Calibri"/>
                <a:ea typeface="Calibri"/>
                <a:cs typeface="Calibri"/>
              </a:rPr>
              <a:t>. </a:t>
            </a:r>
          </a:p>
          <a:p>
            <a:r>
              <a:rPr lang="en-US">
                <a:latin typeface="Calibri"/>
                <a:ea typeface="Calibri"/>
                <a:cs typeface="Calibri"/>
              </a:rPr>
              <a:t>À la base, </a:t>
            </a:r>
            <a:r>
              <a:rPr lang="en-US" err="1">
                <a:latin typeface="Calibri"/>
                <a:ea typeface="Calibri"/>
                <a:cs typeface="Calibri"/>
              </a:rPr>
              <a:t>c'est</a:t>
            </a:r>
            <a:r>
              <a:rPr lang="en-US">
                <a:latin typeface="Calibri"/>
                <a:ea typeface="Calibri"/>
                <a:cs typeface="Calibri"/>
              </a:rPr>
              <a:t> 4 000 € par </a:t>
            </a:r>
            <a:r>
              <a:rPr lang="en-US" err="1">
                <a:latin typeface="Calibri"/>
                <a:ea typeface="Calibri"/>
                <a:cs typeface="Calibri"/>
              </a:rPr>
              <a:t>salarié</a:t>
            </a:r>
            <a:r>
              <a:rPr lang="en-US">
                <a:latin typeface="Calibri"/>
                <a:ea typeface="Calibri"/>
                <a:cs typeface="Calibri"/>
              </a:rPr>
              <a:t>. </a:t>
            </a:r>
          </a:p>
          <a:p>
            <a:endParaRPr lang="en-US">
              <a:latin typeface="Calibri"/>
              <a:ea typeface="Calibri"/>
              <a:cs typeface="Calibri"/>
            </a:endParaRPr>
          </a:p>
          <a:p>
            <a:endParaRPr lang="en-US">
              <a:latin typeface="Calibri"/>
              <a:ea typeface="Calibri"/>
              <a:cs typeface="Calibri"/>
            </a:endParaRPr>
          </a:p>
          <a:p>
            <a:r>
              <a:rPr lang="en-US">
                <a:latin typeface="Calibri"/>
                <a:ea typeface="Calibri"/>
                <a:cs typeface="Calibri"/>
              </a:rPr>
              <a:t>Suite à </a:t>
            </a:r>
            <a:r>
              <a:rPr lang="en-US" err="1">
                <a:latin typeface="Calibri"/>
                <a:ea typeface="Calibri"/>
                <a:cs typeface="Calibri"/>
              </a:rPr>
              <a:t>cette</a:t>
            </a:r>
            <a:r>
              <a:rPr lang="en-US">
                <a:latin typeface="Calibri"/>
                <a:ea typeface="Calibri"/>
                <a:cs typeface="Calibri"/>
              </a:rPr>
              <a:t> nouvelle </a:t>
            </a:r>
            <a:r>
              <a:rPr lang="en-US" err="1">
                <a:latin typeface="Calibri"/>
                <a:ea typeface="Calibri"/>
                <a:cs typeface="Calibri"/>
              </a:rPr>
              <a:t>législation</a:t>
            </a:r>
            <a:r>
              <a:rPr lang="en-US">
                <a:latin typeface="Calibri"/>
                <a:ea typeface="Calibri"/>
                <a:cs typeface="Calibri"/>
              </a:rPr>
              <a:t>, nous vous </a:t>
            </a:r>
            <a:r>
              <a:rPr lang="en-US" err="1">
                <a:latin typeface="Calibri"/>
                <a:ea typeface="Calibri"/>
                <a:cs typeface="Calibri"/>
              </a:rPr>
              <a:t>invitons</a:t>
            </a:r>
            <a:r>
              <a:rPr lang="en-US">
                <a:latin typeface="Calibri"/>
                <a:ea typeface="Calibri"/>
                <a:cs typeface="Calibri"/>
              </a:rPr>
              <a:t> à </a:t>
            </a:r>
            <a:r>
              <a:rPr lang="en-US" err="1">
                <a:latin typeface="Calibri"/>
                <a:ea typeface="Calibri"/>
                <a:cs typeface="Calibri"/>
              </a:rPr>
              <a:t>être</a:t>
            </a:r>
            <a:r>
              <a:rPr lang="en-US">
                <a:latin typeface="Calibri"/>
                <a:ea typeface="Calibri"/>
                <a:cs typeface="Calibri"/>
              </a:rPr>
              <a:t> </a:t>
            </a:r>
            <a:r>
              <a:rPr lang="en-US" err="1">
                <a:latin typeface="Calibri"/>
                <a:ea typeface="Calibri"/>
                <a:cs typeface="Calibri"/>
              </a:rPr>
              <a:t>vigilants</a:t>
            </a:r>
            <a:r>
              <a:rPr lang="en-US">
                <a:latin typeface="Calibri"/>
                <a:ea typeface="Calibri"/>
                <a:cs typeface="Calibri"/>
              </a:rPr>
              <a:t> sur </a:t>
            </a:r>
            <a:r>
              <a:rPr lang="en-US" err="1">
                <a:latin typeface="Calibri"/>
                <a:ea typeface="Calibri"/>
                <a:cs typeface="Calibri"/>
              </a:rPr>
              <a:t>l'établissement</a:t>
            </a:r>
            <a:r>
              <a:rPr lang="en-US">
                <a:latin typeface="Calibri"/>
                <a:ea typeface="Calibri"/>
                <a:cs typeface="Calibri"/>
              </a:rPr>
              <a:t> et la mise à jour de </a:t>
            </a:r>
            <a:r>
              <a:rPr lang="en-US" err="1">
                <a:latin typeface="Calibri"/>
                <a:ea typeface="Calibri"/>
                <a:cs typeface="Calibri"/>
              </a:rPr>
              <a:t>votre</a:t>
            </a:r>
            <a:r>
              <a:rPr lang="en-US">
                <a:latin typeface="Calibri"/>
                <a:ea typeface="Calibri"/>
                <a:cs typeface="Calibri"/>
              </a:rPr>
              <a:t> DUERP. </a:t>
            </a:r>
          </a:p>
          <a:p>
            <a:endParaRPr lang="en-US">
              <a:latin typeface="Calibri"/>
              <a:ea typeface="Calibri"/>
              <a:cs typeface="Calibri"/>
            </a:endParaRPr>
          </a:p>
          <a:p>
            <a:endParaRPr lang="en-US">
              <a:latin typeface="Calibri"/>
              <a:ea typeface="Calibri"/>
              <a:cs typeface="Calibri"/>
            </a:endParaRPr>
          </a:p>
          <a:p>
            <a:r>
              <a:rPr lang="en-US" u="sng">
                <a:latin typeface="Calibri"/>
                <a:ea typeface="Calibri"/>
                <a:cs typeface="Calibri"/>
              </a:rPr>
              <a:t>TRANSITION </a:t>
            </a:r>
            <a:r>
              <a:rPr lang="en-US">
                <a:latin typeface="Calibri"/>
                <a:ea typeface="Calibri"/>
                <a:cs typeface="Calibri"/>
              </a:rPr>
              <a:t>: Je laisse la main à Lucile qui vous </a:t>
            </a:r>
            <a:r>
              <a:rPr lang="en-US" err="1">
                <a:latin typeface="Calibri"/>
                <a:ea typeface="Calibri"/>
                <a:cs typeface="Calibri"/>
              </a:rPr>
              <a:t>présentera</a:t>
            </a:r>
            <a:r>
              <a:rPr lang="en-US">
                <a:latin typeface="Calibri"/>
                <a:ea typeface="Calibri"/>
                <a:cs typeface="Calibri"/>
              </a:rPr>
              <a:t> </a:t>
            </a:r>
            <a:r>
              <a:rPr lang="en-US" err="1">
                <a:latin typeface="Calibri"/>
                <a:ea typeface="Calibri"/>
                <a:cs typeface="Calibri"/>
              </a:rPr>
              <a:t>l'actualité</a:t>
            </a:r>
            <a:r>
              <a:rPr lang="en-US">
                <a:latin typeface="Calibri"/>
                <a:ea typeface="Calibri"/>
                <a:cs typeface="Calibri"/>
              </a:rPr>
              <a:t> </a:t>
            </a:r>
            <a:r>
              <a:rPr lang="en-US" err="1">
                <a:latin typeface="Calibri"/>
                <a:ea typeface="Calibri"/>
                <a:cs typeface="Calibri"/>
              </a:rPr>
              <a:t>jurisprudentielle</a:t>
            </a:r>
            <a:r>
              <a:rPr lang="en-US">
                <a:latin typeface="Calibri"/>
                <a:ea typeface="Calibri"/>
                <a:cs typeface="Calibri"/>
              </a:rPr>
              <a:t>. </a:t>
            </a:r>
          </a:p>
        </p:txBody>
      </p:sp>
      <p:sp>
        <p:nvSpPr>
          <p:cNvPr id="4" name="Slide Number Placeholder 3"/>
          <p:cNvSpPr>
            <a:spLocks noGrp="1"/>
          </p:cNvSpPr>
          <p:nvPr>
            <p:ph type="sldNum" sz="quarter" idx="5"/>
          </p:nvPr>
        </p:nvSpPr>
        <p:spPr/>
        <p:txBody>
          <a:bodyPr/>
          <a:lstStyle/>
          <a:p>
            <a:fld id="{0910B20E-BFE3-41E1-A49B-15A522566010}" type="slidenum">
              <a:rPr lang="fr-FR" smtClean="0"/>
              <a:t>28</a:t>
            </a:fld>
            <a:endParaRPr lang="fr-FR"/>
          </a:p>
        </p:txBody>
      </p:sp>
    </p:spTree>
    <p:extLst>
      <p:ext uri="{BB962C8B-B14F-4D97-AF65-F5344CB8AC3E}">
        <p14:creationId xmlns:p14="http://schemas.microsoft.com/office/powerpoint/2010/main" val="1254935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latin typeface="Calibri"/>
                <a:ea typeface="Calibri"/>
                <a:cs typeface="Calibri"/>
              </a:rPr>
              <a:t>Remerciements</a:t>
            </a:r>
            <a:r>
              <a:rPr lang="en-US">
                <a:latin typeface="Calibri"/>
                <a:ea typeface="Calibri"/>
                <a:cs typeface="Calibri"/>
              </a:rPr>
              <a:t> </a:t>
            </a:r>
            <a:r>
              <a:rPr lang="en-US" err="1">
                <a:latin typeface="Calibri"/>
                <a:ea typeface="Calibri"/>
                <a:cs typeface="Calibri"/>
              </a:rPr>
              <a:t>anais</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0910B20E-BFE3-41E1-A49B-15A522566010}" type="slidenum">
              <a:rPr lang="fr-FR" smtClean="0"/>
              <a:t>29</a:t>
            </a:fld>
            <a:endParaRPr lang="fr-FR"/>
          </a:p>
        </p:txBody>
      </p:sp>
    </p:spTree>
    <p:extLst>
      <p:ext uri="{BB962C8B-B14F-4D97-AF65-F5344CB8AC3E}">
        <p14:creationId xmlns:p14="http://schemas.microsoft.com/office/powerpoint/2010/main" val="12754067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algn="just"/>
            <a:r>
              <a:rPr lang="fr-FR" b="1" u="sng"/>
              <a:t>Faits</a:t>
            </a:r>
            <a:r>
              <a:rPr lang="fr-FR" b="1"/>
              <a:t> </a:t>
            </a:r>
            <a:r>
              <a:rPr lang="fr-FR"/>
              <a:t>: Un matelot, recruté en CDD à terme imprécis pour remplacer un salarié absent. Il voit son contrat suspendu à la suite d'un accident du travail. </a:t>
            </a:r>
            <a:endParaRPr lang="en-US"/>
          </a:p>
          <a:p>
            <a:pPr algn="just"/>
            <a:r>
              <a:rPr lang="fr-FR"/>
              <a:t>Entre temps, le salarié remplacé est licencié en juillet 2017, ce qui constitue le terme du CDD. L'employeur n'a pas informé le salarié remplaçant de cette cessation définitive d'activité et ne lui remet pas les documents de fin de contrat qu'en 2020. </a:t>
            </a:r>
            <a:endParaRPr lang="en-US"/>
          </a:p>
          <a:p>
            <a:pPr algn="just"/>
            <a:endParaRPr lang="fr-FR"/>
          </a:p>
          <a:p>
            <a:pPr algn="just"/>
            <a:r>
              <a:rPr lang="fr-FR"/>
              <a:t>Le remplaçant prend acte de la rupture de son contrat de travail et saisit le tribunal judiciaire pour obtenir requalification de son CDD en CDI, au motif que l'employeur ne l'a pas informé du licenciement du salarié remplacé.</a:t>
            </a:r>
            <a:endParaRPr lang="en-US"/>
          </a:p>
          <a:p>
            <a:endParaRPr lang="en-US"/>
          </a:p>
        </p:txBody>
      </p:sp>
      <p:sp>
        <p:nvSpPr>
          <p:cNvPr id="4" name="Espace réservé du numéro de diapositive 3"/>
          <p:cNvSpPr>
            <a:spLocks noGrp="1"/>
          </p:cNvSpPr>
          <p:nvPr>
            <p:ph type="sldNum" sz="quarter" idx="5"/>
          </p:nvPr>
        </p:nvSpPr>
        <p:spPr/>
        <p:txBody>
          <a:bodyPr/>
          <a:lstStyle/>
          <a:p>
            <a:fld id="{0910B20E-BFE3-41E1-A49B-15A522566010}" type="slidenum">
              <a:rPr lang="fr-FR" smtClean="0"/>
              <a:t>31</a:t>
            </a:fld>
            <a:endParaRPr lang="fr-FR"/>
          </a:p>
        </p:txBody>
      </p:sp>
    </p:spTree>
    <p:extLst>
      <p:ext uri="{BB962C8B-B14F-4D97-AF65-F5344CB8AC3E}">
        <p14:creationId xmlns:p14="http://schemas.microsoft.com/office/powerpoint/2010/main" val="11107893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algn="just"/>
            <a:r>
              <a:rPr lang="fr-FR" b="1" u="sng"/>
              <a:t>Solution</a:t>
            </a:r>
            <a:r>
              <a:rPr lang="fr-FR" b="1"/>
              <a:t> </a:t>
            </a:r>
            <a:r>
              <a:rPr lang="fr-FR"/>
              <a:t>: La Cour de cassation rappelle que lorsqu'un CDD a été conclu, sans terme précis, pour remplacer un salarié absent, l</a:t>
            </a:r>
            <a:r>
              <a:rPr lang="fr-FR" b="1"/>
              <a:t>'employeur doit notifier au remplaçant la cessation d'activité du salarié remplacé</a:t>
            </a:r>
            <a:r>
              <a:rPr lang="fr-FR"/>
              <a:t>. Elle souligne également que les périodes de suspension du contrat de travail consécutives à un AT/MP ne font pas obstacle à l'échéance du CDD. L'employeur aurait dû l'informer et lui </a:t>
            </a:r>
            <a:r>
              <a:rPr lang="fr-FR" b="1"/>
              <a:t>remettre les documents de fin de contrat</a:t>
            </a:r>
            <a:r>
              <a:rPr lang="fr-FR"/>
              <a:t>, y compris pendant l'arrêt de travail.</a:t>
            </a:r>
            <a:endParaRPr lang="en-US"/>
          </a:p>
          <a:p>
            <a:endParaRPr lang="en-US"/>
          </a:p>
          <a:p>
            <a:r>
              <a:rPr lang="en-US"/>
              <a:t>Idée centrale : </a:t>
            </a:r>
            <a:endParaRPr lang="fr-FR">
              <a:solidFill>
                <a:srgbClr val="444444"/>
              </a:solidFill>
            </a:endParaRPr>
          </a:p>
          <a:p>
            <a:r>
              <a:rPr lang="en-US" err="1"/>
              <a:t>lorsqu’un</a:t>
            </a:r>
            <a:r>
              <a:rPr lang="en-US"/>
              <a:t> CDD de </a:t>
            </a:r>
            <a:r>
              <a:rPr lang="en-US" err="1"/>
              <a:t>remplacement</a:t>
            </a:r>
            <a:r>
              <a:rPr lang="en-US"/>
              <a:t> est </a:t>
            </a:r>
            <a:r>
              <a:rPr lang="en-US" err="1"/>
              <a:t>conclu</a:t>
            </a:r>
            <a:r>
              <a:rPr lang="en-US"/>
              <a:t> sans </a:t>
            </a:r>
            <a:r>
              <a:rPr lang="en-US" err="1"/>
              <a:t>terme</a:t>
            </a:r>
            <a:r>
              <a:rPr lang="en-US"/>
              <a:t> précis, </a:t>
            </a:r>
            <a:r>
              <a:rPr lang="en-US" err="1"/>
              <a:t>l’employeur</a:t>
            </a:r>
            <a:r>
              <a:rPr lang="en-US"/>
              <a:t> doit </a:t>
            </a:r>
            <a:r>
              <a:rPr lang="en-US" err="1"/>
              <a:t>impérativement</a:t>
            </a:r>
            <a:r>
              <a:rPr lang="en-US"/>
              <a:t> informer le </a:t>
            </a:r>
            <a:r>
              <a:rPr lang="en-US" err="1"/>
              <a:t>salarié</a:t>
            </a:r>
            <a:r>
              <a:rPr lang="en-US"/>
              <a:t> de la </a:t>
            </a:r>
            <a:r>
              <a:rPr lang="en-US" err="1"/>
              <a:t>survenance</a:t>
            </a:r>
            <a:r>
              <a:rPr lang="en-US"/>
              <a:t> de </a:t>
            </a:r>
            <a:r>
              <a:rPr lang="en-US" err="1"/>
              <a:t>l’événement</a:t>
            </a:r>
            <a:r>
              <a:rPr lang="en-US"/>
              <a:t> </a:t>
            </a:r>
            <a:r>
              <a:rPr lang="en-US" err="1"/>
              <a:t>mettant</a:t>
            </a:r>
            <a:r>
              <a:rPr lang="en-US"/>
              <a:t> fin au </a:t>
            </a:r>
            <a:r>
              <a:rPr lang="en-US" err="1"/>
              <a:t>contrat</a:t>
            </a:r>
            <a:r>
              <a:rPr lang="en-US"/>
              <a:t>. À </a:t>
            </a:r>
            <a:r>
              <a:rPr lang="en-US" err="1"/>
              <a:t>défaut</a:t>
            </a:r>
            <a:r>
              <a:rPr lang="en-US"/>
              <a:t>, la relation se </a:t>
            </a:r>
            <a:r>
              <a:rPr lang="en-US" err="1"/>
              <a:t>poursuit</a:t>
            </a:r>
            <a:r>
              <a:rPr lang="en-US"/>
              <a:t> et se </a:t>
            </a:r>
            <a:r>
              <a:rPr lang="en-US" err="1"/>
              <a:t>requalifie</a:t>
            </a:r>
            <a:r>
              <a:rPr lang="en-US"/>
              <a:t> </a:t>
            </a:r>
            <a:r>
              <a:rPr lang="en-US" err="1"/>
              <a:t>en</a:t>
            </a:r>
            <a:r>
              <a:rPr lang="en-US"/>
              <a:t> CDI.</a:t>
            </a:r>
            <a:endParaRPr lang="fr-FR"/>
          </a:p>
        </p:txBody>
      </p:sp>
      <p:sp>
        <p:nvSpPr>
          <p:cNvPr id="4" name="Espace réservé du numéro de diapositive 3"/>
          <p:cNvSpPr>
            <a:spLocks noGrp="1"/>
          </p:cNvSpPr>
          <p:nvPr>
            <p:ph type="sldNum" sz="quarter" idx="5"/>
          </p:nvPr>
        </p:nvSpPr>
        <p:spPr/>
        <p:txBody>
          <a:bodyPr/>
          <a:lstStyle/>
          <a:p>
            <a:fld id="{0910B20E-BFE3-41E1-A49B-15A522566010}" type="slidenum">
              <a:rPr lang="fr-FR" smtClean="0"/>
              <a:t>32</a:t>
            </a:fld>
            <a:endParaRPr lang="fr-FR"/>
          </a:p>
        </p:txBody>
      </p:sp>
    </p:spTree>
    <p:extLst>
      <p:ext uri="{BB962C8B-B14F-4D97-AF65-F5344CB8AC3E}">
        <p14:creationId xmlns:p14="http://schemas.microsoft.com/office/powerpoint/2010/main" val="21732304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D89FA-F56D-1F25-D802-34E9AF422E5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A6D8DCF-CE85-9095-CAE6-74049899073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AA6CAF7-E817-F36C-8CD1-B874C9DB8D6E}"/>
              </a:ext>
            </a:extLst>
          </p:cNvPr>
          <p:cNvSpPr>
            <a:spLocks noGrp="1"/>
          </p:cNvSpPr>
          <p:nvPr>
            <p:ph type="body" idx="1"/>
          </p:nvPr>
        </p:nvSpPr>
        <p:spPr/>
        <p:txBody>
          <a:bodyPr/>
          <a:lstStyle/>
          <a:p>
            <a:pPr algn="l"/>
            <a:r>
              <a:rPr lang="fr-FR" b="1"/>
              <a:t>LUCILE</a:t>
            </a:r>
          </a:p>
          <a:p>
            <a:pPr algn="just"/>
            <a:r>
              <a:rPr lang="fr-FR" u="sng"/>
              <a:t>Faits </a:t>
            </a:r>
            <a:r>
              <a:rPr lang="fr-FR"/>
              <a:t>: une salariée , suite à la fin de son CDD réclamait le paiement d’HS (+ CP afférents) </a:t>
            </a:r>
            <a:endParaRPr lang="en-US"/>
          </a:p>
          <a:p>
            <a:pPr algn="just"/>
            <a:endParaRPr lang="fr-FR"/>
          </a:p>
          <a:p>
            <a:pPr algn="just"/>
            <a:r>
              <a:rPr lang="fr-FR"/>
              <a:t>Pour étayer sa demande, la salariée avait présenté :</a:t>
            </a:r>
            <a:endParaRPr lang="en-US"/>
          </a:p>
          <a:p>
            <a:pPr algn="just"/>
            <a:r>
              <a:rPr lang="fr-FR"/>
              <a:t>-un décompte hebdomadaire et mensuel des heures accomplies en janvier 2020 et février 2020 sous forme d'un tableau synthétique indiquant jour après jour le nombre d'heures accomplies ;</a:t>
            </a:r>
            <a:endParaRPr lang="en-US"/>
          </a:p>
          <a:p>
            <a:pPr algn="just"/>
            <a:r>
              <a:rPr lang="fr-FR"/>
              <a:t>-et l'attestation d’un collègue qui témoignait de la surcharge de travail de l’intéressée suite à sa démission en décembre 2019.</a:t>
            </a:r>
            <a:endParaRPr lang="en-US"/>
          </a:p>
          <a:p>
            <a:pPr algn="just"/>
            <a:endParaRPr lang="en-US"/>
          </a:p>
        </p:txBody>
      </p:sp>
      <p:sp>
        <p:nvSpPr>
          <p:cNvPr id="4" name="Espace réservé du numéro de diapositive 3">
            <a:extLst>
              <a:ext uri="{FF2B5EF4-FFF2-40B4-BE49-F238E27FC236}">
                <a16:creationId xmlns:a16="http://schemas.microsoft.com/office/drawing/2014/main" id="{BD916E68-F13E-5CC4-C77E-FBD232B53FA2}"/>
              </a:ext>
            </a:extLst>
          </p:cNvPr>
          <p:cNvSpPr>
            <a:spLocks noGrp="1"/>
          </p:cNvSpPr>
          <p:nvPr>
            <p:ph type="sldNum" sz="quarter" idx="5"/>
          </p:nvPr>
        </p:nvSpPr>
        <p:spPr/>
        <p:txBody>
          <a:bodyPr/>
          <a:lstStyle/>
          <a:p>
            <a:fld id="{7588CE97-4D95-4093-964B-F0E24615FF45}" type="slidenum">
              <a:rPr lang="fr-FR" smtClean="0"/>
              <a:t>34</a:t>
            </a:fld>
            <a:endParaRPr lang="fr-FR"/>
          </a:p>
        </p:txBody>
      </p:sp>
    </p:spTree>
    <p:extLst>
      <p:ext uri="{BB962C8B-B14F-4D97-AF65-F5344CB8AC3E}">
        <p14:creationId xmlns:p14="http://schemas.microsoft.com/office/powerpoint/2010/main" val="3074412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A20EE-3C10-0C65-C0EC-8D2E065171F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1E6E8C2-4EEB-9A1B-D81C-30BCE1AD637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3F047FF-A5E7-8208-AECA-519087FEB614}"/>
              </a:ext>
            </a:extLst>
          </p:cNvPr>
          <p:cNvSpPr>
            <a:spLocks noGrp="1"/>
          </p:cNvSpPr>
          <p:nvPr>
            <p:ph type="body" idx="1"/>
          </p:nvPr>
        </p:nvSpPr>
        <p:spPr/>
        <p:txBody>
          <a:bodyPr/>
          <a:lstStyle/>
          <a:p>
            <a:pPr algn="l"/>
            <a:r>
              <a:rPr lang="fr-FR" b="1"/>
              <a:t>LUCILE</a:t>
            </a:r>
          </a:p>
          <a:p>
            <a:pPr algn="just"/>
            <a:r>
              <a:rPr lang="fr-FR" u="sng"/>
              <a:t>Faits </a:t>
            </a:r>
            <a:r>
              <a:rPr lang="fr-FR"/>
              <a:t>:</a:t>
            </a:r>
            <a:endParaRPr lang="fr-FR">
              <a:highlight>
                <a:srgbClr val="F5F5F5"/>
              </a:highlight>
            </a:endParaRPr>
          </a:p>
          <a:p>
            <a:pPr algn="just"/>
            <a:r>
              <a:rPr lang="fr-FR"/>
              <a:t>L'employeur, lui, s’était placé sur le terrain </a:t>
            </a:r>
            <a:r>
              <a:rPr lang="fr-FR">
                <a:highlight>
                  <a:srgbClr val="FFFF00"/>
                </a:highlight>
              </a:rPr>
              <a:t>des règles applicables </a:t>
            </a:r>
            <a:r>
              <a:rPr lang="fr-FR"/>
              <a:t>dans son entreprise en matière d’accomplissement d’heures supplémentaires. Pour cela, l’employeur faisait valoir que les heures réclamées n'avaient pas été soumises pour validation au supérieur hiérarchique de la salariée. </a:t>
            </a:r>
            <a:endParaRPr lang="en-US"/>
          </a:p>
          <a:p>
            <a:pPr algn="just"/>
            <a:r>
              <a:rPr lang="fr-FR"/>
              <a:t>Il avait produit :</a:t>
            </a:r>
            <a:endParaRPr lang="en-US"/>
          </a:p>
          <a:p>
            <a:pPr marL="171450" indent="-171450" algn="just">
              <a:buFont typeface="Calibri"/>
              <a:buChar char="-"/>
            </a:pPr>
            <a:r>
              <a:rPr lang="fr-FR"/>
              <a:t>une </a:t>
            </a:r>
            <a:r>
              <a:rPr lang="fr-FR">
                <a:highlight>
                  <a:srgbClr val="FFFF00"/>
                </a:highlight>
              </a:rPr>
              <a:t>note d'information interne intitulée « Procédure concernant la gestion des heures supplémentaires et complémentaires ».</a:t>
            </a:r>
            <a:endParaRPr lang="en-US">
              <a:highlight>
                <a:srgbClr val="FFFF00"/>
              </a:highlight>
            </a:endParaRPr>
          </a:p>
          <a:p>
            <a:pPr algn="just"/>
            <a:endParaRPr lang="fr-FR">
              <a:solidFill>
                <a:srgbClr val="000000"/>
              </a:solidFill>
              <a:highlight>
                <a:srgbClr val="FFFF00"/>
              </a:highlight>
            </a:endParaRPr>
          </a:p>
          <a:p>
            <a:pPr algn="just"/>
            <a:endParaRPr lang="fr-FR">
              <a:highlight>
                <a:srgbClr val="FFFF00"/>
              </a:highlight>
            </a:endParaRPr>
          </a:p>
          <a:p>
            <a:pPr algn="l"/>
            <a:endParaRPr lang="fr-FR" b="1">
              <a:highlight>
                <a:srgbClr val="FFFF00"/>
              </a:highlight>
            </a:endParaRPr>
          </a:p>
          <a:p>
            <a:endParaRPr lang="fr-FR">
              <a:highlight>
                <a:srgbClr val="FFFF00"/>
              </a:highlight>
            </a:endParaRPr>
          </a:p>
        </p:txBody>
      </p:sp>
      <p:sp>
        <p:nvSpPr>
          <p:cNvPr id="4" name="Espace réservé du numéro de diapositive 3">
            <a:extLst>
              <a:ext uri="{FF2B5EF4-FFF2-40B4-BE49-F238E27FC236}">
                <a16:creationId xmlns:a16="http://schemas.microsoft.com/office/drawing/2014/main" id="{64998100-A901-6597-FA03-DD102F0DD95A}"/>
              </a:ext>
            </a:extLst>
          </p:cNvPr>
          <p:cNvSpPr>
            <a:spLocks noGrp="1"/>
          </p:cNvSpPr>
          <p:nvPr>
            <p:ph type="sldNum" sz="quarter" idx="5"/>
          </p:nvPr>
        </p:nvSpPr>
        <p:spPr/>
        <p:txBody>
          <a:bodyPr/>
          <a:lstStyle/>
          <a:p>
            <a:fld id="{7588CE97-4D95-4093-964B-F0E24615FF45}" type="slidenum">
              <a:rPr lang="fr-FR" smtClean="0"/>
              <a:t>35</a:t>
            </a:fld>
            <a:endParaRPr lang="fr-FR"/>
          </a:p>
        </p:txBody>
      </p:sp>
    </p:spTree>
    <p:extLst>
      <p:ext uri="{BB962C8B-B14F-4D97-AF65-F5344CB8AC3E}">
        <p14:creationId xmlns:p14="http://schemas.microsoft.com/office/powerpoint/2010/main" val="25060647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8B36E-32FE-118C-E059-3AA1DBF039B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0D38748-DF0C-7039-E891-409BB9B3DA7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E25705C-A2AD-B1C9-5969-2E33F5EEB1B1}"/>
              </a:ext>
            </a:extLst>
          </p:cNvPr>
          <p:cNvSpPr>
            <a:spLocks noGrp="1"/>
          </p:cNvSpPr>
          <p:nvPr>
            <p:ph type="body" idx="1"/>
          </p:nvPr>
        </p:nvSpPr>
        <p:spPr/>
        <p:txBody>
          <a:bodyPr/>
          <a:lstStyle/>
          <a:p>
            <a:r>
              <a:rPr lang="en-US"/>
              <a:t>la Cour :</a:t>
            </a:r>
            <a:endParaRPr lang="fr-FR"/>
          </a:p>
          <a:p>
            <a:pPr marL="171450" indent="-171450">
              <a:buFont typeface="Arial"/>
              <a:buChar char="•"/>
            </a:pPr>
            <a:r>
              <a:rPr lang="en-US"/>
              <a:t>ne change pas la </a:t>
            </a:r>
            <a:r>
              <a:rPr lang="en-US" err="1"/>
              <a:t>règle</a:t>
            </a:r>
            <a:r>
              <a:rPr lang="en-US"/>
              <a:t> de </a:t>
            </a:r>
            <a:r>
              <a:rPr lang="en-US" b="1" err="1"/>
              <a:t>preuve</a:t>
            </a:r>
            <a:r>
              <a:rPr lang="en-US" b="1"/>
              <a:t> </a:t>
            </a:r>
            <a:r>
              <a:rPr lang="en-US" b="1" err="1"/>
              <a:t>partagée</a:t>
            </a:r>
            <a:r>
              <a:rPr lang="en-US"/>
              <a:t>,</a:t>
            </a:r>
          </a:p>
          <a:p>
            <a:pPr marL="171450" indent="-171450">
              <a:buFont typeface="Arial"/>
              <a:buChar char="•"/>
            </a:pPr>
            <a:r>
              <a:rPr lang="en-US" err="1"/>
              <a:t>mais</a:t>
            </a:r>
            <a:r>
              <a:rPr lang="en-US"/>
              <a:t> </a:t>
            </a:r>
            <a:r>
              <a:rPr lang="en-US" b="1" err="1"/>
              <a:t>renforce</a:t>
            </a:r>
            <a:r>
              <a:rPr lang="en-US" b="1"/>
              <a:t> la </a:t>
            </a:r>
            <a:r>
              <a:rPr lang="en-US" b="1" err="1"/>
              <a:t>valeur</a:t>
            </a:r>
            <a:r>
              <a:rPr lang="en-US" b="1"/>
              <a:t> des </a:t>
            </a:r>
            <a:r>
              <a:rPr lang="en-US" b="1" err="1"/>
              <a:t>procédures</a:t>
            </a:r>
            <a:r>
              <a:rPr lang="en-US" b="1"/>
              <a:t> internes</a:t>
            </a:r>
            <a:r>
              <a:rPr lang="en-US"/>
              <a:t> </a:t>
            </a:r>
            <a:r>
              <a:rPr lang="en-US" err="1"/>
              <a:t>comme</a:t>
            </a:r>
            <a:r>
              <a:rPr lang="en-US"/>
              <a:t> </a:t>
            </a:r>
            <a:r>
              <a:rPr lang="en-US" err="1"/>
              <a:t>élément</a:t>
            </a:r>
            <a:r>
              <a:rPr lang="en-US"/>
              <a:t> de </a:t>
            </a:r>
            <a:r>
              <a:rPr lang="en-US" err="1"/>
              <a:t>défense</a:t>
            </a:r>
            <a:r>
              <a:rPr lang="en-US"/>
              <a:t>.</a:t>
            </a:r>
          </a:p>
          <a:p>
            <a:endParaRPr lang="en-US" b="1"/>
          </a:p>
          <a:p>
            <a:endParaRPr lang="en-US"/>
          </a:p>
          <a:p>
            <a:endParaRPr lang="en-US"/>
          </a:p>
        </p:txBody>
      </p:sp>
      <p:sp>
        <p:nvSpPr>
          <p:cNvPr id="4" name="Espace réservé du numéro de diapositive 3">
            <a:extLst>
              <a:ext uri="{FF2B5EF4-FFF2-40B4-BE49-F238E27FC236}">
                <a16:creationId xmlns:a16="http://schemas.microsoft.com/office/drawing/2014/main" id="{70121F27-A7FB-0E42-88C2-C2A95E2D9C2F}"/>
              </a:ext>
            </a:extLst>
          </p:cNvPr>
          <p:cNvSpPr>
            <a:spLocks noGrp="1"/>
          </p:cNvSpPr>
          <p:nvPr>
            <p:ph type="sldNum" sz="quarter" idx="5"/>
          </p:nvPr>
        </p:nvSpPr>
        <p:spPr/>
        <p:txBody>
          <a:bodyPr/>
          <a:lstStyle/>
          <a:p>
            <a:fld id="{0910B20E-BFE3-41E1-A49B-15A522566010}" type="slidenum">
              <a:rPr lang="fr-FR" smtClean="0"/>
              <a:t>36</a:t>
            </a:fld>
            <a:endParaRPr lang="fr-FR"/>
          </a:p>
        </p:txBody>
      </p:sp>
    </p:spTree>
    <p:extLst>
      <p:ext uri="{BB962C8B-B14F-4D97-AF65-F5344CB8AC3E}">
        <p14:creationId xmlns:p14="http://schemas.microsoft.com/office/powerpoint/2010/main" val="119454284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CCC85-1FC4-D1EE-5FAA-30D4FFEA727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9EA94F1-52CE-22E8-42D9-613C482EDE7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2FDA003-A024-CFDF-C699-E0E15E44B65C}"/>
              </a:ext>
            </a:extLst>
          </p:cNvPr>
          <p:cNvSpPr>
            <a:spLocks noGrp="1"/>
          </p:cNvSpPr>
          <p:nvPr>
            <p:ph type="body" idx="1"/>
          </p:nvPr>
        </p:nvSpPr>
        <p:spPr/>
        <p:txBody>
          <a:bodyPr/>
          <a:lstStyle/>
          <a:p>
            <a:pPr algn="l"/>
            <a:r>
              <a:rPr lang="fr-FR" b="1"/>
              <a:t>LUCILE</a:t>
            </a:r>
          </a:p>
          <a:p>
            <a:pPr algn="just"/>
            <a:r>
              <a:rPr lang="fr-FR" u="sng"/>
              <a:t>Faits </a:t>
            </a:r>
            <a:r>
              <a:rPr lang="fr-FR"/>
              <a:t>: un salarié, cuisinier, réclamait le paiement d’HS après avoir démissionné ( 15 ans d'ancienneté)</a:t>
            </a:r>
            <a:endParaRPr lang="en-US"/>
          </a:p>
          <a:p>
            <a:pPr algn="just"/>
            <a:r>
              <a:rPr lang="fr-FR"/>
              <a:t> + </a:t>
            </a:r>
            <a:r>
              <a:rPr lang="fr-FR" err="1"/>
              <a:t>requalif</a:t>
            </a:r>
            <a:r>
              <a:rPr lang="fr-FR"/>
              <a:t> prise d'acte</a:t>
            </a:r>
          </a:p>
          <a:p>
            <a:pPr algn="just"/>
            <a:r>
              <a:rPr lang="fr-FR"/>
              <a:t>Pour étayer sa demande, le salarié explique </a:t>
            </a:r>
            <a:r>
              <a:rPr lang="fr-FR" err="1"/>
              <a:t>qu</a:t>
            </a:r>
            <a:r>
              <a:rPr lang="fr-FR"/>
              <a:t> </a:t>
            </a:r>
            <a:r>
              <a:rPr lang="fr-FR" err="1"/>
              <a:t>ela</a:t>
            </a:r>
            <a:r>
              <a:rPr lang="fr-FR"/>
              <a:t> charge de travail était intense et qu'il n'avait pas le choix sur de les faire</a:t>
            </a:r>
            <a:endParaRPr lang="en-US"/>
          </a:p>
          <a:p>
            <a:pPr algn="just"/>
            <a:r>
              <a:rPr lang="fr-FR"/>
              <a:t>Il fournit un carnet de décompte des Heures</a:t>
            </a:r>
          </a:p>
          <a:p>
            <a:pPr algn="just"/>
            <a:endParaRPr lang="fr-FR"/>
          </a:p>
        </p:txBody>
      </p:sp>
      <p:sp>
        <p:nvSpPr>
          <p:cNvPr id="4" name="Espace réservé du numéro de diapositive 3">
            <a:extLst>
              <a:ext uri="{FF2B5EF4-FFF2-40B4-BE49-F238E27FC236}">
                <a16:creationId xmlns:a16="http://schemas.microsoft.com/office/drawing/2014/main" id="{C5B04024-EBE7-89F1-A4A9-C8D9AEC6C0A2}"/>
              </a:ext>
            </a:extLst>
          </p:cNvPr>
          <p:cNvSpPr>
            <a:spLocks noGrp="1"/>
          </p:cNvSpPr>
          <p:nvPr>
            <p:ph type="sldNum" sz="quarter" idx="5"/>
          </p:nvPr>
        </p:nvSpPr>
        <p:spPr/>
        <p:txBody>
          <a:bodyPr/>
          <a:lstStyle/>
          <a:p>
            <a:fld id="{7588CE97-4D95-4093-964B-F0E24615FF45}" type="slidenum">
              <a:rPr lang="fr-FR" smtClean="0"/>
              <a:t>37</a:t>
            </a:fld>
            <a:endParaRPr lang="fr-FR"/>
          </a:p>
        </p:txBody>
      </p:sp>
    </p:spTree>
    <p:extLst>
      <p:ext uri="{BB962C8B-B14F-4D97-AF65-F5344CB8AC3E}">
        <p14:creationId xmlns:p14="http://schemas.microsoft.com/office/powerpoint/2010/main" val="6751655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539EF-15D9-4CFE-01A9-295B2F75531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A60A098-C3CB-D94A-D5E8-59AE3BF818B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8B40EAD-BDC4-F2BD-6901-2863180B9EF2}"/>
              </a:ext>
            </a:extLst>
          </p:cNvPr>
          <p:cNvSpPr>
            <a:spLocks noGrp="1"/>
          </p:cNvSpPr>
          <p:nvPr>
            <p:ph type="body" idx="1"/>
          </p:nvPr>
        </p:nvSpPr>
        <p:spPr/>
        <p:txBody>
          <a:bodyPr/>
          <a:lstStyle/>
          <a:p>
            <a:pPr algn="l"/>
            <a:r>
              <a:rPr lang="fr-FR" b="1"/>
              <a:t>LUCILE</a:t>
            </a:r>
          </a:p>
          <a:p>
            <a:pPr algn="just"/>
            <a:r>
              <a:rPr lang="fr-FR" u="sng"/>
              <a:t>Faits </a:t>
            </a:r>
            <a:r>
              <a:rPr lang="fr-FR"/>
              <a:t>:</a:t>
            </a:r>
            <a:endParaRPr lang="fr-FR">
              <a:highlight>
                <a:srgbClr val="F5F5F5"/>
              </a:highlight>
            </a:endParaRPr>
          </a:p>
          <a:p>
            <a:pPr algn="just"/>
            <a:r>
              <a:rPr lang="fr-FR"/>
              <a:t>L'employeur :  "tu n'avais pas à faire ses heures !"</a:t>
            </a:r>
            <a:endParaRPr lang="fr-FR">
              <a:solidFill>
                <a:srgbClr val="000000"/>
              </a:solidFill>
            </a:endParaRPr>
          </a:p>
          <a:p>
            <a:pPr algn="just"/>
            <a:r>
              <a:rPr lang="fr-FR"/>
              <a:t>Question de droit : 👉 </a:t>
            </a:r>
            <a:r>
              <a:rPr lang="fr-FR" b="1"/>
              <a:t>Comment s’organise la charge de la preuve en matière d’heures supplémentaires ?</a:t>
            </a:r>
            <a:endParaRPr lang="fr-FR"/>
          </a:p>
          <a:p>
            <a:pPr algn="just"/>
            <a:endParaRPr lang="fr-FR"/>
          </a:p>
          <a:p>
            <a:pPr algn="just"/>
            <a:endParaRPr lang="fr-FR">
              <a:highlight>
                <a:srgbClr val="FFFF00"/>
              </a:highlight>
            </a:endParaRPr>
          </a:p>
          <a:p>
            <a:endParaRPr lang="fr-FR" b="1">
              <a:highlight>
                <a:srgbClr val="FFFF00"/>
              </a:highlight>
            </a:endParaRPr>
          </a:p>
          <a:p>
            <a:endParaRPr lang="fr-FR">
              <a:highlight>
                <a:srgbClr val="FFFF00"/>
              </a:highlight>
            </a:endParaRPr>
          </a:p>
        </p:txBody>
      </p:sp>
      <p:sp>
        <p:nvSpPr>
          <p:cNvPr id="4" name="Espace réservé du numéro de diapositive 3">
            <a:extLst>
              <a:ext uri="{FF2B5EF4-FFF2-40B4-BE49-F238E27FC236}">
                <a16:creationId xmlns:a16="http://schemas.microsoft.com/office/drawing/2014/main" id="{95947EFD-9525-4BCC-9DCC-CC84EA06F83F}"/>
              </a:ext>
            </a:extLst>
          </p:cNvPr>
          <p:cNvSpPr>
            <a:spLocks noGrp="1"/>
          </p:cNvSpPr>
          <p:nvPr>
            <p:ph type="sldNum" sz="quarter" idx="5"/>
          </p:nvPr>
        </p:nvSpPr>
        <p:spPr/>
        <p:txBody>
          <a:bodyPr/>
          <a:lstStyle/>
          <a:p>
            <a:fld id="{7588CE97-4D95-4093-964B-F0E24615FF45}" type="slidenum">
              <a:rPr lang="fr-FR" smtClean="0"/>
              <a:t>38</a:t>
            </a:fld>
            <a:endParaRPr lang="fr-FR"/>
          </a:p>
        </p:txBody>
      </p:sp>
    </p:spTree>
    <p:extLst>
      <p:ext uri="{BB962C8B-B14F-4D97-AF65-F5344CB8AC3E}">
        <p14:creationId xmlns:p14="http://schemas.microsoft.com/office/powerpoint/2010/main" val="10448771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44E32-EC02-A421-8A62-199BD6CDC0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0BC1E29-6D97-9F92-9412-2763AD2B94D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6B9505F-9E3B-734C-7DF8-A6342E6AC858}"/>
              </a:ext>
            </a:extLst>
          </p:cNvPr>
          <p:cNvSpPr>
            <a:spLocks noGrp="1"/>
          </p:cNvSpPr>
          <p:nvPr>
            <p:ph type="body" idx="1"/>
          </p:nvPr>
        </p:nvSpPr>
        <p:spPr/>
        <p:txBody>
          <a:bodyPr/>
          <a:lstStyle/>
          <a:p>
            <a:r>
              <a:rPr lang="en-US"/>
              <a:t>la Cour :</a:t>
            </a:r>
            <a:endParaRPr lang="fr-FR"/>
          </a:p>
          <a:p>
            <a:pPr marL="171450" indent="-171450">
              <a:buFont typeface="Arial"/>
              <a:buChar char="•"/>
            </a:pPr>
            <a:r>
              <a:rPr lang="en-US"/>
              <a:t>La </a:t>
            </a:r>
            <a:r>
              <a:rPr lang="en-US" err="1"/>
              <a:t>preuve</a:t>
            </a:r>
            <a:r>
              <a:rPr lang="en-US"/>
              <a:t> des </a:t>
            </a:r>
            <a:r>
              <a:rPr lang="en-US" err="1"/>
              <a:t>heures</a:t>
            </a:r>
            <a:r>
              <a:rPr lang="en-US"/>
              <a:t> de travail </a:t>
            </a:r>
            <a:r>
              <a:rPr lang="en-US" b="1" err="1"/>
              <a:t>n’incombe</a:t>
            </a:r>
            <a:r>
              <a:rPr lang="en-US" b="1"/>
              <a:t> </a:t>
            </a:r>
            <a:r>
              <a:rPr lang="en-US" b="1" err="1"/>
              <a:t>spécialement</a:t>
            </a:r>
            <a:r>
              <a:rPr lang="en-US" b="1"/>
              <a:t> à </a:t>
            </a:r>
            <a:r>
              <a:rPr lang="en-US" b="1" err="1"/>
              <a:t>aucune</a:t>
            </a:r>
            <a:r>
              <a:rPr lang="en-US" b="1"/>
              <a:t> des parties</a:t>
            </a:r>
            <a:r>
              <a:rPr lang="en-US"/>
              <a:t>.</a:t>
            </a:r>
          </a:p>
          <a:p>
            <a:pPr>
              <a:buFont typeface="Arial"/>
              <a:buChar char="•"/>
            </a:pPr>
            <a:r>
              <a:rPr lang="en-US"/>
              <a:t>✅ </a:t>
            </a:r>
            <a:r>
              <a:rPr lang="en-US" b="1"/>
              <a:t>Le </a:t>
            </a:r>
            <a:r>
              <a:rPr lang="en-US" b="1" err="1"/>
              <a:t>salarié</a:t>
            </a:r>
            <a:r>
              <a:rPr lang="en-US"/>
              <a:t> doit </a:t>
            </a:r>
            <a:r>
              <a:rPr lang="en-US" err="1"/>
              <a:t>présenter</a:t>
            </a:r>
            <a:r>
              <a:rPr lang="en-US"/>
              <a:t> </a:t>
            </a:r>
            <a:r>
              <a:rPr lang="en-US" b="1"/>
              <a:t>des </a:t>
            </a:r>
            <a:r>
              <a:rPr lang="en-US" b="1" err="1"/>
              <a:t>éléments</a:t>
            </a:r>
            <a:r>
              <a:rPr lang="en-US" b="1"/>
              <a:t> </a:t>
            </a:r>
            <a:r>
              <a:rPr lang="en-US" b="1" err="1"/>
              <a:t>suffisamment</a:t>
            </a:r>
            <a:r>
              <a:rPr lang="en-US" b="1"/>
              <a:t> précis</a:t>
            </a:r>
            <a:r>
              <a:rPr lang="en-US"/>
              <a:t> (tableaux, </a:t>
            </a:r>
            <a:r>
              <a:rPr lang="en-US" err="1"/>
              <a:t>horaires</a:t>
            </a:r>
            <a:r>
              <a:rPr lang="en-US"/>
              <a:t>, </a:t>
            </a:r>
            <a:r>
              <a:rPr lang="en-US" err="1"/>
              <a:t>témoignages</a:t>
            </a:r>
            <a:r>
              <a:rPr lang="en-US"/>
              <a:t>…)</a:t>
            </a:r>
          </a:p>
          <a:p>
            <a:pPr>
              <a:buFont typeface="Arial"/>
              <a:buChar char="•"/>
            </a:pPr>
            <a:r>
              <a:rPr lang="en-US"/>
              <a:t>✅ </a:t>
            </a:r>
            <a:r>
              <a:rPr lang="en-US" b="1" err="1"/>
              <a:t>L’employeur</a:t>
            </a:r>
            <a:r>
              <a:rPr lang="en-US"/>
              <a:t> doit </a:t>
            </a:r>
            <a:r>
              <a:rPr lang="en-US" err="1"/>
              <a:t>répondre</a:t>
            </a:r>
            <a:r>
              <a:rPr lang="en-US"/>
              <a:t> </a:t>
            </a:r>
            <a:r>
              <a:rPr lang="en-US" err="1"/>
              <a:t>en</a:t>
            </a:r>
            <a:r>
              <a:rPr lang="en-US"/>
              <a:t> </a:t>
            </a:r>
            <a:r>
              <a:rPr lang="en-US" err="1"/>
              <a:t>produisant</a:t>
            </a:r>
            <a:r>
              <a:rPr lang="en-US"/>
              <a:t> </a:t>
            </a:r>
            <a:r>
              <a:rPr lang="en-US" err="1"/>
              <a:t>ses</a:t>
            </a:r>
            <a:r>
              <a:rPr lang="en-US"/>
              <a:t> </a:t>
            </a:r>
            <a:r>
              <a:rPr lang="en-US" err="1"/>
              <a:t>propres</a:t>
            </a:r>
            <a:r>
              <a:rPr lang="en-US"/>
              <a:t> </a:t>
            </a:r>
            <a:r>
              <a:rPr lang="en-US" err="1"/>
              <a:t>éléments</a:t>
            </a:r>
            <a:r>
              <a:rPr lang="en-US"/>
              <a:t> (plannings, </a:t>
            </a:r>
            <a:r>
              <a:rPr lang="en-US" err="1"/>
              <a:t>pointage</a:t>
            </a:r>
            <a:r>
              <a:rPr lang="en-US"/>
              <a:t>…)</a:t>
            </a:r>
          </a:p>
          <a:p>
            <a:pPr>
              <a:buFont typeface="Arial"/>
              <a:buChar char="•"/>
            </a:pPr>
            <a:r>
              <a:rPr lang="en-US"/>
              <a:t>✅ </a:t>
            </a:r>
            <a:r>
              <a:rPr lang="en-US" b="1"/>
              <a:t>Le </a:t>
            </a:r>
            <a:r>
              <a:rPr lang="en-US" b="1" err="1"/>
              <a:t>juge</a:t>
            </a:r>
            <a:r>
              <a:rPr lang="en-US" b="1"/>
              <a:t> </a:t>
            </a:r>
            <a:r>
              <a:rPr lang="en-US" b="1" err="1"/>
              <a:t>forme</a:t>
            </a:r>
            <a:r>
              <a:rPr lang="en-US" b="1"/>
              <a:t> </a:t>
            </a:r>
            <a:r>
              <a:rPr lang="en-US" b="1" err="1"/>
              <a:t>sa</a:t>
            </a:r>
            <a:r>
              <a:rPr lang="en-US" b="1"/>
              <a:t> conviction</a:t>
            </a:r>
            <a:r>
              <a:rPr lang="en-US"/>
              <a:t> </a:t>
            </a:r>
            <a:r>
              <a:rPr lang="en-US" err="1"/>
              <a:t>en</a:t>
            </a:r>
            <a:r>
              <a:rPr lang="en-US"/>
              <a:t> </a:t>
            </a:r>
            <a:r>
              <a:rPr lang="en-US" err="1"/>
              <a:t>confrontant</a:t>
            </a:r>
            <a:r>
              <a:rPr lang="en-US"/>
              <a:t> les deux</a:t>
            </a:r>
          </a:p>
          <a:p>
            <a:endParaRPr lang="en-US"/>
          </a:p>
          <a:p>
            <a:pPr marL="171450" indent="-171450">
              <a:buFont typeface="Arial"/>
              <a:buChar char="•"/>
            </a:pPr>
            <a:endParaRPr lang="en-US"/>
          </a:p>
          <a:p>
            <a:endParaRPr lang="en-US"/>
          </a:p>
          <a:p>
            <a:endParaRPr lang="en-US"/>
          </a:p>
        </p:txBody>
      </p:sp>
      <p:sp>
        <p:nvSpPr>
          <p:cNvPr id="4" name="Espace réservé du numéro de diapositive 3">
            <a:extLst>
              <a:ext uri="{FF2B5EF4-FFF2-40B4-BE49-F238E27FC236}">
                <a16:creationId xmlns:a16="http://schemas.microsoft.com/office/drawing/2014/main" id="{200BD9B2-0535-8419-9682-3AA14272199A}"/>
              </a:ext>
            </a:extLst>
          </p:cNvPr>
          <p:cNvSpPr>
            <a:spLocks noGrp="1"/>
          </p:cNvSpPr>
          <p:nvPr>
            <p:ph type="sldNum" sz="quarter" idx="5"/>
          </p:nvPr>
        </p:nvSpPr>
        <p:spPr/>
        <p:txBody>
          <a:bodyPr/>
          <a:lstStyle/>
          <a:p>
            <a:fld id="{0910B20E-BFE3-41E1-A49B-15A522566010}" type="slidenum">
              <a:rPr lang="fr-FR" smtClean="0"/>
              <a:t>39</a:t>
            </a:fld>
            <a:endParaRPr lang="fr-FR"/>
          </a:p>
        </p:txBody>
      </p:sp>
    </p:spTree>
    <p:extLst>
      <p:ext uri="{BB962C8B-B14F-4D97-AF65-F5344CB8AC3E}">
        <p14:creationId xmlns:p14="http://schemas.microsoft.com/office/powerpoint/2010/main" val="37282564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17E6F-416D-7C80-6E4F-2352F1C8870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1A9D54A-DDB6-977D-4B69-11C744240FB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AE1D36-D86B-2A68-32C8-546FCB682D6E}"/>
              </a:ext>
            </a:extLst>
          </p:cNvPr>
          <p:cNvSpPr>
            <a:spLocks noGrp="1"/>
          </p:cNvSpPr>
          <p:nvPr>
            <p:ph type="body" idx="1"/>
          </p:nvPr>
        </p:nvSpPr>
        <p:spPr/>
        <p:txBody>
          <a:bodyPr/>
          <a:lstStyle/>
          <a:p>
            <a:pPr algn="just"/>
            <a:r>
              <a:rPr lang="fr-FR" u="sng"/>
              <a:t>Faits </a:t>
            </a:r>
            <a:r>
              <a:rPr lang="fr-FR"/>
              <a:t>: Un employé de libre-service dans une grande surface devait, chaque jour, se rendre du vestiaire à la pointeuse pour enregistrer son temps de travail. Pour effectuer ce trajet, il devait traverser la surface de vente fréquentée par la clientèle, en tenue de travail et portant un badge comportement des mentions telles que « 100% à votre service », « Puis-je vous aider? » ou « Oui attitude ». </a:t>
            </a:r>
            <a:endParaRPr lang="en-US"/>
          </a:p>
          <a:p>
            <a:pPr algn="just"/>
            <a:r>
              <a:rPr lang="fr-FR"/>
              <a:t>Il était donc régulièrement sollicité par les clients et devait leur répondre.</a:t>
            </a:r>
            <a:endParaRPr lang="en-US"/>
          </a:p>
          <a:p>
            <a:pPr algn="just"/>
            <a:endParaRPr lang="fr-FR"/>
          </a:p>
          <a:p>
            <a:pPr algn="just"/>
            <a:r>
              <a:rPr lang="fr-FR"/>
              <a:t>Estimant que ce temps constituait du temps de travail effectif, le salarié a saisi le CPH pour obtenir la requalification de ce temps de trajet et le paiement de rappels de salaire.</a:t>
            </a:r>
          </a:p>
          <a:p>
            <a:pPr algn="just"/>
            <a:endParaRPr lang="fr-FR"/>
          </a:p>
          <a:p>
            <a:endParaRPr lang="fr-FR"/>
          </a:p>
        </p:txBody>
      </p:sp>
      <p:sp>
        <p:nvSpPr>
          <p:cNvPr id="4" name="Espace réservé du numéro de diapositive 3">
            <a:extLst>
              <a:ext uri="{FF2B5EF4-FFF2-40B4-BE49-F238E27FC236}">
                <a16:creationId xmlns:a16="http://schemas.microsoft.com/office/drawing/2014/main" id="{CD05CB67-1744-46C9-A0E1-EE04E6B9D35C}"/>
              </a:ext>
            </a:extLst>
          </p:cNvPr>
          <p:cNvSpPr>
            <a:spLocks noGrp="1"/>
          </p:cNvSpPr>
          <p:nvPr>
            <p:ph type="sldNum" sz="quarter" idx="5"/>
          </p:nvPr>
        </p:nvSpPr>
        <p:spPr/>
        <p:txBody>
          <a:bodyPr/>
          <a:lstStyle/>
          <a:p>
            <a:fld id="{7588CE97-4D95-4093-964B-F0E24615FF45}" type="slidenum">
              <a:rPr lang="fr-FR" smtClean="0"/>
              <a:t>40</a:t>
            </a:fld>
            <a:endParaRPr lang="fr-FR"/>
          </a:p>
        </p:txBody>
      </p:sp>
    </p:spTree>
    <p:extLst>
      <p:ext uri="{BB962C8B-B14F-4D97-AF65-F5344CB8AC3E}">
        <p14:creationId xmlns:p14="http://schemas.microsoft.com/office/powerpoint/2010/main" val="6428632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2826E-AC48-1985-DCA6-B3E8BCF9709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6C1F28E-895C-B5C2-ACE6-D5BBEC0BCBB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92E5C7F-D3C8-66DD-9AAC-F2A2B2CC0F91}"/>
              </a:ext>
            </a:extLst>
          </p:cNvPr>
          <p:cNvSpPr>
            <a:spLocks noGrp="1"/>
          </p:cNvSpPr>
          <p:nvPr>
            <p:ph type="body" idx="1"/>
          </p:nvPr>
        </p:nvSpPr>
        <p:spPr/>
        <p:txBody>
          <a:bodyPr/>
          <a:lstStyle/>
          <a:p>
            <a:r>
              <a:rPr lang="fr-FR">
                <a:highlight>
                  <a:srgbClr val="FFFF00"/>
                </a:highlight>
              </a:rPr>
              <a:t>QUESTION DE DROIT –</a:t>
            </a:r>
            <a:r>
              <a:rPr lang="fr-FR" b="1"/>
              <a:t> Le temps de trajet entre le vestiaire et la pointeuse constitue-t-il un temps de travail effectif lorsque le salarié, en tenue de travail et au contact de la clientèle, est amené à répondre aux sollicitations des clients ? </a:t>
            </a:r>
            <a:br>
              <a:rPr lang="fr-FR" b="1">
                <a:cs typeface="+mn-lt"/>
              </a:rPr>
            </a:br>
            <a:endParaRPr lang="fr-FR"/>
          </a:p>
        </p:txBody>
      </p:sp>
      <p:sp>
        <p:nvSpPr>
          <p:cNvPr id="4" name="Espace réservé du numéro de diapositive 3">
            <a:extLst>
              <a:ext uri="{FF2B5EF4-FFF2-40B4-BE49-F238E27FC236}">
                <a16:creationId xmlns:a16="http://schemas.microsoft.com/office/drawing/2014/main" id="{408D8E79-D9C7-6939-DBA1-CFFE99EB0C3D}"/>
              </a:ext>
            </a:extLst>
          </p:cNvPr>
          <p:cNvSpPr>
            <a:spLocks noGrp="1"/>
          </p:cNvSpPr>
          <p:nvPr>
            <p:ph type="sldNum" sz="quarter" idx="5"/>
          </p:nvPr>
        </p:nvSpPr>
        <p:spPr/>
        <p:txBody>
          <a:bodyPr/>
          <a:lstStyle/>
          <a:p>
            <a:fld id="{7588CE97-4D95-4093-964B-F0E24615FF45}" type="slidenum">
              <a:rPr lang="fr-FR" smtClean="0"/>
              <a:t>41</a:t>
            </a:fld>
            <a:endParaRPr lang="fr-FR"/>
          </a:p>
        </p:txBody>
      </p:sp>
    </p:spTree>
    <p:extLst>
      <p:ext uri="{BB962C8B-B14F-4D97-AF65-F5344CB8AC3E}">
        <p14:creationId xmlns:p14="http://schemas.microsoft.com/office/powerpoint/2010/main" val="17018169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5AB67-0779-C14D-CF5C-23B7C9759DF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F8316A5-4709-7664-D682-D4C763A671E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C5E239A-D60C-A93E-5E90-0141BEBD0317}"/>
              </a:ext>
            </a:extLst>
          </p:cNvPr>
          <p:cNvSpPr>
            <a:spLocks noGrp="1"/>
          </p:cNvSpPr>
          <p:nvPr>
            <p:ph type="body" idx="1"/>
          </p:nvPr>
        </p:nvSpPr>
        <p:spPr/>
        <p:txBody>
          <a:bodyPr/>
          <a:lstStyle/>
          <a:p>
            <a:r>
              <a:rPr lang="fr-FR"/>
              <a:t>SI nous devons se rattacher strictement aux dispositions légales, le temps de travail est considéré comme le temps pendant lequel le salarié est à la disposition de l’employeur et se conforme à ses directives sans pouvoir vaquer librement à des préoccupations personnelles. </a:t>
            </a:r>
          </a:p>
          <a:p>
            <a:endParaRPr lang="fr-FR"/>
          </a:p>
          <a:p>
            <a:r>
              <a:rPr lang="fr-FR"/>
              <a:t>Dans certains cas, il n’est pas toujours facile de se prononcer sur cette qualification, les juges apprécient la situation au cas par cas. </a:t>
            </a:r>
          </a:p>
        </p:txBody>
      </p:sp>
      <p:sp>
        <p:nvSpPr>
          <p:cNvPr id="4" name="Espace réservé du numéro de diapositive 3">
            <a:extLst>
              <a:ext uri="{FF2B5EF4-FFF2-40B4-BE49-F238E27FC236}">
                <a16:creationId xmlns:a16="http://schemas.microsoft.com/office/drawing/2014/main" id="{7DD2D59A-B930-602E-0DFC-728C2C1F67FE}"/>
              </a:ext>
            </a:extLst>
          </p:cNvPr>
          <p:cNvSpPr>
            <a:spLocks noGrp="1"/>
          </p:cNvSpPr>
          <p:nvPr>
            <p:ph type="sldNum" sz="quarter" idx="5"/>
          </p:nvPr>
        </p:nvSpPr>
        <p:spPr/>
        <p:txBody>
          <a:bodyPr/>
          <a:lstStyle/>
          <a:p>
            <a:fld id="{7588CE97-4D95-4093-964B-F0E24615FF45}" type="slidenum">
              <a:rPr lang="fr-FR" smtClean="0"/>
              <a:t>42</a:t>
            </a:fld>
            <a:endParaRPr lang="fr-FR"/>
          </a:p>
        </p:txBody>
      </p:sp>
    </p:spTree>
    <p:extLst>
      <p:ext uri="{BB962C8B-B14F-4D97-AF65-F5344CB8AC3E}">
        <p14:creationId xmlns:p14="http://schemas.microsoft.com/office/powerpoint/2010/main" val="30098191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3CFBF-E02C-29FC-4B0C-6004807E9BB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055D275-7B9F-1026-D139-8A98E003C0D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620359D-6D57-1B5E-9AE3-52CA004E4A63}"/>
              </a:ext>
            </a:extLst>
          </p:cNvPr>
          <p:cNvSpPr>
            <a:spLocks noGrp="1"/>
          </p:cNvSpPr>
          <p:nvPr>
            <p:ph type="body" idx="1"/>
          </p:nvPr>
        </p:nvSpPr>
        <p:spPr/>
        <p:txBody>
          <a:bodyPr/>
          <a:lstStyle/>
          <a:p>
            <a:pPr algn="just"/>
            <a:r>
              <a:rPr lang="en-US" b="1"/>
              <a:t>FAIT </a:t>
            </a:r>
            <a:r>
              <a:rPr lang="en-US"/>
              <a:t>: </a:t>
            </a:r>
            <a:r>
              <a:rPr lang="fr-FR"/>
              <a:t>Le 11 février 2016, l’employeur a remis au salarié, en main propre, une convocation à l’entretien préalable au licenciement pour faute.</a:t>
            </a:r>
            <a:endParaRPr lang="en-US">
              <a:solidFill>
                <a:srgbClr val="444444"/>
              </a:solidFill>
            </a:endParaRPr>
          </a:p>
          <a:p>
            <a:pPr algn="just"/>
            <a:r>
              <a:rPr lang="fr-FR"/>
              <a:t> Le salarié refuse de signer la décharge (mention « Refus de signer »). </a:t>
            </a:r>
            <a:endParaRPr lang="en-US">
              <a:solidFill>
                <a:srgbClr val="444444"/>
              </a:solidFill>
            </a:endParaRPr>
          </a:p>
          <a:p>
            <a:pPr algn="just"/>
            <a:r>
              <a:rPr lang="fr-FR"/>
              <a:t>Il se présente le jour de l’entretien préalable au licenciement. </a:t>
            </a:r>
            <a:endParaRPr lang="en-US">
              <a:solidFill>
                <a:srgbClr val="444444"/>
              </a:solidFill>
            </a:endParaRPr>
          </a:p>
          <a:p>
            <a:pPr algn="just"/>
            <a:r>
              <a:rPr lang="fr-FR"/>
              <a:t>Puis, conformément aux délais de la procédure, il a été licencié un peu plus tard.</a:t>
            </a:r>
            <a:endParaRPr lang="en-US">
              <a:solidFill>
                <a:srgbClr val="444444"/>
              </a:solidFill>
            </a:endParaRPr>
          </a:p>
          <a:p>
            <a:pPr algn="just"/>
            <a:endParaRPr lang="fr-FR"/>
          </a:p>
          <a:p>
            <a:pPr algn="just"/>
            <a:r>
              <a:rPr lang="fr-FR"/>
              <a:t>Le salarié a saisi les juges d’une demande indemnitaire au titre d’une irrégularité de son licenciement.</a:t>
            </a:r>
            <a:endParaRPr lang="en-US">
              <a:solidFill>
                <a:srgbClr val="444444"/>
              </a:solidFill>
            </a:endParaRPr>
          </a:p>
          <a:p>
            <a:pPr algn="just"/>
            <a:endParaRPr lang="fr-FR"/>
          </a:p>
          <a:p>
            <a:r>
              <a:rPr lang="en-US" b="1">
                <a:highlight>
                  <a:srgbClr val="FFFF00"/>
                </a:highlight>
              </a:rPr>
              <a:t>QUESTION DE DROIT POSEE - </a:t>
            </a:r>
            <a:r>
              <a:rPr lang="en-US" b="1" err="1">
                <a:highlight>
                  <a:srgbClr val="FFFF00"/>
                </a:highlight>
              </a:rPr>
              <a:t>L’absence</a:t>
            </a:r>
            <a:r>
              <a:rPr lang="en-US" b="1">
                <a:highlight>
                  <a:srgbClr val="FFFF00"/>
                </a:highlight>
              </a:rPr>
              <a:t> de signature du </a:t>
            </a:r>
            <a:r>
              <a:rPr lang="en-US" b="1" err="1">
                <a:highlight>
                  <a:srgbClr val="FFFF00"/>
                </a:highlight>
              </a:rPr>
              <a:t>salarié</a:t>
            </a:r>
            <a:r>
              <a:rPr lang="en-US" b="1">
                <a:highlight>
                  <a:srgbClr val="FFFF00"/>
                </a:highlight>
              </a:rPr>
              <a:t> sur la </a:t>
            </a:r>
            <a:r>
              <a:rPr lang="en-US" b="1" err="1">
                <a:highlight>
                  <a:srgbClr val="FFFF00"/>
                </a:highlight>
              </a:rPr>
              <a:t>décharge</a:t>
            </a:r>
            <a:r>
              <a:rPr lang="en-US" b="1">
                <a:highlight>
                  <a:srgbClr val="FFFF00"/>
                </a:highlight>
              </a:rPr>
              <a:t> </a:t>
            </a:r>
            <a:r>
              <a:rPr lang="en-US" b="1" err="1">
                <a:highlight>
                  <a:srgbClr val="FFFF00"/>
                </a:highlight>
              </a:rPr>
              <a:t>présentée</a:t>
            </a:r>
            <a:r>
              <a:rPr lang="en-US" b="1">
                <a:highlight>
                  <a:srgbClr val="FFFF00"/>
                </a:highlight>
              </a:rPr>
              <a:t> par </a:t>
            </a:r>
            <a:r>
              <a:rPr lang="en-US" b="1" err="1">
                <a:highlight>
                  <a:srgbClr val="FFFF00"/>
                </a:highlight>
              </a:rPr>
              <a:t>l’employeur</a:t>
            </a:r>
            <a:r>
              <a:rPr lang="en-US" b="1">
                <a:highlight>
                  <a:srgbClr val="FFFF00"/>
                </a:highlight>
              </a:rPr>
              <a:t> </a:t>
            </a:r>
            <a:r>
              <a:rPr lang="en-US" b="1" err="1">
                <a:highlight>
                  <a:srgbClr val="FFFF00"/>
                </a:highlight>
              </a:rPr>
              <a:t>valait</a:t>
            </a:r>
            <a:r>
              <a:rPr lang="en-US" b="1">
                <a:highlight>
                  <a:srgbClr val="FFFF00"/>
                </a:highlight>
              </a:rPr>
              <a:t> </a:t>
            </a:r>
            <a:r>
              <a:rPr lang="en-US" b="1" err="1">
                <a:highlight>
                  <a:srgbClr val="FFFF00"/>
                </a:highlight>
              </a:rPr>
              <a:t>irrégularité</a:t>
            </a:r>
            <a:r>
              <a:rPr lang="en-US" b="1">
                <a:highlight>
                  <a:srgbClr val="FFFF00"/>
                </a:highlight>
              </a:rPr>
              <a:t> de </a:t>
            </a:r>
            <a:r>
              <a:rPr lang="en-US" b="1" err="1">
                <a:highlight>
                  <a:srgbClr val="FFFF00"/>
                </a:highlight>
              </a:rPr>
              <a:t>procédure</a:t>
            </a:r>
            <a:r>
              <a:rPr lang="en-US" b="1">
                <a:highlight>
                  <a:srgbClr val="FFFF00"/>
                </a:highlight>
              </a:rPr>
              <a:t> ? </a:t>
            </a:r>
            <a:endParaRPr lang="fr-FR" b="1">
              <a:highlight>
                <a:srgbClr val="FFFF00"/>
              </a:highlight>
            </a:endParaRPr>
          </a:p>
          <a:p>
            <a:endParaRPr lang="en-US"/>
          </a:p>
        </p:txBody>
      </p:sp>
      <p:sp>
        <p:nvSpPr>
          <p:cNvPr id="4" name="Espace réservé du numéro de diapositive 3">
            <a:extLst>
              <a:ext uri="{FF2B5EF4-FFF2-40B4-BE49-F238E27FC236}">
                <a16:creationId xmlns:a16="http://schemas.microsoft.com/office/drawing/2014/main" id="{2D9A5E20-E761-1F31-40E9-7E78BEEA45AF}"/>
              </a:ext>
            </a:extLst>
          </p:cNvPr>
          <p:cNvSpPr>
            <a:spLocks noGrp="1"/>
          </p:cNvSpPr>
          <p:nvPr>
            <p:ph type="sldNum" sz="quarter" idx="5"/>
          </p:nvPr>
        </p:nvSpPr>
        <p:spPr/>
        <p:txBody>
          <a:bodyPr/>
          <a:lstStyle/>
          <a:p>
            <a:fld id="{0910B20E-BFE3-41E1-A49B-15A522566010}" type="slidenum">
              <a:rPr lang="fr-FR" smtClean="0"/>
              <a:t>44</a:t>
            </a:fld>
            <a:endParaRPr lang="fr-FR"/>
          </a:p>
        </p:txBody>
      </p:sp>
    </p:spTree>
    <p:extLst>
      <p:ext uri="{BB962C8B-B14F-4D97-AF65-F5344CB8AC3E}">
        <p14:creationId xmlns:p14="http://schemas.microsoft.com/office/powerpoint/2010/main" val="23284723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F4DA3-561F-E283-8DFF-7810BF77152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9631915-EF32-A515-5BEF-AE19CA562A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0655A41-6DD9-A1C8-570B-A417FF4BCC7B}"/>
              </a:ext>
            </a:extLst>
          </p:cNvPr>
          <p:cNvSpPr>
            <a:spLocks noGrp="1"/>
          </p:cNvSpPr>
          <p:nvPr>
            <p:ph type="body" idx="1"/>
          </p:nvPr>
        </p:nvSpPr>
        <p:spPr/>
        <p:txBody>
          <a:bodyPr/>
          <a:lstStyle/>
          <a:p>
            <a:endParaRPr lang="en-US"/>
          </a:p>
          <a:p>
            <a:endParaRPr lang="en-US" b="1"/>
          </a:p>
          <a:p>
            <a:endParaRPr lang="en-US"/>
          </a:p>
          <a:p>
            <a:endParaRPr lang="en-US"/>
          </a:p>
        </p:txBody>
      </p:sp>
      <p:sp>
        <p:nvSpPr>
          <p:cNvPr id="4" name="Espace réservé du numéro de diapositive 3">
            <a:extLst>
              <a:ext uri="{FF2B5EF4-FFF2-40B4-BE49-F238E27FC236}">
                <a16:creationId xmlns:a16="http://schemas.microsoft.com/office/drawing/2014/main" id="{BA7720E0-B0AC-2BFA-A19A-2C5D76566B19}"/>
              </a:ext>
            </a:extLst>
          </p:cNvPr>
          <p:cNvSpPr>
            <a:spLocks noGrp="1"/>
          </p:cNvSpPr>
          <p:nvPr>
            <p:ph type="sldNum" sz="quarter" idx="5"/>
          </p:nvPr>
        </p:nvSpPr>
        <p:spPr/>
        <p:txBody>
          <a:bodyPr/>
          <a:lstStyle/>
          <a:p>
            <a:fld id="{0910B20E-BFE3-41E1-A49B-15A522566010}" type="slidenum">
              <a:rPr lang="fr-FR" smtClean="0"/>
              <a:t>45</a:t>
            </a:fld>
            <a:endParaRPr lang="fr-FR"/>
          </a:p>
        </p:txBody>
      </p:sp>
    </p:spTree>
    <p:extLst>
      <p:ext uri="{BB962C8B-B14F-4D97-AF65-F5344CB8AC3E}">
        <p14:creationId xmlns:p14="http://schemas.microsoft.com/office/powerpoint/2010/main" val="19510673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6037-1D29-9427-7145-36E7FF6DEAD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636761B-F61E-8579-88F2-E8E14864825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0C9E439-4379-E7FA-CF14-DF76D03513A8}"/>
              </a:ext>
            </a:extLst>
          </p:cNvPr>
          <p:cNvSpPr>
            <a:spLocks noGrp="1"/>
          </p:cNvSpPr>
          <p:nvPr>
            <p:ph type="body" idx="1"/>
          </p:nvPr>
        </p:nvSpPr>
        <p:spPr/>
        <p:txBody>
          <a:bodyPr/>
          <a:lstStyle/>
          <a:p>
            <a:endParaRPr lang="en-US"/>
          </a:p>
        </p:txBody>
      </p:sp>
      <p:sp>
        <p:nvSpPr>
          <p:cNvPr id="4" name="Espace réservé du numéro de diapositive 3">
            <a:extLst>
              <a:ext uri="{FF2B5EF4-FFF2-40B4-BE49-F238E27FC236}">
                <a16:creationId xmlns:a16="http://schemas.microsoft.com/office/drawing/2014/main" id="{DC86057D-C2B6-E39A-EC23-0A2E2E04CCB5}"/>
              </a:ext>
            </a:extLst>
          </p:cNvPr>
          <p:cNvSpPr>
            <a:spLocks noGrp="1"/>
          </p:cNvSpPr>
          <p:nvPr>
            <p:ph type="sldNum" sz="quarter" idx="5"/>
          </p:nvPr>
        </p:nvSpPr>
        <p:spPr/>
        <p:txBody>
          <a:bodyPr/>
          <a:lstStyle/>
          <a:p>
            <a:fld id="{0910B20E-BFE3-41E1-A49B-15A522566010}" type="slidenum">
              <a:rPr lang="fr-FR" smtClean="0"/>
              <a:t>46</a:t>
            </a:fld>
            <a:endParaRPr lang="fr-FR"/>
          </a:p>
        </p:txBody>
      </p:sp>
    </p:spTree>
    <p:extLst>
      <p:ext uri="{BB962C8B-B14F-4D97-AF65-F5344CB8AC3E}">
        <p14:creationId xmlns:p14="http://schemas.microsoft.com/office/powerpoint/2010/main" val="5118574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8C103-E5B3-9962-990A-6DD3D98BA64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395F6DD-8F62-6880-82D2-4F876D1B284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E3E86B8-489B-6C8D-EDB1-0F0DF0E98CA4}"/>
              </a:ext>
            </a:extLst>
          </p:cNvPr>
          <p:cNvSpPr>
            <a:spLocks noGrp="1"/>
          </p:cNvSpPr>
          <p:nvPr>
            <p:ph type="body" idx="1"/>
          </p:nvPr>
        </p:nvSpPr>
        <p:spPr/>
        <p:txBody>
          <a:bodyPr/>
          <a:lstStyle/>
          <a:p>
            <a:pPr algn="l"/>
            <a:r>
              <a:rPr lang="fr-FR" b="1"/>
              <a:t>LUCILE</a:t>
            </a:r>
          </a:p>
          <a:p>
            <a:r>
              <a:rPr lang="fr-FR"/>
              <a:t>Faits :un salarié engagé comme agent d'intervention </a:t>
            </a:r>
            <a:r>
              <a:rPr lang="fr-FR" b="0" i="0" kern="1200">
                <a:solidFill>
                  <a:schemeClr val="tx1"/>
                </a:solidFill>
                <a:effectLst/>
              </a:rPr>
              <a:t>avait </a:t>
            </a:r>
            <a:r>
              <a:rPr lang="fr-FR"/>
              <a:t>démissionné le 31 mai 2023 sans effectuer </a:t>
            </a:r>
            <a:r>
              <a:rPr lang="fr-FR" b="0" i="0" kern="1200">
                <a:solidFill>
                  <a:schemeClr val="tx1"/>
                </a:solidFill>
                <a:effectLst/>
              </a:rPr>
              <a:t>le préavis </a:t>
            </a:r>
            <a:r>
              <a:rPr lang="fr-FR"/>
              <a:t>d’un mois auquel il était tenu selon l’employeur.</a:t>
            </a:r>
            <a:endParaRPr lang="en-US"/>
          </a:p>
          <a:p>
            <a:r>
              <a:rPr lang="fr-FR"/>
              <a:t>Le conseil </a:t>
            </a:r>
            <a:r>
              <a:rPr lang="fr-FR" b="0" i="0" kern="1200">
                <a:solidFill>
                  <a:schemeClr val="tx1"/>
                </a:solidFill>
                <a:effectLst/>
              </a:rPr>
              <a:t>de </a:t>
            </a:r>
            <a:r>
              <a:rPr lang="fr-FR"/>
              <a:t>prud’hommes est saisi.</a:t>
            </a:r>
          </a:p>
        </p:txBody>
      </p:sp>
      <p:sp>
        <p:nvSpPr>
          <p:cNvPr id="4" name="Espace réservé du numéro de diapositive 3">
            <a:extLst>
              <a:ext uri="{FF2B5EF4-FFF2-40B4-BE49-F238E27FC236}">
                <a16:creationId xmlns:a16="http://schemas.microsoft.com/office/drawing/2014/main" id="{4ED2F31A-FEA1-7EAE-98EA-8FBB51E576C8}"/>
              </a:ext>
            </a:extLst>
          </p:cNvPr>
          <p:cNvSpPr>
            <a:spLocks noGrp="1"/>
          </p:cNvSpPr>
          <p:nvPr>
            <p:ph type="sldNum" sz="quarter" idx="5"/>
          </p:nvPr>
        </p:nvSpPr>
        <p:spPr/>
        <p:txBody>
          <a:bodyPr/>
          <a:lstStyle/>
          <a:p>
            <a:fld id="{7588CE97-4D95-4093-964B-F0E24615FF45}" type="slidenum">
              <a:rPr lang="fr-FR" smtClean="0"/>
              <a:t>47</a:t>
            </a:fld>
            <a:endParaRPr lang="fr-FR"/>
          </a:p>
        </p:txBody>
      </p:sp>
    </p:spTree>
    <p:extLst>
      <p:ext uri="{BB962C8B-B14F-4D97-AF65-F5344CB8AC3E}">
        <p14:creationId xmlns:p14="http://schemas.microsoft.com/office/powerpoint/2010/main" val="390587981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72DF4-9C7F-D9C9-30C5-B1F04BCF1BC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F166091-BB26-25F4-8E53-F8C8F0EC708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96FDEE7-D6E8-4B71-F586-D97636EF4D51}"/>
              </a:ext>
            </a:extLst>
          </p:cNvPr>
          <p:cNvSpPr>
            <a:spLocks noGrp="1"/>
          </p:cNvSpPr>
          <p:nvPr>
            <p:ph type="body" idx="1"/>
          </p:nvPr>
        </p:nvSpPr>
        <p:spPr/>
        <p:txBody>
          <a:bodyPr/>
          <a:lstStyle/>
          <a:p>
            <a:r>
              <a:rPr lang="fr-FR" b="1"/>
              <a:t>LUCILE</a:t>
            </a:r>
            <a:endParaRPr lang="fr-FR"/>
          </a:p>
          <a:p>
            <a:pPr algn="l"/>
            <a:r>
              <a:rPr lang="fr-FR"/>
              <a:t>L'employeur saisi le CPH et demande réparation. Le conseil </a:t>
            </a:r>
            <a:r>
              <a:rPr lang="fr-FR" b="0" i="0" kern="1200">
                <a:solidFill>
                  <a:schemeClr val="tx1"/>
                </a:solidFill>
                <a:effectLst/>
              </a:rPr>
              <a:t>de </a:t>
            </a:r>
            <a:r>
              <a:rPr lang="fr-FR"/>
              <a:t>prud’hommes l’avait </a:t>
            </a:r>
            <a:r>
              <a:rPr lang="fr-FR" b="0" i="0" kern="1200">
                <a:solidFill>
                  <a:schemeClr val="tx1"/>
                </a:solidFill>
                <a:effectLst/>
              </a:rPr>
              <a:t>notamment </a:t>
            </a:r>
            <a:r>
              <a:rPr lang="fr-FR"/>
              <a:t>condamné à payer à l’employeur une indemnité </a:t>
            </a:r>
            <a:r>
              <a:rPr lang="fr-FR" b="0" i="0" kern="1200">
                <a:solidFill>
                  <a:schemeClr val="tx1"/>
                </a:solidFill>
                <a:effectLst/>
              </a:rPr>
              <a:t>de préavis (</a:t>
            </a:r>
            <a:r>
              <a:rPr lang="fr-FR"/>
              <a:t>1 747,24 €) et des dommages-intérêts (1 000 €) pour non-respect du préavis</a:t>
            </a:r>
            <a:r>
              <a:rPr lang="fr-FR" b="0" i="0" kern="1200">
                <a:solidFill>
                  <a:schemeClr val="tx1"/>
                </a:solidFill>
                <a:effectLst/>
              </a:rPr>
              <a:t>.</a:t>
            </a:r>
            <a:endParaRPr lang="fr-FR"/>
          </a:p>
        </p:txBody>
      </p:sp>
      <p:sp>
        <p:nvSpPr>
          <p:cNvPr id="4" name="Espace réservé du numéro de diapositive 3">
            <a:extLst>
              <a:ext uri="{FF2B5EF4-FFF2-40B4-BE49-F238E27FC236}">
                <a16:creationId xmlns:a16="http://schemas.microsoft.com/office/drawing/2014/main" id="{3313D7F1-B369-A0B6-9627-948C902DA9CA}"/>
              </a:ext>
            </a:extLst>
          </p:cNvPr>
          <p:cNvSpPr>
            <a:spLocks noGrp="1"/>
          </p:cNvSpPr>
          <p:nvPr>
            <p:ph type="sldNum" sz="quarter" idx="5"/>
          </p:nvPr>
        </p:nvSpPr>
        <p:spPr/>
        <p:txBody>
          <a:bodyPr/>
          <a:lstStyle/>
          <a:p>
            <a:fld id="{7588CE97-4D95-4093-964B-F0E24615FF45}" type="slidenum">
              <a:rPr lang="fr-FR" smtClean="0"/>
              <a:t>48</a:t>
            </a:fld>
            <a:endParaRPr lang="fr-FR"/>
          </a:p>
        </p:txBody>
      </p:sp>
    </p:spTree>
    <p:extLst>
      <p:ext uri="{BB962C8B-B14F-4D97-AF65-F5344CB8AC3E}">
        <p14:creationId xmlns:p14="http://schemas.microsoft.com/office/powerpoint/2010/main" val="3838785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4C025-F8F0-AA62-69A3-3D2B4EFB9ED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6A8CF7C-4C28-FC4E-9611-5DE19875C69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4DB8152-7932-8324-3497-ED309E2A9AD3}"/>
              </a:ext>
            </a:extLst>
          </p:cNvPr>
          <p:cNvSpPr>
            <a:spLocks noGrp="1"/>
          </p:cNvSpPr>
          <p:nvPr>
            <p:ph type="body" idx="1"/>
          </p:nvPr>
        </p:nvSpPr>
        <p:spPr/>
        <p:txBody>
          <a:bodyPr/>
          <a:lstStyle/>
          <a:p>
            <a:r>
              <a:rPr lang="fr-FR" b="1"/>
              <a:t>LUCILE</a:t>
            </a:r>
          </a:p>
          <a:p>
            <a:r>
              <a:rPr lang="fr-FR"/>
              <a:t>Exemples  abus </a:t>
            </a:r>
            <a:r>
              <a:rPr lang="fr-FR" err="1"/>
              <a:t>manisfeste</a:t>
            </a:r>
            <a:r>
              <a:rPr lang="fr-FR"/>
              <a:t> : Dénigrement de l’entreprise / Propos injurieux, diffamatoires ou excessifs / Propagation de </a:t>
            </a:r>
            <a:r>
              <a:rPr lang="fr-FR" b="1"/>
              <a:t>fausses accusations auprès des clients ou collègues</a:t>
            </a:r>
          </a:p>
          <a:p>
            <a:endParaRPr lang="fr-FR"/>
          </a:p>
          <a:p>
            <a:endParaRPr lang="fr-FR"/>
          </a:p>
          <a:p>
            <a:endParaRPr lang="fr-FR" b="1"/>
          </a:p>
          <a:p>
            <a:endParaRPr lang="fr-FR"/>
          </a:p>
        </p:txBody>
      </p:sp>
      <p:sp>
        <p:nvSpPr>
          <p:cNvPr id="4" name="Espace réservé du numéro de diapositive 3">
            <a:extLst>
              <a:ext uri="{FF2B5EF4-FFF2-40B4-BE49-F238E27FC236}">
                <a16:creationId xmlns:a16="http://schemas.microsoft.com/office/drawing/2014/main" id="{8DA1960A-8EE2-E22E-69EF-62D6C7CBC33D}"/>
              </a:ext>
            </a:extLst>
          </p:cNvPr>
          <p:cNvSpPr>
            <a:spLocks noGrp="1"/>
          </p:cNvSpPr>
          <p:nvPr>
            <p:ph type="sldNum" sz="quarter" idx="5"/>
          </p:nvPr>
        </p:nvSpPr>
        <p:spPr/>
        <p:txBody>
          <a:bodyPr/>
          <a:lstStyle/>
          <a:p>
            <a:fld id="{7588CE97-4D95-4093-964B-F0E24615FF45}" type="slidenum">
              <a:rPr lang="fr-FR" smtClean="0"/>
              <a:t>49</a:t>
            </a:fld>
            <a:endParaRPr lang="fr-FR"/>
          </a:p>
        </p:txBody>
      </p:sp>
    </p:spTree>
    <p:extLst>
      <p:ext uri="{BB962C8B-B14F-4D97-AF65-F5344CB8AC3E}">
        <p14:creationId xmlns:p14="http://schemas.microsoft.com/office/powerpoint/2010/main" val="38491067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err="1"/>
              <a:t>Qr</a:t>
            </a:r>
            <a:r>
              <a:rPr lang="fr-FR"/>
              <a:t> code dispo pour petit questionnaire de satisfaction</a:t>
            </a:r>
          </a:p>
        </p:txBody>
      </p:sp>
      <p:sp>
        <p:nvSpPr>
          <p:cNvPr id="4" name="Espace réservé du numéro de diapositive 3"/>
          <p:cNvSpPr>
            <a:spLocks noGrp="1"/>
          </p:cNvSpPr>
          <p:nvPr>
            <p:ph type="sldNum" sz="quarter" idx="5"/>
          </p:nvPr>
        </p:nvSpPr>
        <p:spPr/>
        <p:txBody>
          <a:bodyPr/>
          <a:lstStyle/>
          <a:p>
            <a:fld id="{0910B20E-BFE3-41E1-A49B-15A522566010}" type="slidenum">
              <a:rPr lang="fr-FR" smtClean="0"/>
              <a:t>51</a:t>
            </a:fld>
            <a:endParaRPr lang="fr-FR"/>
          </a:p>
        </p:txBody>
      </p:sp>
    </p:spTree>
    <p:extLst>
      <p:ext uri="{BB962C8B-B14F-4D97-AF65-F5344CB8AC3E}">
        <p14:creationId xmlns:p14="http://schemas.microsoft.com/office/powerpoint/2010/main" val="377638110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1.xml"/><Relationship Id="rId4" Type="http://schemas.openxmlformats.org/officeDocument/2006/relationships/image" Target="../media/image17.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28.svg"/><Relationship Id="rId4" Type="http://schemas.openxmlformats.org/officeDocument/2006/relationships/image" Target="../media/image27.jpe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DBA8AF-530D-488D-A23C-3A43C8D2203E}"/>
              </a:ext>
            </a:extLst>
          </p:cNvPr>
          <p:cNvSpPr/>
          <p:nvPr userDrawn="1"/>
        </p:nvSpPr>
        <p:spPr>
          <a:xfrm>
            <a:off x="0" y="4021521"/>
            <a:ext cx="1946246" cy="1745539"/>
          </a:xfrm>
          <a:prstGeom prst="rect">
            <a:avLst/>
          </a:prstGeom>
          <a:solidFill>
            <a:srgbClr val="E400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CC788AB9-32C9-4F49-8B89-158BE916C56E}"/>
              </a:ext>
            </a:extLst>
          </p:cNvPr>
          <p:cNvSpPr/>
          <p:nvPr userDrawn="1"/>
        </p:nvSpPr>
        <p:spPr>
          <a:xfrm rot="5400000">
            <a:off x="6196355" y="-228585"/>
            <a:ext cx="1745536" cy="10245754"/>
          </a:xfrm>
          <a:prstGeom prst="rect">
            <a:avLst/>
          </a:prstGeom>
          <a:solidFill>
            <a:srgbClr val="5D15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1B7597BB-B67B-41F0-AD5D-E837734F4095}"/>
              </a:ext>
            </a:extLst>
          </p:cNvPr>
          <p:cNvSpPr/>
          <p:nvPr userDrawn="1"/>
        </p:nvSpPr>
        <p:spPr>
          <a:xfrm>
            <a:off x="134046" y="4298520"/>
            <a:ext cx="1464018" cy="553998"/>
          </a:xfrm>
          <a:prstGeom prst="rect">
            <a:avLst/>
          </a:prstGeom>
        </p:spPr>
        <p:txBody>
          <a:bodyPr wrap="square">
            <a:spAutoFit/>
          </a:bodyPr>
          <a:lstStyle/>
          <a:p>
            <a:r>
              <a:rPr lang="fr-FR" b="1" baseline="30000">
                <a:solidFill>
                  <a:schemeClr val="bg1"/>
                </a:solidFill>
                <a:latin typeface="Montserrat" panose="00000500000000000000" pitchFamily="50" charset="0"/>
              </a:rPr>
              <a:t>Des experts</a:t>
            </a:r>
          </a:p>
          <a:p>
            <a:r>
              <a:rPr lang="fr-FR" b="1" baseline="30000">
                <a:solidFill>
                  <a:schemeClr val="bg1"/>
                </a:solidFill>
                <a:latin typeface="Montserrat" panose="00000500000000000000" pitchFamily="50" charset="0"/>
              </a:rPr>
              <a:t>à votre service</a:t>
            </a:r>
            <a:endParaRPr lang="fr-FR">
              <a:solidFill>
                <a:schemeClr val="bg1"/>
              </a:solidFill>
            </a:endParaRPr>
          </a:p>
        </p:txBody>
      </p:sp>
      <p:sp>
        <p:nvSpPr>
          <p:cNvPr id="10" name="Ellipse 9">
            <a:extLst>
              <a:ext uri="{FF2B5EF4-FFF2-40B4-BE49-F238E27FC236}">
                <a16:creationId xmlns:a16="http://schemas.microsoft.com/office/drawing/2014/main" id="{933F49D5-600C-4547-80DE-67C4521E1037}"/>
              </a:ext>
            </a:extLst>
          </p:cNvPr>
          <p:cNvSpPr/>
          <p:nvPr userDrawn="1"/>
        </p:nvSpPr>
        <p:spPr>
          <a:xfrm>
            <a:off x="1420941" y="4627917"/>
            <a:ext cx="49338" cy="49338"/>
          </a:xfrm>
          <a:prstGeom prst="ellipse">
            <a:avLst/>
          </a:prstGeom>
          <a:solidFill>
            <a:srgbClr val="5D15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3" name="Image 12" descr="Une image contenant texte, clipart&#10;&#10;Description générée automatiquement">
            <a:extLst>
              <a:ext uri="{FF2B5EF4-FFF2-40B4-BE49-F238E27FC236}">
                <a16:creationId xmlns:a16="http://schemas.microsoft.com/office/drawing/2014/main" id="{2F7BCC67-306B-4E0D-9700-9738CE664C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24028" y="6151134"/>
            <a:ext cx="1502127" cy="422877"/>
          </a:xfrm>
          <a:prstGeom prst="rect">
            <a:avLst/>
          </a:prstGeom>
        </p:spPr>
      </p:pic>
      <p:pic>
        <p:nvPicPr>
          <p:cNvPr id="14" name="Image 13" descr="Une image contenant texte, personne, intérieur, document&#10;&#10;Description générée automatiquement">
            <a:extLst>
              <a:ext uri="{FF2B5EF4-FFF2-40B4-BE49-F238E27FC236}">
                <a16:creationId xmlns:a16="http://schemas.microsoft.com/office/drawing/2014/main" id="{3DCEE8A7-E384-44CF-96A8-E07E008510F0}"/>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25204" b="16156"/>
          <a:stretch/>
        </p:blipFill>
        <p:spPr>
          <a:xfrm>
            <a:off x="1912620" y="0"/>
            <a:ext cx="10287000" cy="4021520"/>
          </a:xfrm>
          <a:prstGeom prst="rect">
            <a:avLst/>
          </a:prstGeom>
        </p:spPr>
      </p:pic>
      <p:sp>
        <p:nvSpPr>
          <p:cNvPr id="15" name="Rectangle 14">
            <a:extLst>
              <a:ext uri="{FF2B5EF4-FFF2-40B4-BE49-F238E27FC236}">
                <a16:creationId xmlns:a16="http://schemas.microsoft.com/office/drawing/2014/main" id="{C30C2B00-7766-461E-81D7-FC68F920A1D2}"/>
              </a:ext>
            </a:extLst>
          </p:cNvPr>
          <p:cNvSpPr/>
          <p:nvPr userDrawn="1"/>
        </p:nvSpPr>
        <p:spPr>
          <a:xfrm>
            <a:off x="0" y="0"/>
            <a:ext cx="1946246" cy="4021520"/>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a:extLst>
              <a:ext uri="{FF2B5EF4-FFF2-40B4-BE49-F238E27FC236}">
                <a16:creationId xmlns:a16="http://schemas.microsoft.com/office/drawing/2014/main" id="{C0EB648E-6DE8-4169-A27E-6F9F2B2D6454}"/>
              </a:ext>
            </a:extLst>
          </p:cNvPr>
          <p:cNvSpPr/>
          <p:nvPr userDrawn="1"/>
        </p:nvSpPr>
        <p:spPr>
          <a:xfrm rot="16200000">
            <a:off x="-100580" y="767630"/>
            <a:ext cx="987771" cy="338554"/>
          </a:xfrm>
          <a:prstGeom prst="rect">
            <a:avLst/>
          </a:prstGeom>
        </p:spPr>
        <p:txBody>
          <a:bodyPr wrap="none">
            <a:spAutoFit/>
          </a:bodyPr>
          <a:lstStyle/>
          <a:p>
            <a:pPr algn="r"/>
            <a:r>
              <a:rPr lang="fr-FR" sz="2400" b="1" baseline="30000">
                <a:solidFill>
                  <a:schemeClr val="bg1"/>
                </a:solidFill>
                <a:latin typeface="Montserrat" panose="00000500000000000000" pitchFamily="50" charset="0"/>
              </a:rPr>
              <a:t>SOCIAL</a:t>
            </a:r>
          </a:p>
        </p:txBody>
      </p:sp>
      <p:pic>
        <p:nvPicPr>
          <p:cNvPr id="17" name="Image 16">
            <a:extLst>
              <a:ext uri="{FF2B5EF4-FFF2-40B4-BE49-F238E27FC236}">
                <a16:creationId xmlns:a16="http://schemas.microsoft.com/office/drawing/2014/main" id="{DA016E93-A714-4CAC-A773-BD85B427F69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7107" y="-96"/>
            <a:ext cx="555476" cy="552927"/>
          </a:xfrm>
          <a:prstGeom prst="rect">
            <a:avLst/>
          </a:prstGeom>
        </p:spPr>
      </p:pic>
      <p:pic>
        <p:nvPicPr>
          <p:cNvPr id="19" name="Image 18">
            <a:extLst>
              <a:ext uri="{FF2B5EF4-FFF2-40B4-BE49-F238E27FC236}">
                <a16:creationId xmlns:a16="http://schemas.microsoft.com/office/drawing/2014/main" id="{CC86D119-49B5-4505-8E72-003AE5B6E2C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186325" y="6151133"/>
            <a:ext cx="781647" cy="422878"/>
          </a:xfrm>
          <a:prstGeom prst="rect">
            <a:avLst/>
          </a:prstGeom>
        </p:spPr>
      </p:pic>
      <p:sp>
        <p:nvSpPr>
          <p:cNvPr id="2" name="Titre 1">
            <a:extLst>
              <a:ext uri="{FF2B5EF4-FFF2-40B4-BE49-F238E27FC236}">
                <a16:creationId xmlns:a16="http://schemas.microsoft.com/office/drawing/2014/main" id="{DF5128DC-0410-493F-8298-A35FAFFD2CA8}"/>
              </a:ext>
            </a:extLst>
          </p:cNvPr>
          <p:cNvSpPr>
            <a:spLocks noGrp="1"/>
          </p:cNvSpPr>
          <p:nvPr>
            <p:ph type="ctrTitle" hasCustomPrompt="1"/>
          </p:nvPr>
        </p:nvSpPr>
        <p:spPr>
          <a:xfrm>
            <a:off x="2823972" y="4343400"/>
            <a:ext cx="9144000" cy="740306"/>
          </a:xfrm>
        </p:spPr>
        <p:txBody>
          <a:bodyPr anchor="b">
            <a:normAutofit/>
          </a:bodyPr>
          <a:lstStyle>
            <a:lvl1pPr algn="r">
              <a:defRPr sz="2400" b="1" cap="all" baseline="0">
                <a:solidFill>
                  <a:schemeClr val="bg1"/>
                </a:solidFill>
                <a:latin typeface="Montserrat" panose="00000500000000000000" pitchFamily="2" charset="0"/>
              </a:defRPr>
            </a:lvl1pPr>
          </a:lstStyle>
          <a:p>
            <a:r>
              <a:rPr lang="fr-FR"/>
              <a:t>TITRE SUR DEUX LIGNES</a:t>
            </a:r>
            <a:br>
              <a:rPr lang="fr-FR"/>
            </a:br>
            <a:r>
              <a:rPr lang="fr-FR"/>
              <a:t>DU PPT</a:t>
            </a:r>
          </a:p>
        </p:txBody>
      </p:sp>
      <p:sp>
        <p:nvSpPr>
          <p:cNvPr id="3" name="Sous-titre 2">
            <a:extLst>
              <a:ext uri="{FF2B5EF4-FFF2-40B4-BE49-F238E27FC236}">
                <a16:creationId xmlns:a16="http://schemas.microsoft.com/office/drawing/2014/main" id="{26831194-32F6-4C8B-8EE5-EE0163124993}"/>
              </a:ext>
            </a:extLst>
          </p:cNvPr>
          <p:cNvSpPr>
            <a:spLocks noGrp="1"/>
          </p:cNvSpPr>
          <p:nvPr>
            <p:ph type="subTitle" idx="1" hasCustomPrompt="1"/>
          </p:nvPr>
        </p:nvSpPr>
        <p:spPr>
          <a:xfrm>
            <a:off x="2823972" y="5175781"/>
            <a:ext cx="9144000" cy="291997"/>
          </a:xfrm>
        </p:spPr>
        <p:txBody>
          <a:bodyPr>
            <a:normAutofit/>
          </a:bodyPr>
          <a:lstStyle>
            <a:lvl1pPr marL="0" indent="0" algn="r">
              <a:buNone/>
              <a:defRPr sz="1800">
                <a:solidFill>
                  <a:schemeClr val="bg1"/>
                </a:solidFill>
                <a:latin typeface="Montserrat" panose="000005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Sous-titre.</a:t>
            </a:r>
          </a:p>
        </p:txBody>
      </p:sp>
    </p:spTree>
    <p:extLst>
      <p:ext uri="{BB962C8B-B14F-4D97-AF65-F5344CB8AC3E}">
        <p14:creationId xmlns:p14="http://schemas.microsoft.com/office/powerpoint/2010/main" val="28819801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apositive sommai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1A3D69-5B78-4D6F-84FC-4A482AD55271}"/>
              </a:ext>
            </a:extLst>
          </p:cNvPr>
          <p:cNvSpPr/>
          <p:nvPr userDrawn="1"/>
        </p:nvSpPr>
        <p:spPr>
          <a:xfrm>
            <a:off x="1" y="1641"/>
            <a:ext cx="3888188" cy="4305954"/>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D6F1E8C5-E0C8-484C-87BA-94533A80DE4B}"/>
              </a:ext>
            </a:extLst>
          </p:cNvPr>
          <p:cNvSpPr txBox="1"/>
          <p:nvPr userDrawn="1"/>
        </p:nvSpPr>
        <p:spPr>
          <a:xfrm>
            <a:off x="452362" y="98164"/>
            <a:ext cx="3308607" cy="1446550"/>
          </a:xfrm>
          <a:prstGeom prst="rect">
            <a:avLst/>
          </a:prstGeom>
          <a:noFill/>
        </p:spPr>
        <p:txBody>
          <a:bodyPr wrap="square" rtlCol="0">
            <a:spAutoFit/>
          </a:bodyPr>
          <a:lstStyle/>
          <a:p>
            <a:r>
              <a:rPr lang="fr-FR" sz="8800" b="1">
                <a:solidFill>
                  <a:schemeClr val="bg1"/>
                </a:solidFill>
                <a:latin typeface="Montserrat" panose="00000500000000000000" pitchFamily="50" charset="0"/>
              </a:rPr>
              <a:t>som-</a:t>
            </a:r>
          </a:p>
        </p:txBody>
      </p:sp>
      <p:sp>
        <p:nvSpPr>
          <p:cNvPr id="9" name="Rectangle 8">
            <a:extLst>
              <a:ext uri="{FF2B5EF4-FFF2-40B4-BE49-F238E27FC236}">
                <a16:creationId xmlns:a16="http://schemas.microsoft.com/office/drawing/2014/main" id="{B5FF9A02-CD38-44EE-9856-DD6C3A42E450}"/>
              </a:ext>
            </a:extLst>
          </p:cNvPr>
          <p:cNvSpPr/>
          <p:nvPr userDrawn="1"/>
        </p:nvSpPr>
        <p:spPr>
          <a:xfrm>
            <a:off x="452363" y="1416581"/>
            <a:ext cx="3006457" cy="1446550"/>
          </a:xfrm>
          <a:prstGeom prst="rect">
            <a:avLst/>
          </a:prstGeom>
        </p:spPr>
        <p:txBody>
          <a:bodyPr wrap="square">
            <a:spAutoFit/>
          </a:bodyPr>
          <a:lstStyle/>
          <a:p>
            <a:r>
              <a:rPr lang="fr-FR" sz="8800" b="1">
                <a:solidFill>
                  <a:schemeClr val="bg1"/>
                </a:solidFill>
                <a:latin typeface="Montserrat" panose="00000500000000000000" pitchFamily="50" charset="0"/>
              </a:rPr>
              <a:t>mai-</a:t>
            </a:r>
            <a:endParaRPr lang="fr-FR" sz="8800"/>
          </a:p>
        </p:txBody>
      </p:sp>
      <p:sp>
        <p:nvSpPr>
          <p:cNvPr id="10" name="Rectangle 9">
            <a:extLst>
              <a:ext uri="{FF2B5EF4-FFF2-40B4-BE49-F238E27FC236}">
                <a16:creationId xmlns:a16="http://schemas.microsoft.com/office/drawing/2014/main" id="{6BE5AB3C-BC40-422E-AD17-7E829DAD6180}"/>
              </a:ext>
            </a:extLst>
          </p:cNvPr>
          <p:cNvSpPr/>
          <p:nvPr userDrawn="1"/>
        </p:nvSpPr>
        <p:spPr>
          <a:xfrm>
            <a:off x="452363" y="2731538"/>
            <a:ext cx="1382110" cy="1446550"/>
          </a:xfrm>
          <a:prstGeom prst="rect">
            <a:avLst/>
          </a:prstGeom>
        </p:spPr>
        <p:txBody>
          <a:bodyPr wrap="none">
            <a:spAutoFit/>
          </a:bodyPr>
          <a:lstStyle/>
          <a:p>
            <a:r>
              <a:rPr lang="fr-FR" sz="8800" b="1">
                <a:solidFill>
                  <a:schemeClr val="bg1"/>
                </a:solidFill>
                <a:latin typeface="Montserrat" panose="00000500000000000000" pitchFamily="50" charset="0"/>
              </a:rPr>
              <a:t>re</a:t>
            </a:r>
            <a:endParaRPr lang="fr-FR" sz="8800"/>
          </a:p>
        </p:txBody>
      </p:sp>
      <p:pic>
        <p:nvPicPr>
          <p:cNvPr id="12" name="Image 11">
            <a:extLst>
              <a:ext uri="{FF2B5EF4-FFF2-40B4-BE49-F238E27FC236}">
                <a16:creationId xmlns:a16="http://schemas.microsoft.com/office/drawing/2014/main" id="{5425ADDA-3699-4E85-8BD2-6F74F053310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17994" b="19158"/>
          <a:stretch/>
        </p:blipFill>
        <p:spPr>
          <a:xfrm>
            <a:off x="0" y="4307595"/>
            <a:ext cx="3888188" cy="2550405"/>
          </a:xfrm>
          <a:prstGeom prst="rect">
            <a:avLst/>
          </a:prstGeom>
        </p:spPr>
      </p:pic>
      <p:sp>
        <p:nvSpPr>
          <p:cNvPr id="3" name="Espace réservé du contenu 2">
            <a:extLst>
              <a:ext uri="{FF2B5EF4-FFF2-40B4-BE49-F238E27FC236}">
                <a16:creationId xmlns:a16="http://schemas.microsoft.com/office/drawing/2014/main" id="{B6C84C07-CAA5-4FD2-A829-0A1B0B736964}"/>
              </a:ext>
            </a:extLst>
          </p:cNvPr>
          <p:cNvSpPr>
            <a:spLocks noGrp="1"/>
          </p:cNvSpPr>
          <p:nvPr>
            <p:ph idx="1" hasCustomPrompt="1"/>
          </p:nvPr>
        </p:nvSpPr>
        <p:spPr>
          <a:xfrm>
            <a:off x="5397912" y="1231459"/>
            <a:ext cx="5427406" cy="4351338"/>
          </a:xfrm>
        </p:spPr>
        <p:txBody>
          <a:bodyPr>
            <a:normAutofit/>
          </a:bodyPr>
          <a:lstStyle>
            <a:lvl1pPr marL="514350" indent="-514350">
              <a:buAutoNum type="arabicPeriod"/>
              <a:defRPr sz="1600" b="1" cap="all" baseline="0">
                <a:solidFill>
                  <a:srgbClr val="68BBB4"/>
                </a:solidFill>
                <a:latin typeface="Montserrat" panose="00000500000000000000" pitchFamily="2" charset="0"/>
              </a:defRPr>
            </a:lvl1pPr>
          </a:lstStyle>
          <a:p>
            <a:pPr lvl="0"/>
            <a:r>
              <a:rPr lang="fr-FR"/>
              <a:t>TITRE 1</a:t>
            </a:r>
          </a:p>
          <a:p>
            <a:pPr lvl="0"/>
            <a:r>
              <a:rPr lang="fr-FR"/>
              <a:t>TITRE 2</a:t>
            </a:r>
          </a:p>
          <a:p>
            <a:pPr lvl="0"/>
            <a:r>
              <a:rPr lang="fr-FR"/>
              <a:t>TITRE 3</a:t>
            </a:r>
          </a:p>
        </p:txBody>
      </p:sp>
      <p:pic>
        <p:nvPicPr>
          <p:cNvPr id="13" name="Image 12">
            <a:extLst>
              <a:ext uri="{FF2B5EF4-FFF2-40B4-BE49-F238E27FC236}">
                <a16:creationId xmlns:a16="http://schemas.microsoft.com/office/drawing/2014/main" id="{7E3C0ABB-9CDF-4063-8249-C339471F6C7B}"/>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866366" y="6320028"/>
            <a:ext cx="1106718" cy="368283"/>
          </a:xfrm>
          <a:prstGeom prst="rect">
            <a:avLst/>
          </a:prstGeom>
        </p:spPr>
      </p:pic>
      <p:sp>
        <p:nvSpPr>
          <p:cNvPr id="11" name="Ellipse 10">
            <a:extLst>
              <a:ext uri="{FF2B5EF4-FFF2-40B4-BE49-F238E27FC236}">
                <a16:creationId xmlns:a16="http://schemas.microsoft.com/office/drawing/2014/main" id="{47DAC7C0-880E-4BBB-8F08-08A39EC67EEE}"/>
              </a:ext>
            </a:extLst>
          </p:cNvPr>
          <p:cNvSpPr/>
          <p:nvPr userDrawn="1"/>
        </p:nvSpPr>
        <p:spPr>
          <a:xfrm>
            <a:off x="1834473" y="3473868"/>
            <a:ext cx="375557" cy="375557"/>
          </a:xfrm>
          <a:prstGeom prst="ellipse">
            <a:avLst/>
          </a:prstGeom>
          <a:solidFill>
            <a:srgbClr val="E400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1617354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C11DC9A-9201-4584-9047-6862FF34E0E6}"/>
              </a:ext>
            </a:extLst>
          </p:cNvPr>
          <p:cNvSpPr/>
          <p:nvPr userDrawn="1"/>
        </p:nvSpPr>
        <p:spPr>
          <a:xfrm>
            <a:off x="3147147" y="326325"/>
            <a:ext cx="362139" cy="99588"/>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0" name="Image 9">
            <a:extLst>
              <a:ext uri="{FF2B5EF4-FFF2-40B4-BE49-F238E27FC236}">
                <a16:creationId xmlns:a16="http://schemas.microsoft.com/office/drawing/2014/main" id="{C9092B40-82B3-48C1-AE75-5B55438DC18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8753" r="55579"/>
          <a:stretch/>
        </p:blipFill>
        <p:spPr>
          <a:xfrm>
            <a:off x="0" y="-1"/>
            <a:ext cx="2679010" cy="6858001"/>
          </a:xfrm>
          <a:prstGeom prst="rect">
            <a:avLst/>
          </a:prstGeom>
        </p:spPr>
      </p:pic>
      <p:sp>
        <p:nvSpPr>
          <p:cNvPr id="2" name="Titre 1">
            <a:extLst>
              <a:ext uri="{FF2B5EF4-FFF2-40B4-BE49-F238E27FC236}">
                <a16:creationId xmlns:a16="http://schemas.microsoft.com/office/drawing/2014/main" id="{C91ACFE2-DCAB-4ED0-8FB9-BCC1EE79CC18}"/>
              </a:ext>
            </a:extLst>
          </p:cNvPr>
          <p:cNvSpPr>
            <a:spLocks noGrp="1"/>
          </p:cNvSpPr>
          <p:nvPr>
            <p:ph type="title" hasCustomPrompt="1"/>
          </p:nvPr>
        </p:nvSpPr>
        <p:spPr>
          <a:xfrm>
            <a:off x="3067866" y="553150"/>
            <a:ext cx="8701347" cy="368283"/>
          </a:xfrm>
        </p:spPr>
        <p:txBody>
          <a:bodyPr anchor="b">
            <a:normAutofit/>
          </a:bodyPr>
          <a:lstStyle>
            <a:lvl1pPr>
              <a:defRPr sz="1800" b="1" cap="all" baseline="0">
                <a:solidFill>
                  <a:srgbClr val="68BBB4"/>
                </a:solidFill>
                <a:latin typeface="Montserrat" panose="00000500000000000000" pitchFamily="2" charset="0"/>
              </a:defRPr>
            </a:lvl1pPr>
          </a:lstStyle>
          <a:p>
            <a:r>
              <a:rPr lang="fr-FR"/>
              <a:t>Titre DE LA SLIDE</a:t>
            </a:r>
          </a:p>
        </p:txBody>
      </p:sp>
      <p:sp>
        <p:nvSpPr>
          <p:cNvPr id="3" name="Espace réservé du texte 2">
            <a:extLst>
              <a:ext uri="{FF2B5EF4-FFF2-40B4-BE49-F238E27FC236}">
                <a16:creationId xmlns:a16="http://schemas.microsoft.com/office/drawing/2014/main" id="{AF0F525D-CD4D-4AD5-87C3-A27048DA48F3}"/>
              </a:ext>
            </a:extLst>
          </p:cNvPr>
          <p:cNvSpPr>
            <a:spLocks noGrp="1"/>
          </p:cNvSpPr>
          <p:nvPr>
            <p:ph type="body" idx="1" hasCustomPrompt="1"/>
          </p:nvPr>
        </p:nvSpPr>
        <p:spPr>
          <a:xfrm>
            <a:off x="3067866" y="1725562"/>
            <a:ext cx="8701347" cy="4478594"/>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sp>
        <p:nvSpPr>
          <p:cNvPr id="14" name="Espace réservé du texte 2">
            <a:extLst>
              <a:ext uri="{FF2B5EF4-FFF2-40B4-BE49-F238E27FC236}">
                <a16:creationId xmlns:a16="http://schemas.microsoft.com/office/drawing/2014/main" id="{91C43884-4B5A-4F4B-8EE7-E4763C088A37}"/>
              </a:ext>
            </a:extLst>
          </p:cNvPr>
          <p:cNvSpPr>
            <a:spLocks noGrp="1"/>
          </p:cNvSpPr>
          <p:nvPr>
            <p:ph type="body" idx="10" hasCustomPrompt="1"/>
          </p:nvPr>
        </p:nvSpPr>
        <p:spPr>
          <a:xfrm>
            <a:off x="3067866" y="921433"/>
            <a:ext cx="8701346" cy="435419"/>
          </a:xfrm>
        </p:spPr>
        <p:txBody>
          <a:bodyPr anchor="b">
            <a:normAutofit/>
          </a:bodyPr>
          <a:lstStyle>
            <a:lvl1pPr marL="0" indent="0">
              <a:buNone/>
              <a:defRPr sz="1600" b="1">
                <a:solidFill>
                  <a:srgbClr val="E4003A"/>
                </a:solidFill>
                <a:latin typeface="Montserrat" panose="00000500000000000000"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Sous-titre de la slide</a:t>
            </a:r>
          </a:p>
        </p:txBody>
      </p:sp>
      <p:pic>
        <p:nvPicPr>
          <p:cNvPr id="9" name="Image 8">
            <a:extLst>
              <a:ext uri="{FF2B5EF4-FFF2-40B4-BE49-F238E27FC236}">
                <a16:creationId xmlns:a16="http://schemas.microsoft.com/office/drawing/2014/main" id="{165D51D4-A6C0-4118-8B89-AB4A2C92D7BC}"/>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866366" y="6320028"/>
            <a:ext cx="1106718" cy="368283"/>
          </a:xfrm>
          <a:prstGeom prst="rect">
            <a:avLst/>
          </a:prstGeom>
        </p:spPr>
      </p:pic>
    </p:spTree>
    <p:extLst>
      <p:ext uri="{BB962C8B-B14F-4D97-AF65-F5344CB8AC3E}">
        <p14:creationId xmlns:p14="http://schemas.microsoft.com/office/powerpoint/2010/main" val="25300186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37D8DE7-2193-4019-BB5F-A56363D6304A}"/>
              </a:ext>
            </a:extLst>
          </p:cNvPr>
          <p:cNvSpPr/>
          <p:nvPr userDrawn="1"/>
        </p:nvSpPr>
        <p:spPr>
          <a:xfrm>
            <a:off x="499197" y="326325"/>
            <a:ext cx="362139" cy="99588"/>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Titre 1">
            <a:extLst>
              <a:ext uri="{FF2B5EF4-FFF2-40B4-BE49-F238E27FC236}">
                <a16:creationId xmlns:a16="http://schemas.microsoft.com/office/drawing/2014/main" id="{0268465F-7F66-415D-87C8-D7740D7BDAB2}"/>
              </a:ext>
            </a:extLst>
          </p:cNvPr>
          <p:cNvSpPr>
            <a:spLocks noGrp="1"/>
          </p:cNvSpPr>
          <p:nvPr>
            <p:ph type="title" hasCustomPrompt="1"/>
          </p:nvPr>
        </p:nvSpPr>
        <p:spPr>
          <a:xfrm>
            <a:off x="419916" y="553150"/>
            <a:ext cx="8701347" cy="368283"/>
          </a:xfrm>
        </p:spPr>
        <p:txBody>
          <a:bodyPr anchor="b">
            <a:normAutofit/>
          </a:bodyPr>
          <a:lstStyle>
            <a:lvl1pPr>
              <a:defRPr sz="1800" b="1" cap="all" baseline="0">
                <a:solidFill>
                  <a:srgbClr val="68BBB4"/>
                </a:solidFill>
                <a:latin typeface="Montserrat" panose="00000500000000000000" pitchFamily="2" charset="0"/>
              </a:defRPr>
            </a:lvl1pPr>
          </a:lstStyle>
          <a:p>
            <a:r>
              <a:rPr lang="fr-FR"/>
              <a:t>Titre DE LA SLIDE</a:t>
            </a:r>
          </a:p>
        </p:txBody>
      </p:sp>
      <p:sp>
        <p:nvSpPr>
          <p:cNvPr id="12" name="Espace réservé du texte 2">
            <a:extLst>
              <a:ext uri="{FF2B5EF4-FFF2-40B4-BE49-F238E27FC236}">
                <a16:creationId xmlns:a16="http://schemas.microsoft.com/office/drawing/2014/main" id="{AA11C895-8D31-42B0-8DDC-083A8D8EA3B9}"/>
              </a:ext>
            </a:extLst>
          </p:cNvPr>
          <p:cNvSpPr>
            <a:spLocks noGrp="1"/>
          </p:cNvSpPr>
          <p:nvPr>
            <p:ph type="body" idx="10" hasCustomPrompt="1"/>
          </p:nvPr>
        </p:nvSpPr>
        <p:spPr>
          <a:xfrm>
            <a:off x="419916" y="921433"/>
            <a:ext cx="8701346" cy="435419"/>
          </a:xfrm>
        </p:spPr>
        <p:txBody>
          <a:bodyPr anchor="b">
            <a:normAutofit/>
          </a:bodyPr>
          <a:lstStyle>
            <a:lvl1pPr marL="0" indent="0">
              <a:buNone/>
              <a:defRPr sz="1600" b="1">
                <a:solidFill>
                  <a:srgbClr val="E4003A"/>
                </a:solidFill>
                <a:latin typeface="Montserrat" panose="00000500000000000000"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Sous-titre de la slide</a:t>
            </a:r>
          </a:p>
        </p:txBody>
      </p:sp>
      <p:sp>
        <p:nvSpPr>
          <p:cNvPr id="18" name="Espace réservé du texte 2">
            <a:extLst>
              <a:ext uri="{FF2B5EF4-FFF2-40B4-BE49-F238E27FC236}">
                <a16:creationId xmlns:a16="http://schemas.microsoft.com/office/drawing/2014/main" id="{5EFF2B42-3638-4F1B-87A6-1F8C63F94B2D}"/>
              </a:ext>
            </a:extLst>
          </p:cNvPr>
          <p:cNvSpPr>
            <a:spLocks noGrp="1"/>
          </p:cNvSpPr>
          <p:nvPr>
            <p:ph type="body" idx="1" hasCustomPrompt="1"/>
          </p:nvPr>
        </p:nvSpPr>
        <p:spPr>
          <a:xfrm>
            <a:off x="419917" y="1725562"/>
            <a:ext cx="8701346" cy="4478594"/>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pic>
        <p:nvPicPr>
          <p:cNvPr id="8" name="Image 7">
            <a:extLst>
              <a:ext uri="{FF2B5EF4-FFF2-40B4-BE49-F238E27FC236}">
                <a16:creationId xmlns:a16="http://schemas.microsoft.com/office/drawing/2014/main" id="{6899CF44-F0D0-46B5-94FF-8C8C80901924}"/>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30284" r="43738"/>
          <a:stretch/>
        </p:blipFill>
        <p:spPr>
          <a:xfrm>
            <a:off x="9512990" y="0"/>
            <a:ext cx="2679010" cy="6858000"/>
          </a:xfrm>
          <a:prstGeom prst="rect">
            <a:avLst/>
          </a:prstGeom>
        </p:spPr>
      </p:pic>
      <p:pic>
        <p:nvPicPr>
          <p:cNvPr id="11" name="Image 10">
            <a:extLst>
              <a:ext uri="{FF2B5EF4-FFF2-40B4-BE49-F238E27FC236}">
                <a16:creationId xmlns:a16="http://schemas.microsoft.com/office/drawing/2014/main" id="{E8A4F9DC-5CB5-4CE2-B5C5-B12E6306177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207891" y="6320028"/>
            <a:ext cx="1106718" cy="368283"/>
          </a:xfrm>
          <a:prstGeom prst="rect">
            <a:avLst/>
          </a:prstGeom>
        </p:spPr>
      </p:pic>
    </p:spTree>
    <p:extLst>
      <p:ext uri="{BB962C8B-B14F-4D97-AF65-F5344CB8AC3E}">
        <p14:creationId xmlns:p14="http://schemas.microsoft.com/office/powerpoint/2010/main" val="4121264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re de sectio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22D456F-8B0F-40C1-86A8-A3D05934A13D}"/>
              </a:ext>
            </a:extLst>
          </p:cNvPr>
          <p:cNvSpPr/>
          <p:nvPr userDrawn="1"/>
        </p:nvSpPr>
        <p:spPr>
          <a:xfrm>
            <a:off x="0" y="0"/>
            <a:ext cx="133003" cy="6858000"/>
          </a:xfrm>
          <a:prstGeom prst="rect">
            <a:avLst/>
          </a:prstGeom>
          <a:solidFill>
            <a:srgbClr val="E400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6175F78-B61C-48AF-B5A1-5F346F8E5285}"/>
              </a:ext>
            </a:extLst>
          </p:cNvPr>
          <p:cNvSpPr/>
          <p:nvPr userDrawn="1"/>
        </p:nvSpPr>
        <p:spPr>
          <a:xfrm>
            <a:off x="499197" y="326325"/>
            <a:ext cx="362139" cy="99588"/>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Titre 1">
            <a:extLst>
              <a:ext uri="{FF2B5EF4-FFF2-40B4-BE49-F238E27FC236}">
                <a16:creationId xmlns:a16="http://schemas.microsoft.com/office/drawing/2014/main" id="{6EC7C9E6-D8C9-40B9-A1BB-0CD18C7FF9CB}"/>
              </a:ext>
            </a:extLst>
          </p:cNvPr>
          <p:cNvSpPr>
            <a:spLocks noGrp="1"/>
          </p:cNvSpPr>
          <p:nvPr>
            <p:ph type="title" hasCustomPrompt="1"/>
          </p:nvPr>
        </p:nvSpPr>
        <p:spPr>
          <a:xfrm>
            <a:off x="419916" y="553150"/>
            <a:ext cx="8701347" cy="368283"/>
          </a:xfrm>
        </p:spPr>
        <p:txBody>
          <a:bodyPr anchor="b">
            <a:normAutofit/>
          </a:bodyPr>
          <a:lstStyle>
            <a:lvl1pPr>
              <a:defRPr sz="1800" b="1" cap="all" baseline="0">
                <a:solidFill>
                  <a:srgbClr val="68BBB4"/>
                </a:solidFill>
                <a:latin typeface="Montserrat" panose="00000500000000000000" pitchFamily="2" charset="0"/>
              </a:defRPr>
            </a:lvl1pPr>
          </a:lstStyle>
          <a:p>
            <a:r>
              <a:rPr lang="fr-FR"/>
              <a:t>Titre DE LA SLIDE</a:t>
            </a:r>
          </a:p>
        </p:txBody>
      </p:sp>
      <p:sp>
        <p:nvSpPr>
          <p:cNvPr id="12" name="Espace réservé du texte 2">
            <a:extLst>
              <a:ext uri="{FF2B5EF4-FFF2-40B4-BE49-F238E27FC236}">
                <a16:creationId xmlns:a16="http://schemas.microsoft.com/office/drawing/2014/main" id="{F3AF0AAE-E317-4FE9-8D1B-160425422CD6}"/>
              </a:ext>
            </a:extLst>
          </p:cNvPr>
          <p:cNvSpPr>
            <a:spLocks noGrp="1"/>
          </p:cNvSpPr>
          <p:nvPr>
            <p:ph type="body" idx="10" hasCustomPrompt="1"/>
          </p:nvPr>
        </p:nvSpPr>
        <p:spPr>
          <a:xfrm>
            <a:off x="419916" y="921433"/>
            <a:ext cx="8701346" cy="435419"/>
          </a:xfrm>
        </p:spPr>
        <p:txBody>
          <a:bodyPr anchor="b">
            <a:normAutofit/>
          </a:bodyPr>
          <a:lstStyle>
            <a:lvl1pPr marL="0" indent="0">
              <a:buNone/>
              <a:defRPr sz="1600" b="1">
                <a:solidFill>
                  <a:srgbClr val="E4003A"/>
                </a:solidFill>
                <a:latin typeface="Montserrat" panose="00000500000000000000"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Sous-titre de la slide</a:t>
            </a:r>
          </a:p>
        </p:txBody>
      </p:sp>
      <p:sp>
        <p:nvSpPr>
          <p:cNvPr id="13" name="Espace réservé du texte 2">
            <a:extLst>
              <a:ext uri="{FF2B5EF4-FFF2-40B4-BE49-F238E27FC236}">
                <a16:creationId xmlns:a16="http://schemas.microsoft.com/office/drawing/2014/main" id="{ECE4B1A3-A698-48DA-8022-D4041F0E44F2}"/>
              </a:ext>
            </a:extLst>
          </p:cNvPr>
          <p:cNvSpPr>
            <a:spLocks noGrp="1"/>
          </p:cNvSpPr>
          <p:nvPr>
            <p:ph type="body" idx="1" hasCustomPrompt="1"/>
          </p:nvPr>
        </p:nvSpPr>
        <p:spPr>
          <a:xfrm>
            <a:off x="419916" y="1725562"/>
            <a:ext cx="11349297" cy="4478594"/>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pic>
        <p:nvPicPr>
          <p:cNvPr id="8" name="Image 7">
            <a:extLst>
              <a:ext uri="{FF2B5EF4-FFF2-40B4-BE49-F238E27FC236}">
                <a16:creationId xmlns:a16="http://schemas.microsoft.com/office/drawing/2014/main" id="{BCED6460-64CF-43A3-970D-4CF86330D8D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0866366" y="6320028"/>
            <a:ext cx="1106718" cy="368283"/>
          </a:xfrm>
          <a:prstGeom prst="rect">
            <a:avLst/>
          </a:prstGeom>
        </p:spPr>
      </p:pic>
    </p:spTree>
    <p:extLst>
      <p:ext uri="{BB962C8B-B14F-4D97-AF65-F5344CB8AC3E}">
        <p14:creationId xmlns:p14="http://schemas.microsoft.com/office/powerpoint/2010/main" val="2694752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re de sectio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22D456F-8B0F-40C1-86A8-A3D05934A13D}"/>
              </a:ext>
            </a:extLst>
          </p:cNvPr>
          <p:cNvSpPr/>
          <p:nvPr userDrawn="1"/>
        </p:nvSpPr>
        <p:spPr>
          <a:xfrm>
            <a:off x="0" y="0"/>
            <a:ext cx="133003" cy="6858000"/>
          </a:xfrm>
          <a:prstGeom prst="rect">
            <a:avLst/>
          </a:prstGeom>
          <a:solidFill>
            <a:srgbClr val="E400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6175F78-B61C-48AF-B5A1-5F346F8E5285}"/>
              </a:ext>
            </a:extLst>
          </p:cNvPr>
          <p:cNvSpPr/>
          <p:nvPr userDrawn="1"/>
        </p:nvSpPr>
        <p:spPr>
          <a:xfrm>
            <a:off x="499197" y="326325"/>
            <a:ext cx="362139" cy="99588"/>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Titre 1">
            <a:extLst>
              <a:ext uri="{FF2B5EF4-FFF2-40B4-BE49-F238E27FC236}">
                <a16:creationId xmlns:a16="http://schemas.microsoft.com/office/drawing/2014/main" id="{6EC7C9E6-D8C9-40B9-A1BB-0CD18C7FF9CB}"/>
              </a:ext>
            </a:extLst>
          </p:cNvPr>
          <p:cNvSpPr>
            <a:spLocks noGrp="1"/>
          </p:cNvSpPr>
          <p:nvPr>
            <p:ph type="title" hasCustomPrompt="1"/>
          </p:nvPr>
        </p:nvSpPr>
        <p:spPr>
          <a:xfrm>
            <a:off x="419916" y="553150"/>
            <a:ext cx="8701347" cy="368283"/>
          </a:xfrm>
        </p:spPr>
        <p:txBody>
          <a:bodyPr anchor="b">
            <a:normAutofit/>
          </a:bodyPr>
          <a:lstStyle>
            <a:lvl1pPr>
              <a:defRPr sz="1800" b="1" cap="all" baseline="0">
                <a:solidFill>
                  <a:srgbClr val="68BBB4"/>
                </a:solidFill>
                <a:latin typeface="Montserrat" panose="00000500000000000000" pitchFamily="2" charset="0"/>
              </a:defRPr>
            </a:lvl1pPr>
          </a:lstStyle>
          <a:p>
            <a:r>
              <a:rPr lang="fr-FR"/>
              <a:t>Titre DE LA SLIDE</a:t>
            </a:r>
          </a:p>
        </p:txBody>
      </p:sp>
      <p:sp>
        <p:nvSpPr>
          <p:cNvPr id="12" name="Espace réservé du texte 2">
            <a:extLst>
              <a:ext uri="{FF2B5EF4-FFF2-40B4-BE49-F238E27FC236}">
                <a16:creationId xmlns:a16="http://schemas.microsoft.com/office/drawing/2014/main" id="{F3AF0AAE-E317-4FE9-8D1B-160425422CD6}"/>
              </a:ext>
            </a:extLst>
          </p:cNvPr>
          <p:cNvSpPr>
            <a:spLocks noGrp="1"/>
          </p:cNvSpPr>
          <p:nvPr>
            <p:ph type="body" idx="10" hasCustomPrompt="1"/>
          </p:nvPr>
        </p:nvSpPr>
        <p:spPr>
          <a:xfrm>
            <a:off x="419916" y="921433"/>
            <a:ext cx="8701346" cy="435419"/>
          </a:xfrm>
        </p:spPr>
        <p:txBody>
          <a:bodyPr anchor="b">
            <a:normAutofit/>
          </a:bodyPr>
          <a:lstStyle>
            <a:lvl1pPr marL="0" indent="0">
              <a:buNone/>
              <a:defRPr sz="1600" b="1">
                <a:solidFill>
                  <a:srgbClr val="E4003A"/>
                </a:solidFill>
                <a:latin typeface="Montserrat" panose="00000500000000000000"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Sous-titre de la slide</a:t>
            </a:r>
          </a:p>
        </p:txBody>
      </p:sp>
      <p:sp>
        <p:nvSpPr>
          <p:cNvPr id="10" name="Rectangle 9">
            <a:extLst>
              <a:ext uri="{FF2B5EF4-FFF2-40B4-BE49-F238E27FC236}">
                <a16:creationId xmlns:a16="http://schemas.microsoft.com/office/drawing/2014/main" id="{2080FB46-17E4-451F-98ED-B8D053EBF009}"/>
              </a:ext>
            </a:extLst>
          </p:cNvPr>
          <p:cNvSpPr/>
          <p:nvPr/>
        </p:nvSpPr>
        <p:spPr>
          <a:xfrm>
            <a:off x="3333387" y="2465596"/>
            <a:ext cx="2552942" cy="1483385"/>
          </a:xfrm>
          <a:prstGeom prst="rect">
            <a:avLst/>
          </a:prstGeom>
          <a:noFill/>
          <a:ln>
            <a:solidFill>
              <a:srgbClr val="68BBB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C643BBF1-D340-47F5-836F-9A7CE1DD1F98}"/>
              </a:ext>
            </a:extLst>
          </p:cNvPr>
          <p:cNvSpPr/>
          <p:nvPr/>
        </p:nvSpPr>
        <p:spPr>
          <a:xfrm>
            <a:off x="6257458" y="2464087"/>
            <a:ext cx="2552942" cy="1483385"/>
          </a:xfrm>
          <a:prstGeom prst="rect">
            <a:avLst/>
          </a:prstGeom>
          <a:noFill/>
          <a:ln>
            <a:solidFill>
              <a:srgbClr val="68BBB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9869277F-C6BE-4F4A-8B66-E269605FC4A1}"/>
              </a:ext>
            </a:extLst>
          </p:cNvPr>
          <p:cNvSpPr/>
          <p:nvPr/>
        </p:nvSpPr>
        <p:spPr>
          <a:xfrm>
            <a:off x="3333387" y="4300069"/>
            <a:ext cx="2552942" cy="1483385"/>
          </a:xfrm>
          <a:prstGeom prst="rect">
            <a:avLst/>
          </a:prstGeom>
          <a:noFill/>
          <a:ln>
            <a:solidFill>
              <a:srgbClr val="68BBB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04BD6D45-80D1-4B1C-9926-6FB82309E0D3}"/>
              </a:ext>
            </a:extLst>
          </p:cNvPr>
          <p:cNvSpPr/>
          <p:nvPr/>
        </p:nvSpPr>
        <p:spPr>
          <a:xfrm>
            <a:off x="6257458" y="4300069"/>
            <a:ext cx="2552942" cy="1483385"/>
          </a:xfrm>
          <a:prstGeom prst="rect">
            <a:avLst/>
          </a:prstGeom>
          <a:noFill/>
          <a:ln>
            <a:solidFill>
              <a:srgbClr val="68BBB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D20A5D5E-0518-4388-B876-882BFE22BE86}"/>
              </a:ext>
            </a:extLst>
          </p:cNvPr>
          <p:cNvSpPr/>
          <p:nvPr/>
        </p:nvSpPr>
        <p:spPr>
          <a:xfrm>
            <a:off x="3098354" y="2080778"/>
            <a:ext cx="733661" cy="769441"/>
          </a:xfrm>
          <a:prstGeom prst="rect">
            <a:avLst/>
          </a:prstGeom>
        </p:spPr>
        <p:txBody>
          <a:bodyPr wrap="square">
            <a:spAutoFit/>
          </a:bodyPr>
          <a:lstStyle/>
          <a:p>
            <a:r>
              <a:rPr lang="fr-FR" sz="4400" b="1">
                <a:solidFill>
                  <a:srgbClr val="68BBB4"/>
                </a:solidFill>
                <a:latin typeface="Montserrat" panose="00000500000000000000" pitchFamily="50" charset="0"/>
              </a:rPr>
              <a:t>1</a:t>
            </a:r>
          </a:p>
        </p:txBody>
      </p:sp>
      <p:sp>
        <p:nvSpPr>
          <p:cNvPr id="21" name="Rectangle 20">
            <a:extLst>
              <a:ext uri="{FF2B5EF4-FFF2-40B4-BE49-F238E27FC236}">
                <a16:creationId xmlns:a16="http://schemas.microsoft.com/office/drawing/2014/main" id="{9965239E-C11F-454F-A6C0-99189CDF2771}"/>
              </a:ext>
            </a:extLst>
          </p:cNvPr>
          <p:cNvSpPr/>
          <p:nvPr/>
        </p:nvSpPr>
        <p:spPr>
          <a:xfrm>
            <a:off x="5983814" y="2098120"/>
            <a:ext cx="733661" cy="769441"/>
          </a:xfrm>
          <a:prstGeom prst="rect">
            <a:avLst/>
          </a:prstGeom>
        </p:spPr>
        <p:txBody>
          <a:bodyPr wrap="square">
            <a:spAutoFit/>
          </a:bodyPr>
          <a:lstStyle/>
          <a:p>
            <a:r>
              <a:rPr lang="fr-FR" sz="4400" b="1">
                <a:solidFill>
                  <a:srgbClr val="68BBB4"/>
                </a:solidFill>
                <a:latin typeface="Montserrat" panose="00000500000000000000" pitchFamily="50" charset="0"/>
              </a:rPr>
              <a:t>2</a:t>
            </a:r>
          </a:p>
        </p:txBody>
      </p:sp>
      <p:sp>
        <p:nvSpPr>
          <p:cNvPr id="22" name="Rectangle 21">
            <a:extLst>
              <a:ext uri="{FF2B5EF4-FFF2-40B4-BE49-F238E27FC236}">
                <a16:creationId xmlns:a16="http://schemas.microsoft.com/office/drawing/2014/main" id="{8577D9E3-1566-4AA3-9028-3D434CFC814D}"/>
              </a:ext>
            </a:extLst>
          </p:cNvPr>
          <p:cNvSpPr/>
          <p:nvPr/>
        </p:nvSpPr>
        <p:spPr>
          <a:xfrm>
            <a:off x="3098353" y="3990705"/>
            <a:ext cx="733661" cy="769441"/>
          </a:xfrm>
          <a:prstGeom prst="rect">
            <a:avLst/>
          </a:prstGeom>
        </p:spPr>
        <p:txBody>
          <a:bodyPr wrap="square">
            <a:spAutoFit/>
          </a:bodyPr>
          <a:lstStyle/>
          <a:p>
            <a:r>
              <a:rPr lang="fr-FR" sz="4400" b="1">
                <a:solidFill>
                  <a:srgbClr val="68BBB4"/>
                </a:solidFill>
                <a:latin typeface="Montserrat" panose="00000500000000000000" pitchFamily="50" charset="0"/>
              </a:rPr>
              <a:t>3</a:t>
            </a:r>
          </a:p>
        </p:txBody>
      </p:sp>
      <p:sp>
        <p:nvSpPr>
          <p:cNvPr id="23" name="Rectangle 22">
            <a:extLst>
              <a:ext uri="{FF2B5EF4-FFF2-40B4-BE49-F238E27FC236}">
                <a16:creationId xmlns:a16="http://schemas.microsoft.com/office/drawing/2014/main" id="{1EE12808-AB25-42C5-B7D8-DE9D16A3E71A}"/>
              </a:ext>
            </a:extLst>
          </p:cNvPr>
          <p:cNvSpPr/>
          <p:nvPr/>
        </p:nvSpPr>
        <p:spPr>
          <a:xfrm>
            <a:off x="6054180" y="3939540"/>
            <a:ext cx="733661" cy="769441"/>
          </a:xfrm>
          <a:prstGeom prst="rect">
            <a:avLst/>
          </a:prstGeom>
        </p:spPr>
        <p:txBody>
          <a:bodyPr wrap="square">
            <a:spAutoFit/>
          </a:bodyPr>
          <a:lstStyle/>
          <a:p>
            <a:r>
              <a:rPr lang="fr-FR" sz="4400" b="1">
                <a:solidFill>
                  <a:srgbClr val="68BBB4"/>
                </a:solidFill>
                <a:latin typeface="Montserrat" panose="00000500000000000000" pitchFamily="50" charset="0"/>
              </a:rPr>
              <a:t>4</a:t>
            </a:r>
          </a:p>
        </p:txBody>
      </p:sp>
      <p:sp>
        <p:nvSpPr>
          <p:cNvPr id="24" name="Espace réservé du texte 2">
            <a:extLst>
              <a:ext uri="{FF2B5EF4-FFF2-40B4-BE49-F238E27FC236}">
                <a16:creationId xmlns:a16="http://schemas.microsoft.com/office/drawing/2014/main" id="{7F4FE3B8-9ECF-4D12-958B-25767F02C8ED}"/>
              </a:ext>
            </a:extLst>
          </p:cNvPr>
          <p:cNvSpPr>
            <a:spLocks noGrp="1"/>
          </p:cNvSpPr>
          <p:nvPr>
            <p:ph type="body" idx="1" hasCustomPrompt="1"/>
          </p:nvPr>
        </p:nvSpPr>
        <p:spPr>
          <a:xfrm>
            <a:off x="3495675" y="2557931"/>
            <a:ext cx="2257425" cy="1233020"/>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sp>
        <p:nvSpPr>
          <p:cNvPr id="25" name="Espace réservé du texte 2">
            <a:extLst>
              <a:ext uri="{FF2B5EF4-FFF2-40B4-BE49-F238E27FC236}">
                <a16:creationId xmlns:a16="http://schemas.microsoft.com/office/drawing/2014/main" id="{AFA0642A-3295-48C2-BAB3-78A871FC7468}"/>
              </a:ext>
            </a:extLst>
          </p:cNvPr>
          <p:cNvSpPr>
            <a:spLocks noGrp="1"/>
          </p:cNvSpPr>
          <p:nvPr>
            <p:ph type="body" idx="11" hasCustomPrompt="1"/>
          </p:nvPr>
        </p:nvSpPr>
        <p:spPr>
          <a:xfrm>
            <a:off x="6509485" y="2560415"/>
            <a:ext cx="2177315" cy="1233020"/>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sp>
        <p:nvSpPr>
          <p:cNvPr id="26" name="Espace réservé du texte 2">
            <a:extLst>
              <a:ext uri="{FF2B5EF4-FFF2-40B4-BE49-F238E27FC236}">
                <a16:creationId xmlns:a16="http://schemas.microsoft.com/office/drawing/2014/main" id="{19A2A95D-983E-481F-92B4-07643BF8082C}"/>
              </a:ext>
            </a:extLst>
          </p:cNvPr>
          <p:cNvSpPr>
            <a:spLocks noGrp="1"/>
          </p:cNvSpPr>
          <p:nvPr>
            <p:ph type="body" idx="12" hasCustomPrompt="1"/>
          </p:nvPr>
        </p:nvSpPr>
        <p:spPr>
          <a:xfrm>
            <a:off x="6509485" y="4429125"/>
            <a:ext cx="2177315" cy="1248963"/>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sp>
        <p:nvSpPr>
          <p:cNvPr id="27" name="Espace réservé du texte 2">
            <a:extLst>
              <a:ext uri="{FF2B5EF4-FFF2-40B4-BE49-F238E27FC236}">
                <a16:creationId xmlns:a16="http://schemas.microsoft.com/office/drawing/2014/main" id="{E71D7840-2AD5-4D24-8C49-1DD5E1C28A4E}"/>
              </a:ext>
            </a:extLst>
          </p:cNvPr>
          <p:cNvSpPr>
            <a:spLocks noGrp="1"/>
          </p:cNvSpPr>
          <p:nvPr>
            <p:ph type="body" idx="13" hasCustomPrompt="1"/>
          </p:nvPr>
        </p:nvSpPr>
        <p:spPr>
          <a:xfrm>
            <a:off x="3569836" y="4429125"/>
            <a:ext cx="2177315" cy="1248963"/>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pic>
        <p:nvPicPr>
          <p:cNvPr id="19" name="Image 18">
            <a:extLst>
              <a:ext uri="{FF2B5EF4-FFF2-40B4-BE49-F238E27FC236}">
                <a16:creationId xmlns:a16="http://schemas.microsoft.com/office/drawing/2014/main" id="{6695BB3B-2763-4414-948E-6D0BD696359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0866366" y="6320028"/>
            <a:ext cx="1106718" cy="368283"/>
          </a:xfrm>
          <a:prstGeom prst="rect">
            <a:avLst/>
          </a:prstGeom>
        </p:spPr>
      </p:pic>
    </p:spTree>
    <p:extLst>
      <p:ext uri="{BB962C8B-B14F-4D97-AF65-F5344CB8AC3E}">
        <p14:creationId xmlns:p14="http://schemas.microsoft.com/office/powerpoint/2010/main" val="629103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re de sec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C11DC9A-9201-4584-9047-6862FF34E0E6}"/>
              </a:ext>
            </a:extLst>
          </p:cNvPr>
          <p:cNvSpPr/>
          <p:nvPr userDrawn="1"/>
        </p:nvSpPr>
        <p:spPr>
          <a:xfrm>
            <a:off x="3147147" y="326325"/>
            <a:ext cx="362139" cy="99588"/>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Titre 1">
            <a:extLst>
              <a:ext uri="{FF2B5EF4-FFF2-40B4-BE49-F238E27FC236}">
                <a16:creationId xmlns:a16="http://schemas.microsoft.com/office/drawing/2014/main" id="{C91ACFE2-DCAB-4ED0-8FB9-BCC1EE79CC18}"/>
              </a:ext>
            </a:extLst>
          </p:cNvPr>
          <p:cNvSpPr>
            <a:spLocks noGrp="1"/>
          </p:cNvSpPr>
          <p:nvPr>
            <p:ph type="title" hasCustomPrompt="1"/>
          </p:nvPr>
        </p:nvSpPr>
        <p:spPr>
          <a:xfrm>
            <a:off x="3067866" y="553150"/>
            <a:ext cx="8701347" cy="368283"/>
          </a:xfrm>
        </p:spPr>
        <p:txBody>
          <a:bodyPr anchor="b">
            <a:normAutofit/>
          </a:bodyPr>
          <a:lstStyle>
            <a:lvl1pPr>
              <a:defRPr sz="1800" b="1" cap="all" baseline="0">
                <a:solidFill>
                  <a:srgbClr val="68BBB4"/>
                </a:solidFill>
                <a:latin typeface="Montserrat" panose="00000500000000000000" pitchFamily="2" charset="0"/>
              </a:defRPr>
            </a:lvl1pPr>
          </a:lstStyle>
          <a:p>
            <a:r>
              <a:rPr lang="fr-FR"/>
              <a:t>Titre DE LA SLIDE</a:t>
            </a:r>
          </a:p>
        </p:txBody>
      </p:sp>
      <p:sp>
        <p:nvSpPr>
          <p:cNvPr id="14" name="Espace réservé du texte 2">
            <a:extLst>
              <a:ext uri="{FF2B5EF4-FFF2-40B4-BE49-F238E27FC236}">
                <a16:creationId xmlns:a16="http://schemas.microsoft.com/office/drawing/2014/main" id="{91C43884-4B5A-4F4B-8EE7-E4763C088A37}"/>
              </a:ext>
            </a:extLst>
          </p:cNvPr>
          <p:cNvSpPr>
            <a:spLocks noGrp="1"/>
          </p:cNvSpPr>
          <p:nvPr>
            <p:ph type="body" idx="10" hasCustomPrompt="1"/>
          </p:nvPr>
        </p:nvSpPr>
        <p:spPr>
          <a:xfrm>
            <a:off x="3067866" y="921433"/>
            <a:ext cx="8701346" cy="435419"/>
          </a:xfrm>
        </p:spPr>
        <p:txBody>
          <a:bodyPr anchor="b">
            <a:normAutofit/>
          </a:bodyPr>
          <a:lstStyle>
            <a:lvl1pPr marL="0" indent="0">
              <a:buNone/>
              <a:defRPr sz="1600" b="1">
                <a:solidFill>
                  <a:srgbClr val="E4003A"/>
                </a:solidFill>
                <a:latin typeface="Montserrat" panose="00000500000000000000"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Sous-titre de la slide</a:t>
            </a:r>
          </a:p>
        </p:txBody>
      </p:sp>
      <p:pic>
        <p:nvPicPr>
          <p:cNvPr id="9" name="Image 8">
            <a:extLst>
              <a:ext uri="{FF2B5EF4-FFF2-40B4-BE49-F238E27FC236}">
                <a16:creationId xmlns:a16="http://schemas.microsoft.com/office/drawing/2014/main" id="{26A1DC3F-DF7C-467F-AE04-93C814350B4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38046" r="36018"/>
          <a:stretch/>
        </p:blipFill>
        <p:spPr>
          <a:xfrm>
            <a:off x="0" y="0"/>
            <a:ext cx="2679010" cy="6858000"/>
          </a:xfrm>
          <a:prstGeom prst="rect">
            <a:avLst/>
          </a:prstGeom>
        </p:spPr>
      </p:pic>
      <p:sp>
        <p:nvSpPr>
          <p:cNvPr id="11" name="Espace réservé du texte 2">
            <a:extLst>
              <a:ext uri="{FF2B5EF4-FFF2-40B4-BE49-F238E27FC236}">
                <a16:creationId xmlns:a16="http://schemas.microsoft.com/office/drawing/2014/main" id="{01654C16-5ADA-4E29-ABB2-1B4017234FA5}"/>
              </a:ext>
            </a:extLst>
          </p:cNvPr>
          <p:cNvSpPr>
            <a:spLocks noGrp="1"/>
          </p:cNvSpPr>
          <p:nvPr>
            <p:ph type="body" idx="1" hasCustomPrompt="1"/>
          </p:nvPr>
        </p:nvSpPr>
        <p:spPr>
          <a:xfrm>
            <a:off x="3067866" y="1725562"/>
            <a:ext cx="8701347" cy="4478594"/>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pic>
        <p:nvPicPr>
          <p:cNvPr id="12" name="Image 11">
            <a:extLst>
              <a:ext uri="{FF2B5EF4-FFF2-40B4-BE49-F238E27FC236}">
                <a16:creationId xmlns:a16="http://schemas.microsoft.com/office/drawing/2014/main" id="{656B559D-4B16-4F42-A0F5-4DB8E95BA5E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866366" y="6320028"/>
            <a:ext cx="1106718" cy="368283"/>
          </a:xfrm>
          <a:prstGeom prst="rect">
            <a:avLst/>
          </a:prstGeom>
        </p:spPr>
      </p:pic>
    </p:spTree>
    <p:extLst>
      <p:ext uri="{BB962C8B-B14F-4D97-AF65-F5344CB8AC3E}">
        <p14:creationId xmlns:p14="http://schemas.microsoft.com/office/powerpoint/2010/main" val="36427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Titre de section">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3AC30004-E555-4F37-9619-74A9AC240E74}"/>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57193" r="17091"/>
          <a:stretch/>
        </p:blipFill>
        <p:spPr>
          <a:xfrm>
            <a:off x="9512990" y="0"/>
            <a:ext cx="2679010" cy="6858000"/>
          </a:xfrm>
          <a:prstGeom prst="rect">
            <a:avLst/>
          </a:prstGeom>
        </p:spPr>
      </p:pic>
      <p:sp>
        <p:nvSpPr>
          <p:cNvPr id="9" name="Rectangle 8">
            <a:extLst>
              <a:ext uri="{FF2B5EF4-FFF2-40B4-BE49-F238E27FC236}">
                <a16:creationId xmlns:a16="http://schemas.microsoft.com/office/drawing/2014/main" id="{5C0130BE-4999-4B62-8E88-E803710F5BF5}"/>
              </a:ext>
            </a:extLst>
          </p:cNvPr>
          <p:cNvSpPr/>
          <p:nvPr userDrawn="1"/>
        </p:nvSpPr>
        <p:spPr>
          <a:xfrm>
            <a:off x="499197" y="326325"/>
            <a:ext cx="362139" cy="99588"/>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Titre 1">
            <a:extLst>
              <a:ext uri="{FF2B5EF4-FFF2-40B4-BE49-F238E27FC236}">
                <a16:creationId xmlns:a16="http://schemas.microsoft.com/office/drawing/2014/main" id="{228A6898-6524-4B3A-B2AB-E29050E1FC42}"/>
              </a:ext>
            </a:extLst>
          </p:cNvPr>
          <p:cNvSpPr>
            <a:spLocks noGrp="1"/>
          </p:cNvSpPr>
          <p:nvPr>
            <p:ph type="title" hasCustomPrompt="1"/>
          </p:nvPr>
        </p:nvSpPr>
        <p:spPr>
          <a:xfrm>
            <a:off x="419916" y="553150"/>
            <a:ext cx="8701347" cy="368283"/>
          </a:xfrm>
        </p:spPr>
        <p:txBody>
          <a:bodyPr anchor="b">
            <a:normAutofit/>
          </a:bodyPr>
          <a:lstStyle>
            <a:lvl1pPr>
              <a:defRPr sz="1800" b="1" cap="all" baseline="0">
                <a:solidFill>
                  <a:srgbClr val="68BBB4"/>
                </a:solidFill>
                <a:latin typeface="Montserrat" panose="00000500000000000000" pitchFamily="2" charset="0"/>
              </a:defRPr>
            </a:lvl1pPr>
          </a:lstStyle>
          <a:p>
            <a:r>
              <a:rPr lang="fr-FR"/>
              <a:t>Titre DE LA SLIDE</a:t>
            </a:r>
          </a:p>
        </p:txBody>
      </p:sp>
      <p:sp>
        <p:nvSpPr>
          <p:cNvPr id="12" name="Espace réservé du texte 2">
            <a:extLst>
              <a:ext uri="{FF2B5EF4-FFF2-40B4-BE49-F238E27FC236}">
                <a16:creationId xmlns:a16="http://schemas.microsoft.com/office/drawing/2014/main" id="{AA279D2C-A9AE-492B-B572-0836AB41F2D8}"/>
              </a:ext>
            </a:extLst>
          </p:cNvPr>
          <p:cNvSpPr>
            <a:spLocks noGrp="1"/>
          </p:cNvSpPr>
          <p:nvPr>
            <p:ph type="body" idx="10" hasCustomPrompt="1"/>
          </p:nvPr>
        </p:nvSpPr>
        <p:spPr>
          <a:xfrm>
            <a:off x="419916" y="921433"/>
            <a:ext cx="8701346" cy="435419"/>
          </a:xfrm>
        </p:spPr>
        <p:txBody>
          <a:bodyPr anchor="b">
            <a:normAutofit/>
          </a:bodyPr>
          <a:lstStyle>
            <a:lvl1pPr marL="0" indent="0">
              <a:buNone/>
              <a:defRPr sz="1600" b="1">
                <a:solidFill>
                  <a:srgbClr val="E4003A"/>
                </a:solidFill>
                <a:latin typeface="Montserrat" panose="00000500000000000000"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Sous-titre de la slide</a:t>
            </a:r>
          </a:p>
        </p:txBody>
      </p:sp>
      <p:sp>
        <p:nvSpPr>
          <p:cNvPr id="15" name="Espace réservé du texte 2">
            <a:extLst>
              <a:ext uri="{FF2B5EF4-FFF2-40B4-BE49-F238E27FC236}">
                <a16:creationId xmlns:a16="http://schemas.microsoft.com/office/drawing/2014/main" id="{3A3CE2E7-C035-40E7-A4A0-400BB0EB51FB}"/>
              </a:ext>
            </a:extLst>
          </p:cNvPr>
          <p:cNvSpPr>
            <a:spLocks noGrp="1"/>
          </p:cNvSpPr>
          <p:nvPr>
            <p:ph type="body" idx="1" hasCustomPrompt="1"/>
          </p:nvPr>
        </p:nvSpPr>
        <p:spPr>
          <a:xfrm>
            <a:off x="419917" y="1725562"/>
            <a:ext cx="8701346" cy="4478594"/>
          </a:xfrm>
        </p:spPr>
        <p:txBody>
          <a:bodyPr>
            <a:normAutofit/>
          </a:bodyPr>
          <a:lstStyle>
            <a:lvl1pPr marL="0" indent="0">
              <a:buNone/>
              <a:defRPr sz="1600">
                <a:solidFill>
                  <a:schemeClr val="tx1"/>
                </a:solidFill>
                <a:latin typeface="Montserrat" panose="000005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Contenu de la slide</a:t>
            </a:r>
          </a:p>
        </p:txBody>
      </p:sp>
      <p:pic>
        <p:nvPicPr>
          <p:cNvPr id="8" name="Image 7">
            <a:extLst>
              <a:ext uri="{FF2B5EF4-FFF2-40B4-BE49-F238E27FC236}">
                <a16:creationId xmlns:a16="http://schemas.microsoft.com/office/drawing/2014/main" id="{64C73A09-B1A1-4D7E-B135-5775E991074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207891" y="6320028"/>
            <a:ext cx="1106718" cy="368283"/>
          </a:xfrm>
          <a:prstGeom prst="rect">
            <a:avLst/>
          </a:prstGeom>
        </p:spPr>
      </p:pic>
    </p:spTree>
    <p:extLst>
      <p:ext uri="{BB962C8B-B14F-4D97-AF65-F5344CB8AC3E}">
        <p14:creationId xmlns:p14="http://schemas.microsoft.com/office/powerpoint/2010/main" val="1989503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Diapositive de fi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89E00A-FCD8-4B97-9319-45D9E35C0305}"/>
              </a:ext>
            </a:extLst>
          </p:cNvPr>
          <p:cNvSpPr/>
          <p:nvPr userDrawn="1"/>
        </p:nvSpPr>
        <p:spPr>
          <a:xfrm>
            <a:off x="0" y="4021521"/>
            <a:ext cx="1946246" cy="1745539"/>
          </a:xfrm>
          <a:prstGeom prst="rect">
            <a:avLst/>
          </a:prstGeom>
          <a:solidFill>
            <a:srgbClr val="E400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84C9125F-51FC-4F47-934C-D8274226F1F7}"/>
              </a:ext>
            </a:extLst>
          </p:cNvPr>
          <p:cNvSpPr/>
          <p:nvPr userDrawn="1"/>
        </p:nvSpPr>
        <p:spPr>
          <a:xfrm rot="5400000">
            <a:off x="4185593" y="-2239347"/>
            <a:ext cx="5767060" cy="10245754"/>
          </a:xfrm>
          <a:prstGeom prst="rect">
            <a:avLst/>
          </a:prstGeom>
          <a:solidFill>
            <a:srgbClr val="5D15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5F973A5C-BAF4-490E-BFEC-9AB84B44FB9E}"/>
              </a:ext>
            </a:extLst>
          </p:cNvPr>
          <p:cNvSpPr/>
          <p:nvPr userDrawn="1"/>
        </p:nvSpPr>
        <p:spPr>
          <a:xfrm>
            <a:off x="134046" y="4298520"/>
            <a:ext cx="1464018" cy="553998"/>
          </a:xfrm>
          <a:prstGeom prst="rect">
            <a:avLst/>
          </a:prstGeom>
        </p:spPr>
        <p:txBody>
          <a:bodyPr wrap="square">
            <a:spAutoFit/>
          </a:bodyPr>
          <a:lstStyle/>
          <a:p>
            <a:r>
              <a:rPr lang="fr-FR" b="1" baseline="30000">
                <a:solidFill>
                  <a:schemeClr val="bg1"/>
                </a:solidFill>
                <a:latin typeface="Montserrat" panose="00000500000000000000" pitchFamily="50" charset="0"/>
              </a:rPr>
              <a:t>Des experts</a:t>
            </a:r>
          </a:p>
          <a:p>
            <a:r>
              <a:rPr lang="fr-FR" b="1" baseline="30000">
                <a:solidFill>
                  <a:schemeClr val="bg1"/>
                </a:solidFill>
                <a:latin typeface="Montserrat" panose="00000500000000000000" pitchFamily="50" charset="0"/>
              </a:rPr>
              <a:t>à votre service</a:t>
            </a:r>
            <a:endParaRPr lang="fr-FR">
              <a:solidFill>
                <a:schemeClr val="bg1"/>
              </a:solidFill>
            </a:endParaRPr>
          </a:p>
        </p:txBody>
      </p:sp>
      <p:sp>
        <p:nvSpPr>
          <p:cNvPr id="9" name="Ellipse 8">
            <a:extLst>
              <a:ext uri="{FF2B5EF4-FFF2-40B4-BE49-F238E27FC236}">
                <a16:creationId xmlns:a16="http://schemas.microsoft.com/office/drawing/2014/main" id="{1D61A0D3-7EF9-4C1F-A2AA-B95CA1FF2D5F}"/>
              </a:ext>
            </a:extLst>
          </p:cNvPr>
          <p:cNvSpPr/>
          <p:nvPr userDrawn="1"/>
        </p:nvSpPr>
        <p:spPr>
          <a:xfrm>
            <a:off x="1420941" y="4627917"/>
            <a:ext cx="49338" cy="49338"/>
          </a:xfrm>
          <a:prstGeom prst="ellipse">
            <a:avLst/>
          </a:prstGeom>
          <a:solidFill>
            <a:srgbClr val="5D15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1" name="Image 10">
            <a:extLst>
              <a:ext uri="{FF2B5EF4-FFF2-40B4-BE49-F238E27FC236}">
                <a16:creationId xmlns:a16="http://schemas.microsoft.com/office/drawing/2014/main" id="{EC293D90-BA26-419C-9966-7897618BA2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86325" y="6151133"/>
            <a:ext cx="781647" cy="422878"/>
          </a:xfrm>
          <a:prstGeom prst="rect">
            <a:avLst/>
          </a:prstGeom>
        </p:spPr>
      </p:pic>
      <p:sp>
        <p:nvSpPr>
          <p:cNvPr id="12" name="Rectangle 11">
            <a:extLst>
              <a:ext uri="{FF2B5EF4-FFF2-40B4-BE49-F238E27FC236}">
                <a16:creationId xmlns:a16="http://schemas.microsoft.com/office/drawing/2014/main" id="{4918E68D-30C7-4F6C-ACC9-CA9A4E73EA24}"/>
              </a:ext>
            </a:extLst>
          </p:cNvPr>
          <p:cNvSpPr/>
          <p:nvPr userDrawn="1"/>
        </p:nvSpPr>
        <p:spPr>
          <a:xfrm>
            <a:off x="0" y="1"/>
            <a:ext cx="1946246" cy="4021520"/>
          </a:xfrm>
          <a:prstGeom prst="rect">
            <a:avLst/>
          </a:prstGeom>
          <a:solidFill>
            <a:srgbClr val="68BB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5" name="Image 14" descr="Une image contenant texte, clipart&#10;&#10;Description générée automatiquement">
            <a:extLst>
              <a:ext uri="{FF2B5EF4-FFF2-40B4-BE49-F238E27FC236}">
                <a16:creationId xmlns:a16="http://schemas.microsoft.com/office/drawing/2014/main" id="{4BBC579F-798F-491F-AA46-647526CCA10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4028" y="6151134"/>
            <a:ext cx="1502127" cy="422877"/>
          </a:xfrm>
          <a:prstGeom prst="rect">
            <a:avLst/>
          </a:prstGeom>
        </p:spPr>
      </p:pic>
      <p:sp>
        <p:nvSpPr>
          <p:cNvPr id="2" name="Titre 1">
            <a:extLst>
              <a:ext uri="{FF2B5EF4-FFF2-40B4-BE49-F238E27FC236}">
                <a16:creationId xmlns:a16="http://schemas.microsoft.com/office/drawing/2014/main" id="{5A39DF63-F094-46AB-A967-7210C67B99A2}"/>
              </a:ext>
            </a:extLst>
          </p:cNvPr>
          <p:cNvSpPr>
            <a:spLocks noGrp="1"/>
          </p:cNvSpPr>
          <p:nvPr>
            <p:ph type="title" hasCustomPrompt="1"/>
          </p:nvPr>
        </p:nvSpPr>
        <p:spPr>
          <a:xfrm>
            <a:off x="1946246" y="2103437"/>
            <a:ext cx="10245754" cy="1325563"/>
          </a:xfrm>
        </p:spPr>
        <p:txBody>
          <a:bodyPr>
            <a:normAutofit/>
          </a:bodyPr>
          <a:lstStyle>
            <a:lvl1pPr algn="ctr">
              <a:defRPr sz="2400" b="1" cap="all" baseline="0">
                <a:solidFill>
                  <a:srgbClr val="FAF9FE"/>
                </a:solidFill>
                <a:latin typeface="Montserrat" panose="00000500000000000000" pitchFamily="2" charset="0"/>
              </a:defRPr>
            </a:lvl1pPr>
          </a:lstStyle>
          <a:p>
            <a:r>
              <a:rPr lang="fr-FR"/>
              <a:t>MERCI POUR VOTRE ATTENTION</a:t>
            </a:r>
          </a:p>
        </p:txBody>
      </p:sp>
      <p:sp>
        <p:nvSpPr>
          <p:cNvPr id="17" name="Rectangle 16">
            <a:extLst>
              <a:ext uri="{FF2B5EF4-FFF2-40B4-BE49-F238E27FC236}">
                <a16:creationId xmlns:a16="http://schemas.microsoft.com/office/drawing/2014/main" id="{CED813F4-3D62-4F6A-9A03-79E59F47B3A5}"/>
              </a:ext>
            </a:extLst>
          </p:cNvPr>
          <p:cNvSpPr/>
          <p:nvPr userDrawn="1"/>
        </p:nvSpPr>
        <p:spPr>
          <a:xfrm rot="16200000">
            <a:off x="246469" y="767630"/>
            <a:ext cx="293670" cy="338554"/>
          </a:xfrm>
          <a:prstGeom prst="rect">
            <a:avLst/>
          </a:prstGeom>
        </p:spPr>
        <p:txBody>
          <a:bodyPr wrap="none">
            <a:spAutoFit/>
          </a:bodyPr>
          <a:lstStyle/>
          <a:p>
            <a:pPr algn="r"/>
            <a:endParaRPr lang="fr-FR" sz="2400" b="1" baseline="30000">
              <a:solidFill>
                <a:schemeClr val="bg1"/>
              </a:solidFill>
              <a:latin typeface="Montserrat" panose="00000500000000000000" pitchFamily="50" charset="0"/>
            </a:endParaRPr>
          </a:p>
        </p:txBody>
      </p:sp>
      <p:sp>
        <p:nvSpPr>
          <p:cNvPr id="19" name="Rectangle 18">
            <a:extLst>
              <a:ext uri="{FF2B5EF4-FFF2-40B4-BE49-F238E27FC236}">
                <a16:creationId xmlns:a16="http://schemas.microsoft.com/office/drawing/2014/main" id="{6AA40AA6-1600-43F1-B6DF-04A203F53582}"/>
              </a:ext>
            </a:extLst>
          </p:cNvPr>
          <p:cNvSpPr/>
          <p:nvPr userDrawn="1"/>
        </p:nvSpPr>
        <p:spPr>
          <a:xfrm rot="16200000">
            <a:off x="-100580" y="767630"/>
            <a:ext cx="987771" cy="338554"/>
          </a:xfrm>
          <a:prstGeom prst="rect">
            <a:avLst/>
          </a:prstGeom>
        </p:spPr>
        <p:txBody>
          <a:bodyPr wrap="none">
            <a:spAutoFit/>
          </a:bodyPr>
          <a:lstStyle/>
          <a:p>
            <a:pPr algn="r"/>
            <a:r>
              <a:rPr lang="fr-FR" sz="2400" b="1" baseline="30000">
                <a:solidFill>
                  <a:schemeClr val="bg1"/>
                </a:solidFill>
                <a:latin typeface="Montserrat" panose="00000500000000000000" pitchFamily="50" charset="0"/>
              </a:rPr>
              <a:t>SOCIAL</a:t>
            </a:r>
          </a:p>
        </p:txBody>
      </p:sp>
      <p:pic>
        <p:nvPicPr>
          <p:cNvPr id="20" name="Image 19">
            <a:extLst>
              <a:ext uri="{FF2B5EF4-FFF2-40B4-BE49-F238E27FC236}">
                <a16:creationId xmlns:a16="http://schemas.microsoft.com/office/drawing/2014/main" id="{7E43D9D1-B250-4813-800C-E5802E08B958}"/>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7107" y="-96"/>
            <a:ext cx="555476" cy="552927"/>
          </a:xfrm>
          <a:prstGeom prst="rect">
            <a:avLst/>
          </a:prstGeom>
        </p:spPr>
      </p:pic>
    </p:spTree>
    <p:extLst>
      <p:ext uri="{BB962C8B-B14F-4D97-AF65-F5344CB8AC3E}">
        <p14:creationId xmlns:p14="http://schemas.microsoft.com/office/powerpoint/2010/main" val="3276194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9_Disposition personnalisée">
    <p:bg>
      <p:bgPr>
        <a:solidFill>
          <a:srgbClr val="5D152C"/>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909F539-63FF-C34F-8043-3595A8D09788}"/>
              </a:ext>
            </a:extLst>
          </p:cNvPr>
          <p:cNvSpPr/>
          <p:nvPr userDrawn="1"/>
        </p:nvSpPr>
        <p:spPr>
          <a:xfrm>
            <a:off x="0" y="0"/>
            <a:ext cx="12192000" cy="6858000"/>
          </a:xfrm>
          <a:prstGeom prst="rect">
            <a:avLst/>
          </a:prstGeom>
          <a:solidFill>
            <a:srgbClr val="69C0B9"/>
          </a:solidFill>
          <a:ln>
            <a:solidFill>
              <a:srgbClr val="99A5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6" name="Image 5" descr="Une image contenant logo, Graphique, noir, noir et blanc&#10;&#10;Description générée automatiquement">
            <a:extLst>
              <a:ext uri="{FF2B5EF4-FFF2-40B4-BE49-F238E27FC236}">
                <a16:creationId xmlns:a16="http://schemas.microsoft.com/office/drawing/2014/main" id="{6351365C-D333-2158-5B88-6E438DC18F19}"/>
              </a:ext>
            </a:extLst>
          </p:cNvPr>
          <p:cNvPicPr>
            <a:picLocks noChangeAspect="1"/>
          </p:cNvPicPr>
          <p:nvPr userDrawn="1"/>
        </p:nvPicPr>
        <p:blipFill>
          <a:blip r:embed="rId2">
            <a:alphaModFix amt="47000"/>
            <a:extLst>
              <a:ext uri="{28A0092B-C50C-407E-A947-70E740481C1C}">
                <a14:useLocalDpi xmlns:a14="http://schemas.microsoft.com/office/drawing/2010/main" val="0"/>
              </a:ext>
            </a:extLst>
          </a:blip>
          <a:stretch>
            <a:fillRect/>
          </a:stretch>
        </p:blipFill>
        <p:spPr>
          <a:xfrm>
            <a:off x="-2909177" y="878777"/>
            <a:ext cx="9499538" cy="9499538"/>
          </a:xfrm>
          <a:prstGeom prst="rect">
            <a:avLst/>
          </a:prstGeom>
        </p:spPr>
      </p:pic>
      <p:pic>
        <p:nvPicPr>
          <p:cNvPr id="8" name="Image 7">
            <a:extLst>
              <a:ext uri="{FF2B5EF4-FFF2-40B4-BE49-F238E27FC236}">
                <a16:creationId xmlns:a16="http://schemas.microsoft.com/office/drawing/2014/main" id="{1A0C5C85-FE59-F162-6A23-A2907A6679E1}"/>
              </a:ext>
            </a:extLst>
          </p:cNvPr>
          <p:cNvPicPr>
            <a:picLocks noChangeAspect="1"/>
          </p:cNvPicPr>
          <p:nvPr userDrawn="1"/>
        </p:nvPicPr>
        <p:blipFill>
          <a:blip r:embed="rId3">
            <a:extLst>
              <a:ext uri="{28A0092B-C50C-407E-A947-70E740481C1C}">
                <a14:useLocalDpi xmlns:a14="http://schemas.microsoft.com/office/drawing/2010/main" val="0"/>
              </a:ext>
            </a:extLst>
          </a:blip>
          <a:srcRect l="17166" r="17166"/>
          <a:stretch/>
        </p:blipFill>
        <p:spPr>
          <a:xfrm>
            <a:off x="8262575" y="2868688"/>
            <a:ext cx="4638946" cy="4633846"/>
          </a:xfrm>
          <a:prstGeom prst="flowChartConnector">
            <a:avLst/>
          </a:prstGeom>
        </p:spPr>
      </p:pic>
      <p:sp>
        <p:nvSpPr>
          <p:cNvPr id="25" name="Rectangle 24">
            <a:extLst>
              <a:ext uri="{FF2B5EF4-FFF2-40B4-BE49-F238E27FC236}">
                <a16:creationId xmlns:a16="http://schemas.microsoft.com/office/drawing/2014/main" id="{00C1778C-488D-AAEF-09D1-F7A688FA486E}"/>
              </a:ext>
            </a:extLst>
          </p:cNvPr>
          <p:cNvSpPr/>
          <p:nvPr userDrawn="1"/>
        </p:nvSpPr>
        <p:spPr>
          <a:xfrm>
            <a:off x="508760" y="1229454"/>
            <a:ext cx="540000" cy="108000"/>
          </a:xfrm>
          <a:prstGeom prst="rect">
            <a:avLst/>
          </a:prstGeom>
          <a:solidFill>
            <a:srgbClr val="E400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a:p>
        </p:txBody>
      </p:sp>
      <p:pic>
        <p:nvPicPr>
          <p:cNvPr id="29" name="Image 28" descr="Une image contenant cercle, capture d’écran, Graphique, art&#10;&#10;Description générée automatiquement">
            <a:extLst>
              <a:ext uri="{FF2B5EF4-FFF2-40B4-BE49-F238E27FC236}">
                <a16:creationId xmlns:a16="http://schemas.microsoft.com/office/drawing/2014/main" id="{0D807B6C-77E6-0E83-858B-58850D1F2B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011614" y="417925"/>
            <a:ext cx="6422149" cy="4977394"/>
          </a:xfrm>
          <a:prstGeom prst="rect">
            <a:avLst/>
          </a:prstGeom>
        </p:spPr>
      </p:pic>
      <p:grpSp>
        <p:nvGrpSpPr>
          <p:cNvPr id="17" name="Groupe 16">
            <a:extLst>
              <a:ext uri="{FF2B5EF4-FFF2-40B4-BE49-F238E27FC236}">
                <a16:creationId xmlns:a16="http://schemas.microsoft.com/office/drawing/2014/main" id="{5DCECD10-4EFB-7F61-D760-8E7E1717269B}"/>
              </a:ext>
            </a:extLst>
          </p:cNvPr>
          <p:cNvGrpSpPr/>
          <p:nvPr userDrawn="1"/>
        </p:nvGrpSpPr>
        <p:grpSpPr>
          <a:xfrm>
            <a:off x="8621751" y="1028271"/>
            <a:ext cx="3722649" cy="88111"/>
            <a:chOff x="9100287" y="875871"/>
            <a:chExt cx="3722649" cy="88111"/>
          </a:xfrm>
        </p:grpSpPr>
        <p:cxnSp>
          <p:nvCxnSpPr>
            <p:cNvPr id="20" name="Connecteur droit 19">
              <a:extLst>
                <a:ext uri="{FF2B5EF4-FFF2-40B4-BE49-F238E27FC236}">
                  <a16:creationId xmlns:a16="http://schemas.microsoft.com/office/drawing/2014/main" id="{F473B181-71BE-0A27-1DE0-08C8D827389F}"/>
                </a:ext>
              </a:extLst>
            </p:cNvPr>
            <p:cNvCxnSpPr>
              <a:cxnSpLocks/>
            </p:cNvCxnSpPr>
            <p:nvPr/>
          </p:nvCxnSpPr>
          <p:spPr>
            <a:xfrm flipH="1">
              <a:off x="9505950" y="918733"/>
              <a:ext cx="3316986" cy="0"/>
            </a:xfrm>
            <a:prstGeom prst="line">
              <a:avLst/>
            </a:prstGeom>
            <a:ln w="57150" cap="rnd">
              <a:solidFill>
                <a:schemeClr val="bg1"/>
              </a:solidFill>
            </a:ln>
          </p:spPr>
          <p:style>
            <a:lnRef idx="2">
              <a:schemeClr val="accent1"/>
            </a:lnRef>
            <a:fillRef idx="0">
              <a:schemeClr val="accent1"/>
            </a:fillRef>
            <a:effectRef idx="1">
              <a:schemeClr val="accent1"/>
            </a:effectRef>
            <a:fontRef idx="minor">
              <a:schemeClr val="tx1"/>
            </a:fontRef>
          </p:style>
        </p:cxnSp>
        <p:sp>
          <p:nvSpPr>
            <p:cNvPr id="26" name="Organigramme : Connecteur 25">
              <a:extLst>
                <a:ext uri="{FF2B5EF4-FFF2-40B4-BE49-F238E27FC236}">
                  <a16:creationId xmlns:a16="http://schemas.microsoft.com/office/drawing/2014/main" id="{0CF46F3E-6C03-C671-81BE-20FB28853D79}"/>
                </a:ext>
              </a:extLst>
            </p:cNvPr>
            <p:cNvSpPr/>
            <p:nvPr/>
          </p:nvSpPr>
          <p:spPr>
            <a:xfrm flipH="1">
              <a:off x="9100287" y="875871"/>
              <a:ext cx="85725" cy="85725"/>
            </a:xfrm>
            <a:prstGeom prst="flowChartConnector">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Organigramme : Connecteur 26">
              <a:extLst>
                <a:ext uri="{FF2B5EF4-FFF2-40B4-BE49-F238E27FC236}">
                  <a16:creationId xmlns:a16="http://schemas.microsoft.com/office/drawing/2014/main" id="{9309FAC8-AD55-F647-5F6C-981FAAE9313D}"/>
                </a:ext>
              </a:extLst>
            </p:cNvPr>
            <p:cNvSpPr/>
            <p:nvPr/>
          </p:nvSpPr>
          <p:spPr>
            <a:xfrm flipH="1">
              <a:off x="9299030" y="878257"/>
              <a:ext cx="85725" cy="85725"/>
            </a:xfrm>
            <a:prstGeom prst="flowChartConnector">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4" name="Image 3" descr="Une image contenant texte, Police, Graphique, logo&#10;&#10;Le contenu généré par l’IA peut être incorrect.">
            <a:extLst>
              <a:ext uri="{FF2B5EF4-FFF2-40B4-BE49-F238E27FC236}">
                <a16:creationId xmlns:a16="http://schemas.microsoft.com/office/drawing/2014/main" id="{9B378FA9-CF5C-0BBF-1CD0-2E7D535450D1}"/>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027414" y="487115"/>
            <a:ext cx="1431097" cy="401856"/>
          </a:xfrm>
          <a:prstGeom prst="rect">
            <a:avLst/>
          </a:prstGeom>
        </p:spPr>
      </p:pic>
      <p:sp>
        <p:nvSpPr>
          <p:cNvPr id="5" name="ZoneTexte 4">
            <a:extLst>
              <a:ext uri="{FF2B5EF4-FFF2-40B4-BE49-F238E27FC236}">
                <a16:creationId xmlns:a16="http://schemas.microsoft.com/office/drawing/2014/main" id="{9AABD93B-7994-5920-D262-4C9E79D5C4B7}"/>
              </a:ext>
            </a:extLst>
          </p:cNvPr>
          <p:cNvSpPr txBox="1">
            <a:spLocks/>
          </p:cNvSpPr>
          <p:nvPr userDrawn="1"/>
        </p:nvSpPr>
        <p:spPr>
          <a:xfrm>
            <a:off x="508760" y="6070743"/>
            <a:ext cx="2105025" cy="369332"/>
          </a:xfrm>
          <a:prstGeom prst="rect">
            <a:avLst/>
          </a:prstGeom>
          <a:noFill/>
        </p:spPr>
        <p:txBody>
          <a:bodyPr wrap="square" rtlCol="0">
            <a:spAutoFit/>
          </a:bodyPr>
          <a:lstStyle/>
          <a:p>
            <a:r>
              <a:rPr lang="fr-FR">
                <a:solidFill>
                  <a:schemeClr val="bg1"/>
                </a:solidFill>
                <a:latin typeface="Montserrat ExtraBold" panose="00000900000000000000" pitchFamily="2" charset="0"/>
              </a:rPr>
              <a:t>fiteco</a:t>
            </a:r>
            <a:r>
              <a:rPr lang="fr-FR" sz="1100">
                <a:solidFill>
                  <a:schemeClr val="bg1"/>
                </a:solidFill>
                <a:latin typeface="Montserrat Light" panose="00000400000000000000" pitchFamily="2" charset="0"/>
              </a:rPr>
              <a:t>.com</a:t>
            </a:r>
          </a:p>
        </p:txBody>
      </p:sp>
    </p:spTree>
    <p:extLst>
      <p:ext uri="{BB962C8B-B14F-4D97-AF65-F5344CB8AC3E}">
        <p14:creationId xmlns:p14="http://schemas.microsoft.com/office/powerpoint/2010/main" val="35160947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Diapositive de présentation">
    <p:spTree>
      <p:nvGrpSpPr>
        <p:cNvPr id="1" name=""/>
        <p:cNvGrpSpPr/>
        <p:nvPr/>
      </p:nvGrpSpPr>
      <p:grpSpPr>
        <a:xfrm>
          <a:off x="0" y="0"/>
          <a:ext cx="0" cy="0"/>
          <a:chOff x="0" y="0"/>
          <a:chExt cx="0" cy="0"/>
        </a:xfrm>
      </p:grpSpPr>
      <p:sp>
        <p:nvSpPr>
          <p:cNvPr id="26" name="Espace réservé pour une image  24">
            <a:extLst>
              <a:ext uri="{FF2B5EF4-FFF2-40B4-BE49-F238E27FC236}">
                <a16:creationId xmlns:a16="http://schemas.microsoft.com/office/drawing/2014/main" id="{73AF4778-37CB-2526-ACD4-F07D045FE206}"/>
              </a:ext>
            </a:extLst>
          </p:cNvPr>
          <p:cNvSpPr>
            <a:spLocks noGrp="1"/>
          </p:cNvSpPr>
          <p:nvPr>
            <p:ph type="pic" sz="quarter" idx="10" hasCustomPrompt="1"/>
          </p:nvPr>
        </p:nvSpPr>
        <p:spPr>
          <a:xfrm>
            <a:off x="-3092433" y="-772224"/>
            <a:ext cx="8682728" cy="8702349"/>
          </a:xfrm>
          <a:prstGeom prst="ellipse">
            <a:avLst/>
          </a:prstGeom>
        </p:spPr>
        <p:txBody>
          <a:bodyPr>
            <a:normAutofit/>
          </a:bodyPr>
          <a:lstStyle>
            <a:lvl1pPr marL="0" indent="0" algn="ctr">
              <a:buNone/>
              <a:defRPr sz="2000">
                <a:latin typeface="Montserrat" pitchFamily="2" charset="0"/>
              </a:defRPr>
            </a:lvl1pPr>
          </a:lstStyle>
          <a:p>
            <a:r>
              <a:rPr lang="fr-FR"/>
              <a:t>                 </a:t>
            </a:r>
          </a:p>
          <a:p>
            <a:endParaRPr lang="fr-FR"/>
          </a:p>
          <a:p>
            <a:endParaRPr lang="fr-FR"/>
          </a:p>
          <a:p>
            <a:endParaRPr lang="fr-FR"/>
          </a:p>
          <a:p>
            <a:r>
              <a:rPr lang="fr-FR"/>
              <a:t>Insérer votre image ici</a:t>
            </a:r>
          </a:p>
          <a:p>
            <a:r>
              <a:rPr lang="fr-FR"/>
              <a:t>en cliquant sur l’icône</a:t>
            </a:r>
          </a:p>
        </p:txBody>
      </p:sp>
      <p:sp>
        <p:nvSpPr>
          <p:cNvPr id="21" name="Rectangle 20">
            <a:extLst>
              <a:ext uri="{FF2B5EF4-FFF2-40B4-BE49-F238E27FC236}">
                <a16:creationId xmlns:a16="http://schemas.microsoft.com/office/drawing/2014/main" id="{FD983831-6DC2-4ADF-AD82-75548046B4E3}"/>
              </a:ext>
            </a:extLst>
          </p:cNvPr>
          <p:cNvSpPr/>
          <p:nvPr userDrawn="1"/>
        </p:nvSpPr>
        <p:spPr>
          <a:xfrm>
            <a:off x="10817100" y="1229454"/>
            <a:ext cx="540000" cy="108000"/>
          </a:xfrm>
          <a:prstGeom prst="rect">
            <a:avLst/>
          </a:prstGeom>
          <a:solidFill>
            <a:srgbClr val="E400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Espace réservé du texte 32">
            <a:extLst>
              <a:ext uri="{FF2B5EF4-FFF2-40B4-BE49-F238E27FC236}">
                <a16:creationId xmlns:a16="http://schemas.microsoft.com/office/drawing/2014/main" id="{89378C95-53DC-39BB-8327-F01DB9C49412}"/>
              </a:ext>
            </a:extLst>
          </p:cNvPr>
          <p:cNvSpPr>
            <a:spLocks noGrp="1"/>
          </p:cNvSpPr>
          <p:nvPr>
            <p:ph type="body" sz="quarter" idx="11" hasCustomPrompt="1"/>
          </p:nvPr>
        </p:nvSpPr>
        <p:spPr>
          <a:xfrm>
            <a:off x="6264956" y="2955856"/>
            <a:ext cx="5218113" cy="1246188"/>
          </a:xfrm>
        </p:spPr>
        <p:txBody>
          <a:bodyPr>
            <a:noAutofit/>
          </a:bodyPr>
          <a:lstStyle>
            <a:lvl1pPr marL="0" indent="0" algn="r">
              <a:spcBef>
                <a:spcPts val="0"/>
              </a:spcBef>
              <a:buNone/>
              <a:defRPr sz="2500">
                <a:solidFill>
                  <a:srgbClr val="69C0B9"/>
                </a:solidFill>
                <a:latin typeface="Montserrat Bold" pitchFamily="2" charset="0"/>
              </a:defRPr>
            </a:lvl1pPr>
          </a:lstStyle>
          <a:p>
            <a:pPr lvl="0"/>
            <a:r>
              <a:rPr lang="fr-FR"/>
              <a:t>SECOND TITRE</a:t>
            </a:r>
          </a:p>
        </p:txBody>
      </p:sp>
      <p:sp>
        <p:nvSpPr>
          <p:cNvPr id="35" name="Titre 34">
            <a:extLst>
              <a:ext uri="{FF2B5EF4-FFF2-40B4-BE49-F238E27FC236}">
                <a16:creationId xmlns:a16="http://schemas.microsoft.com/office/drawing/2014/main" id="{5E4F9CD5-B585-2F57-37C7-0602D7EB9DA6}"/>
              </a:ext>
            </a:extLst>
          </p:cNvPr>
          <p:cNvSpPr>
            <a:spLocks noGrp="1"/>
          </p:cNvSpPr>
          <p:nvPr>
            <p:ph type="title" hasCustomPrompt="1"/>
          </p:nvPr>
        </p:nvSpPr>
        <p:spPr>
          <a:xfrm>
            <a:off x="6264956" y="1532041"/>
            <a:ext cx="5218113" cy="735501"/>
          </a:xfrm>
        </p:spPr>
        <p:txBody>
          <a:bodyPr anchor="t"/>
          <a:lstStyle>
            <a:lvl1pPr algn="r">
              <a:defRPr>
                <a:solidFill>
                  <a:srgbClr val="5E152C"/>
                </a:solidFill>
                <a:latin typeface="Montserrat Black" pitchFamily="2" charset="0"/>
              </a:defRPr>
            </a:lvl1pPr>
          </a:lstStyle>
          <a:p>
            <a:pPr marL="0" marR="0" lvl="0" indent="0" algn="r" defTabSz="914400" rtl="0" eaLnBrk="1" fontAlgn="auto" latinLnBrk="0" hangingPunct="1">
              <a:lnSpc>
                <a:spcPct val="90000"/>
              </a:lnSpc>
              <a:spcBef>
                <a:spcPct val="0"/>
              </a:spcBef>
              <a:spcAft>
                <a:spcPts val="0"/>
              </a:spcAft>
              <a:buClrTx/>
              <a:buSzTx/>
              <a:buFontTx/>
              <a:buNone/>
              <a:tabLst/>
              <a:defRPr/>
            </a:pPr>
            <a:r>
              <a:rPr lang="fr-FR"/>
              <a:t>VOTRE TITRE 1</a:t>
            </a:r>
            <a:br>
              <a:rPr lang="fr-FR"/>
            </a:br>
            <a:r>
              <a:rPr lang="fr-FR" sz="4400"/>
              <a:t>Suite du titre 1</a:t>
            </a:r>
            <a:br>
              <a:rPr lang="fr-FR"/>
            </a:br>
            <a:endParaRPr lang="fr-FR"/>
          </a:p>
        </p:txBody>
      </p:sp>
      <p:pic>
        <p:nvPicPr>
          <p:cNvPr id="4" name="Image 3" descr="Une image contenant symbole, cercle, logo, Graphique&#10;&#10;Le contenu généré par l’IA peut être incorrect.">
            <a:extLst>
              <a:ext uri="{FF2B5EF4-FFF2-40B4-BE49-F238E27FC236}">
                <a16:creationId xmlns:a16="http://schemas.microsoft.com/office/drawing/2014/main" id="{2619C01F-A87E-5DF4-62B0-6EFF678FC2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90015" y="589659"/>
            <a:ext cx="594169" cy="542502"/>
          </a:xfrm>
          <a:prstGeom prst="rect">
            <a:avLst/>
          </a:prstGeom>
        </p:spPr>
      </p:pic>
      <p:pic>
        <p:nvPicPr>
          <p:cNvPr id="2" name="Image 1">
            <a:extLst>
              <a:ext uri="{FF2B5EF4-FFF2-40B4-BE49-F238E27FC236}">
                <a16:creationId xmlns:a16="http://schemas.microsoft.com/office/drawing/2014/main" id="{2F0A4A40-5FB6-66CD-A4EC-6CFD1A074C2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8156201" y="5931692"/>
            <a:ext cx="2163971" cy="612514"/>
          </a:xfrm>
          <a:prstGeom prst="rect">
            <a:avLst/>
          </a:prstGeom>
        </p:spPr>
      </p:pic>
      <p:pic>
        <p:nvPicPr>
          <p:cNvPr id="3" name="Graphique 1">
            <a:extLst>
              <a:ext uri="{FF2B5EF4-FFF2-40B4-BE49-F238E27FC236}">
                <a16:creationId xmlns:a16="http://schemas.microsoft.com/office/drawing/2014/main" id="{A8DA5064-5BE7-7023-4E6A-A651B4C6EC6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640374" y="5516884"/>
            <a:ext cx="716726" cy="997919"/>
          </a:xfrm>
          <a:prstGeom prst="rect">
            <a:avLst/>
          </a:prstGeom>
        </p:spPr>
      </p:pic>
    </p:spTree>
    <p:extLst>
      <p:ext uri="{BB962C8B-B14F-4D97-AF65-F5344CB8AC3E}">
        <p14:creationId xmlns:p14="http://schemas.microsoft.com/office/powerpoint/2010/main" val="407063948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ommaire">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33A972C9-A006-F43A-09A5-DAA0CFD91158}"/>
              </a:ext>
            </a:extLst>
          </p:cNvPr>
          <p:cNvSpPr/>
          <p:nvPr userDrawn="1"/>
        </p:nvSpPr>
        <p:spPr>
          <a:xfrm>
            <a:off x="6096000" y="0"/>
            <a:ext cx="6096000" cy="6858000"/>
          </a:xfrm>
          <a:prstGeom prst="rect">
            <a:avLst/>
          </a:prstGeom>
          <a:solidFill>
            <a:srgbClr val="69C0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3" name="Picture 2" descr="Photo">
            <a:extLst>
              <a:ext uri="{FF2B5EF4-FFF2-40B4-BE49-F238E27FC236}">
                <a16:creationId xmlns:a16="http://schemas.microsoft.com/office/drawing/2014/main" id="{D81A0B50-6C89-FC5C-EF96-414738B5E46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l="34993" t="-217" r="669" b="1305"/>
          <a:stretch/>
        </p:blipFill>
        <p:spPr bwMode="auto">
          <a:xfrm>
            <a:off x="6697354" y="2214369"/>
            <a:ext cx="2421819" cy="2436595"/>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 13" descr="Une image contenant personne, intérieur, habits, mur&#10;&#10;Description générée automatiquement">
            <a:extLst>
              <a:ext uri="{FF2B5EF4-FFF2-40B4-BE49-F238E27FC236}">
                <a16:creationId xmlns:a16="http://schemas.microsoft.com/office/drawing/2014/main" id="{E787697E-6049-2947-25E8-B614CC4B1757}"/>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 t="8110" r="9326" b="20431"/>
          <a:stretch/>
        </p:blipFill>
        <p:spPr>
          <a:xfrm>
            <a:off x="9192197" y="2232657"/>
            <a:ext cx="2429773" cy="2418308"/>
          </a:xfrm>
          <a:prstGeom prst="rect">
            <a:avLst/>
          </a:prstGeom>
        </p:spPr>
      </p:pic>
      <p:pic>
        <p:nvPicPr>
          <p:cNvPr id="18" name="Image 17">
            <a:extLst>
              <a:ext uri="{FF2B5EF4-FFF2-40B4-BE49-F238E27FC236}">
                <a16:creationId xmlns:a16="http://schemas.microsoft.com/office/drawing/2014/main" id="{3BC539C4-3DD0-C9BF-B04C-ADE4BBA7DCF3}"/>
              </a:ext>
            </a:extLst>
          </p:cNvPr>
          <p:cNvPicPr>
            <a:picLocks noChangeAspect="1"/>
          </p:cNvPicPr>
          <p:nvPr userDrawn="1"/>
        </p:nvPicPr>
        <p:blipFill rotWithShape="1">
          <a:blip r:embed="rId4">
            <a:alphaModFix amt="50000"/>
            <a:extLst>
              <a:ext uri="{28A0092B-C50C-407E-A947-70E740481C1C}">
                <a14:useLocalDpi xmlns:a14="http://schemas.microsoft.com/office/drawing/2010/main" val="0"/>
              </a:ext>
            </a:extLst>
          </a:blip>
          <a:srcRect l="13007" t="24415" r="13463" b="25385"/>
          <a:stretch/>
        </p:blipFill>
        <p:spPr>
          <a:xfrm>
            <a:off x="4931615" y="3871653"/>
            <a:ext cx="5365586" cy="3663107"/>
          </a:xfrm>
          <a:prstGeom prst="rect">
            <a:avLst/>
          </a:prstGeom>
        </p:spPr>
      </p:pic>
      <p:sp>
        <p:nvSpPr>
          <p:cNvPr id="19" name="ZoneTexte 7">
            <a:extLst>
              <a:ext uri="{FF2B5EF4-FFF2-40B4-BE49-F238E27FC236}">
                <a16:creationId xmlns:a16="http://schemas.microsoft.com/office/drawing/2014/main" id="{35A683A4-42F1-4257-08FE-762096292422}"/>
              </a:ext>
            </a:extLst>
          </p:cNvPr>
          <p:cNvSpPr txBox="1"/>
          <p:nvPr userDrawn="1"/>
        </p:nvSpPr>
        <p:spPr>
          <a:xfrm>
            <a:off x="568045" y="639402"/>
            <a:ext cx="3057639" cy="700000"/>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pitchFamily="2" charset="0"/>
              </a:rPr>
              <a:t>SOMMAIRE</a:t>
            </a:r>
            <a:endParaRPr lang="fr-FR" sz="3500" b="1" cap="all">
              <a:solidFill>
                <a:srgbClr val="5E152C"/>
              </a:solidFill>
              <a:latin typeface="Montserrat Black" panose="00000A00000000000000" pitchFamily="2" charset="0"/>
            </a:endParaRPr>
          </a:p>
        </p:txBody>
      </p:sp>
      <p:grpSp>
        <p:nvGrpSpPr>
          <p:cNvPr id="20" name="Groupe 19">
            <a:extLst>
              <a:ext uri="{FF2B5EF4-FFF2-40B4-BE49-F238E27FC236}">
                <a16:creationId xmlns:a16="http://schemas.microsoft.com/office/drawing/2014/main" id="{55BCC809-2A47-11CD-3034-E5B74103F545}"/>
              </a:ext>
            </a:extLst>
          </p:cNvPr>
          <p:cNvGrpSpPr/>
          <p:nvPr userDrawn="1"/>
        </p:nvGrpSpPr>
        <p:grpSpPr>
          <a:xfrm>
            <a:off x="0" y="1523661"/>
            <a:ext cx="4283654" cy="171450"/>
            <a:chOff x="0" y="1685925"/>
            <a:chExt cx="4283654" cy="171450"/>
          </a:xfrm>
          <a:solidFill>
            <a:srgbClr val="9A9F85"/>
          </a:solidFill>
        </p:grpSpPr>
        <p:cxnSp>
          <p:nvCxnSpPr>
            <p:cNvPr id="21" name="Connecteur droit 20">
              <a:extLst>
                <a:ext uri="{FF2B5EF4-FFF2-40B4-BE49-F238E27FC236}">
                  <a16:creationId xmlns:a16="http://schemas.microsoft.com/office/drawing/2014/main" id="{1C840878-9452-2765-EABC-2B5E92FB502D}"/>
                </a:ext>
              </a:extLst>
            </p:cNvPr>
            <p:cNvCxnSpPr>
              <a:cxnSpLocks/>
            </p:cNvCxnSpPr>
            <p:nvPr/>
          </p:nvCxnSpPr>
          <p:spPr>
            <a:xfrm>
              <a:off x="0" y="1771650"/>
              <a:ext cx="3426832" cy="0"/>
            </a:xfrm>
            <a:prstGeom prst="line">
              <a:avLst/>
            </a:prstGeom>
            <a:grpFill/>
            <a:ln w="57150" cap="rnd">
              <a:solidFill>
                <a:srgbClr val="69C0B9"/>
              </a:solidFill>
            </a:ln>
          </p:spPr>
          <p:style>
            <a:lnRef idx="2">
              <a:schemeClr val="accent1"/>
            </a:lnRef>
            <a:fillRef idx="0">
              <a:schemeClr val="accent1"/>
            </a:fillRef>
            <a:effectRef idx="1">
              <a:schemeClr val="accent1"/>
            </a:effectRef>
            <a:fontRef idx="minor">
              <a:schemeClr val="tx1"/>
            </a:fontRef>
          </p:style>
        </p:cxnSp>
        <p:sp>
          <p:nvSpPr>
            <p:cNvPr id="22" name="Organigramme : Connecteur 21">
              <a:extLst>
                <a:ext uri="{FF2B5EF4-FFF2-40B4-BE49-F238E27FC236}">
                  <a16:creationId xmlns:a16="http://schemas.microsoft.com/office/drawing/2014/main" id="{0CC7447E-6CF4-6342-2B47-2C2FEC55E154}"/>
                </a:ext>
              </a:extLst>
            </p:cNvPr>
            <p:cNvSpPr/>
            <p:nvPr/>
          </p:nvSpPr>
          <p:spPr>
            <a:xfrm>
              <a:off x="3625684" y="1685925"/>
              <a:ext cx="171450" cy="171450"/>
            </a:xfrm>
            <a:prstGeom prst="flowChartConnector">
              <a:avLst/>
            </a:prstGeom>
            <a:solidFill>
              <a:srgbClr val="69C0B9"/>
            </a:solid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sp>
          <p:nvSpPr>
            <p:cNvPr id="23" name="Organigramme : Connecteur 22">
              <a:extLst>
                <a:ext uri="{FF2B5EF4-FFF2-40B4-BE49-F238E27FC236}">
                  <a16:creationId xmlns:a16="http://schemas.microsoft.com/office/drawing/2014/main" id="{0701A8DA-96B0-82DD-FA3A-C375AF62E491}"/>
                </a:ext>
              </a:extLst>
            </p:cNvPr>
            <p:cNvSpPr/>
            <p:nvPr/>
          </p:nvSpPr>
          <p:spPr>
            <a:xfrm>
              <a:off x="4112204" y="1685925"/>
              <a:ext cx="171450" cy="171450"/>
            </a:xfrm>
            <a:prstGeom prst="flowChartConnector">
              <a:avLst/>
            </a:prstGeom>
            <a:solidFill>
              <a:srgbClr val="69C0B9"/>
            </a:solid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grpSp>
      <p:sp>
        <p:nvSpPr>
          <p:cNvPr id="27" name="Espace réservé du texte 26">
            <a:extLst>
              <a:ext uri="{FF2B5EF4-FFF2-40B4-BE49-F238E27FC236}">
                <a16:creationId xmlns:a16="http://schemas.microsoft.com/office/drawing/2014/main" id="{DB2BCACB-86B7-2B4D-28EE-E94B48AC2107}"/>
              </a:ext>
            </a:extLst>
          </p:cNvPr>
          <p:cNvSpPr>
            <a:spLocks noGrp="1"/>
          </p:cNvSpPr>
          <p:nvPr>
            <p:ph type="body" sz="quarter" idx="10" hasCustomPrompt="1"/>
          </p:nvPr>
        </p:nvSpPr>
        <p:spPr>
          <a:xfrm>
            <a:off x="568044" y="2265767"/>
            <a:ext cx="5248293" cy="3663106"/>
          </a:xfrm>
        </p:spPr>
        <p:txBody>
          <a:bodyPr>
            <a:normAutofit/>
          </a:bodyPr>
          <a:lstStyle>
            <a:lvl1pPr marL="0" indent="0">
              <a:buNone/>
              <a:defRPr sz="1500">
                <a:solidFill>
                  <a:srgbClr val="5D152C"/>
                </a:solidFill>
                <a:latin typeface="Montserrat Light" pitchFamily="2" charset="0"/>
              </a:defRPr>
            </a:lvl1pPr>
          </a:lstStyle>
          <a:p>
            <a:pPr lvl="0"/>
            <a:r>
              <a:rPr lang="fr-FR" sz="1500">
                <a:latin typeface="Montserrat Light" pitchFamily="2" charset="0"/>
              </a:rPr>
              <a:t>Votre contenu ici</a:t>
            </a:r>
            <a:endParaRPr lang="fr-FR"/>
          </a:p>
        </p:txBody>
      </p:sp>
      <p:grpSp>
        <p:nvGrpSpPr>
          <p:cNvPr id="4" name="Groupe 3">
            <a:extLst>
              <a:ext uri="{FF2B5EF4-FFF2-40B4-BE49-F238E27FC236}">
                <a16:creationId xmlns:a16="http://schemas.microsoft.com/office/drawing/2014/main" id="{43BBA478-8421-68CB-0E1F-90302991937D}"/>
              </a:ext>
            </a:extLst>
          </p:cNvPr>
          <p:cNvGrpSpPr/>
          <p:nvPr userDrawn="1"/>
        </p:nvGrpSpPr>
        <p:grpSpPr>
          <a:xfrm>
            <a:off x="8621751" y="1028271"/>
            <a:ext cx="3722649" cy="88111"/>
            <a:chOff x="9100287" y="875871"/>
            <a:chExt cx="3722649" cy="88111"/>
          </a:xfrm>
        </p:grpSpPr>
        <p:cxnSp>
          <p:nvCxnSpPr>
            <p:cNvPr id="6" name="Connecteur droit 5">
              <a:extLst>
                <a:ext uri="{FF2B5EF4-FFF2-40B4-BE49-F238E27FC236}">
                  <a16:creationId xmlns:a16="http://schemas.microsoft.com/office/drawing/2014/main" id="{E17A04FB-281F-0EB0-6AD2-C8CEE0484533}"/>
                </a:ext>
              </a:extLst>
            </p:cNvPr>
            <p:cNvCxnSpPr>
              <a:cxnSpLocks/>
            </p:cNvCxnSpPr>
            <p:nvPr/>
          </p:nvCxnSpPr>
          <p:spPr>
            <a:xfrm flipH="1">
              <a:off x="9505950" y="918733"/>
              <a:ext cx="3316986" cy="0"/>
            </a:xfrm>
            <a:prstGeom prst="line">
              <a:avLst/>
            </a:prstGeom>
            <a:ln w="57150" cap="rnd">
              <a:solidFill>
                <a:schemeClr val="bg1"/>
              </a:solidFill>
            </a:ln>
          </p:spPr>
          <p:style>
            <a:lnRef idx="2">
              <a:schemeClr val="accent1"/>
            </a:lnRef>
            <a:fillRef idx="0">
              <a:schemeClr val="accent1"/>
            </a:fillRef>
            <a:effectRef idx="1">
              <a:schemeClr val="accent1"/>
            </a:effectRef>
            <a:fontRef idx="minor">
              <a:schemeClr val="tx1"/>
            </a:fontRef>
          </p:style>
        </p:cxnSp>
        <p:sp>
          <p:nvSpPr>
            <p:cNvPr id="8" name="Organigramme : Connecteur 7">
              <a:extLst>
                <a:ext uri="{FF2B5EF4-FFF2-40B4-BE49-F238E27FC236}">
                  <a16:creationId xmlns:a16="http://schemas.microsoft.com/office/drawing/2014/main" id="{F9004BFF-50D6-CC95-8270-56D79074200F}"/>
                </a:ext>
              </a:extLst>
            </p:cNvPr>
            <p:cNvSpPr/>
            <p:nvPr/>
          </p:nvSpPr>
          <p:spPr>
            <a:xfrm flipH="1">
              <a:off x="9100287" y="875871"/>
              <a:ext cx="85725" cy="85725"/>
            </a:xfrm>
            <a:prstGeom prst="flowChartConnector">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Organigramme : Connecteur 14">
              <a:extLst>
                <a:ext uri="{FF2B5EF4-FFF2-40B4-BE49-F238E27FC236}">
                  <a16:creationId xmlns:a16="http://schemas.microsoft.com/office/drawing/2014/main" id="{839FCB05-A3F0-4E4F-1DA9-87DF8B8B65DA}"/>
                </a:ext>
              </a:extLst>
            </p:cNvPr>
            <p:cNvSpPr/>
            <p:nvPr/>
          </p:nvSpPr>
          <p:spPr>
            <a:xfrm flipH="1">
              <a:off x="9299030" y="878257"/>
              <a:ext cx="85725" cy="85725"/>
            </a:xfrm>
            <a:prstGeom prst="flowChartConnector">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2" name="ZoneTexte 1">
            <a:extLst>
              <a:ext uri="{FF2B5EF4-FFF2-40B4-BE49-F238E27FC236}">
                <a16:creationId xmlns:a16="http://schemas.microsoft.com/office/drawing/2014/main" id="{3B9EB14D-34C8-05E5-EBFE-66C70E76532B}"/>
              </a:ext>
            </a:extLst>
          </p:cNvPr>
          <p:cNvSpPr txBox="1">
            <a:spLocks/>
          </p:cNvSpPr>
          <p:nvPr userDrawn="1"/>
        </p:nvSpPr>
        <p:spPr>
          <a:xfrm>
            <a:off x="-290873" y="6206452"/>
            <a:ext cx="2105025" cy="369332"/>
          </a:xfrm>
          <a:prstGeom prst="rect">
            <a:avLst/>
          </a:prstGeom>
          <a:noFill/>
        </p:spPr>
        <p:txBody>
          <a:bodyPr wrap="square" rtlCol="0">
            <a:spAutoFit/>
          </a:bodyPr>
          <a:lstStyle/>
          <a:p>
            <a:pPr algn="r"/>
            <a:r>
              <a:rPr lang="fr-FR">
                <a:solidFill>
                  <a:srgbClr val="E4003A"/>
                </a:solidFill>
                <a:latin typeface="Montserrat ExtraBold" panose="00000900000000000000" pitchFamily="2" charset="0"/>
              </a:rPr>
              <a:t>fiteco</a:t>
            </a:r>
            <a:r>
              <a:rPr lang="fr-FR" sz="1100">
                <a:solidFill>
                  <a:srgbClr val="E4003A"/>
                </a:solidFill>
                <a:latin typeface="Montserrat Light" panose="00000400000000000000" pitchFamily="2" charset="0"/>
              </a:rPr>
              <a:t>.com</a:t>
            </a:r>
          </a:p>
        </p:txBody>
      </p:sp>
      <p:pic>
        <p:nvPicPr>
          <p:cNvPr id="7" name="Image 6" descr="Une image contenant texte, Police, Graphique, logo&#10;&#10;Le contenu généré par l’IA peut être incorrect.">
            <a:extLst>
              <a:ext uri="{FF2B5EF4-FFF2-40B4-BE49-F238E27FC236}">
                <a16:creationId xmlns:a16="http://schemas.microsoft.com/office/drawing/2014/main" id="{050BF2BE-FEF8-554D-BA8B-D642D5B9FED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027414" y="487115"/>
            <a:ext cx="1431097" cy="401856"/>
          </a:xfrm>
          <a:prstGeom prst="rect">
            <a:avLst/>
          </a:prstGeom>
        </p:spPr>
      </p:pic>
    </p:spTree>
    <p:extLst>
      <p:ext uri="{BB962C8B-B14F-4D97-AF65-F5344CB8AC3E}">
        <p14:creationId xmlns:p14="http://schemas.microsoft.com/office/powerpoint/2010/main" val="353997486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_Disposition personnalisée">
    <p:spTree>
      <p:nvGrpSpPr>
        <p:cNvPr id="1" name=""/>
        <p:cNvGrpSpPr/>
        <p:nvPr/>
      </p:nvGrpSpPr>
      <p:grpSpPr>
        <a:xfrm>
          <a:off x="0" y="0"/>
          <a:ext cx="0" cy="0"/>
          <a:chOff x="0" y="0"/>
          <a:chExt cx="0" cy="0"/>
        </a:xfrm>
      </p:grpSpPr>
      <p:pic>
        <p:nvPicPr>
          <p:cNvPr id="11" name="Image 10" descr="Une image contenant cercle, capture d’écran, Graphique, obscurité&#10;&#10;Description générée automatiquement">
            <a:extLst>
              <a:ext uri="{FF2B5EF4-FFF2-40B4-BE49-F238E27FC236}">
                <a16:creationId xmlns:a16="http://schemas.microsoft.com/office/drawing/2014/main" id="{A29608FB-5E76-5126-4A35-92EC6E040C98}"/>
              </a:ext>
            </a:extLst>
          </p:cNvPr>
          <p:cNvPicPr>
            <a:picLocks noChangeAspect="1"/>
          </p:cNvPicPr>
          <p:nvPr userDrawn="1"/>
        </p:nvPicPr>
        <p:blipFill>
          <a:blip r:embed="rId2">
            <a:extLst>
              <a:ext uri="{28A0092B-C50C-407E-A947-70E740481C1C}">
                <a14:useLocalDpi xmlns:a14="http://schemas.microsoft.com/office/drawing/2010/main" val="0"/>
              </a:ext>
            </a:extLst>
          </a:blip>
          <a:srcRect t="21111"/>
          <a:stretch/>
        </p:blipFill>
        <p:spPr>
          <a:xfrm>
            <a:off x="7751753" y="1360954"/>
            <a:ext cx="6422149" cy="3926625"/>
          </a:xfrm>
          <a:prstGeom prst="rect">
            <a:avLst/>
          </a:prstGeom>
        </p:spPr>
      </p:pic>
      <p:sp>
        <p:nvSpPr>
          <p:cNvPr id="4" name="ZoneTexte 3">
            <a:extLst>
              <a:ext uri="{FF2B5EF4-FFF2-40B4-BE49-F238E27FC236}">
                <a16:creationId xmlns:a16="http://schemas.microsoft.com/office/drawing/2014/main" id="{2A2E89C9-4A56-CBEA-22D9-7419510463D7}"/>
              </a:ext>
            </a:extLst>
          </p:cNvPr>
          <p:cNvSpPr txBox="1">
            <a:spLocks/>
          </p:cNvSpPr>
          <p:nvPr userDrawn="1"/>
        </p:nvSpPr>
        <p:spPr>
          <a:xfrm>
            <a:off x="9481184" y="6237949"/>
            <a:ext cx="2105025" cy="369332"/>
          </a:xfrm>
          <a:prstGeom prst="rect">
            <a:avLst/>
          </a:prstGeom>
          <a:noFill/>
        </p:spPr>
        <p:txBody>
          <a:bodyPr wrap="square" rtlCol="0">
            <a:spAutoFit/>
          </a:bodyPr>
          <a:lstStyle/>
          <a:p>
            <a:pPr algn="r"/>
            <a:r>
              <a:rPr lang="fr-FR">
                <a:solidFill>
                  <a:srgbClr val="E4003A"/>
                </a:solidFill>
                <a:latin typeface="Montserrat ExtraBold" panose="00000900000000000000" pitchFamily="2" charset="0"/>
              </a:rPr>
              <a:t>fiteco</a:t>
            </a:r>
            <a:r>
              <a:rPr lang="fr-FR" sz="1100">
                <a:solidFill>
                  <a:srgbClr val="E4003A"/>
                </a:solidFill>
                <a:latin typeface="Montserrat Light" panose="00000400000000000000" pitchFamily="2" charset="0"/>
              </a:rPr>
              <a:t>.com</a:t>
            </a:r>
          </a:p>
        </p:txBody>
      </p:sp>
      <p:grpSp>
        <p:nvGrpSpPr>
          <p:cNvPr id="3" name="Groupe 2">
            <a:extLst>
              <a:ext uri="{FF2B5EF4-FFF2-40B4-BE49-F238E27FC236}">
                <a16:creationId xmlns:a16="http://schemas.microsoft.com/office/drawing/2014/main" id="{DCF1D76E-CDC2-0F6F-BF95-DC7385E98A56}"/>
              </a:ext>
            </a:extLst>
          </p:cNvPr>
          <p:cNvGrpSpPr/>
          <p:nvPr userDrawn="1"/>
        </p:nvGrpSpPr>
        <p:grpSpPr>
          <a:xfrm>
            <a:off x="0" y="1523661"/>
            <a:ext cx="4283654" cy="171450"/>
            <a:chOff x="0" y="1685925"/>
            <a:chExt cx="4283654" cy="171450"/>
          </a:xfrm>
          <a:solidFill>
            <a:srgbClr val="69C0B9"/>
          </a:solidFill>
        </p:grpSpPr>
        <p:cxnSp>
          <p:nvCxnSpPr>
            <p:cNvPr id="14" name="Connecteur droit 13">
              <a:extLst>
                <a:ext uri="{FF2B5EF4-FFF2-40B4-BE49-F238E27FC236}">
                  <a16:creationId xmlns:a16="http://schemas.microsoft.com/office/drawing/2014/main" id="{46CA8582-6BC4-9DBD-A888-913E94346AE9}"/>
                </a:ext>
              </a:extLst>
            </p:cNvPr>
            <p:cNvCxnSpPr>
              <a:cxnSpLocks/>
            </p:cNvCxnSpPr>
            <p:nvPr/>
          </p:nvCxnSpPr>
          <p:spPr>
            <a:xfrm>
              <a:off x="0" y="1771650"/>
              <a:ext cx="3426832" cy="0"/>
            </a:xfrm>
            <a:prstGeom prst="line">
              <a:avLst/>
            </a:prstGeom>
            <a:grpFill/>
            <a:ln w="57150" cap="rnd">
              <a:solidFill>
                <a:srgbClr val="69C0B9"/>
              </a:solidFill>
            </a:ln>
          </p:spPr>
          <p:style>
            <a:lnRef idx="2">
              <a:schemeClr val="accent1"/>
            </a:lnRef>
            <a:fillRef idx="0">
              <a:schemeClr val="accent1"/>
            </a:fillRef>
            <a:effectRef idx="1">
              <a:schemeClr val="accent1"/>
            </a:effectRef>
            <a:fontRef idx="minor">
              <a:schemeClr val="tx1"/>
            </a:fontRef>
          </p:style>
        </p:cxnSp>
        <p:sp>
          <p:nvSpPr>
            <p:cNvPr id="15" name="Organigramme : Connecteur 14">
              <a:extLst>
                <a:ext uri="{FF2B5EF4-FFF2-40B4-BE49-F238E27FC236}">
                  <a16:creationId xmlns:a16="http://schemas.microsoft.com/office/drawing/2014/main" id="{30092AFC-E582-4548-1A21-98E894913BBA}"/>
                </a:ext>
              </a:extLst>
            </p:cNvPr>
            <p:cNvSpPr/>
            <p:nvPr/>
          </p:nvSpPr>
          <p:spPr>
            <a:xfrm>
              <a:off x="3625684" y="1685925"/>
              <a:ext cx="171450" cy="171450"/>
            </a:xfrm>
            <a:prstGeom prst="flowChartConnector">
              <a:avLst/>
            </a:prstGeom>
            <a:grp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sp>
          <p:nvSpPr>
            <p:cNvPr id="16" name="Organigramme : Connecteur 15">
              <a:extLst>
                <a:ext uri="{FF2B5EF4-FFF2-40B4-BE49-F238E27FC236}">
                  <a16:creationId xmlns:a16="http://schemas.microsoft.com/office/drawing/2014/main" id="{876A0DE3-CE13-9602-9304-FCA881085D22}"/>
                </a:ext>
              </a:extLst>
            </p:cNvPr>
            <p:cNvSpPr/>
            <p:nvPr/>
          </p:nvSpPr>
          <p:spPr>
            <a:xfrm>
              <a:off x="4112204" y="1685925"/>
              <a:ext cx="171450" cy="171450"/>
            </a:xfrm>
            <a:prstGeom prst="flowChartConnector">
              <a:avLst/>
            </a:prstGeom>
            <a:grp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grpSp>
      <p:grpSp>
        <p:nvGrpSpPr>
          <p:cNvPr id="17" name="Groupe 16">
            <a:extLst>
              <a:ext uri="{FF2B5EF4-FFF2-40B4-BE49-F238E27FC236}">
                <a16:creationId xmlns:a16="http://schemas.microsoft.com/office/drawing/2014/main" id="{DCA862FC-C916-7529-0F18-690BED1A53B0}"/>
              </a:ext>
            </a:extLst>
          </p:cNvPr>
          <p:cNvGrpSpPr/>
          <p:nvPr userDrawn="1"/>
        </p:nvGrpSpPr>
        <p:grpSpPr>
          <a:xfrm>
            <a:off x="8469351" y="307663"/>
            <a:ext cx="3722649" cy="663478"/>
            <a:chOff x="9100287" y="300504"/>
            <a:chExt cx="3722649" cy="663478"/>
          </a:xfrm>
        </p:grpSpPr>
        <p:pic>
          <p:nvPicPr>
            <p:cNvPr id="18" name="Image 17" descr="Une image contenant texte, clipart&#10;&#10;Description générée automatiquement">
              <a:extLst>
                <a:ext uri="{FF2B5EF4-FFF2-40B4-BE49-F238E27FC236}">
                  <a16:creationId xmlns:a16="http://schemas.microsoft.com/office/drawing/2014/main" id="{26242A37-D714-887F-8449-1C0286B83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05950" y="300504"/>
              <a:ext cx="1386474" cy="390319"/>
            </a:xfrm>
            <a:prstGeom prst="rect">
              <a:avLst/>
            </a:prstGeom>
          </p:spPr>
        </p:pic>
        <p:cxnSp>
          <p:nvCxnSpPr>
            <p:cNvPr id="19" name="Connecteur droit 18">
              <a:extLst>
                <a:ext uri="{FF2B5EF4-FFF2-40B4-BE49-F238E27FC236}">
                  <a16:creationId xmlns:a16="http://schemas.microsoft.com/office/drawing/2014/main" id="{448A7BBD-954C-E0A5-DEAA-811E21DB7D6F}"/>
                </a:ext>
              </a:extLst>
            </p:cNvPr>
            <p:cNvCxnSpPr>
              <a:cxnSpLocks/>
            </p:cNvCxnSpPr>
            <p:nvPr/>
          </p:nvCxnSpPr>
          <p:spPr>
            <a:xfrm flipH="1">
              <a:off x="9505950" y="918733"/>
              <a:ext cx="3316986" cy="0"/>
            </a:xfrm>
            <a:prstGeom prst="line">
              <a:avLst/>
            </a:prstGeom>
            <a:solidFill>
              <a:srgbClr val="9A9F85"/>
            </a:solidFill>
            <a:ln w="57150" cap="rnd">
              <a:solidFill>
                <a:srgbClr val="69C0B9"/>
              </a:solidFill>
            </a:ln>
          </p:spPr>
          <p:style>
            <a:lnRef idx="2">
              <a:schemeClr val="accent1"/>
            </a:lnRef>
            <a:fillRef idx="0">
              <a:schemeClr val="accent1"/>
            </a:fillRef>
            <a:effectRef idx="1">
              <a:schemeClr val="accent1"/>
            </a:effectRef>
            <a:fontRef idx="minor">
              <a:schemeClr val="tx1"/>
            </a:fontRef>
          </p:style>
        </p:cxnSp>
        <p:sp>
          <p:nvSpPr>
            <p:cNvPr id="20" name="Organigramme : Connecteur 19">
              <a:extLst>
                <a:ext uri="{FF2B5EF4-FFF2-40B4-BE49-F238E27FC236}">
                  <a16:creationId xmlns:a16="http://schemas.microsoft.com/office/drawing/2014/main" id="{A8C37E28-FF03-6F2F-1C3B-2FFAE97B76F0}"/>
                </a:ext>
              </a:extLst>
            </p:cNvPr>
            <p:cNvSpPr/>
            <p:nvPr/>
          </p:nvSpPr>
          <p:spPr>
            <a:xfrm flipH="1">
              <a:off x="9100287" y="875871"/>
              <a:ext cx="85725" cy="85725"/>
            </a:xfrm>
            <a:prstGeom prst="flowChartConnector">
              <a:avLst/>
            </a:prstGeom>
            <a:solidFill>
              <a:srgbClr val="69C0B9"/>
            </a:solid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Organigramme : Connecteur 20">
              <a:extLst>
                <a:ext uri="{FF2B5EF4-FFF2-40B4-BE49-F238E27FC236}">
                  <a16:creationId xmlns:a16="http://schemas.microsoft.com/office/drawing/2014/main" id="{2A89A844-3E7A-4747-0D9D-407C62A09772}"/>
                </a:ext>
              </a:extLst>
            </p:cNvPr>
            <p:cNvSpPr/>
            <p:nvPr/>
          </p:nvSpPr>
          <p:spPr>
            <a:xfrm flipH="1">
              <a:off x="9299030" y="878257"/>
              <a:ext cx="85725" cy="85725"/>
            </a:xfrm>
            <a:prstGeom prst="flowChartConnector">
              <a:avLst/>
            </a:prstGeom>
            <a:solidFill>
              <a:srgbClr val="69C0B9"/>
            </a:solid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12196571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2_Disposition personnalisée">
    <p:spTree>
      <p:nvGrpSpPr>
        <p:cNvPr id="1" name=""/>
        <p:cNvGrpSpPr/>
        <p:nvPr/>
      </p:nvGrpSpPr>
      <p:grpSpPr>
        <a:xfrm>
          <a:off x="0" y="0"/>
          <a:ext cx="0" cy="0"/>
          <a:chOff x="0" y="0"/>
          <a:chExt cx="0" cy="0"/>
        </a:xfrm>
      </p:grpSpPr>
      <p:pic>
        <p:nvPicPr>
          <p:cNvPr id="3" name="Image 2" descr="Une image contenant Police, Graphique, typographie, graphisme&#10;&#10;Le contenu généré par l’IA peut être incorrect.">
            <a:extLst>
              <a:ext uri="{FF2B5EF4-FFF2-40B4-BE49-F238E27FC236}">
                <a16:creationId xmlns:a16="http://schemas.microsoft.com/office/drawing/2014/main" id="{5286CD49-BDEE-5860-A8C5-6AA1E2A157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133243" y="6201642"/>
            <a:ext cx="1542291" cy="313945"/>
          </a:xfrm>
          <a:prstGeom prst="rect">
            <a:avLst/>
          </a:prstGeom>
        </p:spPr>
      </p:pic>
      <p:grpSp>
        <p:nvGrpSpPr>
          <p:cNvPr id="12" name="Groupe 11">
            <a:extLst>
              <a:ext uri="{FF2B5EF4-FFF2-40B4-BE49-F238E27FC236}">
                <a16:creationId xmlns:a16="http://schemas.microsoft.com/office/drawing/2014/main" id="{6BFB3121-98A2-5801-1EE5-F0CA69918F1D}"/>
              </a:ext>
            </a:extLst>
          </p:cNvPr>
          <p:cNvGrpSpPr/>
          <p:nvPr userDrawn="1"/>
        </p:nvGrpSpPr>
        <p:grpSpPr>
          <a:xfrm rot="16200000">
            <a:off x="-3412848" y="3343275"/>
            <a:ext cx="6858000" cy="171450"/>
            <a:chOff x="-2574346" y="1685925"/>
            <a:chExt cx="6858000" cy="171450"/>
          </a:xfrm>
          <a:solidFill>
            <a:srgbClr val="6ABEB8"/>
          </a:solidFill>
        </p:grpSpPr>
        <p:cxnSp>
          <p:nvCxnSpPr>
            <p:cNvPr id="13" name="Connecteur droit 12">
              <a:extLst>
                <a:ext uri="{FF2B5EF4-FFF2-40B4-BE49-F238E27FC236}">
                  <a16:creationId xmlns:a16="http://schemas.microsoft.com/office/drawing/2014/main" id="{C86A3234-3D74-F6E3-7C91-9FA873A94C90}"/>
                </a:ext>
              </a:extLst>
            </p:cNvPr>
            <p:cNvCxnSpPr>
              <a:cxnSpLocks/>
            </p:cNvCxnSpPr>
            <p:nvPr/>
          </p:nvCxnSpPr>
          <p:spPr>
            <a:xfrm rot="5400000" flipV="1">
              <a:off x="426243" y="-1228939"/>
              <a:ext cx="0" cy="6001178"/>
            </a:xfrm>
            <a:prstGeom prst="line">
              <a:avLst/>
            </a:prstGeom>
            <a:grpFill/>
            <a:ln w="57150" cap="rnd">
              <a:solidFill>
                <a:srgbClr val="6ABEB8"/>
              </a:solidFill>
            </a:ln>
          </p:spPr>
          <p:style>
            <a:lnRef idx="2">
              <a:schemeClr val="accent1"/>
            </a:lnRef>
            <a:fillRef idx="0">
              <a:schemeClr val="accent1"/>
            </a:fillRef>
            <a:effectRef idx="1">
              <a:schemeClr val="accent1"/>
            </a:effectRef>
            <a:fontRef idx="minor">
              <a:schemeClr val="tx1"/>
            </a:fontRef>
          </p:style>
        </p:cxnSp>
        <p:sp>
          <p:nvSpPr>
            <p:cNvPr id="14" name="Organigramme : Connecteur 13">
              <a:extLst>
                <a:ext uri="{FF2B5EF4-FFF2-40B4-BE49-F238E27FC236}">
                  <a16:creationId xmlns:a16="http://schemas.microsoft.com/office/drawing/2014/main" id="{4560043B-C775-9F54-4614-F66A86B678A4}"/>
                </a:ext>
              </a:extLst>
            </p:cNvPr>
            <p:cNvSpPr/>
            <p:nvPr/>
          </p:nvSpPr>
          <p:spPr>
            <a:xfrm>
              <a:off x="3625684" y="1685925"/>
              <a:ext cx="171450" cy="171450"/>
            </a:xfrm>
            <a:prstGeom prst="flowChartConnector">
              <a:avLst/>
            </a:prstGeom>
            <a:grpFill/>
            <a:ln>
              <a:solidFill>
                <a:srgbClr val="6ABEB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sp>
          <p:nvSpPr>
            <p:cNvPr id="15" name="Organigramme : Connecteur 14">
              <a:extLst>
                <a:ext uri="{FF2B5EF4-FFF2-40B4-BE49-F238E27FC236}">
                  <a16:creationId xmlns:a16="http://schemas.microsoft.com/office/drawing/2014/main" id="{CBCCC97C-73F2-52BF-CE1B-01C29378F703}"/>
                </a:ext>
              </a:extLst>
            </p:cNvPr>
            <p:cNvSpPr/>
            <p:nvPr/>
          </p:nvSpPr>
          <p:spPr>
            <a:xfrm>
              <a:off x="4112204" y="1685925"/>
              <a:ext cx="171450" cy="171450"/>
            </a:xfrm>
            <a:prstGeom prst="flowChartConnector">
              <a:avLst/>
            </a:prstGeom>
            <a:grpFill/>
            <a:ln>
              <a:solidFill>
                <a:srgbClr val="6ABEB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grpSp>
      <p:sp>
        <p:nvSpPr>
          <p:cNvPr id="18" name="Espace réservé du contenu 17">
            <a:extLst>
              <a:ext uri="{FF2B5EF4-FFF2-40B4-BE49-F238E27FC236}">
                <a16:creationId xmlns:a16="http://schemas.microsoft.com/office/drawing/2014/main" id="{3A725A9C-FF97-B17D-1279-1B9BA3917151}"/>
              </a:ext>
            </a:extLst>
          </p:cNvPr>
          <p:cNvSpPr>
            <a:spLocks noGrp="1"/>
          </p:cNvSpPr>
          <p:nvPr userDrawn="1">
            <p:ph sz="quarter" idx="10" hasCustomPrompt="1"/>
          </p:nvPr>
        </p:nvSpPr>
        <p:spPr>
          <a:xfrm>
            <a:off x="8640802" y="2281238"/>
            <a:ext cx="2692361" cy="3103562"/>
          </a:xfrm>
        </p:spPr>
        <p:txBody>
          <a:bodyPr>
            <a:normAutofit/>
          </a:bodyPr>
          <a:lstStyle>
            <a:lvl1pPr marL="0" indent="0" algn="r">
              <a:buNone/>
              <a:defRPr sz="1400">
                <a:solidFill>
                  <a:srgbClr val="5D152C"/>
                </a:solidFill>
                <a:latin typeface="Montserrat" pitchFamily="2" charset="0"/>
              </a:defRPr>
            </a:lvl1pPr>
          </a:lstStyle>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a:t>Votre texte ici Votre texte ici Votre texte ici Votre texte ici Votre texte ici Votre texte ici Votre texte ici Votre texte ici Votre texte ici Votre texte ici Votre texte ici Votre texte ici Votre texte ici Votre texte ici Votre texte ici Votre texte ici Votre texte ici Votre texte ici Votre texte ici Votre texte ici Votre texte ici</a:t>
            </a:r>
          </a:p>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lang="fr-FR"/>
          </a:p>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lang="fr-FR"/>
          </a:p>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lang="fr-FR"/>
          </a:p>
          <a:p>
            <a:pPr lvl="0"/>
            <a:endParaRPr lang="fr-FR"/>
          </a:p>
        </p:txBody>
      </p:sp>
    </p:spTree>
    <p:extLst>
      <p:ext uri="{BB962C8B-B14F-4D97-AF65-F5344CB8AC3E}">
        <p14:creationId xmlns:p14="http://schemas.microsoft.com/office/powerpoint/2010/main" val="842893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_Disposition personnalisée">
    <p:bg>
      <p:bgPr>
        <a:solidFill>
          <a:srgbClr val="5D152C"/>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C05750A-622F-6226-3FAD-34463C0527EB}"/>
              </a:ext>
            </a:extLst>
          </p:cNvPr>
          <p:cNvSpPr/>
          <p:nvPr userDrawn="1"/>
        </p:nvSpPr>
        <p:spPr>
          <a:xfrm>
            <a:off x="0" y="0"/>
            <a:ext cx="12192000" cy="6858000"/>
          </a:xfrm>
          <a:prstGeom prst="rect">
            <a:avLst/>
          </a:prstGeom>
          <a:solidFill>
            <a:srgbClr val="69C0B9"/>
          </a:solidFill>
          <a:ln>
            <a:solidFill>
              <a:srgbClr val="99A5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6" name="Image 5" descr="Une image contenant logo, Graphique, noir, noir et blanc&#10;&#10;Description générée automatiquement">
            <a:extLst>
              <a:ext uri="{FF2B5EF4-FFF2-40B4-BE49-F238E27FC236}">
                <a16:creationId xmlns:a16="http://schemas.microsoft.com/office/drawing/2014/main" id="{6351365C-D333-2158-5B88-6E438DC18F19}"/>
              </a:ext>
            </a:extLst>
          </p:cNvPr>
          <p:cNvPicPr>
            <a:picLocks noChangeAspect="1"/>
          </p:cNvPicPr>
          <p:nvPr userDrawn="1"/>
        </p:nvPicPr>
        <p:blipFill>
          <a:blip r:embed="rId2">
            <a:alphaModFix amt="47000"/>
            <a:extLst>
              <a:ext uri="{28A0092B-C50C-407E-A947-70E740481C1C}">
                <a14:useLocalDpi xmlns:a14="http://schemas.microsoft.com/office/drawing/2010/main" val="0"/>
              </a:ext>
            </a:extLst>
          </a:blip>
          <a:stretch>
            <a:fillRect/>
          </a:stretch>
        </p:blipFill>
        <p:spPr>
          <a:xfrm>
            <a:off x="-2917886" y="875871"/>
            <a:ext cx="9499538" cy="9499538"/>
          </a:xfrm>
          <a:prstGeom prst="rect">
            <a:avLst/>
          </a:prstGeom>
        </p:spPr>
      </p:pic>
      <p:pic>
        <p:nvPicPr>
          <p:cNvPr id="8" name="Image 7">
            <a:extLst>
              <a:ext uri="{FF2B5EF4-FFF2-40B4-BE49-F238E27FC236}">
                <a16:creationId xmlns:a16="http://schemas.microsoft.com/office/drawing/2014/main" id="{1A0C5C85-FE59-F162-6A23-A2907A6679E1}"/>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9261" t="-819" r="13999" b="819"/>
          <a:stretch/>
        </p:blipFill>
        <p:spPr>
          <a:xfrm>
            <a:off x="8262575" y="2868688"/>
            <a:ext cx="4638946" cy="4633846"/>
          </a:xfrm>
          <a:prstGeom prst="flowChartConnector">
            <a:avLst/>
          </a:prstGeom>
        </p:spPr>
      </p:pic>
      <p:pic>
        <p:nvPicPr>
          <p:cNvPr id="9" name="Image 8" descr="Une image contenant cercle, capture d’écran, Graphique, art&#10;&#10;Description générée automatiquement">
            <a:extLst>
              <a:ext uri="{FF2B5EF4-FFF2-40B4-BE49-F238E27FC236}">
                <a16:creationId xmlns:a16="http://schemas.microsoft.com/office/drawing/2014/main" id="{976488D1-5CA6-3B36-3EC7-1CAB03A18A2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011614" y="417925"/>
            <a:ext cx="6422149" cy="4977394"/>
          </a:xfrm>
          <a:prstGeom prst="rect">
            <a:avLst/>
          </a:prstGeom>
        </p:spPr>
      </p:pic>
      <p:sp>
        <p:nvSpPr>
          <p:cNvPr id="25" name="Rectangle 24">
            <a:extLst>
              <a:ext uri="{FF2B5EF4-FFF2-40B4-BE49-F238E27FC236}">
                <a16:creationId xmlns:a16="http://schemas.microsoft.com/office/drawing/2014/main" id="{00C1778C-488D-AAEF-09D1-F7A688FA486E}"/>
              </a:ext>
            </a:extLst>
          </p:cNvPr>
          <p:cNvSpPr/>
          <p:nvPr userDrawn="1"/>
        </p:nvSpPr>
        <p:spPr>
          <a:xfrm>
            <a:off x="508760" y="1229454"/>
            <a:ext cx="540000" cy="108000"/>
          </a:xfrm>
          <a:prstGeom prst="rect">
            <a:avLst/>
          </a:prstGeom>
          <a:solidFill>
            <a:srgbClr val="E400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a:p>
        </p:txBody>
      </p:sp>
      <p:grpSp>
        <p:nvGrpSpPr>
          <p:cNvPr id="17" name="Groupe 16">
            <a:extLst>
              <a:ext uri="{FF2B5EF4-FFF2-40B4-BE49-F238E27FC236}">
                <a16:creationId xmlns:a16="http://schemas.microsoft.com/office/drawing/2014/main" id="{7D72C09A-1EBB-E5EF-3A2D-2F3EDF73A1AC}"/>
              </a:ext>
            </a:extLst>
          </p:cNvPr>
          <p:cNvGrpSpPr/>
          <p:nvPr userDrawn="1"/>
        </p:nvGrpSpPr>
        <p:grpSpPr>
          <a:xfrm>
            <a:off x="8621751" y="1028271"/>
            <a:ext cx="3722649" cy="88111"/>
            <a:chOff x="9100287" y="875871"/>
            <a:chExt cx="3722649" cy="88111"/>
          </a:xfrm>
        </p:grpSpPr>
        <p:cxnSp>
          <p:nvCxnSpPr>
            <p:cNvPr id="20" name="Connecteur droit 19">
              <a:extLst>
                <a:ext uri="{FF2B5EF4-FFF2-40B4-BE49-F238E27FC236}">
                  <a16:creationId xmlns:a16="http://schemas.microsoft.com/office/drawing/2014/main" id="{E248AD5A-63BD-FC40-2BC3-265107F9D65C}"/>
                </a:ext>
              </a:extLst>
            </p:cNvPr>
            <p:cNvCxnSpPr>
              <a:cxnSpLocks/>
            </p:cNvCxnSpPr>
            <p:nvPr/>
          </p:nvCxnSpPr>
          <p:spPr>
            <a:xfrm flipH="1">
              <a:off x="9505950" y="918733"/>
              <a:ext cx="3316986" cy="0"/>
            </a:xfrm>
            <a:prstGeom prst="line">
              <a:avLst/>
            </a:prstGeom>
            <a:ln w="57150" cap="rnd">
              <a:solidFill>
                <a:schemeClr val="bg1"/>
              </a:solidFill>
            </a:ln>
          </p:spPr>
          <p:style>
            <a:lnRef idx="2">
              <a:schemeClr val="accent1"/>
            </a:lnRef>
            <a:fillRef idx="0">
              <a:schemeClr val="accent1"/>
            </a:fillRef>
            <a:effectRef idx="1">
              <a:schemeClr val="accent1"/>
            </a:effectRef>
            <a:fontRef idx="minor">
              <a:schemeClr val="tx1"/>
            </a:fontRef>
          </p:style>
        </p:cxnSp>
        <p:sp>
          <p:nvSpPr>
            <p:cNvPr id="26" name="Organigramme : Connecteur 25">
              <a:extLst>
                <a:ext uri="{FF2B5EF4-FFF2-40B4-BE49-F238E27FC236}">
                  <a16:creationId xmlns:a16="http://schemas.microsoft.com/office/drawing/2014/main" id="{0001C149-AE39-46F0-7EC2-B8E34F7F9905}"/>
                </a:ext>
              </a:extLst>
            </p:cNvPr>
            <p:cNvSpPr/>
            <p:nvPr/>
          </p:nvSpPr>
          <p:spPr>
            <a:xfrm flipH="1">
              <a:off x="9100287" y="875871"/>
              <a:ext cx="85725" cy="85725"/>
            </a:xfrm>
            <a:prstGeom prst="flowChartConnector">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Organigramme : Connecteur 26">
              <a:extLst>
                <a:ext uri="{FF2B5EF4-FFF2-40B4-BE49-F238E27FC236}">
                  <a16:creationId xmlns:a16="http://schemas.microsoft.com/office/drawing/2014/main" id="{B48FDA2C-820E-861F-A0FD-5C49A32ECF7F}"/>
                </a:ext>
              </a:extLst>
            </p:cNvPr>
            <p:cNvSpPr/>
            <p:nvPr/>
          </p:nvSpPr>
          <p:spPr>
            <a:xfrm flipH="1">
              <a:off x="9299030" y="878257"/>
              <a:ext cx="85725" cy="85725"/>
            </a:xfrm>
            <a:prstGeom prst="flowChartConnector">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0" name="Image 9" descr="Une image contenant texte, Police, Graphique, logo&#10;&#10;Le contenu généré par l’IA peut être incorrect.">
            <a:extLst>
              <a:ext uri="{FF2B5EF4-FFF2-40B4-BE49-F238E27FC236}">
                <a16:creationId xmlns:a16="http://schemas.microsoft.com/office/drawing/2014/main" id="{66AFA16A-C828-1129-CCE5-CD32224DE844}"/>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027414" y="487115"/>
            <a:ext cx="1431097" cy="401856"/>
          </a:xfrm>
          <a:prstGeom prst="rect">
            <a:avLst/>
          </a:prstGeom>
        </p:spPr>
      </p:pic>
      <p:sp>
        <p:nvSpPr>
          <p:cNvPr id="4" name="ZoneTexte 3">
            <a:extLst>
              <a:ext uri="{FF2B5EF4-FFF2-40B4-BE49-F238E27FC236}">
                <a16:creationId xmlns:a16="http://schemas.microsoft.com/office/drawing/2014/main" id="{A90BFF5D-860D-F962-14E3-ED727B3BA871}"/>
              </a:ext>
            </a:extLst>
          </p:cNvPr>
          <p:cNvSpPr txBox="1">
            <a:spLocks/>
          </p:cNvSpPr>
          <p:nvPr userDrawn="1"/>
        </p:nvSpPr>
        <p:spPr>
          <a:xfrm>
            <a:off x="508760" y="6070743"/>
            <a:ext cx="2105025" cy="369332"/>
          </a:xfrm>
          <a:prstGeom prst="rect">
            <a:avLst/>
          </a:prstGeom>
          <a:noFill/>
        </p:spPr>
        <p:txBody>
          <a:bodyPr wrap="square" rtlCol="0">
            <a:spAutoFit/>
          </a:bodyPr>
          <a:lstStyle/>
          <a:p>
            <a:r>
              <a:rPr lang="fr-FR">
                <a:solidFill>
                  <a:schemeClr val="bg1"/>
                </a:solidFill>
                <a:latin typeface="Montserrat ExtraBold" panose="00000900000000000000" pitchFamily="2" charset="0"/>
              </a:rPr>
              <a:t>fiteco</a:t>
            </a:r>
            <a:r>
              <a:rPr lang="fr-FR" sz="1100">
                <a:solidFill>
                  <a:schemeClr val="bg1"/>
                </a:solidFill>
                <a:latin typeface="Montserrat Light" panose="00000400000000000000" pitchFamily="2" charset="0"/>
              </a:rPr>
              <a:t>.com</a:t>
            </a:r>
          </a:p>
        </p:txBody>
      </p:sp>
    </p:spTree>
    <p:extLst>
      <p:ext uri="{BB962C8B-B14F-4D97-AF65-F5344CB8AC3E}">
        <p14:creationId xmlns:p14="http://schemas.microsoft.com/office/powerpoint/2010/main" val="32554287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_Disposition personnalisée">
    <p:bg>
      <p:bgPr>
        <a:solidFill>
          <a:srgbClr val="5D152C"/>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6F15DD-09EF-8BCB-880E-EF0F3D936B13}"/>
              </a:ext>
            </a:extLst>
          </p:cNvPr>
          <p:cNvSpPr/>
          <p:nvPr userDrawn="1"/>
        </p:nvSpPr>
        <p:spPr>
          <a:xfrm>
            <a:off x="0" y="0"/>
            <a:ext cx="12192000" cy="6858000"/>
          </a:xfrm>
          <a:prstGeom prst="rect">
            <a:avLst/>
          </a:prstGeom>
          <a:solidFill>
            <a:srgbClr val="69C0B9"/>
          </a:solidFill>
          <a:ln>
            <a:solidFill>
              <a:srgbClr val="99A5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6" name="Image 5" descr="Une image contenant logo, Graphique, noir, noir et blanc&#10;&#10;Description générée automatiquement">
            <a:extLst>
              <a:ext uri="{FF2B5EF4-FFF2-40B4-BE49-F238E27FC236}">
                <a16:creationId xmlns:a16="http://schemas.microsoft.com/office/drawing/2014/main" id="{6351365C-D333-2158-5B88-6E438DC18F19}"/>
              </a:ext>
            </a:extLst>
          </p:cNvPr>
          <p:cNvPicPr>
            <a:picLocks noChangeAspect="1"/>
          </p:cNvPicPr>
          <p:nvPr userDrawn="1"/>
        </p:nvPicPr>
        <p:blipFill>
          <a:blip r:embed="rId2">
            <a:alphaModFix amt="47000"/>
            <a:extLst>
              <a:ext uri="{28A0092B-C50C-407E-A947-70E740481C1C}">
                <a14:useLocalDpi xmlns:a14="http://schemas.microsoft.com/office/drawing/2010/main" val="0"/>
              </a:ext>
            </a:extLst>
          </a:blip>
          <a:stretch>
            <a:fillRect/>
          </a:stretch>
        </p:blipFill>
        <p:spPr>
          <a:xfrm>
            <a:off x="-2917886" y="875871"/>
            <a:ext cx="9499538" cy="9499538"/>
          </a:xfrm>
          <a:prstGeom prst="rect">
            <a:avLst/>
          </a:prstGeom>
        </p:spPr>
      </p:pic>
      <p:pic>
        <p:nvPicPr>
          <p:cNvPr id="8" name="Image 7">
            <a:extLst>
              <a:ext uri="{FF2B5EF4-FFF2-40B4-BE49-F238E27FC236}">
                <a16:creationId xmlns:a16="http://schemas.microsoft.com/office/drawing/2014/main" id="{1A0C5C85-FE59-F162-6A23-A2907A6679E1}"/>
              </a:ext>
            </a:extLst>
          </p:cNvPr>
          <p:cNvPicPr>
            <a:picLocks noChangeAspect="1"/>
          </p:cNvPicPr>
          <p:nvPr userDrawn="1"/>
        </p:nvPicPr>
        <p:blipFill>
          <a:blip r:embed="rId3">
            <a:extLst>
              <a:ext uri="{28A0092B-C50C-407E-A947-70E740481C1C}">
                <a14:useLocalDpi xmlns:a14="http://schemas.microsoft.com/office/drawing/2010/main" val="0"/>
              </a:ext>
            </a:extLst>
          </a:blip>
          <a:srcRect t="55" b="55"/>
          <a:stretch/>
        </p:blipFill>
        <p:spPr>
          <a:xfrm>
            <a:off x="8262575" y="2868688"/>
            <a:ext cx="4638946" cy="4633846"/>
          </a:xfrm>
          <a:prstGeom prst="flowChartConnector">
            <a:avLst/>
          </a:prstGeom>
        </p:spPr>
      </p:pic>
      <p:pic>
        <p:nvPicPr>
          <p:cNvPr id="9" name="Image 8" descr="Une image contenant cercle, capture d’écran, Graphique, art&#10;&#10;Description générée automatiquement">
            <a:extLst>
              <a:ext uri="{FF2B5EF4-FFF2-40B4-BE49-F238E27FC236}">
                <a16:creationId xmlns:a16="http://schemas.microsoft.com/office/drawing/2014/main" id="{976488D1-5CA6-3B36-3EC7-1CAB03A18A2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011614" y="417925"/>
            <a:ext cx="6422149" cy="4977394"/>
          </a:xfrm>
          <a:prstGeom prst="rect">
            <a:avLst/>
          </a:prstGeom>
        </p:spPr>
      </p:pic>
      <p:sp>
        <p:nvSpPr>
          <p:cNvPr id="25" name="Rectangle 24">
            <a:extLst>
              <a:ext uri="{FF2B5EF4-FFF2-40B4-BE49-F238E27FC236}">
                <a16:creationId xmlns:a16="http://schemas.microsoft.com/office/drawing/2014/main" id="{00C1778C-488D-AAEF-09D1-F7A688FA486E}"/>
              </a:ext>
            </a:extLst>
          </p:cNvPr>
          <p:cNvSpPr/>
          <p:nvPr userDrawn="1"/>
        </p:nvSpPr>
        <p:spPr>
          <a:xfrm>
            <a:off x="508760" y="1229454"/>
            <a:ext cx="540000" cy="108000"/>
          </a:xfrm>
          <a:prstGeom prst="rect">
            <a:avLst/>
          </a:prstGeom>
          <a:solidFill>
            <a:srgbClr val="E400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a:p>
        </p:txBody>
      </p:sp>
      <p:grpSp>
        <p:nvGrpSpPr>
          <p:cNvPr id="17" name="Groupe 16">
            <a:extLst>
              <a:ext uri="{FF2B5EF4-FFF2-40B4-BE49-F238E27FC236}">
                <a16:creationId xmlns:a16="http://schemas.microsoft.com/office/drawing/2014/main" id="{59AC1EC1-A435-AA52-28B0-7C5F4CE7840D}"/>
              </a:ext>
            </a:extLst>
          </p:cNvPr>
          <p:cNvGrpSpPr/>
          <p:nvPr userDrawn="1"/>
        </p:nvGrpSpPr>
        <p:grpSpPr>
          <a:xfrm>
            <a:off x="8621751" y="1028271"/>
            <a:ext cx="3722649" cy="88111"/>
            <a:chOff x="9100287" y="875871"/>
            <a:chExt cx="3722649" cy="88111"/>
          </a:xfrm>
        </p:grpSpPr>
        <p:cxnSp>
          <p:nvCxnSpPr>
            <p:cNvPr id="20" name="Connecteur droit 19">
              <a:extLst>
                <a:ext uri="{FF2B5EF4-FFF2-40B4-BE49-F238E27FC236}">
                  <a16:creationId xmlns:a16="http://schemas.microsoft.com/office/drawing/2014/main" id="{BA8FD47C-A205-E7D6-3AC8-F88C8B285B12}"/>
                </a:ext>
              </a:extLst>
            </p:cNvPr>
            <p:cNvCxnSpPr>
              <a:cxnSpLocks/>
            </p:cNvCxnSpPr>
            <p:nvPr/>
          </p:nvCxnSpPr>
          <p:spPr>
            <a:xfrm flipH="1">
              <a:off x="9505950" y="918733"/>
              <a:ext cx="3316986" cy="0"/>
            </a:xfrm>
            <a:prstGeom prst="line">
              <a:avLst/>
            </a:prstGeom>
            <a:ln w="57150" cap="rnd">
              <a:solidFill>
                <a:schemeClr val="bg1"/>
              </a:solidFill>
            </a:ln>
          </p:spPr>
          <p:style>
            <a:lnRef idx="2">
              <a:schemeClr val="accent1"/>
            </a:lnRef>
            <a:fillRef idx="0">
              <a:schemeClr val="accent1"/>
            </a:fillRef>
            <a:effectRef idx="1">
              <a:schemeClr val="accent1"/>
            </a:effectRef>
            <a:fontRef idx="minor">
              <a:schemeClr val="tx1"/>
            </a:fontRef>
          </p:style>
        </p:cxnSp>
        <p:sp>
          <p:nvSpPr>
            <p:cNvPr id="26" name="Organigramme : Connecteur 25">
              <a:extLst>
                <a:ext uri="{FF2B5EF4-FFF2-40B4-BE49-F238E27FC236}">
                  <a16:creationId xmlns:a16="http://schemas.microsoft.com/office/drawing/2014/main" id="{7AF39972-BE61-1A60-FF98-1DDFF1FD7641}"/>
                </a:ext>
              </a:extLst>
            </p:cNvPr>
            <p:cNvSpPr/>
            <p:nvPr/>
          </p:nvSpPr>
          <p:spPr>
            <a:xfrm flipH="1">
              <a:off x="9100287" y="875871"/>
              <a:ext cx="85725" cy="85725"/>
            </a:xfrm>
            <a:prstGeom prst="flowChartConnector">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Organigramme : Connecteur 26">
              <a:extLst>
                <a:ext uri="{FF2B5EF4-FFF2-40B4-BE49-F238E27FC236}">
                  <a16:creationId xmlns:a16="http://schemas.microsoft.com/office/drawing/2014/main" id="{BDD31AA3-E791-2D1B-6E1D-3CA652E70665}"/>
                </a:ext>
              </a:extLst>
            </p:cNvPr>
            <p:cNvSpPr/>
            <p:nvPr/>
          </p:nvSpPr>
          <p:spPr>
            <a:xfrm flipH="1">
              <a:off x="9299030" y="878257"/>
              <a:ext cx="85725" cy="85725"/>
            </a:xfrm>
            <a:prstGeom prst="flowChartConnector">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0" name="Image 9" descr="Une image contenant texte, Police, Graphique, logo&#10;&#10;Le contenu généré par l’IA peut être incorrect.">
            <a:extLst>
              <a:ext uri="{FF2B5EF4-FFF2-40B4-BE49-F238E27FC236}">
                <a16:creationId xmlns:a16="http://schemas.microsoft.com/office/drawing/2014/main" id="{2D021D91-8CCA-90B0-746C-50E802FFCED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027414" y="487115"/>
            <a:ext cx="1431097" cy="401856"/>
          </a:xfrm>
          <a:prstGeom prst="rect">
            <a:avLst/>
          </a:prstGeom>
        </p:spPr>
      </p:pic>
      <p:sp>
        <p:nvSpPr>
          <p:cNvPr id="5" name="ZoneTexte 4">
            <a:extLst>
              <a:ext uri="{FF2B5EF4-FFF2-40B4-BE49-F238E27FC236}">
                <a16:creationId xmlns:a16="http://schemas.microsoft.com/office/drawing/2014/main" id="{BBFB6D0B-4AFE-CC80-7368-8C1D8D9DFF30}"/>
              </a:ext>
            </a:extLst>
          </p:cNvPr>
          <p:cNvSpPr txBox="1">
            <a:spLocks/>
          </p:cNvSpPr>
          <p:nvPr userDrawn="1"/>
        </p:nvSpPr>
        <p:spPr>
          <a:xfrm>
            <a:off x="508760" y="6070743"/>
            <a:ext cx="2105025" cy="369332"/>
          </a:xfrm>
          <a:prstGeom prst="rect">
            <a:avLst/>
          </a:prstGeom>
          <a:noFill/>
        </p:spPr>
        <p:txBody>
          <a:bodyPr wrap="square" rtlCol="0">
            <a:spAutoFit/>
          </a:bodyPr>
          <a:lstStyle/>
          <a:p>
            <a:r>
              <a:rPr lang="fr-FR">
                <a:solidFill>
                  <a:schemeClr val="bg1"/>
                </a:solidFill>
                <a:latin typeface="Montserrat ExtraBold" panose="00000900000000000000" pitchFamily="2" charset="0"/>
              </a:rPr>
              <a:t>fiteco</a:t>
            </a:r>
            <a:r>
              <a:rPr lang="fr-FR" sz="1100">
                <a:solidFill>
                  <a:schemeClr val="bg1"/>
                </a:solidFill>
                <a:latin typeface="Montserrat Light" panose="00000400000000000000" pitchFamily="2" charset="0"/>
              </a:rPr>
              <a:t>.com</a:t>
            </a:r>
          </a:p>
        </p:txBody>
      </p:sp>
    </p:spTree>
    <p:extLst>
      <p:ext uri="{BB962C8B-B14F-4D97-AF65-F5344CB8AC3E}">
        <p14:creationId xmlns:p14="http://schemas.microsoft.com/office/powerpoint/2010/main" val="4641153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Titre de section">
    <p:spTree>
      <p:nvGrpSpPr>
        <p:cNvPr id="1" name=""/>
        <p:cNvGrpSpPr/>
        <p:nvPr/>
      </p:nvGrpSpPr>
      <p:grpSpPr>
        <a:xfrm>
          <a:off x="0" y="0"/>
          <a:ext cx="0" cy="0"/>
          <a:chOff x="0" y="0"/>
          <a:chExt cx="0" cy="0"/>
        </a:xfrm>
      </p:grpSpPr>
      <p:sp>
        <p:nvSpPr>
          <p:cNvPr id="11" name="Organigramme : Connecteur 10">
            <a:extLst>
              <a:ext uri="{FF2B5EF4-FFF2-40B4-BE49-F238E27FC236}">
                <a16:creationId xmlns:a16="http://schemas.microsoft.com/office/drawing/2014/main" id="{DC4D71DE-E6A1-B129-D27A-32E1F5BEBA88}"/>
              </a:ext>
            </a:extLst>
          </p:cNvPr>
          <p:cNvSpPr/>
          <p:nvPr/>
        </p:nvSpPr>
        <p:spPr>
          <a:xfrm>
            <a:off x="7252831" y="1880594"/>
            <a:ext cx="6134465" cy="6134465"/>
          </a:xfrm>
          <a:prstGeom prst="flowChartConnector">
            <a:avLst/>
          </a:prstGeom>
          <a:noFill/>
          <a:ln>
            <a:solidFill>
              <a:srgbClr val="5E15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Organigramme : Connecteur 14">
            <a:extLst>
              <a:ext uri="{FF2B5EF4-FFF2-40B4-BE49-F238E27FC236}">
                <a16:creationId xmlns:a16="http://schemas.microsoft.com/office/drawing/2014/main" id="{C0A42FCA-BA2C-489C-A003-C6CCBDAFBBDB}"/>
              </a:ext>
            </a:extLst>
          </p:cNvPr>
          <p:cNvSpPr/>
          <p:nvPr/>
        </p:nvSpPr>
        <p:spPr>
          <a:xfrm>
            <a:off x="7676875" y="2307712"/>
            <a:ext cx="5286375" cy="5286375"/>
          </a:xfrm>
          <a:prstGeom prst="flowChartConnector">
            <a:avLst/>
          </a:prstGeom>
          <a:solidFill>
            <a:srgbClr val="69C0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7" name="Image 16" descr="Une image contenant cercle, Graphique&#10;&#10;Description générée automatiquement">
            <a:extLst>
              <a:ext uri="{FF2B5EF4-FFF2-40B4-BE49-F238E27FC236}">
                <a16:creationId xmlns:a16="http://schemas.microsoft.com/office/drawing/2014/main" id="{7346DD4F-8002-85E9-2BF1-2955E2561F54}"/>
              </a:ext>
            </a:extLst>
          </p:cNvPr>
          <p:cNvPicPr>
            <a:picLocks noChangeAspect="1"/>
          </p:cNvPicPr>
          <p:nvPr userDrawn="1"/>
        </p:nvPicPr>
        <p:blipFill>
          <a:blip r:embed="rId2">
            <a:extLst>
              <a:ext uri="{28A0092B-C50C-407E-A947-70E740481C1C}">
                <a14:useLocalDpi xmlns:a14="http://schemas.microsoft.com/office/drawing/2010/main" val="0"/>
              </a:ext>
            </a:extLst>
          </a:blip>
          <a:srcRect t="23900" r="25217"/>
          <a:stretch/>
        </p:blipFill>
        <p:spPr>
          <a:xfrm rot="16200000">
            <a:off x="7860709" y="2442385"/>
            <a:ext cx="5760343" cy="4543056"/>
          </a:xfrm>
          <a:prstGeom prst="rect">
            <a:avLst/>
          </a:prstGeom>
        </p:spPr>
      </p:pic>
      <p:pic>
        <p:nvPicPr>
          <p:cNvPr id="25" name="Image 24">
            <a:extLst>
              <a:ext uri="{FF2B5EF4-FFF2-40B4-BE49-F238E27FC236}">
                <a16:creationId xmlns:a16="http://schemas.microsoft.com/office/drawing/2014/main" id="{1C0B7B08-D561-041E-6F14-2D93B698AA90}"/>
              </a:ext>
            </a:extLst>
          </p:cNvPr>
          <p:cNvPicPr>
            <a:picLocks/>
          </p:cNvPicPr>
          <p:nvPr userDrawn="1"/>
        </p:nvPicPr>
        <p:blipFill>
          <a:blip r:embed="rId3">
            <a:extLst>
              <a:ext uri="{28A0092B-C50C-407E-A947-70E740481C1C}">
                <a14:useLocalDpi xmlns:a14="http://schemas.microsoft.com/office/drawing/2010/main" val="0"/>
              </a:ext>
            </a:extLst>
          </a:blip>
          <a:srcRect t="16717" b="16717"/>
          <a:stretch/>
        </p:blipFill>
        <p:spPr>
          <a:xfrm>
            <a:off x="6878231" y="1748020"/>
            <a:ext cx="3877893" cy="3876788"/>
          </a:xfrm>
          <a:prstGeom prst="flowChartConnector">
            <a:avLst/>
          </a:prstGeom>
        </p:spPr>
      </p:pic>
      <p:sp>
        <p:nvSpPr>
          <p:cNvPr id="2" name="ZoneTexte 1">
            <a:extLst>
              <a:ext uri="{FF2B5EF4-FFF2-40B4-BE49-F238E27FC236}">
                <a16:creationId xmlns:a16="http://schemas.microsoft.com/office/drawing/2014/main" id="{8B98E26C-8E07-4A55-75C3-7D35D9EFFDC6}"/>
              </a:ext>
            </a:extLst>
          </p:cNvPr>
          <p:cNvSpPr txBox="1">
            <a:spLocks/>
          </p:cNvSpPr>
          <p:nvPr userDrawn="1"/>
        </p:nvSpPr>
        <p:spPr>
          <a:xfrm>
            <a:off x="9042864" y="6246936"/>
            <a:ext cx="2105025" cy="369332"/>
          </a:xfrm>
          <a:prstGeom prst="rect">
            <a:avLst/>
          </a:prstGeom>
          <a:noFill/>
        </p:spPr>
        <p:txBody>
          <a:bodyPr wrap="square" rtlCol="0">
            <a:spAutoFit/>
          </a:bodyPr>
          <a:lstStyle/>
          <a:p>
            <a:pPr algn="r"/>
            <a:r>
              <a:rPr lang="fr-FR">
                <a:solidFill>
                  <a:schemeClr val="bg1"/>
                </a:solidFill>
                <a:latin typeface="Montserrat ExtraBold" panose="00000900000000000000" pitchFamily="2" charset="0"/>
              </a:rPr>
              <a:t>fiteco</a:t>
            </a:r>
            <a:r>
              <a:rPr lang="fr-FR" sz="1100">
                <a:solidFill>
                  <a:schemeClr val="bg1"/>
                </a:solidFill>
                <a:latin typeface="Montserrat Light" panose="00000400000000000000" pitchFamily="2" charset="0"/>
              </a:rPr>
              <a:t>.com</a:t>
            </a:r>
          </a:p>
        </p:txBody>
      </p:sp>
      <p:grpSp>
        <p:nvGrpSpPr>
          <p:cNvPr id="3" name="Groupe 2">
            <a:extLst>
              <a:ext uri="{FF2B5EF4-FFF2-40B4-BE49-F238E27FC236}">
                <a16:creationId xmlns:a16="http://schemas.microsoft.com/office/drawing/2014/main" id="{954F7FEA-201C-188A-7A0D-215EF20CBFA6}"/>
              </a:ext>
            </a:extLst>
          </p:cNvPr>
          <p:cNvGrpSpPr/>
          <p:nvPr userDrawn="1"/>
        </p:nvGrpSpPr>
        <p:grpSpPr>
          <a:xfrm>
            <a:off x="0" y="1523661"/>
            <a:ext cx="4283654" cy="171450"/>
            <a:chOff x="0" y="1685925"/>
            <a:chExt cx="4283654" cy="171450"/>
          </a:xfrm>
          <a:solidFill>
            <a:srgbClr val="69C0B9"/>
          </a:solidFill>
        </p:grpSpPr>
        <p:cxnSp>
          <p:nvCxnSpPr>
            <p:cNvPr id="4" name="Connecteur droit 3">
              <a:extLst>
                <a:ext uri="{FF2B5EF4-FFF2-40B4-BE49-F238E27FC236}">
                  <a16:creationId xmlns:a16="http://schemas.microsoft.com/office/drawing/2014/main" id="{00C6CE92-E68C-4708-6CBF-17FD656EACD7}"/>
                </a:ext>
              </a:extLst>
            </p:cNvPr>
            <p:cNvCxnSpPr>
              <a:cxnSpLocks/>
            </p:cNvCxnSpPr>
            <p:nvPr/>
          </p:nvCxnSpPr>
          <p:spPr>
            <a:xfrm>
              <a:off x="0" y="1771650"/>
              <a:ext cx="3426832" cy="0"/>
            </a:xfrm>
            <a:prstGeom prst="line">
              <a:avLst/>
            </a:prstGeom>
            <a:grpFill/>
            <a:ln w="57150" cap="rnd">
              <a:solidFill>
                <a:srgbClr val="69C0B9"/>
              </a:solidFill>
            </a:ln>
          </p:spPr>
          <p:style>
            <a:lnRef idx="2">
              <a:schemeClr val="accent1"/>
            </a:lnRef>
            <a:fillRef idx="0">
              <a:schemeClr val="accent1"/>
            </a:fillRef>
            <a:effectRef idx="1">
              <a:schemeClr val="accent1"/>
            </a:effectRef>
            <a:fontRef idx="minor">
              <a:schemeClr val="tx1"/>
            </a:fontRef>
          </p:style>
        </p:cxnSp>
        <p:sp>
          <p:nvSpPr>
            <p:cNvPr id="5" name="Organigramme : Connecteur 4">
              <a:extLst>
                <a:ext uri="{FF2B5EF4-FFF2-40B4-BE49-F238E27FC236}">
                  <a16:creationId xmlns:a16="http://schemas.microsoft.com/office/drawing/2014/main" id="{41A82BEB-01D7-B295-F7CD-56A95EAB9E49}"/>
                </a:ext>
              </a:extLst>
            </p:cNvPr>
            <p:cNvSpPr/>
            <p:nvPr/>
          </p:nvSpPr>
          <p:spPr>
            <a:xfrm>
              <a:off x="3625684" y="1685925"/>
              <a:ext cx="171450" cy="171450"/>
            </a:xfrm>
            <a:prstGeom prst="flowChartConnector">
              <a:avLst/>
            </a:prstGeom>
            <a:grp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sp>
          <p:nvSpPr>
            <p:cNvPr id="6" name="Organigramme : Connecteur 5">
              <a:extLst>
                <a:ext uri="{FF2B5EF4-FFF2-40B4-BE49-F238E27FC236}">
                  <a16:creationId xmlns:a16="http://schemas.microsoft.com/office/drawing/2014/main" id="{822DF5E7-BF87-0E63-BAC4-7537BABA6CA1}"/>
                </a:ext>
              </a:extLst>
            </p:cNvPr>
            <p:cNvSpPr/>
            <p:nvPr/>
          </p:nvSpPr>
          <p:spPr>
            <a:xfrm>
              <a:off x="4112204" y="1685925"/>
              <a:ext cx="171450" cy="171450"/>
            </a:xfrm>
            <a:prstGeom prst="flowChartConnector">
              <a:avLst/>
            </a:prstGeom>
            <a:grp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grpSp>
      <p:grpSp>
        <p:nvGrpSpPr>
          <p:cNvPr id="10" name="Groupe 9">
            <a:extLst>
              <a:ext uri="{FF2B5EF4-FFF2-40B4-BE49-F238E27FC236}">
                <a16:creationId xmlns:a16="http://schemas.microsoft.com/office/drawing/2014/main" id="{B22DDD91-ADB4-2C77-C66B-F09D468A935E}"/>
              </a:ext>
            </a:extLst>
          </p:cNvPr>
          <p:cNvGrpSpPr/>
          <p:nvPr userDrawn="1"/>
        </p:nvGrpSpPr>
        <p:grpSpPr>
          <a:xfrm>
            <a:off x="8469351" y="307663"/>
            <a:ext cx="3722649" cy="663478"/>
            <a:chOff x="9100287" y="300504"/>
            <a:chExt cx="3722649" cy="663478"/>
          </a:xfrm>
        </p:grpSpPr>
        <p:pic>
          <p:nvPicPr>
            <p:cNvPr id="20" name="Image 19" descr="Une image contenant texte, clipart&#10;&#10;Description générée automatiquement">
              <a:extLst>
                <a:ext uri="{FF2B5EF4-FFF2-40B4-BE49-F238E27FC236}">
                  <a16:creationId xmlns:a16="http://schemas.microsoft.com/office/drawing/2014/main" id="{CBEA0A97-B1F3-1CED-596B-88D61DABD4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05950" y="300504"/>
              <a:ext cx="1386474" cy="390319"/>
            </a:xfrm>
            <a:prstGeom prst="rect">
              <a:avLst/>
            </a:prstGeom>
          </p:spPr>
        </p:pic>
        <p:cxnSp>
          <p:nvCxnSpPr>
            <p:cNvPr id="21" name="Connecteur droit 20">
              <a:extLst>
                <a:ext uri="{FF2B5EF4-FFF2-40B4-BE49-F238E27FC236}">
                  <a16:creationId xmlns:a16="http://schemas.microsoft.com/office/drawing/2014/main" id="{92F89A85-B17D-D005-CBD6-7CB4B20F2848}"/>
                </a:ext>
              </a:extLst>
            </p:cNvPr>
            <p:cNvCxnSpPr>
              <a:cxnSpLocks/>
            </p:cNvCxnSpPr>
            <p:nvPr/>
          </p:nvCxnSpPr>
          <p:spPr>
            <a:xfrm flipH="1">
              <a:off x="9505950" y="918733"/>
              <a:ext cx="3316986" cy="0"/>
            </a:xfrm>
            <a:prstGeom prst="line">
              <a:avLst/>
            </a:prstGeom>
            <a:solidFill>
              <a:srgbClr val="9A9F85"/>
            </a:solidFill>
            <a:ln w="57150" cap="rnd">
              <a:solidFill>
                <a:srgbClr val="69C0B9"/>
              </a:solidFill>
            </a:ln>
          </p:spPr>
          <p:style>
            <a:lnRef idx="2">
              <a:schemeClr val="accent1"/>
            </a:lnRef>
            <a:fillRef idx="0">
              <a:schemeClr val="accent1"/>
            </a:fillRef>
            <a:effectRef idx="1">
              <a:schemeClr val="accent1"/>
            </a:effectRef>
            <a:fontRef idx="minor">
              <a:schemeClr val="tx1"/>
            </a:fontRef>
          </p:style>
        </p:cxnSp>
        <p:sp>
          <p:nvSpPr>
            <p:cNvPr id="22" name="Organigramme : Connecteur 21">
              <a:extLst>
                <a:ext uri="{FF2B5EF4-FFF2-40B4-BE49-F238E27FC236}">
                  <a16:creationId xmlns:a16="http://schemas.microsoft.com/office/drawing/2014/main" id="{7E565B59-1FFC-1257-5CE3-E084A0CD4D67}"/>
                </a:ext>
              </a:extLst>
            </p:cNvPr>
            <p:cNvSpPr/>
            <p:nvPr/>
          </p:nvSpPr>
          <p:spPr>
            <a:xfrm flipH="1">
              <a:off x="9100287" y="875871"/>
              <a:ext cx="85725" cy="85725"/>
            </a:xfrm>
            <a:prstGeom prst="flowChartConnector">
              <a:avLst/>
            </a:prstGeom>
            <a:solidFill>
              <a:srgbClr val="69C0B9"/>
            </a:solid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Organigramme : Connecteur 22">
              <a:extLst>
                <a:ext uri="{FF2B5EF4-FFF2-40B4-BE49-F238E27FC236}">
                  <a16:creationId xmlns:a16="http://schemas.microsoft.com/office/drawing/2014/main" id="{C7100E0B-AEBA-5BF0-1535-CC43E7A45F12}"/>
                </a:ext>
              </a:extLst>
            </p:cNvPr>
            <p:cNvSpPr/>
            <p:nvPr/>
          </p:nvSpPr>
          <p:spPr>
            <a:xfrm flipH="1">
              <a:off x="9299030" y="878257"/>
              <a:ext cx="85725" cy="85725"/>
            </a:xfrm>
            <a:prstGeom prst="flowChartConnector">
              <a:avLst/>
            </a:prstGeom>
            <a:solidFill>
              <a:srgbClr val="69C0B9"/>
            </a:solid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338525068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Nos valeurs">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86F2106-4394-3D08-3C13-A07296B71D46}"/>
              </a:ext>
            </a:extLst>
          </p:cNvPr>
          <p:cNvSpPr txBox="1"/>
          <p:nvPr userDrawn="1"/>
        </p:nvSpPr>
        <p:spPr>
          <a:xfrm>
            <a:off x="568045" y="639402"/>
            <a:ext cx="8197125" cy="693651"/>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pitchFamily="2" charset="0"/>
              </a:rPr>
              <a:t>NOS </a:t>
            </a:r>
            <a:r>
              <a:rPr lang="fr-FR" sz="3500" b="1" cap="all">
                <a:solidFill>
                  <a:srgbClr val="5E152C"/>
                </a:solidFill>
                <a:latin typeface="Montserrat Black" panose="00000A00000000000000" pitchFamily="2" charset="0"/>
              </a:rPr>
              <a:t>VALEURS</a:t>
            </a:r>
          </a:p>
        </p:txBody>
      </p:sp>
      <p:grpSp>
        <p:nvGrpSpPr>
          <p:cNvPr id="9" name="Groupe 8">
            <a:extLst>
              <a:ext uri="{FF2B5EF4-FFF2-40B4-BE49-F238E27FC236}">
                <a16:creationId xmlns:a16="http://schemas.microsoft.com/office/drawing/2014/main" id="{40D43D8A-5CCF-EE68-F293-3D934DBEF63C}"/>
              </a:ext>
            </a:extLst>
          </p:cNvPr>
          <p:cNvGrpSpPr/>
          <p:nvPr userDrawn="1"/>
        </p:nvGrpSpPr>
        <p:grpSpPr>
          <a:xfrm>
            <a:off x="0" y="1523661"/>
            <a:ext cx="4283654" cy="171450"/>
            <a:chOff x="0" y="1685925"/>
            <a:chExt cx="4283654" cy="171450"/>
          </a:xfrm>
          <a:solidFill>
            <a:srgbClr val="69C0B9"/>
          </a:solidFill>
        </p:grpSpPr>
        <p:cxnSp>
          <p:nvCxnSpPr>
            <p:cNvPr id="10" name="Connecteur droit 9">
              <a:extLst>
                <a:ext uri="{FF2B5EF4-FFF2-40B4-BE49-F238E27FC236}">
                  <a16:creationId xmlns:a16="http://schemas.microsoft.com/office/drawing/2014/main" id="{56563434-D02D-11AD-F1A6-2C3DF0C903D8}"/>
                </a:ext>
              </a:extLst>
            </p:cNvPr>
            <p:cNvCxnSpPr>
              <a:cxnSpLocks/>
            </p:cNvCxnSpPr>
            <p:nvPr/>
          </p:nvCxnSpPr>
          <p:spPr>
            <a:xfrm>
              <a:off x="0" y="1771650"/>
              <a:ext cx="3426832" cy="0"/>
            </a:xfrm>
            <a:prstGeom prst="line">
              <a:avLst/>
            </a:prstGeom>
            <a:grpFill/>
            <a:ln w="57150" cap="rnd">
              <a:solidFill>
                <a:srgbClr val="69C0B9"/>
              </a:solidFill>
            </a:ln>
          </p:spPr>
          <p:style>
            <a:lnRef idx="2">
              <a:schemeClr val="accent1"/>
            </a:lnRef>
            <a:fillRef idx="0">
              <a:schemeClr val="accent1"/>
            </a:fillRef>
            <a:effectRef idx="1">
              <a:schemeClr val="accent1"/>
            </a:effectRef>
            <a:fontRef idx="minor">
              <a:schemeClr val="tx1"/>
            </a:fontRef>
          </p:style>
        </p:cxnSp>
        <p:sp>
          <p:nvSpPr>
            <p:cNvPr id="11" name="Organigramme : Connecteur 10">
              <a:extLst>
                <a:ext uri="{FF2B5EF4-FFF2-40B4-BE49-F238E27FC236}">
                  <a16:creationId xmlns:a16="http://schemas.microsoft.com/office/drawing/2014/main" id="{C3C091DF-1101-837A-3A42-48911ECD27E9}"/>
                </a:ext>
              </a:extLst>
            </p:cNvPr>
            <p:cNvSpPr/>
            <p:nvPr/>
          </p:nvSpPr>
          <p:spPr>
            <a:xfrm>
              <a:off x="3625684" y="1685925"/>
              <a:ext cx="171450" cy="171450"/>
            </a:xfrm>
            <a:prstGeom prst="flowChartConnector">
              <a:avLst/>
            </a:prstGeom>
            <a:grp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sp>
          <p:nvSpPr>
            <p:cNvPr id="12" name="Organigramme : Connecteur 11">
              <a:extLst>
                <a:ext uri="{FF2B5EF4-FFF2-40B4-BE49-F238E27FC236}">
                  <a16:creationId xmlns:a16="http://schemas.microsoft.com/office/drawing/2014/main" id="{B8D4EE90-112B-D75B-E46E-2AE3BFE4672F}"/>
                </a:ext>
              </a:extLst>
            </p:cNvPr>
            <p:cNvSpPr/>
            <p:nvPr/>
          </p:nvSpPr>
          <p:spPr>
            <a:xfrm>
              <a:off x="4112204" y="1685925"/>
              <a:ext cx="171450" cy="171450"/>
            </a:xfrm>
            <a:prstGeom prst="flowChartConnector">
              <a:avLst/>
            </a:prstGeom>
            <a:grp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grpSp>
      <p:grpSp>
        <p:nvGrpSpPr>
          <p:cNvPr id="14" name="Groupe 13">
            <a:extLst>
              <a:ext uri="{FF2B5EF4-FFF2-40B4-BE49-F238E27FC236}">
                <a16:creationId xmlns:a16="http://schemas.microsoft.com/office/drawing/2014/main" id="{56FB7386-6E84-0252-2B48-0B1E22C8EA60}"/>
              </a:ext>
            </a:extLst>
          </p:cNvPr>
          <p:cNvGrpSpPr/>
          <p:nvPr/>
        </p:nvGrpSpPr>
        <p:grpSpPr>
          <a:xfrm>
            <a:off x="8469351" y="307663"/>
            <a:ext cx="3722649" cy="663478"/>
            <a:chOff x="9100287" y="300504"/>
            <a:chExt cx="3722649" cy="663478"/>
          </a:xfrm>
        </p:grpSpPr>
        <p:pic>
          <p:nvPicPr>
            <p:cNvPr id="16" name="Image 15" descr="Une image contenant texte, clipart&#10;&#10;Description générée automatiquement">
              <a:extLst>
                <a:ext uri="{FF2B5EF4-FFF2-40B4-BE49-F238E27FC236}">
                  <a16:creationId xmlns:a16="http://schemas.microsoft.com/office/drawing/2014/main" id="{9E13F4F8-C971-87A2-167F-BF30DACD18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05950" y="300504"/>
              <a:ext cx="1386474" cy="390319"/>
            </a:xfrm>
            <a:prstGeom prst="rect">
              <a:avLst/>
            </a:prstGeom>
          </p:spPr>
        </p:pic>
        <p:cxnSp>
          <p:nvCxnSpPr>
            <p:cNvPr id="17" name="Connecteur droit 16">
              <a:extLst>
                <a:ext uri="{FF2B5EF4-FFF2-40B4-BE49-F238E27FC236}">
                  <a16:creationId xmlns:a16="http://schemas.microsoft.com/office/drawing/2014/main" id="{0DA0E4F8-3739-B454-A346-69D3CB1B8F7C}"/>
                </a:ext>
              </a:extLst>
            </p:cNvPr>
            <p:cNvCxnSpPr>
              <a:cxnSpLocks/>
            </p:cNvCxnSpPr>
            <p:nvPr/>
          </p:nvCxnSpPr>
          <p:spPr>
            <a:xfrm flipH="1">
              <a:off x="9505950" y="918733"/>
              <a:ext cx="3316986" cy="0"/>
            </a:xfrm>
            <a:prstGeom prst="line">
              <a:avLst/>
            </a:prstGeom>
            <a:solidFill>
              <a:srgbClr val="69C0B9"/>
            </a:solidFill>
            <a:ln w="57150" cap="rnd">
              <a:solidFill>
                <a:srgbClr val="69C0B9"/>
              </a:solidFill>
            </a:ln>
          </p:spPr>
          <p:style>
            <a:lnRef idx="2">
              <a:schemeClr val="accent1"/>
            </a:lnRef>
            <a:fillRef idx="0">
              <a:schemeClr val="accent1"/>
            </a:fillRef>
            <a:effectRef idx="1">
              <a:schemeClr val="accent1"/>
            </a:effectRef>
            <a:fontRef idx="minor">
              <a:schemeClr val="tx1"/>
            </a:fontRef>
          </p:style>
        </p:cxnSp>
        <p:sp>
          <p:nvSpPr>
            <p:cNvPr id="18" name="Organigramme : Connecteur 17">
              <a:extLst>
                <a:ext uri="{FF2B5EF4-FFF2-40B4-BE49-F238E27FC236}">
                  <a16:creationId xmlns:a16="http://schemas.microsoft.com/office/drawing/2014/main" id="{975679EC-BAFE-1433-4771-B549DBD669C6}"/>
                </a:ext>
              </a:extLst>
            </p:cNvPr>
            <p:cNvSpPr/>
            <p:nvPr/>
          </p:nvSpPr>
          <p:spPr>
            <a:xfrm flipH="1">
              <a:off x="9100287" y="875871"/>
              <a:ext cx="85725" cy="85725"/>
            </a:xfrm>
            <a:prstGeom prst="flowChartConnector">
              <a:avLst/>
            </a:prstGeom>
            <a:solidFill>
              <a:srgbClr val="69C0B9"/>
            </a:solid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Organigramme : Connecteur 18">
              <a:extLst>
                <a:ext uri="{FF2B5EF4-FFF2-40B4-BE49-F238E27FC236}">
                  <a16:creationId xmlns:a16="http://schemas.microsoft.com/office/drawing/2014/main" id="{A22B0B24-A107-979F-CEF2-46983B703993}"/>
                </a:ext>
              </a:extLst>
            </p:cNvPr>
            <p:cNvSpPr/>
            <p:nvPr/>
          </p:nvSpPr>
          <p:spPr>
            <a:xfrm flipH="1">
              <a:off x="9299030" y="878257"/>
              <a:ext cx="85725" cy="85725"/>
            </a:xfrm>
            <a:prstGeom prst="flowChartConnector">
              <a:avLst/>
            </a:prstGeom>
            <a:solidFill>
              <a:srgbClr val="69C0B9"/>
            </a:solidFill>
            <a:ln>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21" name="Ellipse 20">
            <a:extLst>
              <a:ext uri="{FF2B5EF4-FFF2-40B4-BE49-F238E27FC236}">
                <a16:creationId xmlns:a16="http://schemas.microsoft.com/office/drawing/2014/main" id="{24E30CDB-5EB4-063A-F073-AE7263C4F821}"/>
              </a:ext>
            </a:extLst>
          </p:cNvPr>
          <p:cNvSpPr/>
          <p:nvPr userDrawn="1"/>
        </p:nvSpPr>
        <p:spPr>
          <a:xfrm>
            <a:off x="-2167087" y="2355264"/>
            <a:ext cx="6989994" cy="6989994"/>
          </a:xfrm>
          <a:prstGeom prst="ellipse">
            <a:avLst/>
          </a:prstGeom>
          <a:noFill/>
          <a:ln>
            <a:solidFill>
              <a:srgbClr val="5E15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04E7AFE6-9CDB-8132-9C99-CAACAB216A82}"/>
              </a:ext>
            </a:extLst>
          </p:cNvPr>
          <p:cNvSpPr txBox="1"/>
          <p:nvPr userDrawn="1"/>
        </p:nvSpPr>
        <p:spPr>
          <a:xfrm>
            <a:off x="9619488" y="4670162"/>
            <a:ext cx="2014335" cy="1477328"/>
          </a:xfrm>
          <a:prstGeom prst="rect">
            <a:avLst/>
          </a:prstGeom>
          <a:noFill/>
        </p:spPr>
        <p:txBody>
          <a:bodyPr wrap="square">
            <a:spAutoFit/>
          </a:bodyPr>
          <a:lstStyle/>
          <a:p>
            <a:pPr algn="r"/>
            <a:r>
              <a:rPr lang="fr-FR" sz="1500">
                <a:solidFill>
                  <a:srgbClr val="5D152C"/>
                </a:solidFill>
                <a:latin typeface="Montserrat" panose="02000505000000020004" pitchFamily="2" charset="0"/>
              </a:rPr>
              <a:t>T</a:t>
            </a:r>
            <a:r>
              <a:rPr lang="fr-FR" sz="1500" i="0">
                <a:solidFill>
                  <a:srgbClr val="5D152C"/>
                </a:solidFill>
                <a:effectLst/>
                <a:latin typeface="Montserrat" panose="02000505000000020004" pitchFamily="2" charset="0"/>
              </a:rPr>
              <a:t>rois valeurs au cœur de notre accompagnement et au service du développement de nos clients.</a:t>
            </a:r>
          </a:p>
        </p:txBody>
      </p:sp>
      <p:sp>
        <p:nvSpPr>
          <p:cNvPr id="23" name="ZoneTexte 22">
            <a:extLst>
              <a:ext uri="{FF2B5EF4-FFF2-40B4-BE49-F238E27FC236}">
                <a16:creationId xmlns:a16="http://schemas.microsoft.com/office/drawing/2014/main" id="{361796CF-5453-DFBD-70EB-C524265EE1EC}"/>
              </a:ext>
            </a:extLst>
          </p:cNvPr>
          <p:cNvSpPr txBox="1">
            <a:spLocks/>
          </p:cNvSpPr>
          <p:nvPr userDrawn="1"/>
        </p:nvSpPr>
        <p:spPr>
          <a:xfrm>
            <a:off x="9481184" y="6237949"/>
            <a:ext cx="2105025" cy="369332"/>
          </a:xfrm>
          <a:prstGeom prst="rect">
            <a:avLst/>
          </a:prstGeom>
          <a:noFill/>
        </p:spPr>
        <p:txBody>
          <a:bodyPr wrap="square" rtlCol="0">
            <a:spAutoFit/>
          </a:bodyPr>
          <a:lstStyle/>
          <a:p>
            <a:pPr algn="r"/>
            <a:r>
              <a:rPr lang="fr-FR">
                <a:solidFill>
                  <a:srgbClr val="E4003A"/>
                </a:solidFill>
                <a:latin typeface="Montserrat ExtraBold" panose="00000900000000000000" pitchFamily="2" charset="0"/>
              </a:rPr>
              <a:t>fiteco</a:t>
            </a:r>
            <a:r>
              <a:rPr lang="fr-FR" sz="1100">
                <a:solidFill>
                  <a:srgbClr val="E4003A"/>
                </a:solidFill>
                <a:latin typeface="Montserrat Light" panose="00000400000000000000" pitchFamily="2" charset="0"/>
              </a:rPr>
              <a:t>.com</a:t>
            </a:r>
          </a:p>
        </p:txBody>
      </p:sp>
      <p:grpSp>
        <p:nvGrpSpPr>
          <p:cNvPr id="24" name="Groupe 23">
            <a:extLst>
              <a:ext uri="{FF2B5EF4-FFF2-40B4-BE49-F238E27FC236}">
                <a16:creationId xmlns:a16="http://schemas.microsoft.com/office/drawing/2014/main" id="{0A917BC9-A427-43F9-A756-1C5A24A8B4F6}"/>
              </a:ext>
            </a:extLst>
          </p:cNvPr>
          <p:cNvGrpSpPr/>
          <p:nvPr userDrawn="1"/>
        </p:nvGrpSpPr>
        <p:grpSpPr>
          <a:xfrm>
            <a:off x="2835991" y="2514423"/>
            <a:ext cx="594360" cy="594360"/>
            <a:chOff x="5231130" y="4324350"/>
            <a:chExt cx="594360" cy="594360"/>
          </a:xfrm>
          <a:solidFill>
            <a:srgbClr val="69C0B9"/>
          </a:solidFill>
        </p:grpSpPr>
        <p:sp>
          <p:nvSpPr>
            <p:cNvPr id="25" name="Ellipse 24">
              <a:extLst>
                <a:ext uri="{FF2B5EF4-FFF2-40B4-BE49-F238E27FC236}">
                  <a16:creationId xmlns:a16="http://schemas.microsoft.com/office/drawing/2014/main" id="{2E160A1C-0515-BECA-AF71-116CC171843C}"/>
                </a:ext>
              </a:extLst>
            </p:cNvPr>
            <p:cNvSpPr/>
            <p:nvPr/>
          </p:nvSpPr>
          <p:spPr>
            <a:xfrm>
              <a:off x="5231130" y="4324350"/>
              <a:ext cx="594360" cy="59436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6" name="Image 25" descr="Une image contenant Graphique, noir et blanc, symbole, logo&#10;&#10;Description générée automatiquement">
              <a:extLst>
                <a:ext uri="{FF2B5EF4-FFF2-40B4-BE49-F238E27FC236}">
                  <a16:creationId xmlns:a16="http://schemas.microsoft.com/office/drawing/2014/main" id="{F92B4C3F-DF33-1CB2-F1D7-0B53AEEC1ABD}"/>
                </a:ext>
              </a:extLst>
            </p:cNvPr>
            <p:cNvPicPr>
              <a:picLocks noChangeAspect="1"/>
            </p:cNvPicPr>
            <p:nvPr/>
          </p:nvPicPr>
          <p:blipFill rotWithShape="1">
            <a:blip r:embed="rId3">
              <a:extLst>
                <a:ext uri="{28A0092B-C50C-407E-A947-70E740481C1C}">
                  <a14:useLocalDpi xmlns:a14="http://schemas.microsoft.com/office/drawing/2010/main" val="0"/>
                </a:ext>
              </a:extLst>
            </a:blip>
            <a:srcRect l="30679" t="39259" r="20126" b="44131"/>
            <a:stretch/>
          </p:blipFill>
          <p:spPr>
            <a:xfrm>
              <a:off x="5327469" y="4474909"/>
              <a:ext cx="419100" cy="366375"/>
            </a:xfrm>
            <a:prstGeom prst="rect">
              <a:avLst/>
            </a:prstGeom>
            <a:grpFill/>
          </p:spPr>
        </p:pic>
      </p:grpSp>
      <p:sp>
        <p:nvSpPr>
          <p:cNvPr id="28" name="Ellipse 27">
            <a:extLst>
              <a:ext uri="{FF2B5EF4-FFF2-40B4-BE49-F238E27FC236}">
                <a16:creationId xmlns:a16="http://schemas.microsoft.com/office/drawing/2014/main" id="{7711D4C3-E666-B5BF-E3DF-F9AAECB5733B}"/>
              </a:ext>
            </a:extLst>
          </p:cNvPr>
          <p:cNvSpPr/>
          <p:nvPr/>
        </p:nvSpPr>
        <p:spPr>
          <a:xfrm>
            <a:off x="3876338" y="3488222"/>
            <a:ext cx="594360" cy="594360"/>
          </a:xfrm>
          <a:prstGeom prst="ellipse">
            <a:avLst/>
          </a:prstGeom>
          <a:solidFill>
            <a:srgbClr val="69C0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30" name="Groupe 29">
            <a:extLst>
              <a:ext uri="{FF2B5EF4-FFF2-40B4-BE49-F238E27FC236}">
                <a16:creationId xmlns:a16="http://schemas.microsoft.com/office/drawing/2014/main" id="{C4D4632F-EC53-2580-7F57-090ACE2DEF7B}"/>
              </a:ext>
            </a:extLst>
          </p:cNvPr>
          <p:cNvGrpSpPr/>
          <p:nvPr userDrawn="1"/>
        </p:nvGrpSpPr>
        <p:grpSpPr>
          <a:xfrm>
            <a:off x="4457661" y="4743803"/>
            <a:ext cx="594360" cy="594360"/>
            <a:chOff x="4998720" y="2145030"/>
            <a:chExt cx="594360" cy="594360"/>
          </a:xfrm>
          <a:solidFill>
            <a:srgbClr val="69C0B9"/>
          </a:solidFill>
        </p:grpSpPr>
        <p:sp>
          <p:nvSpPr>
            <p:cNvPr id="31" name="Ellipse 30">
              <a:extLst>
                <a:ext uri="{FF2B5EF4-FFF2-40B4-BE49-F238E27FC236}">
                  <a16:creationId xmlns:a16="http://schemas.microsoft.com/office/drawing/2014/main" id="{EFD5C4B0-2E65-D16A-FE4F-19FAE291F1D5}"/>
                </a:ext>
              </a:extLst>
            </p:cNvPr>
            <p:cNvSpPr/>
            <p:nvPr/>
          </p:nvSpPr>
          <p:spPr>
            <a:xfrm>
              <a:off x="4998720" y="2145030"/>
              <a:ext cx="594360" cy="59436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2" name="Image 31" descr="Une image contenant Graphique, noir et blanc, symbole, logo&#10;&#10;Description générée automatiquement">
              <a:extLst>
                <a:ext uri="{FF2B5EF4-FFF2-40B4-BE49-F238E27FC236}">
                  <a16:creationId xmlns:a16="http://schemas.microsoft.com/office/drawing/2014/main" id="{6AA65B53-00DA-5854-6285-3A4A567A6EE4}"/>
                </a:ext>
              </a:extLst>
            </p:cNvPr>
            <p:cNvPicPr>
              <a:picLocks noChangeAspect="1"/>
            </p:cNvPicPr>
            <p:nvPr/>
          </p:nvPicPr>
          <p:blipFill rotWithShape="1">
            <a:blip r:embed="rId3">
              <a:extLst>
                <a:ext uri="{28A0092B-C50C-407E-A947-70E740481C1C}">
                  <a14:useLocalDpi xmlns:a14="http://schemas.microsoft.com/office/drawing/2010/main" val="0"/>
                </a:ext>
              </a:extLst>
            </a:blip>
            <a:srcRect l="30188" t="59635" r="25553" b="19279"/>
            <a:stretch/>
          </p:blipFill>
          <p:spPr>
            <a:xfrm>
              <a:off x="5104506" y="2249131"/>
              <a:ext cx="348187" cy="429490"/>
            </a:xfrm>
            <a:prstGeom prst="rect">
              <a:avLst/>
            </a:prstGeom>
            <a:grpFill/>
          </p:spPr>
        </p:pic>
      </p:grpSp>
      <p:sp>
        <p:nvSpPr>
          <p:cNvPr id="33" name="ZoneTexte 32">
            <a:extLst>
              <a:ext uri="{FF2B5EF4-FFF2-40B4-BE49-F238E27FC236}">
                <a16:creationId xmlns:a16="http://schemas.microsoft.com/office/drawing/2014/main" id="{7815D814-B6B1-5124-FDDB-18AE38B75CA5}"/>
              </a:ext>
            </a:extLst>
          </p:cNvPr>
          <p:cNvSpPr txBox="1"/>
          <p:nvPr userDrawn="1"/>
        </p:nvSpPr>
        <p:spPr>
          <a:xfrm>
            <a:off x="3651629" y="2172892"/>
            <a:ext cx="2145030" cy="523220"/>
          </a:xfrm>
          <a:prstGeom prst="rect">
            <a:avLst/>
          </a:prstGeom>
          <a:noFill/>
        </p:spPr>
        <p:txBody>
          <a:bodyPr wrap="square" rtlCol="0">
            <a:spAutoFit/>
          </a:bodyPr>
          <a:lstStyle/>
          <a:p>
            <a:r>
              <a:rPr lang="fr-FR" sz="2800" b="1">
                <a:solidFill>
                  <a:srgbClr val="69C0B9"/>
                </a:solidFill>
                <a:latin typeface="Montserrat" pitchFamily="2" charset="0"/>
              </a:rPr>
              <a:t>L’HUMAIN</a:t>
            </a:r>
          </a:p>
        </p:txBody>
      </p:sp>
      <p:sp>
        <p:nvSpPr>
          <p:cNvPr id="34" name="ZoneTexte 33">
            <a:extLst>
              <a:ext uri="{FF2B5EF4-FFF2-40B4-BE49-F238E27FC236}">
                <a16:creationId xmlns:a16="http://schemas.microsoft.com/office/drawing/2014/main" id="{07E234FB-63A2-08F2-B79E-36831DEB9614}"/>
              </a:ext>
            </a:extLst>
          </p:cNvPr>
          <p:cNvSpPr txBox="1"/>
          <p:nvPr userDrawn="1"/>
        </p:nvSpPr>
        <p:spPr>
          <a:xfrm>
            <a:off x="4625351" y="3429000"/>
            <a:ext cx="2638425" cy="523220"/>
          </a:xfrm>
          <a:prstGeom prst="rect">
            <a:avLst/>
          </a:prstGeom>
          <a:noFill/>
        </p:spPr>
        <p:txBody>
          <a:bodyPr wrap="square" rtlCol="0">
            <a:spAutoFit/>
          </a:bodyPr>
          <a:lstStyle/>
          <a:p>
            <a:r>
              <a:rPr lang="fr-FR" sz="2800" b="1">
                <a:solidFill>
                  <a:srgbClr val="69C0B9"/>
                </a:solidFill>
                <a:latin typeface="Montserrat" pitchFamily="2" charset="0"/>
              </a:rPr>
              <a:t>L’EXPERTISE</a:t>
            </a:r>
          </a:p>
        </p:txBody>
      </p:sp>
      <p:sp>
        <p:nvSpPr>
          <p:cNvPr id="35" name="ZoneTexte 34">
            <a:extLst>
              <a:ext uri="{FF2B5EF4-FFF2-40B4-BE49-F238E27FC236}">
                <a16:creationId xmlns:a16="http://schemas.microsoft.com/office/drawing/2014/main" id="{360F2B7A-61AA-DBCB-F6B5-8123FE87275F}"/>
              </a:ext>
            </a:extLst>
          </p:cNvPr>
          <p:cNvSpPr txBox="1"/>
          <p:nvPr userDrawn="1"/>
        </p:nvSpPr>
        <p:spPr>
          <a:xfrm>
            <a:off x="5201784" y="4702344"/>
            <a:ext cx="3150870" cy="523220"/>
          </a:xfrm>
          <a:prstGeom prst="rect">
            <a:avLst/>
          </a:prstGeom>
          <a:noFill/>
        </p:spPr>
        <p:txBody>
          <a:bodyPr wrap="square" rtlCol="0">
            <a:spAutoFit/>
          </a:bodyPr>
          <a:lstStyle/>
          <a:p>
            <a:r>
              <a:rPr lang="fr-FR" sz="2800" b="1">
                <a:solidFill>
                  <a:srgbClr val="69C0B9"/>
                </a:solidFill>
                <a:latin typeface="Montserrat" pitchFamily="2" charset="0"/>
              </a:rPr>
              <a:t>LA PROXIMITÉ</a:t>
            </a:r>
          </a:p>
        </p:txBody>
      </p:sp>
      <p:sp>
        <p:nvSpPr>
          <p:cNvPr id="36" name="ZoneTexte 35">
            <a:extLst>
              <a:ext uri="{FF2B5EF4-FFF2-40B4-BE49-F238E27FC236}">
                <a16:creationId xmlns:a16="http://schemas.microsoft.com/office/drawing/2014/main" id="{CE16F116-1330-B048-90D5-FDCFFBD68E57}"/>
              </a:ext>
            </a:extLst>
          </p:cNvPr>
          <p:cNvSpPr txBox="1"/>
          <p:nvPr userDrawn="1"/>
        </p:nvSpPr>
        <p:spPr>
          <a:xfrm>
            <a:off x="3651629" y="2620904"/>
            <a:ext cx="3826095" cy="553998"/>
          </a:xfrm>
          <a:prstGeom prst="rect">
            <a:avLst/>
          </a:prstGeom>
          <a:noFill/>
        </p:spPr>
        <p:txBody>
          <a:bodyPr wrap="square">
            <a:spAutoFit/>
          </a:bodyPr>
          <a:lstStyle/>
          <a:p>
            <a:r>
              <a:rPr lang="fr-FR" sz="1500">
                <a:latin typeface="Montserrat Light" panose="00000400000000000000" pitchFamily="2" charset="0"/>
              </a:rPr>
              <a:t>Une relation durable et de confiance avec nos collaborateurs et nos clients</a:t>
            </a:r>
            <a:endParaRPr lang="fr-FR" sz="1500" i="0">
              <a:effectLst/>
              <a:latin typeface="Montserrat Light" panose="00000400000000000000" pitchFamily="2" charset="0"/>
            </a:endParaRPr>
          </a:p>
        </p:txBody>
      </p:sp>
      <p:sp>
        <p:nvSpPr>
          <p:cNvPr id="37" name="ZoneTexte 36">
            <a:extLst>
              <a:ext uri="{FF2B5EF4-FFF2-40B4-BE49-F238E27FC236}">
                <a16:creationId xmlns:a16="http://schemas.microsoft.com/office/drawing/2014/main" id="{28A372C4-5D93-D1A1-3D28-010AB93BF240}"/>
              </a:ext>
            </a:extLst>
          </p:cNvPr>
          <p:cNvSpPr txBox="1"/>
          <p:nvPr userDrawn="1"/>
        </p:nvSpPr>
        <p:spPr>
          <a:xfrm>
            <a:off x="5220141" y="5141997"/>
            <a:ext cx="3150871" cy="784830"/>
          </a:xfrm>
          <a:prstGeom prst="rect">
            <a:avLst/>
          </a:prstGeom>
          <a:noFill/>
        </p:spPr>
        <p:txBody>
          <a:bodyPr wrap="square">
            <a:spAutoFit/>
          </a:bodyPr>
          <a:lstStyle/>
          <a:p>
            <a:r>
              <a:rPr lang="fr-FR" sz="1500">
                <a:latin typeface="Montserrat Light" panose="00000400000000000000" pitchFamily="2" charset="0"/>
              </a:rPr>
              <a:t>Une proximité garantie par un lien humain et une proximité géographique</a:t>
            </a:r>
          </a:p>
        </p:txBody>
      </p:sp>
      <p:sp>
        <p:nvSpPr>
          <p:cNvPr id="38" name="ZoneTexte 37">
            <a:extLst>
              <a:ext uri="{FF2B5EF4-FFF2-40B4-BE49-F238E27FC236}">
                <a16:creationId xmlns:a16="http://schemas.microsoft.com/office/drawing/2014/main" id="{6F6B02C9-B686-54AD-3F5E-6FFD733E36CD}"/>
              </a:ext>
            </a:extLst>
          </p:cNvPr>
          <p:cNvSpPr txBox="1"/>
          <p:nvPr userDrawn="1"/>
        </p:nvSpPr>
        <p:spPr>
          <a:xfrm>
            <a:off x="4645166" y="3870162"/>
            <a:ext cx="4279515" cy="553998"/>
          </a:xfrm>
          <a:prstGeom prst="rect">
            <a:avLst/>
          </a:prstGeom>
          <a:noFill/>
        </p:spPr>
        <p:txBody>
          <a:bodyPr wrap="square">
            <a:spAutoFit/>
          </a:bodyPr>
          <a:lstStyle/>
          <a:p>
            <a:r>
              <a:rPr lang="fr-FR" sz="1500">
                <a:latin typeface="Montserrat Light" panose="00000400000000000000" pitchFamily="2" charset="0"/>
              </a:rPr>
              <a:t>Des compétences diversifiées au service du progrès, de l’échange et de la transmission</a:t>
            </a:r>
            <a:endParaRPr lang="fr-FR" sz="1500" i="0">
              <a:effectLst/>
              <a:latin typeface="Montserrat Light" panose="00000400000000000000" pitchFamily="2" charset="0"/>
            </a:endParaRPr>
          </a:p>
        </p:txBody>
      </p:sp>
      <p:pic>
        <p:nvPicPr>
          <p:cNvPr id="5" name="Image 4">
            <a:extLst>
              <a:ext uri="{FF2B5EF4-FFF2-40B4-BE49-F238E27FC236}">
                <a16:creationId xmlns:a16="http://schemas.microsoft.com/office/drawing/2014/main" id="{51EC7158-93DE-7DB0-B6B3-724A1E280F70}"/>
              </a:ext>
            </a:extLst>
          </p:cNvPr>
          <p:cNvPicPr>
            <a:picLocks noChangeAspect="1"/>
          </p:cNvPicPr>
          <p:nvPr userDrawn="1"/>
        </p:nvPicPr>
        <p:blipFill rotWithShape="1">
          <a:blip r:embed="rId4">
            <a:extLst>
              <a:ext uri="{28A0092B-C50C-407E-A947-70E740481C1C}">
                <a14:useLocalDpi xmlns:a14="http://schemas.microsoft.com/office/drawing/2010/main" val="0"/>
              </a:ext>
            </a:extLst>
          </a:blip>
          <a:srcRect l="17112" t="6825" r="17263" b="-6825"/>
          <a:stretch/>
        </p:blipFill>
        <p:spPr>
          <a:xfrm>
            <a:off x="-1221359" y="3041557"/>
            <a:ext cx="5281786" cy="5184062"/>
          </a:xfrm>
          <a:prstGeom prst="ellipse">
            <a:avLst/>
          </a:prstGeom>
        </p:spPr>
      </p:pic>
      <p:grpSp>
        <p:nvGrpSpPr>
          <p:cNvPr id="13" name="Groupe 12">
            <a:extLst>
              <a:ext uri="{FF2B5EF4-FFF2-40B4-BE49-F238E27FC236}">
                <a16:creationId xmlns:a16="http://schemas.microsoft.com/office/drawing/2014/main" id="{46869138-A777-E2FE-6B09-6C2F1688F2DB}"/>
              </a:ext>
            </a:extLst>
          </p:cNvPr>
          <p:cNvGrpSpPr/>
          <p:nvPr userDrawn="1"/>
        </p:nvGrpSpPr>
        <p:grpSpPr>
          <a:xfrm>
            <a:off x="4001539" y="3615938"/>
            <a:ext cx="385026" cy="351667"/>
            <a:chOff x="8580320" y="1845336"/>
            <a:chExt cx="650740" cy="594360"/>
          </a:xfrm>
        </p:grpSpPr>
        <p:sp>
          <p:nvSpPr>
            <p:cNvPr id="6" name="Ellipse 5">
              <a:extLst>
                <a:ext uri="{FF2B5EF4-FFF2-40B4-BE49-F238E27FC236}">
                  <a16:creationId xmlns:a16="http://schemas.microsoft.com/office/drawing/2014/main" id="{5E1C064E-40B0-FBC1-1A07-43956FC11E49}"/>
                </a:ext>
              </a:extLst>
            </p:cNvPr>
            <p:cNvSpPr/>
            <p:nvPr/>
          </p:nvSpPr>
          <p:spPr>
            <a:xfrm>
              <a:off x="8580320" y="1845336"/>
              <a:ext cx="594360" cy="594360"/>
            </a:xfrm>
            <a:prstGeom prst="ellipse">
              <a:avLst/>
            </a:prstGeom>
            <a:solidFill>
              <a:srgbClr val="FFFFFF"/>
            </a:solidFill>
            <a:ln w="38100">
              <a:solidFill>
                <a:srgbClr val="69C0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 name="Graphique 2" descr="Coche avec un remplissage uni">
              <a:extLst>
                <a:ext uri="{FF2B5EF4-FFF2-40B4-BE49-F238E27FC236}">
                  <a16:creationId xmlns:a16="http://schemas.microsoft.com/office/drawing/2014/main" id="{CFE85ADB-C9C3-14E3-5CFB-2BDE20E4DAE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710956" y="1845336"/>
              <a:ext cx="520104" cy="520104"/>
            </a:xfrm>
            <a:prstGeom prst="rect">
              <a:avLst/>
            </a:prstGeom>
          </p:spPr>
        </p:pic>
      </p:grpSp>
    </p:spTree>
    <p:extLst>
      <p:ext uri="{BB962C8B-B14F-4D97-AF65-F5344CB8AC3E}">
        <p14:creationId xmlns:p14="http://schemas.microsoft.com/office/powerpoint/2010/main" val="24594171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2212831F-B432-4ED3-8162-396A6179C9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FDFB58E-A46A-4226-A3F8-FAE72B7569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39E7DB1-7E6F-4115-9695-31D1BC0EB9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A064CDF-8A01-47AB-AACA-7BEA4355D3DC}" type="datetimeFigureOut">
              <a:rPr lang="fr-FR" smtClean="0"/>
              <a:t>16/09/2026</a:t>
            </a:fld>
            <a:endParaRPr lang="fr-FR"/>
          </a:p>
        </p:txBody>
      </p:sp>
      <p:sp>
        <p:nvSpPr>
          <p:cNvPr id="5" name="Espace réservé du pied de page 4">
            <a:extLst>
              <a:ext uri="{FF2B5EF4-FFF2-40B4-BE49-F238E27FC236}">
                <a16:creationId xmlns:a16="http://schemas.microsoft.com/office/drawing/2014/main" id="{8C613B1A-A663-4F44-8154-DD4B53BBE7B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40108E40-2A6E-4879-A29A-2247199BA1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15DB9D-5073-4C4C-8D11-B0A725C41837}" type="slidenum">
              <a:rPr lang="fr-FR" smtClean="0"/>
              <a:t>‹N°›</a:t>
            </a:fld>
            <a:endParaRPr lang="fr-FR"/>
          </a:p>
        </p:txBody>
      </p:sp>
    </p:spTree>
    <p:extLst>
      <p:ext uri="{BB962C8B-B14F-4D97-AF65-F5344CB8AC3E}">
        <p14:creationId xmlns:p14="http://schemas.microsoft.com/office/powerpoint/2010/main" val="869711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0" r:id="rId4"/>
    <p:sldLayoutId id="2147483667" r:id="rId5"/>
    <p:sldLayoutId id="2147483668" r:id="rId6"/>
    <p:sldLayoutId id="2147483661" r:id="rId7"/>
    <p:sldLayoutId id="2147483662" r:id="rId8"/>
    <p:sldLayoutId id="2147483654"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xml"/><Relationship Id="rId1" Type="http://schemas.openxmlformats.org/officeDocument/2006/relationships/slideLayout" Target="../slideLayouts/slideLayout11.xml"/><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9.pn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5" Type="http://schemas.openxmlformats.org/officeDocument/2006/relationships/image" Target="../media/image41.jpeg"/><Relationship Id="rId10" Type="http://schemas.openxmlformats.org/officeDocument/2006/relationships/image" Target="../media/image37.png"/><Relationship Id="rId4" Type="http://schemas.openxmlformats.org/officeDocument/2006/relationships/image" Target="../media/image31.jpeg"/><Relationship Id="rId9" Type="http://schemas.openxmlformats.org/officeDocument/2006/relationships/image" Target="../media/image36.jpeg"/><Relationship Id="rId14" Type="http://schemas.microsoft.com/office/2007/relationships/hdphoto" Target="../media/hdphoto1.wdp"/></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xml"/><Relationship Id="rId1" Type="http://schemas.openxmlformats.org/officeDocument/2006/relationships/slideLayout" Target="../slideLayouts/slideLayout13.xml"/><Relationship Id="rId4" Type="http://schemas.microsoft.com/office/2007/relationships/hdphoto" Target="../media/hdphoto2.wdp"/></Relationships>
</file>

<file path=ppt/slides/_rels/slide1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45.png"/></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xml"/><Relationship Id="rId1" Type="http://schemas.openxmlformats.org/officeDocument/2006/relationships/slideLayout" Target="../slideLayouts/slideLayout1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0.xml"/><Relationship Id="rId1" Type="http://schemas.openxmlformats.org/officeDocument/2006/relationships/slideLayout" Target="../slideLayouts/slideLayout14.xml"/><Relationship Id="rId4" Type="http://schemas.openxmlformats.org/officeDocument/2006/relationships/image" Target="../media/image5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0.jpeg"/><Relationship Id="rId2" Type="http://schemas.openxmlformats.org/officeDocument/2006/relationships/notesSlide" Target="../notesSlides/notesSlide28.xml"/><Relationship Id="rId1" Type="http://schemas.openxmlformats.org/officeDocument/2006/relationships/slideLayout" Target="../slideLayouts/slideLayout14.xml"/><Relationship Id="rId6" Type="http://schemas.openxmlformats.org/officeDocument/2006/relationships/image" Target="../media/image59.jpeg"/><Relationship Id="rId5" Type="http://schemas.openxmlformats.org/officeDocument/2006/relationships/image" Target="../media/image58.jpeg"/><Relationship Id="rId4" Type="http://schemas.openxmlformats.org/officeDocument/2006/relationships/image" Target="../media/image57.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hyperlink" Target="https://rfsocial.grouperf.com/lien_spad/?base=JURI&amp;orig=REVUE_RF_FH&amp;juridiction=CASS&amp;chambre=SOC.&amp;numero=24-10984&amp;sp=/juri/inca/global/sociale/JURI/TEXT/00/00/53/38/41/JURITEXT000053384116.xml&amp;date=2026-01-07" TargetMode="External"/><Relationship Id="rId7" Type="http://schemas.openxmlformats.org/officeDocument/2006/relationships/image" Target="../media/image64.jpeg"/><Relationship Id="rId2" Type="http://schemas.openxmlformats.org/officeDocument/2006/relationships/notesSlide" Target="../notesSlides/notesSlide30.xml"/><Relationship Id="rId1" Type="http://schemas.openxmlformats.org/officeDocument/2006/relationships/slideLayout" Target="../slideLayouts/slideLayout14.xml"/><Relationship Id="rId6" Type="http://schemas.openxmlformats.org/officeDocument/2006/relationships/image" Target="../media/image63.jpeg"/><Relationship Id="rId5" Type="http://schemas.openxmlformats.org/officeDocument/2006/relationships/image" Target="../media/image62.png"/><Relationship Id="rId4" Type="http://schemas.openxmlformats.org/officeDocument/2006/relationships/image" Target="../media/image61.png"/></Relationships>
</file>

<file path=ppt/slides/_rels/slide35.xml.rels><?xml version="1.0" encoding="UTF-8" standalone="yes"?>
<Relationships xmlns="http://schemas.openxmlformats.org/package/2006/relationships"><Relationship Id="rId3" Type="http://schemas.openxmlformats.org/officeDocument/2006/relationships/hyperlink" Target="https://rfsocial.grouperf.com/lien_spad/?base=JURI&amp;orig=REVUE_RF_FH&amp;juridiction=CASS&amp;chambre=SOC.&amp;numero=24-10984&amp;sp=/juri/inca/global/sociale/JURI/TEXT/00/00/53/38/41/JURITEXT000053384116.xml&amp;date=2026-01-07" TargetMode="External"/><Relationship Id="rId2" Type="http://schemas.openxmlformats.org/officeDocument/2006/relationships/notesSlide" Target="../notesSlides/notesSlide31.xml"/><Relationship Id="rId1" Type="http://schemas.openxmlformats.org/officeDocument/2006/relationships/slideLayout" Target="../slideLayouts/slideLayout14.xml"/><Relationship Id="rId6" Type="http://schemas.openxmlformats.org/officeDocument/2006/relationships/image" Target="../media/image67.jpeg"/><Relationship Id="rId5" Type="http://schemas.openxmlformats.org/officeDocument/2006/relationships/image" Target="../media/image66.png"/><Relationship Id="rId4" Type="http://schemas.openxmlformats.org/officeDocument/2006/relationships/image" Target="../media/image65.png"/></Relationships>
</file>

<file path=ppt/slides/_rels/slide36.xml.rels><?xml version="1.0" encoding="UTF-8" standalone="yes"?>
<Relationships xmlns="http://schemas.openxmlformats.org/package/2006/relationships"><Relationship Id="rId3" Type="http://schemas.openxmlformats.org/officeDocument/2006/relationships/hyperlink" Target="https://rfsocial.grouperf.com/lien_spad/?base=JURI&amp;orig=REVUE_RF_FH&amp;juridiction=CASS&amp;chambre=SOC.&amp;numero=24-10984&amp;sp=/juri/inca/global/sociale/JURI/TEXT/00/00/53/38/41/JURITEXT000053384116.xml&amp;date=2026-01-07" TargetMode="External"/><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3" Type="http://schemas.openxmlformats.org/officeDocument/2006/relationships/image" Target="../media/image64.jpeg"/><Relationship Id="rId7"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14.xml"/><Relationship Id="rId6" Type="http://schemas.openxmlformats.org/officeDocument/2006/relationships/image" Target="../media/image68.jpeg"/><Relationship Id="rId5" Type="http://schemas.openxmlformats.org/officeDocument/2006/relationships/image" Target="../media/image68.png"/><Relationship Id="rId4" Type="http://schemas.openxmlformats.org/officeDocument/2006/relationships/customXml" Target="../ink/ink1.xml"/></Relationships>
</file>

<file path=ppt/slides/_rels/slide38.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hyperlink" Target="https://rfsocial.grouperf.com/lien_spad/?base=JURI&amp;orig=REVUE_RF_FH&amp;juridiction=CASS&amp;chambre=SOC.&amp;numero=24-10984&amp;sp=/juri/inca/global/sociale/JURI/TEXT/00/00/53/38/41/JURITEXT000053384116.xml&amp;date=2026-01-07" TargetMode="External"/><Relationship Id="rId7" Type="http://schemas.openxmlformats.org/officeDocument/2006/relationships/customXml" Target="../ink/ink2.xml"/><Relationship Id="rId2" Type="http://schemas.openxmlformats.org/officeDocument/2006/relationships/notesSlide" Target="../notesSlides/notesSlide34.xml"/><Relationship Id="rId1" Type="http://schemas.openxmlformats.org/officeDocument/2006/relationships/slideLayout" Target="../slideLayouts/slideLayout14.xml"/><Relationship Id="rId6" Type="http://schemas.openxmlformats.org/officeDocument/2006/relationships/image" Target="../media/image70.jpeg"/><Relationship Id="rId5" Type="http://schemas.openxmlformats.org/officeDocument/2006/relationships/image" Target="../media/image68.jpeg"/><Relationship Id="rId4" Type="http://schemas.openxmlformats.org/officeDocument/2006/relationships/image" Target="../media/image69.jpeg"/></Relationships>
</file>

<file path=ppt/slides/_rels/slide39.xml.rels><?xml version="1.0" encoding="UTF-8" standalone="yes"?>
<Relationships xmlns="http://schemas.openxmlformats.org/package/2006/relationships"><Relationship Id="rId3" Type="http://schemas.openxmlformats.org/officeDocument/2006/relationships/hyperlink" Target="https://rfsocial.grouperf.com/lien_spad/?base=JURI&amp;orig=REVUE_RF_FH&amp;juridiction=CASS&amp;chambre=SOC.&amp;numero=24-10984&amp;sp=/juri/inca/global/sociale/JURI/TEXT/00/00/53/38/41/JURITEXT000053384116.xml&amp;date=2026-01-07" TargetMode="External"/><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notesSlide" Target="../notesSlides/notesSlide36.xml"/><Relationship Id="rId1" Type="http://schemas.openxmlformats.org/officeDocument/2006/relationships/slideLayout" Target="../slideLayouts/slideLayout14.xml"/><Relationship Id="rId5" Type="http://schemas.openxmlformats.org/officeDocument/2006/relationships/image" Target="../media/image73.png"/><Relationship Id="rId4" Type="http://schemas.openxmlformats.org/officeDocument/2006/relationships/image" Target="../media/image72.jpe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39.xml"/><Relationship Id="rId1" Type="http://schemas.openxmlformats.org/officeDocument/2006/relationships/slideLayout" Target="../slideLayouts/slideLayout14.xml"/><Relationship Id="rId5" Type="http://schemas.openxmlformats.org/officeDocument/2006/relationships/image" Target="../media/image76.jpeg"/><Relationship Id="rId4" Type="http://schemas.openxmlformats.org/officeDocument/2006/relationships/image" Target="../media/image75.jpeg"/></Relationships>
</file>

<file path=ppt/slides/_rels/slide45.xml.rels><?xml version="1.0" encoding="UTF-8" standalone="yes"?>
<Relationships xmlns="http://schemas.openxmlformats.org/package/2006/relationships"><Relationship Id="rId3" Type="http://schemas.openxmlformats.org/officeDocument/2006/relationships/image" Target="../media/image77.jpeg"/><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hyperlink" Target="https://rfsocial.grouperf.com/lien_spad/?base=JURI&amp;orig=REVUE_RF_FH&amp;juridiction=CASS&amp;chambre=SOC.&amp;numero=25-10995&amp;sp=/juri/inca/global/sociale/JURI/TEXT/00/00/53/91/57/JURITEXT000053915729.xml&amp;date=2026-04-09" TargetMode="External"/><Relationship Id="rId2" Type="http://schemas.openxmlformats.org/officeDocument/2006/relationships/notesSlide" Target="../notesSlides/notesSlide42.xml"/><Relationship Id="rId1" Type="http://schemas.openxmlformats.org/officeDocument/2006/relationships/slideLayout" Target="../slideLayouts/slideLayout14.xml"/><Relationship Id="rId4" Type="http://schemas.openxmlformats.org/officeDocument/2006/relationships/image" Target="../media/image78.jpeg"/></Relationships>
</file>

<file path=ppt/slides/_rels/slide48.xml.rels><?xml version="1.0" encoding="UTF-8" standalone="yes"?>
<Relationships xmlns="http://schemas.openxmlformats.org/package/2006/relationships"><Relationship Id="rId3" Type="http://schemas.openxmlformats.org/officeDocument/2006/relationships/hyperlink" Target="https://rfsocial.grouperf.com/lien_spad/?base=JURI&amp;orig=REVUE_RF_FH&amp;juridiction=CASS&amp;chambre=SOC.&amp;numero=25-10995&amp;sp=/juri/inca/global/sociale/JURI/TEXT/00/00/53/91/57/JURITEXT000053915729.xml&amp;date=2026-04-09" TargetMode="External"/><Relationship Id="rId2" Type="http://schemas.openxmlformats.org/officeDocument/2006/relationships/notesSlide" Target="../notesSlides/notesSlide43.xml"/><Relationship Id="rId1" Type="http://schemas.openxmlformats.org/officeDocument/2006/relationships/slideLayout" Target="../slideLayouts/slideLayout14.xml"/><Relationship Id="rId5" Type="http://schemas.openxmlformats.org/officeDocument/2006/relationships/image" Target="../media/image78.jpeg"/><Relationship Id="rId4" Type="http://schemas.openxmlformats.org/officeDocument/2006/relationships/image" Target="../media/image79.jpeg"/></Relationships>
</file>

<file path=ppt/slides/_rels/slide49.xml.rels><?xml version="1.0" encoding="UTF-8" standalone="yes"?>
<Relationships xmlns="http://schemas.openxmlformats.org/package/2006/relationships"><Relationship Id="rId3" Type="http://schemas.openxmlformats.org/officeDocument/2006/relationships/hyperlink" Target="https://rfsocial.grouperf.com/lien_spad/?base=JURI&amp;orig=REVUE_RF_FH&amp;juridiction=CASS&amp;chambre=SOC.&amp;numero=25-10995&amp;sp=/juri/inca/global/sociale/JURI/TEXT/00/00/53/91/57/JURITEXT000053915729.xml&amp;date=2026-04-09" TargetMode="External"/><Relationship Id="rId2" Type="http://schemas.openxmlformats.org/officeDocument/2006/relationships/notesSlide" Target="../notesSlides/notesSlide44.xml"/><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6.xml"/></Relationships>
</file>

<file path=ppt/slides/_rels/slide51.xml.rels><?xml version="1.0" encoding="UTF-8" standalone="yes"?>
<Relationships xmlns="http://schemas.openxmlformats.org/package/2006/relationships"><Relationship Id="rId3" Type="http://schemas.openxmlformats.org/officeDocument/2006/relationships/hyperlink" Target="mailto:lu.fiol@fiteco.com" TargetMode="External"/><Relationship Id="rId7" Type="http://schemas.openxmlformats.org/officeDocument/2006/relationships/image" Target="../media/image81.png"/><Relationship Id="rId2" Type="http://schemas.openxmlformats.org/officeDocument/2006/relationships/notesSlide" Target="../notesSlides/notesSlide45.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1.jpeg"/><Relationship Id="rId4" Type="http://schemas.openxmlformats.org/officeDocument/2006/relationships/image" Target="../media/image4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Espace réservé pour une image  5">
            <a:extLst>
              <a:ext uri="{FF2B5EF4-FFF2-40B4-BE49-F238E27FC236}">
                <a16:creationId xmlns:a16="http://schemas.microsoft.com/office/drawing/2014/main" id="{01988D64-43D1-DF60-0BA0-F14133868A68}"/>
              </a:ext>
            </a:extLst>
          </p:cNvPr>
          <p:cNvPicPr>
            <a:picLocks noGrp="1" noChangeAspect="1"/>
          </p:cNvPicPr>
          <p:nvPr>
            <p:ph type="pic" sz="quarter" idx="10"/>
          </p:nvPr>
        </p:nvPicPr>
        <p:blipFill rotWithShape="1">
          <a:blip r:embed="rId3">
            <a:extLst>
              <a:ext uri="{28A0092B-C50C-407E-A947-70E740481C1C}">
                <a14:useLocalDpi xmlns:a14="http://schemas.microsoft.com/office/drawing/2010/main" val="0"/>
              </a:ext>
            </a:extLst>
          </a:blip>
          <a:srcRect l="-4009" t="-14372" r="31163" b="-9444"/>
          <a:stretch/>
        </p:blipFill>
        <p:spPr>
          <a:xfrm>
            <a:off x="-2109138" y="-1010099"/>
            <a:ext cx="8682728" cy="8702349"/>
          </a:xfrm>
        </p:spPr>
      </p:pic>
      <p:sp>
        <p:nvSpPr>
          <p:cNvPr id="3" name="Espace réservé du texte 2">
            <a:extLst>
              <a:ext uri="{FF2B5EF4-FFF2-40B4-BE49-F238E27FC236}">
                <a16:creationId xmlns:a16="http://schemas.microsoft.com/office/drawing/2014/main" id="{61DB5AF6-3F1E-1E3A-8FD0-7B7BEAD294E9}"/>
              </a:ext>
            </a:extLst>
          </p:cNvPr>
          <p:cNvSpPr>
            <a:spLocks noGrp="1"/>
          </p:cNvSpPr>
          <p:nvPr>
            <p:ph type="body" sz="quarter" idx="11"/>
          </p:nvPr>
        </p:nvSpPr>
        <p:spPr>
          <a:xfrm>
            <a:off x="6264956" y="3429783"/>
            <a:ext cx="5218113" cy="474896"/>
          </a:xfrm>
        </p:spPr>
        <p:txBody>
          <a:bodyPr vert="horz" lIns="91440" tIns="45720" rIns="91440" bIns="45720" rtlCol="0" anchor="t">
            <a:noAutofit/>
          </a:bodyPr>
          <a:lstStyle/>
          <a:p>
            <a:r>
              <a:rPr lang="fr-FR" dirty="0">
                <a:latin typeface="Montserrat Bold"/>
              </a:rPr>
              <a:t>22 septembre 2026</a:t>
            </a:r>
            <a:endParaRPr lang="fr-FR" dirty="0"/>
          </a:p>
        </p:txBody>
      </p:sp>
      <p:sp>
        <p:nvSpPr>
          <p:cNvPr id="4" name="Titre 3">
            <a:extLst>
              <a:ext uri="{FF2B5EF4-FFF2-40B4-BE49-F238E27FC236}">
                <a16:creationId xmlns:a16="http://schemas.microsoft.com/office/drawing/2014/main" id="{208E307D-BC11-83AF-033A-4E3D17B6E764}"/>
              </a:ext>
            </a:extLst>
          </p:cNvPr>
          <p:cNvSpPr>
            <a:spLocks noGrp="1"/>
          </p:cNvSpPr>
          <p:nvPr>
            <p:ph type="title"/>
          </p:nvPr>
        </p:nvSpPr>
        <p:spPr/>
        <p:txBody>
          <a:bodyPr>
            <a:normAutofit fontScale="90000"/>
          </a:bodyPr>
          <a:lstStyle/>
          <a:p>
            <a:r>
              <a:rPr lang="fr-FR" dirty="0"/>
              <a:t>Restitution aide au choix </a:t>
            </a:r>
          </a:p>
        </p:txBody>
      </p:sp>
      <p:pic>
        <p:nvPicPr>
          <p:cNvPr id="2" name="Image 1" descr="Une image contenant cercle, capture d’écran, Graphique, art&#10;&#10;Description générée automatiquement">
            <a:extLst>
              <a:ext uri="{FF2B5EF4-FFF2-40B4-BE49-F238E27FC236}">
                <a16:creationId xmlns:a16="http://schemas.microsoft.com/office/drawing/2014/main" id="{61356069-A293-05F9-0B80-5AAC95D0899B}"/>
              </a:ext>
            </a:extLst>
          </p:cNvPr>
          <p:cNvPicPr>
            <a:picLocks noChangeAspect="1"/>
          </p:cNvPicPr>
          <p:nvPr/>
        </p:nvPicPr>
        <p:blipFill rotWithShape="1">
          <a:blip r:embed="rId4">
            <a:extLst>
              <a:ext uri="{28A0092B-C50C-407E-A947-70E740481C1C}">
                <a14:useLocalDpi xmlns:a14="http://schemas.microsoft.com/office/drawing/2010/main" val="0"/>
              </a:ext>
            </a:extLst>
          </a:blip>
          <a:srcRect l="19197" t="19065" r="16005" b="18639"/>
          <a:stretch/>
        </p:blipFill>
        <p:spPr>
          <a:xfrm>
            <a:off x="2509935" y="3341075"/>
            <a:ext cx="5812971" cy="4331219"/>
          </a:xfrm>
          <a:prstGeom prst="rect">
            <a:avLst/>
          </a:prstGeom>
        </p:spPr>
      </p:pic>
    </p:spTree>
    <p:extLst>
      <p:ext uri="{BB962C8B-B14F-4D97-AF65-F5344CB8AC3E}">
        <p14:creationId xmlns:p14="http://schemas.microsoft.com/office/powerpoint/2010/main" val="1745290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re 22">
            <a:extLst>
              <a:ext uri="{FF2B5EF4-FFF2-40B4-BE49-F238E27FC236}">
                <a16:creationId xmlns:a16="http://schemas.microsoft.com/office/drawing/2014/main" id="{3D25B919-D927-8FB4-6ACF-690456997FAC}"/>
              </a:ext>
            </a:extLst>
          </p:cNvPr>
          <p:cNvSpPr>
            <a:spLocks noGrp="1"/>
          </p:cNvSpPr>
          <p:nvPr>
            <p:ph type="title"/>
          </p:nvPr>
        </p:nvSpPr>
        <p:spPr>
          <a:xfrm>
            <a:off x="7194780" y="2771581"/>
            <a:ext cx="2568143" cy="591393"/>
          </a:xfrm>
        </p:spPr>
        <p:txBody>
          <a:bodyPr>
            <a:normAutofit/>
          </a:bodyPr>
          <a:lstStyle/>
          <a:p>
            <a:r>
              <a:rPr lang="fr-FR" sz="2200"/>
              <a:t>ÉQUIPE PAIE</a:t>
            </a:r>
          </a:p>
        </p:txBody>
      </p:sp>
      <p:pic>
        <p:nvPicPr>
          <p:cNvPr id="1035" name="Image 1034" descr="Une image contenant Police, Graphique, logo, graphisme&#10;&#10;Description générée automatiquement">
            <a:extLst>
              <a:ext uri="{FF2B5EF4-FFF2-40B4-BE49-F238E27FC236}">
                <a16:creationId xmlns:a16="http://schemas.microsoft.com/office/drawing/2014/main" id="{96AFAEA5-4923-D5F3-67D2-745AAC5485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3441" y="422754"/>
            <a:ext cx="1655067" cy="438913"/>
          </a:xfrm>
          <a:prstGeom prst="rect">
            <a:avLst/>
          </a:prstGeom>
        </p:spPr>
      </p:pic>
      <p:grpSp>
        <p:nvGrpSpPr>
          <p:cNvPr id="1051" name="Groupe 1050">
            <a:extLst>
              <a:ext uri="{FF2B5EF4-FFF2-40B4-BE49-F238E27FC236}">
                <a16:creationId xmlns:a16="http://schemas.microsoft.com/office/drawing/2014/main" id="{84B0ECD9-E6E0-183F-ABAE-C768ACB36C7B}"/>
              </a:ext>
            </a:extLst>
          </p:cNvPr>
          <p:cNvGrpSpPr/>
          <p:nvPr/>
        </p:nvGrpSpPr>
        <p:grpSpPr>
          <a:xfrm>
            <a:off x="615888" y="1854359"/>
            <a:ext cx="3450320" cy="2591712"/>
            <a:chOff x="203442" y="2231635"/>
            <a:chExt cx="3450320" cy="2591712"/>
          </a:xfrm>
        </p:grpSpPr>
        <p:sp>
          <p:nvSpPr>
            <p:cNvPr id="1037" name="ZoneTexte 14">
              <a:extLst>
                <a:ext uri="{FF2B5EF4-FFF2-40B4-BE49-F238E27FC236}">
                  <a16:creationId xmlns:a16="http://schemas.microsoft.com/office/drawing/2014/main" id="{0D54D798-3E32-7C57-771E-85D8FF696B99}"/>
                </a:ext>
              </a:extLst>
            </p:cNvPr>
            <p:cNvSpPr txBox="1"/>
            <p:nvPr/>
          </p:nvSpPr>
          <p:spPr>
            <a:xfrm>
              <a:off x="206468" y="3224327"/>
              <a:ext cx="1963827" cy="461665"/>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FIOL Lucile</a:t>
              </a:r>
              <a:endParaRPr lang="fr-FR" sz="1200">
                <a:ea typeface="Calibri"/>
                <a:cs typeface="Calibri"/>
              </a:endParaRPr>
            </a:p>
            <a:p>
              <a:pPr algn="ctr"/>
              <a:r>
                <a:rPr lang="fr-FR" sz="1200"/>
                <a:t>lu.fiol@fiteco.com</a:t>
              </a:r>
              <a:endParaRPr lang="fr-FR" sz="1200">
                <a:ea typeface="Calibri"/>
                <a:cs typeface="Calibri"/>
              </a:endParaRPr>
            </a:p>
          </p:txBody>
        </p:sp>
        <p:pic>
          <p:nvPicPr>
            <p:cNvPr id="1048" name="Picture 24" descr="Une image contenant Visage humain, personne, sourire, écharpe&#10;&#10;Description générée automatiquement">
              <a:extLst>
                <a:ext uri="{FF2B5EF4-FFF2-40B4-BE49-F238E27FC236}">
                  <a16:creationId xmlns:a16="http://schemas.microsoft.com/office/drawing/2014/main" id="{6DC1833D-16E5-A60E-920A-814FE77301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44638" y="2231635"/>
              <a:ext cx="1348368" cy="2024312"/>
            </a:xfrm>
            <a:prstGeom prst="rect">
              <a:avLst/>
            </a:prstGeom>
            <a:noFill/>
            <a:extLst>
              <a:ext uri="{909E8E84-426E-40DD-AFC4-6F175D3DCCD1}">
                <a14:hiddenFill xmlns:a14="http://schemas.microsoft.com/office/drawing/2010/main">
                  <a:solidFill>
                    <a:srgbClr val="FFFFFF"/>
                  </a:solidFill>
                </a14:hiddenFill>
              </a:ext>
            </a:extLst>
          </p:spPr>
        </p:pic>
        <p:sp>
          <p:nvSpPr>
            <p:cNvPr id="1039" name="ZoneTexte 27">
              <a:extLst>
                <a:ext uri="{FF2B5EF4-FFF2-40B4-BE49-F238E27FC236}">
                  <a16:creationId xmlns:a16="http://schemas.microsoft.com/office/drawing/2014/main" id="{C0D95504-E892-536A-E404-D8963E6468A4}"/>
                </a:ext>
              </a:extLst>
            </p:cNvPr>
            <p:cNvSpPr txBox="1"/>
            <p:nvPr/>
          </p:nvSpPr>
          <p:spPr>
            <a:xfrm>
              <a:off x="2070877" y="4343042"/>
              <a:ext cx="1582885" cy="471258"/>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VALOIS Anaïs</a:t>
              </a:r>
              <a:endParaRPr lang="fr-FR" sz="1200">
                <a:ea typeface="Calibri"/>
                <a:cs typeface="Calibri"/>
              </a:endParaRPr>
            </a:p>
            <a:p>
              <a:pPr algn="ctr"/>
              <a:r>
                <a:rPr lang="fr-FR" sz="1200"/>
                <a:t>a.valois@fiteco.com</a:t>
              </a:r>
              <a:endParaRPr lang="fr-FR" sz="1200">
                <a:ea typeface="Calibri"/>
                <a:cs typeface="Calibri"/>
              </a:endParaRPr>
            </a:p>
          </p:txBody>
        </p:sp>
        <p:sp>
          <p:nvSpPr>
            <p:cNvPr id="1043" name="Titre 22">
              <a:extLst>
                <a:ext uri="{FF2B5EF4-FFF2-40B4-BE49-F238E27FC236}">
                  <a16:creationId xmlns:a16="http://schemas.microsoft.com/office/drawing/2014/main" id="{36DBEAD0-AA67-DDEA-F2A8-9E212D925325}"/>
                </a:ext>
              </a:extLst>
            </p:cNvPr>
            <p:cNvSpPr txBox="1">
              <a:spLocks/>
            </p:cNvSpPr>
            <p:nvPr/>
          </p:nvSpPr>
          <p:spPr>
            <a:xfrm>
              <a:off x="203442" y="4037866"/>
              <a:ext cx="1841196" cy="78548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1800" b="1" kern="1200" cap="all" baseline="0">
                  <a:solidFill>
                    <a:srgbClr val="68BBB4"/>
                  </a:solidFill>
                  <a:latin typeface="Montserrat" panose="00000500000000000000" pitchFamily="2" charset="0"/>
                  <a:ea typeface="+mj-ea"/>
                  <a:cs typeface="+mj-cs"/>
                </a:defRPr>
              </a:lvl1pPr>
            </a:lstStyle>
            <a:p>
              <a:pPr algn="ctr"/>
              <a:r>
                <a:rPr lang="fr-FR" sz="2200">
                  <a:latin typeface="Montserrat"/>
                </a:rPr>
                <a:t>ÉQUIPE Juridique - </a:t>
              </a:r>
              <a:r>
                <a:rPr lang="fr-FR" sz="2200" err="1">
                  <a:latin typeface="Montserrat"/>
                </a:rPr>
                <a:t>rh</a:t>
              </a:r>
              <a:endParaRPr lang="fr-FR" sz="2200"/>
            </a:p>
          </p:txBody>
        </p:sp>
      </p:grpSp>
      <p:grpSp>
        <p:nvGrpSpPr>
          <p:cNvPr id="1054" name="Groupe 1053">
            <a:extLst>
              <a:ext uri="{FF2B5EF4-FFF2-40B4-BE49-F238E27FC236}">
                <a16:creationId xmlns:a16="http://schemas.microsoft.com/office/drawing/2014/main" id="{20D0E665-9CEB-F4B1-B1F6-149AF2E54661}"/>
              </a:ext>
            </a:extLst>
          </p:cNvPr>
          <p:cNvGrpSpPr/>
          <p:nvPr/>
        </p:nvGrpSpPr>
        <p:grpSpPr>
          <a:xfrm>
            <a:off x="4295254" y="143212"/>
            <a:ext cx="7369070" cy="6148547"/>
            <a:chOff x="4720630" y="26798"/>
            <a:chExt cx="7369070" cy="6148547"/>
          </a:xfrm>
        </p:grpSpPr>
        <p:grpSp>
          <p:nvGrpSpPr>
            <p:cNvPr id="1047" name="Groupe 1046">
              <a:extLst>
                <a:ext uri="{FF2B5EF4-FFF2-40B4-BE49-F238E27FC236}">
                  <a16:creationId xmlns:a16="http://schemas.microsoft.com/office/drawing/2014/main" id="{A707A7F9-42FD-B147-96D2-1AE0D4227D13}"/>
                </a:ext>
              </a:extLst>
            </p:cNvPr>
            <p:cNvGrpSpPr/>
            <p:nvPr/>
          </p:nvGrpSpPr>
          <p:grpSpPr>
            <a:xfrm>
              <a:off x="4720630" y="61225"/>
              <a:ext cx="7117767" cy="6114120"/>
              <a:chOff x="3583206" y="341412"/>
              <a:chExt cx="7117767" cy="6114120"/>
            </a:xfrm>
          </p:grpSpPr>
          <p:pic>
            <p:nvPicPr>
              <p:cNvPr id="1028" name="Picture 4" descr="Une image contenant habits, verres, Visage humain, personne&#10;&#10;Description générée automatiquement">
                <a:extLst>
                  <a:ext uri="{FF2B5EF4-FFF2-40B4-BE49-F238E27FC236}">
                    <a16:creationId xmlns:a16="http://schemas.microsoft.com/office/drawing/2014/main" id="{82481F11-8788-F816-F494-8005726BFE2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6000" y="371583"/>
                <a:ext cx="1283339" cy="191865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e image contenant habits, personne, Visage humain, portrait&#10;&#10;Description générée automatiquement">
                <a:extLst>
                  <a:ext uri="{FF2B5EF4-FFF2-40B4-BE49-F238E27FC236}">
                    <a16:creationId xmlns:a16="http://schemas.microsoft.com/office/drawing/2014/main" id="{D333C3C8-C9D8-4930-571E-B29DDEB8B76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63089" y="341412"/>
                <a:ext cx="1283339" cy="1938377"/>
              </a:xfrm>
              <a:prstGeom prst="rect">
                <a:avLst/>
              </a:prstGeom>
              <a:noFill/>
              <a:extLst>
                <a:ext uri="{909E8E84-426E-40DD-AFC4-6F175D3DCCD1}">
                  <a14:hiddenFill xmlns:a14="http://schemas.microsoft.com/office/drawing/2010/main">
                    <a:solidFill>
                      <a:srgbClr val="FFFFFF"/>
                    </a:solidFill>
                  </a14:hiddenFill>
                </a:ext>
              </a:extLst>
            </p:spPr>
          </p:pic>
          <p:sp>
            <p:nvSpPr>
              <p:cNvPr id="28" name="ZoneTexte 6">
                <a:extLst>
                  <a:ext uri="{FF2B5EF4-FFF2-40B4-BE49-F238E27FC236}">
                    <a16:creationId xmlns:a16="http://schemas.microsoft.com/office/drawing/2014/main" id="{17AA03A5-027E-74EB-ECDF-E362DF183CDC}"/>
                  </a:ext>
                </a:extLst>
              </p:cNvPr>
              <p:cNvSpPr txBox="1"/>
              <p:nvPr/>
            </p:nvSpPr>
            <p:spPr>
              <a:xfrm>
                <a:off x="5774977" y="2279789"/>
                <a:ext cx="1855441" cy="461665"/>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MAHERAULT Adeline</a:t>
                </a:r>
                <a:endParaRPr lang="fr-FR" sz="1200">
                  <a:cs typeface="Calibri"/>
                </a:endParaRPr>
              </a:p>
              <a:p>
                <a:pPr algn="ctr"/>
                <a:r>
                  <a:rPr lang="fr-FR" sz="1200"/>
                  <a:t>a.maherault@fiteco.com</a:t>
                </a:r>
                <a:endParaRPr lang="fr-FR" sz="1200">
                  <a:cs typeface="Calibri"/>
                </a:endParaRPr>
              </a:p>
            </p:txBody>
          </p:sp>
          <p:sp>
            <p:nvSpPr>
              <p:cNvPr id="29" name="ZoneTexte 7">
                <a:extLst>
                  <a:ext uri="{FF2B5EF4-FFF2-40B4-BE49-F238E27FC236}">
                    <a16:creationId xmlns:a16="http://schemas.microsoft.com/office/drawing/2014/main" id="{656CC320-7EC4-E2A4-5DB0-F53DF0505ADA}"/>
                  </a:ext>
                </a:extLst>
              </p:cNvPr>
              <p:cNvSpPr txBox="1"/>
              <p:nvPr/>
            </p:nvSpPr>
            <p:spPr>
              <a:xfrm>
                <a:off x="7687203" y="2241267"/>
                <a:ext cx="1429228" cy="461665"/>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CIVET </a:t>
                </a:r>
                <a:r>
                  <a:rPr lang="fr-FR" sz="1200" err="1"/>
                  <a:t>Annaig</a:t>
                </a:r>
                <a:endParaRPr lang="fr-FR" sz="1200">
                  <a:cs typeface="Calibri"/>
                </a:endParaRPr>
              </a:p>
              <a:p>
                <a:pPr algn="ctr"/>
                <a:r>
                  <a:rPr lang="fr-FR" sz="1200"/>
                  <a:t>a.civet@fiteco.com</a:t>
                </a:r>
                <a:endParaRPr lang="fr-FR" sz="1200">
                  <a:cs typeface="Calibri"/>
                </a:endParaRPr>
              </a:p>
            </p:txBody>
          </p:sp>
          <p:pic>
            <p:nvPicPr>
              <p:cNvPr id="1036" name="Picture 12" descr="Une image contenant Visage humain, habits, personne, sourire&#10;&#10;Description générée automatiquement">
                <a:extLst>
                  <a:ext uri="{FF2B5EF4-FFF2-40B4-BE49-F238E27FC236}">
                    <a16:creationId xmlns:a16="http://schemas.microsoft.com/office/drawing/2014/main" id="{A9C4B39F-65F8-4F2B-D146-6ACCF305383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081214" y="3966358"/>
                <a:ext cx="1348368" cy="2000804"/>
              </a:xfrm>
              <a:prstGeom prst="rect">
                <a:avLst/>
              </a:prstGeom>
              <a:noFill/>
              <a:extLst>
                <a:ext uri="{909E8E84-426E-40DD-AFC4-6F175D3DCCD1}">
                  <a14:hiddenFill xmlns:a14="http://schemas.microsoft.com/office/drawing/2010/main">
                    <a:solidFill>
                      <a:srgbClr val="FFFFFF"/>
                    </a:solidFill>
                  </a14:hiddenFill>
                </a:ext>
              </a:extLst>
            </p:spPr>
          </p:pic>
          <p:sp>
            <p:nvSpPr>
              <p:cNvPr id="1024" name="ZoneTexte 13">
                <a:extLst>
                  <a:ext uri="{FF2B5EF4-FFF2-40B4-BE49-F238E27FC236}">
                    <a16:creationId xmlns:a16="http://schemas.microsoft.com/office/drawing/2014/main" id="{B31DFB81-E5D3-DAE9-FBBD-ED1DFED8363D}"/>
                  </a:ext>
                </a:extLst>
              </p:cNvPr>
              <p:cNvSpPr txBox="1"/>
              <p:nvPr/>
            </p:nvSpPr>
            <p:spPr>
              <a:xfrm>
                <a:off x="3583206" y="5965302"/>
                <a:ext cx="2319270" cy="461665"/>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PAILLARD COUPEAU Tiphaine</a:t>
                </a:r>
                <a:endParaRPr lang="fr-FR" sz="1200">
                  <a:ea typeface="Calibri"/>
                  <a:cs typeface="Calibri"/>
                </a:endParaRPr>
              </a:p>
              <a:p>
                <a:pPr algn="ctr"/>
                <a:r>
                  <a:rPr lang="fr-FR" sz="1200"/>
                  <a:t>t.coupeau@fiteco.com</a:t>
                </a:r>
                <a:endParaRPr lang="fr-FR" sz="1200">
                  <a:ea typeface="Calibri"/>
                  <a:cs typeface="Calibri"/>
                </a:endParaRPr>
              </a:p>
            </p:txBody>
          </p:sp>
          <p:pic>
            <p:nvPicPr>
              <p:cNvPr id="1038" name="Picture 14" descr="Une image contenant Visage humain, personne, habits, sourire&#10;&#10;Description générée automatiquement">
                <a:extLst>
                  <a:ext uri="{FF2B5EF4-FFF2-40B4-BE49-F238E27FC236}">
                    <a16:creationId xmlns:a16="http://schemas.microsoft.com/office/drawing/2014/main" id="{CFD147B5-89F3-A10E-9429-D2122B27074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543435" y="3862417"/>
                <a:ext cx="1348368" cy="2080339"/>
              </a:xfrm>
              <a:prstGeom prst="rect">
                <a:avLst/>
              </a:prstGeom>
              <a:noFill/>
              <a:extLst>
                <a:ext uri="{909E8E84-426E-40DD-AFC4-6F175D3DCCD1}">
                  <a14:hiddenFill xmlns:a14="http://schemas.microsoft.com/office/drawing/2010/main">
                    <a:solidFill>
                      <a:srgbClr val="FFFFFF"/>
                    </a:solidFill>
                  </a14:hiddenFill>
                </a:ext>
              </a:extLst>
            </p:spPr>
          </p:pic>
          <p:sp>
            <p:nvSpPr>
              <p:cNvPr id="1025" name="ZoneTexte 12">
                <a:extLst>
                  <a:ext uri="{FF2B5EF4-FFF2-40B4-BE49-F238E27FC236}">
                    <a16:creationId xmlns:a16="http://schemas.microsoft.com/office/drawing/2014/main" id="{C8D72DC1-3163-6226-D07C-BDCAE583F4D8}"/>
                  </a:ext>
                </a:extLst>
              </p:cNvPr>
              <p:cNvSpPr txBox="1"/>
              <p:nvPr/>
            </p:nvSpPr>
            <p:spPr>
              <a:xfrm>
                <a:off x="7209197" y="5984274"/>
                <a:ext cx="2016844" cy="461665"/>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VOISIN Morgane</a:t>
                </a:r>
                <a:endParaRPr lang="fr-FR" sz="1200">
                  <a:ea typeface="Calibri"/>
                  <a:cs typeface="Calibri"/>
                </a:endParaRPr>
              </a:p>
              <a:p>
                <a:pPr algn="ctr"/>
                <a:r>
                  <a:rPr lang="fr-FR" sz="1200"/>
                  <a:t>morgane.voisin@fiteco.com</a:t>
                </a:r>
                <a:endParaRPr lang="fr-FR" sz="1200">
                  <a:ea typeface="Calibri"/>
                  <a:cs typeface="Calibri"/>
                </a:endParaRPr>
              </a:p>
            </p:txBody>
          </p:sp>
          <p:pic>
            <p:nvPicPr>
              <p:cNvPr id="1040" name="Picture 16" descr="Une image contenant Visage humain, sourire, habits, personne&#10;&#10;Description générée automatiquement">
                <a:extLst>
                  <a:ext uri="{FF2B5EF4-FFF2-40B4-BE49-F238E27FC236}">
                    <a16:creationId xmlns:a16="http://schemas.microsoft.com/office/drawing/2014/main" id="{BCFD410F-EE63-69F7-9215-F07632CB47D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537582" y="4116547"/>
                <a:ext cx="1739461" cy="1821483"/>
              </a:xfrm>
              <a:prstGeom prst="rect">
                <a:avLst/>
              </a:prstGeom>
              <a:noFill/>
              <a:extLst>
                <a:ext uri="{909E8E84-426E-40DD-AFC4-6F175D3DCCD1}">
                  <a14:hiddenFill xmlns:a14="http://schemas.microsoft.com/office/drawing/2010/main">
                    <a:solidFill>
                      <a:srgbClr val="FFFFFF"/>
                    </a:solidFill>
                  </a14:hiddenFill>
                </a:ext>
              </a:extLst>
            </p:spPr>
          </p:pic>
          <p:sp>
            <p:nvSpPr>
              <p:cNvPr id="1027" name="ZoneTexte 3">
                <a:extLst>
                  <a:ext uri="{FF2B5EF4-FFF2-40B4-BE49-F238E27FC236}">
                    <a16:creationId xmlns:a16="http://schemas.microsoft.com/office/drawing/2014/main" id="{4CC11D80-184D-A147-4187-B7BECEE8F3C1}"/>
                  </a:ext>
                </a:extLst>
              </p:cNvPr>
              <p:cNvSpPr txBox="1"/>
              <p:nvPr/>
            </p:nvSpPr>
            <p:spPr>
              <a:xfrm>
                <a:off x="5644231" y="5965303"/>
                <a:ext cx="1677003" cy="461665"/>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MENAGER Gwladys</a:t>
                </a:r>
                <a:endParaRPr lang="fr-FR" sz="1200">
                  <a:ea typeface="Calibri"/>
                  <a:cs typeface="Calibri"/>
                </a:endParaRPr>
              </a:p>
              <a:p>
                <a:pPr algn="ctr"/>
                <a:r>
                  <a:rPr lang="fr-FR" sz="1200"/>
                  <a:t>g.menager@fiteco.com</a:t>
                </a:r>
                <a:endParaRPr lang="fr-FR" sz="1200">
                  <a:ea typeface="Calibri"/>
                  <a:cs typeface="Calibri"/>
                </a:endParaRPr>
              </a:p>
            </p:txBody>
          </p:sp>
          <p:pic>
            <p:nvPicPr>
              <p:cNvPr id="1042" name="Picture 18" descr="Une image contenant Visage humain, habits, personne, sourire&#10;&#10;Description générée automatiquement">
                <a:extLst>
                  <a:ext uri="{FF2B5EF4-FFF2-40B4-BE49-F238E27FC236}">
                    <a16:creationId xmlns:a16="http://schemas.microsoft.com/office/drawing/2014/main" id="{F61BFD9B-E657-D6D0-76EF-DCE6F4E3645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310177" y="3862417"/>
                <a:ext cx="1348367" cy="2080338"/>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Une image contenant Visage humain, habits, personne, sourire&#10;&#10;Description générée automatiquement">
                <a:extLst>
                  <a:ext uri="{FF2B5EF4-FFF2-40B4-BE49-F238E27FC236}">
                    <a16:creationId xmlns:a16="http://schemas.microsoft.com/office/drawing/2014/main" id="{EEFC0B60-7945-CB78-E062-E9D2BAD2E556}"/>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437123" y="371583"/>
                <a:ext cx="1267683" cy="1918656"/>
              </a:xfrm>
              <a:prstGeom prst="rect">
                <a:avLst/>
              </a:prstGeom>
              <a:noFill/>
              <a:extLst>
                <a:ext uri="{909E8E84-426E-40DD-AFC4-6F175D3DCCD1}">
                  <a14:hiddenFill xmlns:a14="http://schemas.microsoft.com/office/drawing/2010/main">
                    <a:solidFill>
                      <a:srgbClr val="FFFFFF"/>
                    </a:solidFill>
                  </a14:hiddenFill>
                </a:ext>
              </a:extLst>
            </p:spPr>
          </p:pic>
          <p:sp>
            <p:nvSpPr>
              <p:cNvPr id="1029" name="ZoneTexte 11">
                <a:extLst>
                  <a:ext uri="{FF2B5EF4-FFF2-40B4-BE49-F238E27FC236}">
                    <a16:creationId xmlns:a16="http://schemas.microsoft.com/office/drawing/2014/main" id="{9A9BD789-558E-A1C2-9DBD-A51940B408DD}"/>
                  </a:ext>
                </a:extLst>
              </p:cNvPr>
              <p:cNvSpPr txBox="1"/>
              <p:nvPr/>
            </p:nvSpPr>
            <p:spPr>
              <a:xfrm>
                <a:off x="9118088" y="5984274"/>
                <a:ext cx="1582885" cy="471258"/>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TALVARD </a:t>
                </a:r>
                <a:r>
                  <a:rPr lang="fr-FR" sz="1200" err="1"/>
                  <a:t>Hélen</a:t>
                </a:r>
                <a:endParaRPr lang="fr-FR" sz="1200">
                  <a:ea typeface="Calibri"/>
                  <a:cs typeface="Calibri"/>
                </a:endParaRPr>
              </a:p>
              <a:p>
                <a:pPr algn="ctr"/>
                <a:r>
                  <a:rPr lang="fr-FR" sz="1200"/>
                  <a:t>h.talvard@fiteco.com</a:t>
                </a:r>
                <a:endParaRPr lang="fr-FR" sz="1200">
                  <a:ea typeface="Calibri"/>
                  <a:cs typeface="Calibri"/>
                </a:endParaRPr>
              </a:p>
            </p:txBody>
          </p:sp>
          <p:sp>
            <p:nvSpPr>
              <p:cNvPr id="1031" name="ZoneTexte 10">
                <a:extLst>
                  <a:ext uri="{FF2B5EF4-FFF2-40B4-BE49-F238E27FC236}">
                    <a16:creationId xmlns:a16="http://schemas.microsoft.com/office/drawing/2014/main" id="{5F44DEE9-7515-BB76-A077-E75501DC197A}"/>
                  </a:ext>
                </a:extLst>
              </p:cNvPr>
              <p:cNvSpPr txBox="1"/>
              <p:nvPr/>
            </p:nvSpPr>
            <p:spPr>
              <a:xfrm>
                <a:off x="4295130" y="2279789"/>
                <a:ext cx="1621257" cy="461665"/>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TINNIERE Stéphanie</a:t>
                </a:r>
                <a:endParaRPr lang="fr-FR" sz="1200">
                  <a:ea typeface="Calibri"/>
                  <a:cs typeface="Calibri"/>
                </a:endParaRPr>
              </a:p>
              <a:p>
                <a:pPr algn="ctr"/>
                <a:r>
                  <a:rPr lang="fr-FR" sz="1200"/>
                  <a:t>s.tinniere@fiteco.com</a:t>
                </a:r>
                <a:endParaRPr lang="fr-FR" sz="1200">
                  <a:ea typeface="Calibri"/>
                  <a:cs typeface="Calibri"/>
                </a:endParaRPr>
              </a:p>
            </p:txBody>
          </p:sp>
        </p:grpSp>
        <p:pic>
          <p:nvPicPr>
            <p:cNvPr id="1034" name="Picture 10" descr="Une image contenant Visage humain, habits, personne, sourire&#10;&#10;Description générée automatiquement">
              <a:extLst>
                <a:ext uri="{FF2B5EF4-FFF2-40B4-BE49-F238E27FC236}">
                  <a16:creationId xmlns:a16="http://schemas.microsoft.com/office/drawing/2014/main" id="{4EA40D3F-0765-17BC-0ECE-E70B52E7A7C1}"/>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561719" y="26798"/>
              <a:ext cx="1348368" cy="2007230"/>
            </a:xfrm>
            <a:prstGeom prst="rect">
              <a:avLst/>
            </a:prstGeom>
            <a:noFill/>
            <a:extLst>
              <a:ext uri="{909E8E84-426E-40DD-AFC4-6F175D3DCCD1}">
                <a14:hiddenFill xmlns:a14="http://schemas.microsoft.com/office/drawing/2010/main">
                  <a:solidFill>
                    <a:srgbClr val="FFFFFF"/>
                  </a:solidFill>
                </a14:hiddenFill>
              </a:ext>
            </a:extLst>
          </p:spPr>
        </p:pic>
        <p:sp>
          <p:nvSpPr>
            <p:cNvPr id="31" name="ZoneTexte 9">
              <a:extLst>
                <a:ext uri="{FF2B5EF4-FFF2-40B4-BE49-F238E27FC236}">
                  <a16:creationId xmlns:a16="http://schemas.microsoft.com/office/drawing/2014/main" id="{D0BD8F90-3774-19E5-EF1B-AD7B6F156575}"/>
                </a:ext>
              </a:extLst>
            </p:cNvPr>
            <p:cNvSpPr txBox="1"/>
            <p:nvPr/>
          </p:nvSpPr>
          <p:spPr>
            <a:xfrm>
              <a:off x="10382106" y="1988196"/>
              <a:ext cx="1707594" cy="461665"/>
            </a:xfrm>
            <a:prstGeom prst="rect">
              <a:avLst/>
            </a:prstGeom>
            <a:noFill/>
          </p:spPr>
          <p:txBody>
            <a:bodyPr wrap="square" lIns="91440" tIns="45720" rIns="91440" bIns="45720"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a:t>LANGELLIER Céline</a:t>
              </a:r>
              <a:endParaRPr lang="fr-FR" sz="1200">
                <a:cs typeface="Calibri"/>
              </a:endParaRPr>
            </a:p>
            <a:p>
              <a:pPr algn="ctr"/>
              <a:r>
                <a:rPr lang="fr-FR" sz="1200"/>
                <a:t>c.langellier@fiteco.com</a:t>
              </a:r>
              <a:endParaRPr lang="fr-FR" sz="1200">
                <a:cs typeface="Calibri"/>
              </a:endParaRPr>
            </a:p>
          </p:txBody>
        </p:sp>
      </p:grpSp>
      <p:sp>
        <p:nvSpPr>
          <p:cNvPr id="3" name="ZoneTexte 2">
            <a:extLst>
              <a:ext uri="{FF2B5EF4-FFF2-40B4-BE49-F238E27FC236}">
                <a16:creationId xmlns:a16="http://schemas.microsoft.com/office/drawing/2014/main" id="{67AE6ECD-30DF-4294-B59F-1FE5C4AA1BE3}"/>
              </a:ext>
            </a:extLst>
          </p:cNvPr>
          <p:cNvSpPr txBox="1"/>
          <p:nvPr/>
        </p:nvSpPr>
        <p:spPr>
          <a:xfrm>
            <a:off x="-1540889" y="6215929"/>
            <a:ext cx="6096000" cy="461665"/>
          </a:xfrm>
          <a:prstGeom prst="rect">
            <a:avLst/>
          </a:prstGeom>
          <a:noFill/>
        </p:spPr>
        <p:txBody>
          <a:bodyPr wrap="square">
            <a:spAutoFit/>
          </a:bodyPr>
          <a:lstStyle/>
          <a:p>
            <a:pPr algn="ctr"/>
            <a:r>
              <a:rPr lang="fr-FR" sz="1200"/>
              <a:t>MONTEMBAULT Laure</a:t>
            </a:r>
            <a:endParaRPr lang="fr-FR" sz="1200">
              <a:ea typeface="Calibri"/>
              <a:cs typeface="Calibri"/>
            </a:endParaRPr>
          </a:p>
          <a:p>
            <a:pPr algn="ctr"/>
            <a:r>
              <a:rPr lang="fr-FR" sz="1200"/>
              <a:t>l.montaumbault@fiteco.com</a:t>
            </a:r>
            <a:endParaRPr lang="fr-FR" sz="1200">
              <a:ea typeface="Calibri"/>
              <a:cs typeface="Calibri"/>
            </a:endParaRPr>
          </a:p>
        </p:txBody>
      </p:sp>
      <p:pic>
        <p:nvPicPr>
          <p:cNvPr id="4" name="Image 3">
            <a:extLst>
              <a:ext uri="{FF2B5EF4-FFF2-40B4-BE49-F238E27FC236}">
                <a16:creationId xmlns:a16="http://schemas.microsoft.com/office/drawing/2014/main" id="{21C51993-B4CF-0C13-B867-FE2529F51085}"/>
              </a:ext>
            </a:extLst>
          </p:cNvPr>
          <p:cNvPicPr>
            <a:picLocks noChangeAspect="1"/>
          </p:cNvPicPr>
          <p:nvPr/>
        </p:nvPicPr>
        <p:blipFill>
          <a:blip r:embed="rId13">
            <a:extLst>
              <a:ext uri="{BEBA8EAE-BF5A-486C-A8C5-ECC9F3942E4B}">
                <a14:imgProps xmlns:a14="http://schemas.microsoft.com/office/drawing/2010/main">
                  <a14:imgLayer r:embed="rId14">
                    <a14:imgEffect>
                      <a14:backgroundRemoval t="9991" b="99529" l="1697" r="89958">
                        <a14:foregroundMark x1="39180" y1="47785" x2="34088" y2="77380"/>
                        <a14:foregroundMark x1="34088" y1="77380" x2="52475" y2="80302"/>
                        <a14:foregroundMark x1="50495" y1="51178" x2="47525" y2="70688"/>
                        <a14:foregroundMark x1="52051" y1="50141" x2="46535" y2="53440"/>
                        <a14:foregroundMark x1="53041" y1="50141" x2="45545" y2="54100"/>
                        <a14:foregroundMark x1="44130" y1="54100" x2="44130" y2="54100"/>
                        <a14:foregroundMark x1="43564" y1="51838" x2="43564" y2="51838"/>
                        <a14:foregroundMark x1="44130" y1="52498" x2="44130" y2="52498"/>
                        <a14:foregroundMark x1="41160" y1="52592" x2="45686" y2="51838"/>
                        <a14:foregroundMark x1="67468" y1="49199" x2="71287" y2="73987"/>
                        <a14:foregroundMark x1="71287" y1="73987" x2="55728" y2="76532"/>
                        <a14:foregroundMark x1="19378" y1="68049" x2="13154" y2="94722"/>
                        <a14:foregroundMark x1="13154" y1="94722" x2="22489" y2="97361"/>
                        <a14:foregroundMark x1="13437" y1="95664" x2="16124" y2="99529"/>
                        <a14:foregroundMark x1="12588" y1="96513" x2="1697" y2="99434"/>
                        <a14:foregroundMark x1="13437" y1="98398" x2="7779" y2="98021"/>
                        <a14:foregroundMark x1="12023" y1="94345" x2="18246" y2="83129"/>
                        <a14:backgroundMark x1="52723" y1="49950" x2="53041" y2="49859"/>
                        <a14:backgroundMark x1="12588" y1="74552" x2="707" y2="95287"/>
                      </a14:backgroundRemoval>
                    </a14:imgEffect>
                  </a14:imgLayer>
                </a14:imgProps>
              </a:ext>
              <a:ext uri="{28A0092B-C50C-407E-A947-70E740481C1C}">
                <a14:useLocalDpi xmlns:a14="http://schemas.microsoft.com/office/drawing/2010/main" val="0"/>
              </a:ext>
            </a:extLst>
          </a:blip>
          <a:stretch>
            <a:fillRect/>
          </a:stretch>
        </p:blipFill>
        <p:spPr>
          <a:xfrm>
            <a:off x="868641" y="4232384"/>
            <a:ext cx="1276940" cy="1916314"/>
          </a:xfrm>
          <a:prstGeom prst="rect">
            <a:avLst/>
          </a:prstGeom>
        </p:spPr>
      </p:pic>
      <p:pic>
        <p:nvPicPr>
          <p:cNvPr id="5" name="Image 4" descr="Une image contenant Visage humain, personne, habits, sourire&#10;&#10;Le contenu généré par l’IA peut être incorrect.">
            <a:extLst>
              <a:ext uri="{FF2B5EF4-FFF2-40B4-BE49-F238E27FC236}">
                <a16:creationId xmlns:a16="http://schemas.microsoft.com/office/drawing/2014/main" id="{79BACB99-5992-B453-BBB9-FB0B56A646D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67060" y="914658"/>
            <a:ext cx="1252934" cy="1879402"/>
          </a:xfrm>
          <a:prstGeom prst="rect">
            <a:avLst/>
          </a:prstGeom>
        </p:spPr>
      </p:pic>
    </p:spTree>
    <p:extLst>
      <p:ext uri="{BB962C8B-B14F-4D97-AF65-F5344CB8AC3E}">
        <p14:creationId xmlns:p14="http://schemas.microsoft.com/office/powerpoint/2010/main" val="2175859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61E7A7C4-6E5B-0A17-45BC-19ABB0CBB678}"/>
              </a:ext>
            </a:extLst>
          </p:cNvPr>
          <p:cNvSpPr txBox="1"/>
          <p:nvPr/>
        </p:nvSpPr>
        <p:spPr>
          <a:xfrm>
            <a:off x="607541" y="2332860"/>
            <a:ext cx="5029423" cy="553998"/>
          </a:xfrm>
          <a:prstGeom prst="rect">
            <a:avLst/>
          </a:prstGeom>
          <a:noFill/>
        </p:spPr>
        <p:txBody>
          <a:bodyPr wrap="square" lIns="91440" tIns="45720" rIns="91440" bIns="45720" anchor="t">
            <a:spAutoFit/>
          </a:bodyPr>
          <a:lstStyle/>
          <a:p>
            <a:pPr marL="285750" indent="-285750">
              <a:buFont typeface="Arial"/>
              <a:buChar char="•"/>
            </a:pPr>
            <a:r>
              <a:rPr lang="fr-FR" sz="1500" b="1">
                <a:solidFill>
                  <a:srgbClr val="E4003A"/>
                </a:solidFill>
                <a:latin typeface="Montserrat"/>
              </a:rPr>
              <a:t>Actualité :  Paie</a:t>
            </a:r>
            <a:endParaRPr lang="fr-FR" sz="1500" b="1" i="0">
              <a:solidFill>
                <a:srgbClr val="E4003A"/>
              </a:solidFill>
              <a:effectLst/>
              <a:latin typeface="Montserrat" pitchFamily="2" charset="0"/>
            </a:endParaRPr>
          </a:p>
          <a:p>
            <a:endParaRPr lang="fr-FR" sz="1500" i="0">
              <a:solidFill>
                <a:srgbClr val="5D152C"/>
              </a:solidFill>
              <a:effectLst/>
              <a:highlight>
                <a:srgbClr val="FFFF00"/>
              </a:highlight>
              <a:latin typeface="Montserrat Light" panose="00000400000000000000" pitchFamily="2" charset="0"/>
            </a:endParaRPr>
          </a:p>
        </p:txBody>
      </p:sp>
      <p:sp>
        <p:nvSpPr>
          <p:cNvPr id="2" name="ZoneTexte 1">
            <a:extLst>
              <a:ext uri="{FF2B5EF4-FFF2-40B4-BE49-F238E27FC236}">
                <a16:creationId xmlns:a16="http://schemas.microsoft.com/office/drawing/2014/main" id="{D32536C7-061D-D3E6-5C23-B820AF2948BE}"/>
              </a:ext>
            </a:extLst>
          </p:cNvPr>
          <p:cNvSpPr txBox="1"/>
          <p:nvPr/>
        </p:nvSpPr>
        <p:spPr>
          <a:xfrm>
            <a:off x="607541" y="3292875"/>
            <a:ext cx="5029423" cy="553998"/>
          </a:xfrm>
          <a:prstGeom prst="rect">
            <a:avLst/>
          </a:prstGeom>
          <a:noFill/>
        </p:spPr>
        <p:txBody>
          <a:bodyPr wrap="square" lIns="91440" tIns="45720" rIns="91440" bIns="45720" anchor="t">
            <a:spAutoFit/>
          </a:bodyPr>
          <a:lstStyle/>
          <a:p>
            <a:pPr marL="285750" indent="-285750">
              <a:buFont typeface="Arial"/>
              <a:buChar char="•"/>
            </a:pPr>
            <a:r>
              <a:rPr lang="fr-FR" sz="1500" b="1">
                <a:solidFill>
                  <a:srgbClr val="E4003A"/>
                </a:solidFill>
                <a:latin typeface="Montserrat"/>
              </a:rPr>
              <a:t>Actualité : Droit social</a:t>
            </a:r>
            <a:endParaRPr lang="fr-FR" sz="1500" b="1" i="0">
              <a:solidFill>
                <a:srgbClr val="E4003A"/>
              </a:solidFill>
              <a:effectLst/>
              <a:latin typeface="Montserrat" pitchFamily="2" charset="0"/>
            </a:endParaRPr>
          </a:p>
          <a:p>
            <a:endParaRPr lang="fr-FR" sz="1500" i="0">
              <a:solidFill>
                <a:srgbClr val="5D152C"/>
              </a:solidFill>
              <a:effectLst/>
              <a:highlight>
                <a:srgbClr val="FFFF00"/>
              </a:highlight>
              <a:latin typeface="Montserrat Light" panose="00000400000000000000" pitchFamily="2" charset="0"/>
            </a:endParaRPr>
          </a:p>
        </p:txBody>
      </p:sp>
      <p:sp>
        <p:nvSpPr>
          <p:cNvPr id="3" name="ZoneTexte 1">
            <a:extLst>
              <a:ext uri="{FF2B5EF4-FFF2-40B4-BE49-F238E27FC236}">
                <a16:creationId xmlns:a16="http://schemas.microsoft.com/office/drawing/2014/main" id="{25C690DB-4D2A-DE33-9CD5-81E746141971}"/>
              </a:ext>
            </a:extLst>
          </p:cNvPr>
          <p:cNvSpPr txBox="1"/>
          <p:nvPr/>
        </p:nvSpPr>
        <p:spPr>
          <a:xfrm>
            <a:off x="607541" y="4250021"/>
            <a:ext cx="5029423" cy="553998"/>
          </a:xfrm>
          <a:prstGeom prst="rect">
            <a:avLst/>
          </a:prstGeom>
          <a:noFill/>
        </p:spPr>
        <p:txBody>
          <a:bodyPr wrap="square" lIns="91440" tIns="45720" rIns="91440" bIns="45720" anchor="t">
            <a:spAutoFit/>
          </a:bodyPr>
          <a:lstStyle/>
          <a:p>
            <a:pPr marL="285750" indent="-285750">
              <a:buFont typeface="Arial"/>
              <a:buChar char="•"/>
            </a:pPr>
            <a:r>
              <a:rPr lang="fr-FR" sz="1500" b="1">
                <a:solidFill>
                  <a:srgbClr val="E4003A"/>
                </a:solidFill>
                <a:latin typeface="Montserrat"/>
              </a:rPr>
              <a:t>Actualité : Jurisprudence</a:t>
            </a:r>
            <a:endParaRPr lang="fr-FR" sz="1500" b="1" i="0">
              <a:solidFill>
                <a:srgbClr val="E4003A"/>
              </a:solidFill>
              <a:effectLst/>
              <a:latin typeface="Montserrat" pitchFamily="2" charset="0"/>
            </a:endParaRPr>
          </a:p>
          <a:p>
            <a:endParaRPr lang="fr-FR" sz="1500" i="0">
              <a:solidFill>
                <a:srgbClr val="5D152C"/>
              </a:solidFill>
              <a:effectLst/>
              <a:highlight>
                <a:srgbClr val="FFFF00"/>
              </a:highlight>
              <a:latin typeface="Montserrat Light" panose="00000400000000000000" pitchFamily="2" charset="0"/>
            </a:endParaRPr>
          </a:p>
        </p:txBody>
      </p:sp>
    </p:spTree>
    <p:extLst>
      <p:ext uri="{BB962C8B-B14F-4D97-AF65-F5344CB8AC3E}">
        <p14:creationId xmlns:p14="http://schemas.microsoft.com/office/powerpoint/2010/main" val="10903355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12956C9C-2954-0C8B-F9F2-2AD5969CF2EF}"/>
              </a:ext>
            </a:extLst>
          </p:cNvPr>
          <p:cNvSpPr txBox="1"/>
          <p:nvPr/>
        </p:nvSpPr>
        <p:spPr>
          <a:xfrm>
            <a:off x="416180" y="1598664"/>
            <a:ext cx="3806640" cy="1477328"/>
          </a:xfrm>
          <a:prstGeom prst="rect">
            <a:avLst/>
          </a:prstGeom>
          <a:noFill/>
        </p:spPr>
        <p:txBody>
          <a:bodyPr wrap="square" lIns="91440" tIns="45720" rIns="91440" bIns="45720" rtlCol="0" anchor="t">
            <a:spAutoFit/>
          </a:bodyPr>
          <a:lstStyle/>
          <a:p>
            <a:r>
              <a:rPr lang="fr-FR" sz="4500" b="1">
                <a:solidFill>
                  <a:schemeClr val="bg1"/>
                </a:solidFill>
                <a:latin typeface="Montserrat Black"/>
              </a:rPr>
              <a:t>Actualité paie</a:t>
            </a:r>
            <a:endParaRPr lang="fr-FR" sz="4500" b="1">
              <a:solidFill>
                <a:schemeClr val="bg1"/>
              </a:solidFill>
              <a:latin typeface="Montserrat Black" panose="00000A00000000000000" pitchFamily="2" charset="0"/>
            </a:endParaRPr>
          </a:p>
        </p:txBody>
      </p:sp>
      <p:sp>
        <p:nvSpPr>
          <p:cNvPr id="3" name="ZoneTexte 2">
            <a:extLst>
              <a:ext uri="{FF2B5EF4-FFF2-40B4-BE49-F238E27FC236}">
                <a16:creationId xmlns:a16="http://schemas.microsoft.com/office/drawing/2014/main" id="{4F994D77-6E5E-309F-15EF-338C4E79B66D}"/>
              </a:ext>
            </a:extLst>
          </p:cNvPr>
          <p:cNvSpPr txBox="1"/>
          <p:nvPr/>
        </p:nvSpPr>
        <p:spPr>
          <a:xfrm>
            <a:off x="416180" y="3516050"/>
            <a:ext cx="6961165" cy="553998"/>
          </a:xfrm>
          <a:prstGeom prst="rect">
            <a:avLst/>
          </a:prstGeom>
          <a:noFill/>
        </p:spPr>
        <p:txBody>
          <a:bodyPr wrap="square" lIns="91440" tIns="45720" rIns="91440" bIns="45720" anchor="t">
            <a:spAutoFit/>
          </a:bodyPr>
          <a:lstStyle/>
          <a:p>
            <a:r>
              <a:rPr lang="fr-FR" sz="3000" b="1">
                <a:solidFill>
                  <a:srgbClr val="E4003A"/>
                </a:solidFill>
                <a:latin typeface="Montserrat Bold"/>
              </a:rPr>
              <a:t>1er semestre 2026 </a:t>
            </a:r>
          </a:p>
        </p:txBody>
      </p:sp>
    </p:spTree>
    <p:extLst>
      <p:ext uri="{BB962C8B-B14F-4D97-AF65-F5344CB8AC3E}">
        <p14:creationId xmlns:p14="http://schemas.microsoft.com/office/powerpoint/2010/main" val="3450440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ZoneTexte 7">
            <a:extLst>
              <a:ext uri="{FF2B5EF4-FFF2-40B4-BE49-F238E27FC236}">
                <a16:creationId xmlns:a16="http://schemas.microsoft.com/office/drawing/2014/main" id="{4118AE41-BF28-0851-29ED-1E17442CD198}"/>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err="1">
                <a:solidFill>
                  <a:srgbClr val="5E152C"/>
                </a:solidFill>
                <a:latin typeface="Montserrat Light"/>
              </a:rPr>
              <a:t>ActualitÉ</a:t>
            </a:r>
            <a:r>
              <a:rPr lang="fr-FR" sz="3500" cap="all">
                <a:solidFill>
                  <a:srgbClr val="5E152C"/>
                </a:solidFill>
                <a:latin typeface="Montserrat Light"/>
              </a:rPr>
              <a:t> PAIE</a:t>
            </a:r>
            <a:endParaRPr lang="fr-FR" sz="3500" b="1" cap="all">
              <a:solidFill>
                <a:srgbClr val="5E152C"/>
              </a:solidFill>
              <a:latin typeface="Montserrat Black" panose="00000A00000000000000" pitchFamily="2" charset="0"/>
            </a:endParaRPr>
          </a:p>
        </p:txBody>
      </p:sp>
      <p:sp>
        <p:nvSpPr>
          <p:cNvPr id="5" name="ZoneTexte 4">
            <a:extLst>
              <a:ext uri="{FF2B5EF4-FFF2-40B4-BE49-F238E27FC236}">
                <a16:creationId xmlns:a16="http://schemas.microsoft.com/office/drawing/2014/main" id="{90BC446B-146F-F675-18E0-69E1AC736CE9}"/>
              </a:ext>
            </a:extLst>
          </p:cNvPr>
          <p:cNvSpPr txBox="1"/>
          <p:nvPr/>
        </p:nvSpPr>
        <p:spPr>
          <a:xfrm>
            <a:off x="568788" y="2830817"/>
            <a:ext cx="8151627" cy="35702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fontAlgn="base"/>
            <a:r>
              <a:rPr lang="fr-FR" sz="1600" b="1">
                <a:solidFill>
                  <a:srgbClr val="E4003A"/>
                </a:solidFill>
                <a:latin typeface="Montserrat Light"/>
                <a:ea typeface="+mn-lt"/>
                <a:cs typeface="+mn-lt"/>
              </a:rPr>
              <a:t>1er janvier 2026 : </a:t>
            </a:r>
          </a:p>
          <a:p>
            <a:pPr fontAlgn="base"/>
            <a:r>
              <a:rPr lang="fr-FR" sz="1600">
                <a:latin typeface="Montserrat Light"/>
              </a:rPr>
              <a:t>Nouveau plafond mensuel de la sécurité sociale de 4 005,00€</a:t>
            </a:r>
          </a:p>
          <a:p>
            <a:pPr fontAlgn="base"/>
            <a:r>
              <a:rPr lang="fr-FR" sz="1600">
                <a:latin typeface="Montserrat Light"/>
              </a:rPr>
              <a:t>SMIC : 12,02€/h </a:t>
            </a:r>
            <a:r>
              <a:rPr lang="fr-FR" sz="1600">
                <a:latin typeface="Montserrat Light"/>
                <a:sym typeface="Wingdings" panose="05000000000000000000" pitchFamily="2" charset="2"/>
              </a:rPr>
              <a:t> </a:t>
            </a:r>
            <a:r>
              <a:rPr lang="fr-FR" sz="1600">
                <a:latin typeface="Montserrat Light"/>
              </a:rPr>
              <a:t> Mensuel : 1 823,03€</a:t>
            </a:r>
          </a:p>
          <a:p>
            <a:pPr fontAlgn="base"/>
            <a:r>
              <a:rPr lang="en-US" sz="1600">
                <a:latin typeface="Montserrat Light"/>
              </a:rPr>
              <a:t>minimum Garanti : 4,25 €.</a:t>
            </a:r>
          </a:p>
          <a:p>
            <a:pPr fontAlgn="base"/>
            <a:endParaRPr lang="fr-FR" sz="1600">
              <a:latin typeface="Montserrat Light"/>
            </a:endParaRPr>
          </a:p>
          <a:p>
            <a:pPr fontAlgn="base"/>
            <a:endParaRPr lang="fr-FR" sz="1600">
              <a:latin typeface="Montserrat Light"/>
            </a:endParaRPr>
          </a:p>
          <a:p>
            <a:pPr fontAlgn="base"/>
            <a:endParaRPr lang="en-US" sz="1600">
              <a:latin typeface="Montserrat Light"/>
            </a:endParaRPr>
          </a:p>
          <a:p>
            <a:endParaRPr lang="en-US" sz="1600">
              <a:solidFill>
                <a:srgbClr val="E4003A"/>
              </a:solidFill>
              <a:latin typeface="Montserrat Light"/>
              <a:ea typeface="+mn-lt"/>
              <a:cs typeface="+mn-lt"/>
            </a:endParaRPr>
          </a:p>
          <a:p>
            <a:endParaRPr lang="fr-FR" sz="1600" b="1">
              <a:solidFill>
                <a:srgbClr val="E4003A"/>
              </a:solidFill>
              <a:latin typeface="Montserrat Light"/>
              <a:ea typeface="+mn-lt"/>
              <a:cs typeface="+mn-lt"/>
            </a:endParaRPr>
          </a:p>
          <a:p>
            <a:r>
              <a:rPr lang="fr-FR" sz="1600" b="1">
                <a:solidFill>
                  <a:srgbClr val="E4003A"/>
                </a:solidFill>
                <a:latin typeface="Montserrat Light"/>
                <a:ea typeface="+mn-lt"/>
                <a:cs typeface="+mn-lt"/>
              </a:rPr>
              <a:t>1er juin 2026 : </a:t>
            </a:r>
            <a:endParaRPr lang="fr-FR" sz="1600">
              <a:solidFill>
                <a:srgbClr val="E4003A"/>
              </a:solidFill>
              <a:latin typeface="Montserrat Light"/>
              <a:ea typeface="+mn-lt"/>
              <a:cs typeface="+mn-lt"/>
            </a:endParaRPr>
          </a:p>
          <a:p>
            <a:r>
              <a:rPr lang="en-US" sz="1600" err="1">
                <a:latin typeface="Montserrat Light"/>
                <a:ea typeface="+mn-lt"/>
                <a:cs typeface="+mn-lt"/>
              </a:rPr>
              <a:t>Revalorisation</a:t>
            </a:r>
            <a:r>
              <a:rPr lang="en-US" sz="1600">
                <a:latin typeface="Montserrat Light"/>
                <a:ea typeface="+mn-lt"/>
                <a:cs typeface="+mn-lt"/>
              </a:rPr>
              <a:t> du SMIC </a:t>
            </a:r>
            <a:r>
              <a:rPr lang="en-US" sz="1600">
                <a:latin typeface="Montserrat Light"/>
              </a:rPr>
              <a:t>(+2.41%) soit 12.31€/h </a:t>
            </a:r>
            <a:r>
              <a:rPr lang="en-US" sz="1600">
                <a:latin typeface="Montserrat Light"/>
                <a:sym typeface="Wingdings" panose="05000000000000000000" pitchFamily="2" charset="2"/>
              </a:rPr>
              <a:t> </a:t>
            </a:r>
            <a:r>
              <a:rPr lang="en-US" sz="1600" err="1">
                <a:latin typeface="Montserrat Light"/>
                <a:sym typeface="Wingdings" panose="05000000000000000000" pitchFamily="2" charset="2"/>
              </a:rPr>
              <a:t>mensuel</a:t>
            </a:r>
            <a:r>
              <a:rPr lang="en-US" sz="1600">
                <a:latin typeface="Montserrat Light"/>
                <a:sym typeface="Wingdings" panose="05000000000000000000" pitchFamily="2" charset="2"/>
              </a:rPr>
              <a:t> </a:t>
            </a:r>
            <a:r>
              <a:rPr lang="en-US" sz="1600">
                <a:latin typeface="Montserrat Light"/>
              </a:rPr>
              <a:t>1 867,02€ </a:t>
            </a:r>
          </a:p>
          <a:p>
            <a:r>
              <a:rPr lang="en-US" sz="1600">
                <a:latin typeface="Montserrat Light"/>
              </a:rPr>
              <a:t>minimum Garanti : 4,35 €.</a:t>
            </a:r>
          </a:p>
          <a:p>
            <a:pPr>
              <a:buFont typeface=""/>
              <a:buChar char="•"/>
            </a:pPr>
            <a:endParaRPr lang="en-US" sz="1600">
              <a:latin typeface="Montserrat" panose="00000500000000000000" pitchFamily="2" charset="0"/>
              <a:ea typeface="Calibri" panose="020F0502020204030204"/>
              <a:cs typeface="Calibri" panose="020F0502020204030204"/>
            </a:endParaRPr>
          </a:p>
          <a:p>
            <a:pPr algn="ctr"/>
            <a:endParaRPr lang="fr-FR">
              <a:ea typeface="Calibri" panose="020F0502020204030204"/>
              <a:cs typeface="Calibri" panose="020F0502020204030204"/>
            </a:endParaRPr>
          </a:p>
        </p:txBody>
      </p:sp>
      <p:sp>
        <p:nvSpPr>
          <p:cNvPr id="2" name="Flèche : bas 1">
            <a:extLst>
              <a:ext uri="{FF2B5EF4-FFF2-40B4-BE49-F238E27FC236}">
                <a16:creationId xmlns:a16="http://schemas.microsoft.com/office/drawing/2014/main" id="{4CC02413-2A02-C5F8-317F-22FBD3A51792}"/>
              </a:ext>
            </a:extLst>
          </p:cNvPr>
          <p:cNvSpPr/>
          <p:nvPr/>
        </p:nvSpPr>
        <p:spPr>
          <a:xfrm>
            <a:off x="3889419" y="4175975"/>
            <a:ext cx="283335" cy="785612"/>
          </a:xfrm>
          <a:prstGeom prst="downArrow">
            <a:avLst/>
          </a:prstGeom>
          <a:solidFill>
            <a:srgbClr val="E4003A"/>
          </a:solidFill>
          <a:ln>
            <a:solidFill>
              <a:schemeClr val="bg1"/>
            </a:solidFill>
          </a:ln>
          <a:effectLst>
            <a:outerShdw blurRad="50800" dist="38100" dir="13500000" algn="b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a:ln w="22225">
                <a:solidFill>
                  <a:schemeClr val="accent2"/>
                </a:solidFill>
                <a:prstDash val="solid"/>
              </a:ln>
              <a:solidFill>
                <a:schemeClr val="accent2">
                  <a:lumMod val="40000"/>
                  <a:lumOff val="60000"/>
                </a:schemeClr>
              </a:solidFill>
            </a:endParaRPr>
          </a:p>
        </p:txBody>
      </p:sp>
      <p:sp>
        <p:nvSpPr>
          <p:cNvPr id="6" name="ZoneTexte 5">
            <a:extLst>
              <a:ext uri="{FF2B5EF4-FFF2-40B4-BE49-F238E27FC236}">
                <a16:creationId xmlns:a16="http://schemas.microsoft.com/office/drawing/2014/main" id="{D48B6D90-0D01-5014-2CD6-562253EB4295}"/>
              </a:ext>
            </a:extLst>
          </p:cNvPr>
          <p:cNvSpPr txBox="1"/>
          <p:nvPr/>
        </p:nvSpPr>
        <p:spPr>
          <a:xfrm>
            <a:off x="538737" y="2028650"/>
            <a:ext cx="7102698" cy="369332"/>
          </a:xfrm>
          <a:prstGeom prst="rect">
            <a:avLst/>
          </a:prstGeom>
          <a:noFill/>
        </p:spPr>
        <p:txBody>
          <a:bodyPr wrap="square" lIns="91440" tIns="45720" rIns="91440" bIns="45720" anchor="t">
            <a:spAutoFit/>
          </a:bodyPr>
          <a:lstStyle/>
          <a:p>
            <a:r>
              <a:rPr lang="en-US" b="1" err="1">
                <a:solidFill>
                  <a:srgbClr val="E4003A"/>
                </a:solidFill>
                <a:latin typeface="Montserrat"/>
              </a:rPr>
              <a:t>Revalorisation</a:t>
            </a:r>
            <a:r>
              <a:rPr lang="en-US" b="1">
                <a:solidFill>
                  <a:srgbClr val="E4003A"/>
                </a:solidFill>
                <a:latin typeface="Montserrat"/>
              </a:rPr>
              <a:t> du SMIC au 1er </a:t>
            </a:r>
            <a:r>
              <a:rPr lang="en-US" b="1" err="1">
                <a:solidFill>
                  <a:srgbClr val="E4003A"/>
                </a:solidFill>
                <a:latin typeface="Montserrat"/>
              </a:rPr>
              <a:t>juin</a:t>
            </a:r>
            <a:r>
              <a:rPr lang="en-US" b="1">
                <a:solidFill>
                  <a:srgbClr val="E4003A"/>
                </a:solidFill>
                <a:latin typeface="Montserrat Light"/>
                <a:ea typeface="Calibri Bold"/>
                <a:cs typeface="Calibri Bold"/>
              </a:rPr>
              <a:t> </a:t>
            </a:r>
            <a:r>
              <a:rPr lang="en-US" b="1">
                <a:solidFill>
                  <a:srgbClr val="E4003A"/>
                </a:solidFill>
                <a:latin typeface="Montserrat"/>
              </a:rPr>
              <a:t>2026</a:t>
            </a:r>
          </a:p>
        </p:txBody>
      </p:sp>
    </p:spTree>
    <p:extLst>
      <p:ext uri="{BB962C8B-B14F-4D97-AF65-F5344CB8AC3E}">
        <p14:creationId xmlns:p14="http://schemas.microsoft.com/office/powerpoint/2010/main" val="16110066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FD88C-0720-3692-08D5-7888C89C5964}"/>
            </a:ext>
          </a:extLst>
        </p:cNvPr>
        <p:cNvGrpSpPr/>
        <p:nvPr/>
      </p:nvGrpSpPr>
      <p:grpSpPr>
        <a:xfrm>
          <a:off x="0" y="0"/>
          <a:ext cx="0" cy="0"/>
          <a:chOff x="0" y="0"/>
          <a:chExt cx="0" cy="0"/>
        </a:xfrm>
      </p:grpSpPr>
      <p:sp>
        <p:nvSpPr>
          <p:cNvPr id="4" name="ZoneTexte 7">
            <a:extLst>
              <a:ext uri="{FF2B5EF4-FFF2-40B4-BE49-F238E27FC236}">
                <a16:creationId xmlns:a16="http://schemas.microsoft.com/office/drawing/2014/main" id="{DAEBC82E-CDB8-D5F6-B0C8-0682100F72EB}"/>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err="1">
                <a:solidFill>
                  <a:srgbClr val="5E152C"/>
                </a:solidFill>
                <a:latin typeface="Montserrat Light"/>
              </a:rPr>
              <a:t>ActualitÉ</a:t>
            </a:r>
            <a:r>
              <a:rPr lang="fr-FR" sz="3500" cap="all">
                <a:solidFill>
                  <a:srgbClr val="5E152C"/>
                </a:solidFill>
                <a:latin typeface="Montserrat Light"/>
              </a:rPr>
              <a:t> PAIE</a:t>
            </a:r>
            <a:endParaRPr lang="fr-FR" sz="3500" b="1" cap="all">
              <a:solidFill>
                <a:srgbClr val="5E152C"/>
              </a:solidFill>
              <a:latin typeface="Montserrat Black" panose="00000A00000000000000" pitchFamily="2" charset="0"/>
            </a:endParaRPr>
          </a:p>
        </p:txBody>
      </p:sp>
      <p:sp>
        <p:nvSpPr>
          <p:cNvPr id="5" name="ZoneTexte 4">
            <a:extLst>
              <a:ext uri="{FF2B5EF4-FFF2-40B4-BE49-F238E27FC236}">
                <a16:creationId xmlns:a16="http://schemas.microsoft.com/office/drawing/2014/main" id="{0D113E80-54F9-85D1-0F93-ACB53E17AA61}"/>
              </a:ext>
            </a:extLst>
          </p:cNvPr>
          <p:cNvSpPr txBox="1"/>
          <p:nvPr/>
        </p:nvSpPr>
        <p:spPr>
          <a:xfrm>
            <a:off x="538737" y="1808202"/>
            <a:ext cx="9232941"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rgbClr val="E4003A"/>
                </a:solidFill>
                <a:latin typeface="Montserrat"/>
              </a:rPr>
              <a:t>Aide </a:t>
            </a:r>
            <a:r>
              <a:rPr lang="en-US" b="1" err="1">
                <a:solidFill>
                  <a:srgbClr val="E4003A"/>
                </a:solidFill>
                <a:latin typeface="Montserrat"/>
              </a:rPr>
              <a:t>exceptionnelle</a:t>
            </a:r>
            <a:r>
              <a:rPr lang="en-US" b="1">
                <a:solidFill>
                  <a:srgbClr val="E4003A"/>
                </a:solidFill>
                <a:latin typeface="Montserrat"/>
              </a:rPr>
              <a:t> à</a:t>
            </a:r>
            <a:r>
              <a:rPr lang="en-US" sz="1600" b="1">
                <a:solidFill>
                  <a:srgbClr val="68BBB4"/>
                </a:solidFill>
                <a:latin typeface="Montserrat Light"/>
                <a:ea typeface="Calibri Bold"/>
                <a:cs typeface="Calibri Bold"/>
              </a:rPr>
              <a:t> </a:t>
            </a:r>
            <a:r>
              <a:rPr lang="en-US" b="1" err="1">
                <a:solidFill>
                  <a:srgbClr val="E4003A"/>
                </a:solidFill>
                <a:latin typeface="Montserrat"/>
              </a:rPr>
              <a:t>l'apprentissage</a:t>
            </a:r>
            <a:r>
              <a:rPr lang="en-US" sz="1600" b="1">
                <a:solidFill>
                  <a:srgbClr val="68BBB4"/>
                </a:solidFill>
                <a:latin typeface="Montserrat Light"/>
                <a:ea typeface="Calibri Bold"/>
                <a:cs typeface="Calibri Bold"/>
              </a:rPr>
              <a:t> </a:t>
            </a:r>
          </a:p>
          <a:p>
            <a:endParaRPr lang="en-US" sz="1600">
              <a:highlight>
                <a:srgbClr val="FFFFFF"/>
              </a:highlight>
              <a:latin typeface="Montserrat"/>
            </a:endParaRPr>
          </a:p>
          <a:p>
            <a:r>
              <a:rPr lang="en-US" sz="1600">
                <a:solidFill>
                  <a:srgbClr val="3A3A3A"/>
                </a:solidFill>
                <a:highlight>
                  <a:srgbClr val="FFFFFF"/>
                </a:highlight>
                <a:latin typeface="Montserrat Light"/>
                <a:ea typeface="+mn-lt"/>
                <a:cs typeface="+mn-lt"/>
              </a:rPr>
              <a:t>Deux types </a:t>
            </a:r>
            <a:r>
              <a:rPr lang="en-US" sz="1600" err="1">
                <a:solidFill>
                  <a:srgbClr val="3A3A3A"/>
                </a:solidFill>
                <a:highlight>
                  <a:srgbClr val="FFFFFF"/>
                </a:highlight>
                <a:latin typeface="Montserrat Light"/>
                <a:ea typeface="+mn-lt"/>
                <a:cs typeface="+mn-lt"/>
              </a:rPr>
              <a:t>d’aides</a:t>
            </a:r>
            <a:r>
              <a:rPr lang="en-US" sz="1600">
                <a:solidFill>
                  <a:srgbClr val="3A3A3A"/>
                </a:solidFill>
                <a:highlight>
                  <a:srgbClr val="FFFFFF"/>
                </a:highlight>
                <a:latin typeface="Montserrat Light"/>
                <a:ea typeface="+mn-lt"/>
                <a:cs typeface="+mn-lt"/>
              </a:rPr>
              <a:t> : </a:t>
            </a:r>
            <a:r>
              <a:rPr lang="en-US" sz="1600" u="sng" err="1">
                <a:solidFill>
                  <a:srgbClr val="3A3A3A"/>
                </a:solidFill>
                <a:highlight>
                  <a:srgbClr val="FFFFFF"/>
                </a:highlight>
                <a:latin typeface="Montserrat Light"/>
                <a:ea typeface="+mn-lt"/>
                <a:cs typeface="+mn-lt"/>
              </a:rPr>
              <a:t>l’aide</a:t>
            </a:r>
            <a:r>
              <a:rPr lang="en-US" sz="1600" u="sng">
                <a:solidFill>
                  <a:srgbClr val="3A3A3A"/>
                </a:solidFill>
                <a:highlight>
                  <a:srgbClr val="FFFFFF"/>
                </a:highlight>
                <a:latin typeface="Montserrat Light"/>
                <a:ea typeface="+mn-lt"/>
                <a:cs typeface="+mn-lt"/>
              </a:rPr>
              <a:t> unique </a:t>
            </a:r>
            <a:r>
              <a:rPr lang="en-US" sz="1600">
                <a:solidFill>
                  <a:srgbClr val="3A3A3A"/>
                </a:solidFill>
                <a:highlight>
                  <a:srgbClr val="FFFFFF"/>
                </a:highlight>
                <a:latin typeface="Montserrat Light"/>
                <a:ea typeface="+mn-lt"/>
                <a:cs typeface="+mn-lt"/>
              </a:rPr>
              <a:t>et </a:t>
            </a:r>
            <a:r>
              <a:rPr lang="en-US" sz="1600" u="sng" err="1">
                <a:solidFill>
                  <a:srgbClr val="3A3A3A"/>
                </a:solidFill>
                <a:highlight>
                  <a:srgbClr val="FFFFFF"/>
                </a:highlight>
                <a:latin typeface="Montserrat Light"/>
                <a:ea typeface="+mn-lt"/>
                <a:cs typeface="+mn-lt"/>
              </a:rPr>
              <a:t>l’aide</a:t>
            </a:r>
            <a:r>
              <a:rPr lang="en-US" sz="1600" u="sng">
                <a:solidFill>
                  <a:srgbClr val="3A3A3A"/>
                </a:solidFill>
                <a:highlight>
                  <a:srgbClr val="FFFFFF"/>
                </a:highlight>
                <a:latin typeface="Montserrat Light"/>
                <a:ea typeface="+mn-lt"/>
                <a:cs typeface="+mn-lt"/>
              </a:rPr>
              <a:t> </a:t>
            </a:r>
            <a:r>
              <a:rPr lang="en-US" sz="1600" u="sng" err="1">
                <a:solidFill>
                  <a:srgbClr val="3A3A3A"/>
                </a:solidFill>
                <a:highlight>
                  <a:srgbClr val="FFFFFF"/>
                </a:highlight>
                <a:latin typeface="Montserrat Light"/>
                <a:ea typeface="+mn-lt"/>
                <a:cs typeface="+mn-lt"/>
              </a:rPr>
              <a:t>exceptionnelle</a:t>
            </a:r>
            <a:r>
              <a:rPr lang="en-US" sz="1600" u="sng">
                <a:solidFill>
                  <a:srgbClr val="3A3A3A"/>
                </a:solidFill>
                <a:highlight>
                  <a:srgbClr val="FFFFFF"/>
                </a:highlight>
                <a:latin typeface="Montserrat Light"/>
                <a:ea typeface="+mn-lt"/>
                <a:cs typeface="+mn-lt"/>
              </a:rPr>
              <a:t>.</a:t>
            </a:r>
            <a:endParaRPr lang="en-US" sz="1600" u="sng">
              <a:solidFill>
                <a:srgbClr val="000000"/>
              </a:solidFill>
              <a:latin typeface="Montserrat Light"/>
            </a:endParaRPr>
          </a:p>
          <a:p>
            <a:endParaRPr lang="en-US" sz="1600" u="sng">
              <a:solidFill>
                <a:srgbClr val="3A3A3A"/>
              </a:solidFill>
              <a:highlight>
                <a:srgbClr val="FFFFFF"/>
              </a:highlight>
              <a:latin typeface="Montserrat Light"/>
              <a:ea typeface="+mn-lt"/>
              <a:cs typeface="+mn-lt"/>
            </a:endParaRPr>
          </a:p>
          <a:p>
            <a:r>
              <a:rPr lang="en-US" sz="1600">
                <a:solidFill>
                  <a:srgbClr val="3A3A3A"/>
                </a:solidFill>
                <a:highlight>
                  <a:srgbClr val="FFFFFF"/>
                </a:highlight>
                <a:latin typeface="Montserrat Light"/>
                <a:ea typeface="+mn-lt"/>
                <a:cs typeface="+mn-lt"/>
              </a:rPr>
              <a:t>- </a:t>
            </a:r>
            <a:r>
              <a:rPr lang="en-US" sz="1600" b="1" err="1">
                <a:solidFill>
                  <a:srgbClr val="3A3A3A"/>
                </a:solidFill>
                <a:highlight>
                  <a:srgbClr val="FFFFFF"/>
                </a:highlight>
                <a:latin typeface="Montserrat Light"/>
                <a:ea typeface="+mn-lt"/>
                <a:cs typeface="+mn-lt"/>
              </a:rPr>
              <a:t>contrat</a:t>
            </a:r>
            <a:r>
              <a:rPr lang="en-US" sz="1600" b="1">
                <a:solidFill>
                  <a:srgbClr val="3A3A3A"/>
                </a:solidFill>
                <a:highlight>
                  <a:srgbClr val="FFFFFF"/>
                </a:highlight>
                <a:latin typeface="Montserrat Light"/>
                <a:ea typeface="+mn-lt"/>
                <a:cs typeface="+mn-lt"/>
              </a:rPr>
              <a:t> </a:t>
            </a:r>
            <a:r>
              <a:rPr lang="en-US" sz="1600" b="1" err="1">
                <a:solidFill>
                  <a:srgbClr val="3A3A3A"/>
                </a:solidFill>
                <a:highlight>
                  <a:srgbClr val="FFFFFF"/>
                </a:highlight>
                <a:latin typeface="Montserrat Light"/>
                <a:ea typeface="+mn-lt"/>
                <a:cs typeface="+mn-lt"/>
              </a:rPr>
              <a:t>d'apprentissage</a:t>
            </a:r>
            <a:r>
              <a:rPr lang="en-US" sz="1600">
                <a:solidFill>
                  <a:srgbClr val="3A3A3A"/>
                </a:solidFill>
                <a:highlight>
                  <a:srgbClr val="FFFFFF"/>
                </a:highlight>
                <a:latin typeface="Montserrat Light"/>
                <a:ea typeface="+mn-lt"/>
                <a:cs typeface="+mn-lt"/>
              </a:rPr>
              <a:t>.</a:t>
            </a:r>
            <a:endParaRPr lang="en-US" sz="1600">
              <a:solidFill>
                <a:srgbClr val="000000"/>
              </a:solidFill>
              <a:latin typeface="Montserrat Light"/>
              <a:ea typeface="Calibri" panose="020F0502020204030204"/>
              <a:cs typeface="Calibri" panose="020F0502020204030204"/>
            </a:endParaRPr>
          </a:p>
          <a:p>
            <a:pPr>
              <a:buFont typeface="Calibri"/>
              <a:buChar char="-"/>
            </a:pPr>
            <a:r>
              <a:rPr lang="en-US" sz="1600">
                <a:solidFill>
                  <a:srgbClr val="3A3A3A"/>
                </a:solidFill>
                <a:highlight>
                  <a:srgbClr val="FFFFFF"/>
                </a:highlight>
                <a:latin typeface="Montserrat Light"/>
                <a:ea typeface="+mn-lt"/>
                <a:cs typeface="+mn-lt"/>
              </a:rPr>
              <a:t> </a:t>
            </a:r>
            <a:r>
              <a:rPr lang="en-US" sz="1600" err="1">
                <a:solidFill>
                  <a:srgbClr val="3A3A3A"/>
                </a:solidFill>
                <a:highlight>
                  <a:srgbClr val="FFFFFF"/>
                </a:highlight>
                <a:latin typeface="Montserrat Light"/>
                <a:ea typeface="+mn-lt"/>
                <a:cs typeface="+mn-lt"/>
              </a:rPr>
              <a:t>conclu</a:t>
            </a:r>
            <a:r>
              <a:rPr lang="en-US" sz="1600">
                <a:solidFill>
                  <a:srgbClr val="3A3A3A"/>
                </a:solidFill>
                <a:highlight>
                  <a:srgbClr val="FFFFFF"/>
                </a:highlight>
                <a:latin typeface="Montserrat Light"/>
                <a:ea typeface="+mn-lt"/>
                <a:cs typeface="+mn-lt"/>
              </a:rPr>
              <a:t> à </a:t>
            </a:r>
            <a:r>
              <a:rPr lang="en-US" sz="1600" err="1">
                <a:solidFill>
                  <a:srgbClr val="3A3A3A"/>
                </a:solidFill>
                <a:highlight>
                  <a:srgbClr val="FFFFFF"/>
                </a:highlight>
                <a:latin typeface="Montserrat Light"/>
                <a:ea typeface="+mn-lt"/>
                <a:cs typeface="+mn-lt"/>
              </a:rPr>
              <a:t>partir</a:t>
            </a:r>
            <a:r>
              <a:rPr lang="en-US" sz="1600">
                <a:solidFill>
                  <a:srgbClr val="3A3A3A"/>
                </a:solidFill>
                <a:highlight>
                  <a:srgbClr val="FFFFFF"/>
                </a:highlight>
                <a:latin typeface="Montserrat Light"/>
                <a:ea typeface="+mn-lt"/>
                <a:cs typeface="+mn-lt"/>
              </a:rPr>
              <a:t> du </a:t>
            </a:r>
            <a:r>
              <a:rPr lang="en-US" sz="1600" b="1">
                <a:solidFill>
                  <a:srgbClr val="3A3A3A"/>
                </a:solidFill>
                <a:highlight>
                  <a:srgbClr val="FFFFFF"/>
                </a:highlight>
                <a:latin typeface="Montserrat Light"/>
                <a:ea typeface="+mn-lt"/>
                <a:cs typeface="+mn-lt"/>
              </a:rPr>
              <a:t>8 mars 2026</a:t>
            </a:r>
            <a:r>
              <a:rPr lang="en-US" sz="1600">
                <a:solidFill>
                  <a:srgbClr val="3A3A3A"/>
                </a:solidFill>
                <a:highlight>
                  <a:srgbClr val="FFFFFF"/>
                </a:highlight>
                <a:latin typeface="Montserrat Light"/>
                <a:ea typeface="+mn-lt"/>
                <a:cs typeface="+mn-lt"/>
              </a:rPr>
              <a:t> et commencer avant le </a:t>
            </a:r>
            <a:r>
              <a:rPr lang="en-US" sz="1600" b="1">
                <a:solidFill>
                  <a:srgbClr val="3A3A3A"/>
                </a:solidFill>
                <a:highlight>
                  <a:srgbClr val="FFFFFF"/>
                </a:highlight>
                <a:latin typeface="Montserrat Light"/>
                <a:ea typeface="+mn-lt"/>
                <a:cs typeface="+mn-lt"/>
              </a:rPr>
              <a:t>1</a:t>
            </a:r>
            <a:r>
              <a:rPr lang="en-US" sz="1600" b="1" baseline="30000">
                <a:solidFill>
                  <a:srgbClr val="3A3A3A"/>
                </a:solidFill>
                <a:highlight>
                  <a:srgbClr val="FFFFFF"/>
                </a:highlight>
                <a:latin typeface="Montserrat Light"/>
                <a:ea typeface="+mn-lt"/>
                <a:cs typeface="+mn-lt"/>
              </a:rPr>
              <a:t>er</a:t>
            </a:r>
            <a:r>
              <a:rPr lang="en-US" sz="1600" b="1">
                <a:solidFill>
                  <a:srgbClr val="3A3A3A"/>
                </a:solidFill>
                <a:highlight>
                  <a:srgbClr val="FFFFFF"/>
                </a:highlight>
                <a:latin typeface="Montserrat Light"/>
                <a:ea typeface="+mn-lt"/>
                <a:cs typeface="+mn-lt"/>
              </a:rPr>
              <a:t> </a:t>
            </a:r>
            <a:r>
              <a:rPr lang="en-US" sz="1600" b="1" err="1">
                <a:solidFill>
                  <a:srgbClr val="3A3A3A"/>
                </a:solidFill>
                <a:highlight>
                  <a:srgbClr val="FFFFFF"/>
                </a:highlight>
                <a:latin typeface="Montserrat Light"/>
                <a:ea typeface="+mn-lt"/>
                <a:cs typeface="+mn-lt"/>
              </a:rPr>
              <a:t>janvier</a:t>
            </a:r>
            <a:r>
              <a:rPr lang="en-US" sz="1600" b="1">
                <a:solidFill>
                  <a:srgbClr val="3A3A3A"/>
                </a:solidFill>
                <a:highlight>
                  <a:srgbClr val="FFFFFF"/>
                </a:highlight>
                <a:latin typeface="Montserrat Light"/>
                <a:ea typeface="+mn-lt"/>
                <a:cs typeface="+mn-lt"/>
              </a:rPr>
              <a:t> 2027</a:t>
            </a:r>
            <a:endParaRPr lang="en-US" sz="1600">
              <a:solidFill>
                <a:srgbClr val="3A3A3A"/>
              </a:solidFill>
              <a:highlight>
                <a:srgbClr val="FFFFFF"/>
              </a:highlight>
              <a:latin typeface="Montserrat Light"/>
              <a:ea typeface="Calibri" panose="020F0502020204030204"/>
              <a:cs typeface="Calibri" panose="020F0502020204030204"/>
            </a:endParaRPr>
          </a:p>
          <a:p>
            <a:endParaRPr lang="en-US" sz="1200">
              <a:solidFill>
                <a:srgbClr val="3A3A3A"/>
              </a:solidFill>
              <a:highlight>
                <a:srgbClr val="FFFFFF"/>
              </a:highlight>
              <a:ea typeface="+mn-lt"/>
              <a:cs typeface="+mn-lt"/>
            </a:endParaRPr>
          </a:p>
          <a:p>
            <a:pPr>
              <a:buFont typeface="Calibri"/>
            </a:pPr>
            <a:endParaRPr lang="en-US" sz="1600">
              <a:latin typeface="Montserrat" panose="00000500000000000000" pitchFamily="2" charset="0"/>
            </a:endParaRPr>
          </a:p>
          <a:p>
            <a:pPr>
              <a:buFont typeface="Calibri"/>
              <a:buChar char="-"/>
            </a:pPr>
            <a:endParaRPr lang="en-US" sz="1600">
              <a:latin typeface="Montserrat"/>
              <a:ea typeface="Calibri" panose="020F0502020204030204"/>
              <a:cs typeface="Calibri" panose="020F0502020204030204"/>
            </a:endParaRPr>
          </a:p>
          <a:p>
            <a:pPr algn="ctr"/>
            <a:endParaRPr lang="fr-FR">
              <a:ea typeface="Calibri" panose="020F0502020204030204"/>
              <a:cs typeface="Calibri" panose="020F0502020204030204"/>
            </a:endParaRPr>
          </a:p>
        </p:txBody>
      </p:sp>
      <p:graphicFrame>
        <p:nvGraphicFramePr>
          <p:cNvPr id="2" name="Tableau 1">
            <a:extLst>
              <a:ext uri="{FF2B5EF4-FFF2-40B4-BE49-F238E27FC236}">
                <a16:creationId xmlns:a16="http://schemas.microsoft.com/office/drawing/2014/main" id="{2A98307D-CFFD-8501-AFF0-3E3D86823670}"/>
              </a:ext>
            </a:extLst>
          </p:cNvPr>
          <p:cNvGraphicFramePr>
            <a:graphicFrameLocks noGrp="1"/>
          </p:cNvGraphicFramePr>
          <p:nvPr>
            <p:extLst>
              <p:ext uri="{D42A27DB-BD31-4B8C-83A1-F6EECF244321}">
                <p14:modId xmlns:p14="http://schemas.microsoft.com/office/powerpoint/2010/main" val="746120160"/>
              </p:ext>
            </p:extLst>
          </p:nvPr>
        </p:nvGraphicFramePr>
        <p:xfrm>
          <a:off x="776220" y="4006826"/>
          <a:ext cx="8115300" cy="1634539"/>
        </p:xfrm>
        <a:graphic>
          <a:graphicData uri="http://schemas.openxmlformats.org/drawingml/2006/table">
            <a:tbl>
              <a:tblPr/>
              <a:tblGrid>
                <a:gridCol w="2705100">
                  <a:extLst>
                    <a:ext uri="{9D8B030D-6E8A-4147-A177-3AD203B41FA5}">
                      <a16:colId xmlns:a16="http://schemas.microsoft.com/office/drawing/2014/main" val="1648343916"/>
                    </a:ext>
                  </a:extLst>
                </a:gridCol>
                <a:gridCol w="2705100">
                  <a:extLst>
                    <a:ext uri="{9D8B030D-6E8A-4147-A177-3AD203B41FA5}">
                      <a16:colId xmlns:a16="http://schemas.microsoft.com/office/drawing/2014/main" val="171923927"/>
                    </a:ext>
                  </a:extLst>
                </a:gridCol>
                <a:gridCol w="2705100">
                  <a:extLst>
                    <a:ext uri="{9D8B030D-6E8A-4147-A177-3AD203B41FA5}">
                      <a16:colId xmlns:a16="http://schemas.microsoft.com/office/drawing/2014/main" val="3402822831"/>
                    </a:ext>
                  </a:extLst>
                </a:gridCol>
              </a:tblGrid>
              <a:tr h="378240">
                <a:tc>
                  <a:txBody>
                    <a:bodyPr/>
                    <a:lstStyle/>
                    <a:p>
                      <a:pPr algn="ctr" fontAlgn="base">
                        <a:lnSpc>
                          <a:spcPts val="1650"/>
                        </a:lnSpc>
                        <a:buNone/>
                      </a:pPr>
                      <a:r>
                        <a:rPr lang="fr-FR" sz="1600" b="1" i="0">
                          <a:solidFill>
                            <a:srgbClr val="FFFFFF"/>
                          </a:solidFill>
                          <a:effectLst/>
                          <a:latin typeface="Montserrat Light"/>
                        </a:rPr>
                        <a:t>Taille entreprise​</a:t>
                      </a:r>
                    </a:p>
                  </a:txBody>
                  <a:tcP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12535" cap="flat" cmpd="sng" algn="ctr">
                      <a:solidFill>
                        <a:srgbClr val="FFFFFF"/>
                      </a:solidFill>
                      <a:prstDash val="solid"/>
                      <a:round/>
                      <a:headEnd type="none" w="med" len="med"/>
                      <a:tailEnd type="none" w="med" len="med"/>
                    </a:lnT>
                    <a:lnB w="37624" cap="flat" cmpd="sng" algn="ctr">
                      <a:solidFill>
                        <a:srgbClr val="FFFFFF"/>
                      </a:solidFill>
                      <a:prstDash val="solid"/>
                      <a:round/>
                      <a:headEnd type="none" w="med" len="med"/>
                      <a:tailEnd type="none" w="med" len="med"/>
                    </a:lnB>
                    <a:solidFill>
                      <a:srgbClr val="5D152C"/>
                    </a:solidFill>
                  </a:tcPr>
                </a:tc>
                <a:tc>
                  <a:txBody>
                    <a:bodyPr/>
                    <a:lstStyle/>
                    <a:p>
                      <a:pPr algn="ctr" fontAlgn="base">
                        <a:lnSpc>
                          <a:spcPts val="1650"/>
                        </a:lnSpc>
                        <a:buNone/>
                      </a:pPr>
                      <a:r>
                        <a:rPr lang="fr-FR" sz="1600" b="1" i="0">
                          <a:solidFill>
                            <a:srgbClr val="FFFFFF"/>
                          </a:solidFill>
                          <a:effectLst/>
                          <a:latin typeface="Montserrat Light"/>
                        </a:rPr>
                        <a:t>Niveau diplôme​</a:t>
                      </a:r>
                    </a:p>
                  </a:txBody>
                  <a:tcP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12535" cap="flat" cmpd="sng" algn="ctr">
                      <a:solidFill>
                        <a:srgbClr val="FFFFFF"/>
                      </a:solidFill>
                      <a:prstDash val="solid"/>
                      <a:round/>
                      <a:headEnd type="none" w="med" len="med"/>
                      <a:tailEnd type="none" w="med" len="med"/>
                    </a:lnT>
                    <a:lnB w="37624" cap="flat" cmpd="sng" algn="ctr">
                      <a:solidFill>
                        <a:srgbClr val="FFFFFF"/>
                      </a:solidFill>
                      <a:prstDash val="solid"/>
                      <a:round/>
                      <a:headEnd type="none" w="med" len="med"/>
                      <a:tailEnd type="none" w="med" len="med"/>
                    </a:lnB>
                    <a:solidFill>
                      <a:srgbClr val="5D152C"/>
                    </a:solidFill>
                  </a:tcPr>
                </a:tc>
                <a:tc>
                  <a:txBody>
                    <a:bodyPr/>
                    <a:lstStyle/>
                    <a:p>
                      <a:pPr algn="ctr" fontAlgn="base">
                        <a:lnSpc>
                          <a:spcPts val="1650"/>
                        </a:lnSpc>
                        <a:buNone/>
                      </a:pPr>
                      <a:r>
                        <a:rPr lang="fr-FR" sz="1600" b="1" i="0">
                          <a:solidFill>
                            <a:srgbClr val="FFFFFF"/>
                          </a:solidFill>
                          <a:effectLst/>
                          <a:latin typeface="Montserrat Light"/>
                        </a:rPr>
                        <a:t>Aide apprentis​</a:t>
                      </a:r>
                    </a:p>
                  </a:txBody>
                  <a:tcP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12535" cap="flat" cmpd="sng" algn="ctr">
                      <a:solidFill>
                        <a:srgbClr val="FFFFFF"/>
                      </a:solidFill>
                      <a:prstDash val="solid"/>
                      <a:round/>
                      <a:headEnd type="none" w="med" len="med"/>
                      <a:tailEnd type="none" w="med" len="med"/>
                    </a:lnT>
                    <a:lnB w="37624" cap="flat" cmpd="sng" algn="ctr">
                      <a:solidFill>
                        <a:srgbClr val="FFFFFF"/>
                      </a:solidFill>
                      <a:prstDash val="solid"/>
                      <a:round/>
                      <a:headEnd type="none" w="med" len="med"/>
                      <a:tailEnd type="none" w="med" len="med"/>
                    </a:lnB>
                    <a:solidFill>
                      <a:srgbClr val="5D152C"/>
                    </a:solidFill>
                  </a:tcPr>
                </a:tc>
                <a:extLst>
                  <a:ext uri="{0D108BD9-81ED-4DB2-BD59-A6C34878D82A}">
                    <a16:rowId xmlns:a16="http://schemas.microsoft.com/office/drawing/2014/main" val="1613792757"/>
                  </a:ext>
                </a:extLst>
              </a:tr>
              <a:tr h="445784">
                <a:tc rowSpan="3">
                  <a:txBody>
                    <a:bodyPr/>
                    <a:lstStyle/>
                    <a:p>
                      <a:pPr algn="ctr" fontAlgn="base">
                        <a:lnSpc>
                          <a:spcPts val="1650"/>
                        </a:lnSpc>
                        <a:buNone/>
                      </a:pPr>
                      <a:r>
                        <a:rPr lang="fr-FR" sz="1600" b="0" i="0">
                          <a:solidFill>
                            <a:srgbClr val="5E152C"/>
                          </a:solidFill>
                          <a:effectLst/>
                          <a:latin typeface="Montserrat Light"/>
                        </a:rPr>
                        <a:t>Moins de 250 salariés</a:t>
                      </a:r>
                      <a:r>
                        <a:rPr lang="fr-FR" sz="1600" b="0" i="0">
                          <a:solidFill>
                            <a:srgbClr val="000000"/>
                          </a:solidFill>
                          <a:effectLst/>
                          <a:latin typeface="Montserrat Light"/>
                        </a:rPr>
                        <a:t>​</a:t>
                      </a:r>
                    </a:p>
                  </a:txBody>
                  <a:tcPr anchor="ct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37624" cap="flat" cmpd="sng" algn="ctr">
                      <a:solidFill>
                        <a:srgbClr val="FFFFFF"/>
                      </a:solidFill>
                      <a:prstDash val="solid"/>
                      <a:round/>
                      <a:headEnd type="none" w="med" len="med"/>
                      <a:tailEnd type="none" w="med" len="med"/>
                    </a:lnT>
                    <a:lnB w="12535" cap="flat" cmpd="sng" algn="ctr">
                      <a:solidFill>
                        <a:srgbClr val="FFFFFF"/>
                      </a:solidFill>
                      <a:prstDash val="solid"/>
                      <a:round/>
                      <a:headEnd type="none" w="med" len="med"/>
                      <a:tailEnd type="none" w="med" len="med"/>
                    </a:lnB>
                    <a:solidFill>
                      <a:srgbClr val="6ABEB8"/>
                    </a:solidFill>
                  </a:tcPr>
                </a:tc>
                <a:tc>
                  <a:txBody>
                    <a:bodyPr/>
                    <a:lstStyle/>
                    <a:p>
                      <a:pPr algn="l" fontAlgn="base">
                        <a:lnSpc>
                          <a:spcPts val="1650"/>
                        </a:lnSpc>
                        <a:buNone/>
                      </a:pPr>
                      <a:r>
                        <a:rPr lang="fr-FR" sz="1600" b="0" i="0">
                          <a:solidFill>
                            <a:srgbClr val="5E152C"/>
                          </a:solidFill>
                          <a:effectLst/>
                          <a:latin typeface="Montserrat Light"/>
                        </a:rPr>
                        <a:t>Jusqu’au niveau BAC</a:t>
                      </a:r>
                      <a:r>
                        <a:rPr lang="fr-FR" sz="1600" b="0" i="0">
                          <a:solidFill>
                            <a:srgbClr val="000000"/>
                          </a:solidFill>
                          <a:effectLst/>
                          <a:latin typeface="Montserrat Light"/>
                        </a:rPr>
                        <a:t>​</a:t>
                      </a:r>
                    </a:p>
                  </a:txBody>
                  <a:tcPr anchor="ct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37624" cap="flat" cmpd="sng" algn="ctr">
                      <a:solidFill>
                        <a:srgbClr val="FFFFFF"/>
                      </a:solidFill>
                      <a:prstDash val="solid"/>
                      <a:round/>
                      <a:headEnd type="none" w="med" len="med"/>
                      <a:tailEnd type="none" w="med" len="med"/>
                    </a:lnT>
                    <a:lnB w="12535" cap="flat" cmpd="sng" algn="ctr">
                      <a:solidFill>
                        <a:srgbClr val="FFFFFF"/>
                      </a:solidFill>
                      <a:prstDash val="solid"/>
                      <a:round/>
                      <a:headEnd type="none" w="med" len="med"/>
                      <a:tailEnd type="none" w="med" len="med"/>
                    </a:lnB>
                    <a:solidFill>
                      <a:srgbClr val="6ABEB8"/>
                    </a:solidFill>
                  </a:tcPr>
                </a:tc>
                <a:tc>
                  <a:txBody>
                    <a:bodyPr/>
                    <a:lstStyle/>
                    <a:p>
                      <a:pPr algn="l" fontAlgn="base">
                        <a:lnSpc>
                          <a:spcPts val="1650"/>
                        </a:lnSpc>
                        <a:buNone/>
                      </a:pPr>
                      <a:r>
                        <a:rPr lang="fr-FR" sz="1600" b="0" i="0">
                          <a:solidFill>
                            <a:srgbClr val="5E152C"/>
                          </a:solidFill>
                          <a:effectLst/>
                          <a:latin typeface="Montserrat Light"/>
                        </a:rPr>
                        <a:t>5 000€</a:t>
                      </a:r>
                      <a:r>
                        <a:rPr lang="fr-FR" sz="1600" b="0" i="0">
                          <a:solidFill>
                            <a:srgbClr val="000000"/>
                          </a:solidFill>
                          <a:effectLst/>
                          <a:latin typeface="Montserrat Light"/>
                        </a:rPr>
                        <a:t>​</a:t>
                      </a:r>
                    </a:p>
                  </a:txBody>
                  <a:tcPr anchor="ct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37624" cap="flat" cmpd="sng" algn="ctr">
                      <a:solidFill>
                        <a:srgbClr val="FFFFFF"/>
                      </a:solidFill>
                      <a:prstDash val="solid"/>
                      <a:round/>
                      <a:headEnd type="none" w="med" len="med"/>
                      <a:tailEnd type="none" w="med" len="med"/>
                    </a:lnT>
                    <a:lnB w="12535" cap="flat" cmpd="sng" algn="ctr">
                      <a:solidFill>
                        <a:srgbClr val="FFFFFF"/>
                      </a:solidFill>
                      <a:prstDash val="solid"/>
                      <a:round/>
                      <a:headEnd type="none" w="med" len="med"/>
                      <a:tailEnd type="none" w="med" len="med"/>
                    </a:lnB>
                    <a:solidFill>
                      <a:srgbClr val="6ABEB8"/>
                    </a:solidFill>
                  </a:tcPr>
                </a:tc>
                <a:extLst>
                  <a:ext uri="{0D108BD9-81ED-4DB2-BD59-A6C34878D82A}">
                    <a16:rowId xmlns:a16="http://schemas.microsoft.com/office/drawing/2014/main" val="2590075971"/>
                  </a:ext>
                </a:extLst>
              </a:tr>
              <a:tr h="432275">
                <a:tc vMerge="1">
                  <a:txBody>
                    <a:bodyPr/>
                    <a:lstStyle/>
                    <a:p>
                      <a:endParaRPr lang="fr-FR"/>
                    </a:p>
                  </a:txBody>
                  <a:tcPr/>
                </a:tc>
                <a:tc>
                  <a:txBody>
                    <a:bodyPr/>
                    <a:lstStyle/>
                    <a:p>
                      <a:pPr algn="l" fontAlgn="base">
                        <a:lnSpc>
                          <a:spcPts val="1650"/>
                        </a:lnSpc>
                        <a:buNone/>
                      </a:pPr>
                      <a:r>
                        <a:rPr lang="fr-FR" sz="1600" b="0" i="0">
                          <a:solidFill>
                            <a:srgbClr val="5E152C"/>
                          </a:solidFill>
                          <a:effectLst/>
                          <a:latin typeface="Montserrat Light"/>
                        </a:rPr>
                        <a:t>BAC +2</a:t>
                      </a:r>
                      <a:r>
                        <a:rPr lang="fr-FR" sz="1600" b="0" i="0">
                          <a:solidFill>
                            <a:srgbClr val="000000"/>
                          </a:solidFill>
                          <a:effectLst/>
                          <a:latin typeface="Montserrat Light"/>
                        </a:rPr>
                        <a:t>​</a:t>
                      </a:r>
                    </a:p>
                  </a:txBody>
                  <a:tcPr anchor="ct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12535" cap="flat" cmpd="sng" algn="ctr">
                      <a:solidFill>
                        <a:srgbClr val="FFFFFF"/>
                      </a:solidFill>
                      <a:prstDash val="solid"/>
                      <a:round/>
                      <a:headEnd type="none" w="med" len="med"/>
                      <a:tailEnd type="none" w="med" len="med"/>
                    </a:lnT>
                    <a:lnB w="12535" cap="flat" cmpd="sng" algn="ctr">
                      <a:solidFill>
                        <a:srgbClr val="FFFFFF"/>
                      </a:solidFill>
                      <a:prstDash val="solid"/>
                      <a:round/>
                      <a:headEnd type="none" w="med" len="med"/>
                      <a:tailEnd type="none" w="med" len="med"/>
                    </a:lnB>
                    <a:solidFill>
                      <a:srgbClr val="6ABEB8"/>
                    </a:solidFill>
                  </a:tcPr>
                </a:tc>
                <a:tc>
                  <a:txBody>
                    <a:bodyPr/>
                    <a:lstStyle/>
                    <a:p>
                      <a:pPr algn="l" fontAlgn="base">
                        <a:lnSpc>
                          <a:spcPts val="1650"/>
                        </a:lnSpc>
                        <a:buNone/>
                      </a:pPr>
                      <a:r>
                        <a:rPr lang="fr-FR" sz="1600" b="0" i="0">
                          <a:solidFill>
                            <a:srgbClr val="5E152C"/>
                          </a:solidFill>
                          <a:effectLst/>
                          <a:latin typeface="Montserrat Light"/>
                        </a:rPr>
                        <a:t>4 500€</a:t>
                      </a:r>
                      <a:r>
                        <a:rPr lang="fr-FR" sz="1600" b="0" i="0">
                          <a:solidFill>
                            <a:srgbClr val="000000"/>
                          </a:solidFill>
                          <a:effectLst/>
                          <a:latin typeface="Montserrat Light"/>
                        </a:rPr>
                        <a:t>​</a:t>
                      </a:r>
                    </a:p>
                  </a:txBody>
                  <a:tcPr anchor="ct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12535" cap="flat" cmpd="sng" algn="ctr">
                      <a:solidFill>
                        <a:srgbClr val="FFFFFF"/>
                      </a:solidFill>
                      <a:prstDash val="solid"/>
                      <a:round/>
                      <a:headEnd type="none" w="med" len="med"/>
                      <a:tailEnd type="none" w="med" len="med"/>
                    </a:lnT>
                    <a:lnB w="12535" cap="flat" cmpd="sng" algn="ctr">
                      <a:solidFill>
                        <a:srgbClr val="FFFFFF"/>
                      </a:solidFill>
                      <a:prstDash val="solid"/>
                      <a:round/>
                      <a:headEnd type="none" w="med" len="med"/>
                      <a:tailEnd type="none" w="med" len="med"/>
                    </a:lnB>
                    <a:solidFill>
                      <a:srgbClr val="6ABEB8"/>
                    </a:solidFill>
                  </a:tcPr>
                </a:tc>
                <a:extLst>
                  <a:ext uri="{0D108BD9-81ED-4DB2-BD59-A6C34878D82A}">
                    <a16:rowId xmlns:a16="http://schemas.microsoft.com/office/drawing/2014/main" val="2993816338"/>
                  </a:ext>
                </a:extLst>
              </a:tr>
              <a:tr h="378240">
                <a:tc vMerge="1">
                  <a:txBody>
                    <a:bodyPr/>
                    <a:lstStyle/>
                    <a:p>
                      <a:endParaRPr lang="fr-FR"/>
                    </a:p>
                  </a:txBody>
                  <a:tcPr/>
                </a:tc>
                <a:tc>
                  <a:txBody>
                    <a:bodyPr/>
                    <a:lstStyle/>
                    <a:p>
                      <a:pPr algn="l" fontAlgn="base">
                        <a:lnSpc>
                          <a:spcPts val="1650"/>
                        </a:lnSpc>
                        <a:buNone/>
                      </a:pPr>
                      <a:r>
                        <a:rPr lang="fr-FR" sz="1600" b="0" i="0">
                          <a:solidFill>
                            <a:srgbClr val="5E152C"/>
                          </a:solidFill>
                          <a:effectLst/>
                          <a:latin typeface="Montserrat Light"/>
                        </a:rPr>
                        <a:t>BAC +3 et +5</a:t>
                      </a:r>
                      <a:r>
                        <a:rPr lang="fr-FR" sz="1600" b="0" i="0">
                          <a:solidFill>
                            <a:srgbClr val="000000"/>
                          </a:solidFill>
                          <a:effectLst/>
                          <a:latin typeface="Montserrat Light"/>
                        </a:rPr>
                        <a:t>​</a:t>
                      </a:r>
                    </a:p>
                  </a:txBody>
                  <a:tcPr anchor="ct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12535" cap="flat" cmpd="sng" algn="ctr">
                      <a:solidFill>
                        <a:srgbClr val="FFFFFF"/>
                      </a:solidFill>
                      <a:prstDash val="solid"/>
                      <a:round/>
                      <a:headEnd type="none" w="med" len="med"/>
                      <a:tailEnd type="none" w="med" len="med"/>
                    </a:lnT>
                    <a:lnB w="12535" cap="flat" cmpd="sng" algn="ctr">
                      <a:solidFill>
                        <a:srgbClr val="FFFFFF"/>
                      </a:solidFill>
                      <a:prstDash val="solid"/>
                      <a:round/>
                      <a:headEnd type="none" w="med" len="med"/>
                      <a:tailEnd type="none" w="med" len="med"/>
                    </a:lnB>
                    <a:solidFill>
                      <a:srgbClr val="6ABEB8"/>
                    </a:solidFill>
                  </a:tcPr>
                </a:tc>
                <a:tc>
                  <a:txBody>
                    <a:bodyPr/>
                    <a:lstStyle/>
                    <a:p>
                      <a:pPr algn="l" fontAlgn="base">
                        <a:lnSpc>
                          <a:spcPts val="1650"/>
                        </a:lnSpc>
                        <a:buNone/>
                      </a:pPr>
                      <a:r>
                        <a:rPr lang="fr-FR" sz="1600" b="0" i="0">
                          <a:solidFill>
                            <a:srgbClr val="5E152C"/>
                          </a:solidFill>
                          <a:effectLst/>
                          <a:latin typeface="Montserrat Light"/>
                        </a:rPr>
                        <a:t>2 000€</a:t>
                      </a:r>
                      <a:r>
                        <a:rPr lang="fr-FR" sz="1600" b="0" i="0">
                          <a:solidFill>
                            <a:srgbClr val="000000"/>
                          </a:solidFill>
                          <a:effectLst/>
                          <a:latin typeface="Montserrat Light"/>
                        </a:rPr>
                        <a:t>​</a:t>
                      </a:r>
                    </a:p>
                  </a:txBody>
                  <a:tcPr anchor="ctr">
                    <a:lnL w="12535" cap="flat" cmpd="sng" algn="ctr">
                      <a:solidFill>
                        <a:srgbClr val="FFFFFF"/>
                      </a:solidFill>
                      <a:prstDash val="solid"/>
                      <a:round/>
                      <a:headEnd type="none" w="med" len="med"/>
                      <a:tailEnd type="none" w="med" len="med"/>
                    </a:lnL>
                    <a:lnR w="12535" cap="flat" cmpd="sng" algn="ctr">
                      <a:solidFill>
                        <a:srgbClr val="FFFFFF"/>
                      </a:solidFill>
                      <a:prstDash val="solid"/>
                      <a:round/>
                      <a:headEnd type="none" w="med" len="med"/>
                      <a:tailEnd type="none" w="med" len="med"/>
                    </a:lnR>
                    <a:lnT w="12535" cap="flat" cmpd="sng" algn="ctr">
                      <a:solidFill>
                        <a:srgbClr val="FFFFFF"/>
                      </a:solidFill>
                      <a:prstDash val="solid"/>
                      <a:round/>
                      <a:headEnd type="none" w="med" len="med"/>
                      <a:tailEnd type="none" w="med" len="med"/>
                    </a:lnT>
                    <a:lnB w="12535" cap="flat" cmpd="sng" algn="ctr">
                      <a:solidFill>
                        <a:srgbClr val="FFFFFF"/>
                      </a:solidFill>
                      <a:prstDash val="solid"/>
                      <a:round/>
                      <a:headEnd type="none" w="med" len="med"/>
                      <a:tailEnd type="none" w="med" len="med"/>
                    </a:lnB>
                    <a:solidFill>
                      <a:srgbClr val="6ABEB8"/>
                    </a:solidFill>
                  </a:tcPr>
                </a:tc>
                <a:extLst>
                  <a:ext uri="{0D108BD9-81ED-4DB2-BD59-A6C34878D82A}">
                    <a16:rowId xmlns:a16="http://schemas.microsoft.com/office/drawing/2014/main" val="2269720964"/>
                  </a:ext>
                </a:extLst>
              </a:tr>
            </a:tbl>
          </a:graphicData>
        </a:graphic>
      </p:graphicFrame>
      <p:sp>
        <p:nvSpPr>
          <p:cNvPr id="3" name="Rectangle 1">
            <a:extLst>
              <a:ext uri="{FF2B5EF4-FFF2-40B4-BE49-F238E27FC236}">
                <a16:creationId xmlns:a16="http://schemas.microsoft.com/office/drawing/2014/main" id="{1D1E3B64-7A99-6D62-3CBC-E1BB2214178B}"/>
              </a:ext>
            </a:extLst>
          </p:cNvPr>
          <p:cNvSpPr>
            <a:spLocks noChangeArrowheads="1"/>
          </p:cNvSpPr>
          <p:nvPr/>
        </p:nvSpPr>
        <p:spPr bwMode="auto">
          <a:xfrm>
            <a:off x="776220" y="322626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fr-FR" altLang="fr-FR"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42284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0633B-D307-C38B-FBD1-3DD6D08F530B}"/>
            </a:ext>
          </a:extLst>
        </p:cNvPr>
        <p:cNvGrpSpPr/>
        <p:nvPr/>
      </p:nvGrpSpPr>
      <p:grpSpPr>
        <a:xfrm>
          <a:off x="0" y="0"/>
          <a:ext cx="0" cy="0"/>
          <a:chOff x="0" y="0"/>
          <a:chExt cx="0" cy="0"/>
        </a:xfrm>
      </p:grpSpPr>
      <p:sp>
        <p:nvSpPr>
          <p:cNvPr id="4" name="ZoneTexte 7">
            <a:extLst>
              <a:ext uri="{FF2B5EF4-FFF2-40B4-BE49-F238E27FC236}">
                <a16:creationId xmlns:a16="http://schemas.microsoft.com/office/drawing/2014/main" id="{B19766F6-55F7-FEB3-18CA-CF60FCD02C2C}"/>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err="1">
                <a:solidFill>
                  <a:srgbClr val="5E152C"/>
                </a:solidFill>
                <a:latin typeface="Montserrat Light"/>
              </a:rPr>
              <a:t>ActualitÉ</a:t>
            </a:r>
            <a:r>
              <a:rPr lang="fr-FR" sz="3500" cap="all">
                <a:solidFill>
                  <a:srgbClr val="5E152C"/>
                </a:solidFill>
                <a:latin typeface="Montserrat Light"/>
              </a:rPr>
              <a:t> PAIE</a:t>
            </a:r>
            <a:endParaRPr lang="fr-FR" sz="3500" b="1" cap="all">
              <a:solidFill>
                <a:srgbClr val="5E152C"/>
              </a:solidFill>
              <a:latin typeface="Montserrat Black" panose="00000A00000000000000" pitchFamily="2" charset="0"/>
            </a:endParaRPr>
          </a:p>
        </p:txBody>
      </p:sp>
      <p:sp>
        <p:nvSpPr>
          <p:cNvPr id="5" name="ZoneTexte 4">
            <a:extLst>
              <a:ext uri="{FF2B5EF4-FFF2-40B4-BE49-F238E27FC236}">
                <a16:creationId xmlns:a16="http://schemas.microsoft.com/office/drawing/2014/main" id="{13CC72DB-DEE1-580F-F498-84F0595F1439}"/>
              </a:ext>
            </a:extLst>
          </p:cNvPr>
          <p:cNvSpPr txBox="1"/>
          <p:nvPr/>
        </p:nvSpPr>
        <p:spPr>
          <a:xfrm>
            <a:off x="538737" y="1808202"/>
            <a:ext cx="9232941" cy="166199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rgbClr val="E4003A"/>
                </a:solidFill>
                <a:latin typeface="Montserrat"/>
              </a:rPr>
              <a:t>Aide exceptionnelle à l'apprentissage</a:t>
            </a:r>
            <a:r>
              <a:rPr lang="en-US" sz="2400" b="1">
                <a:solidFill>
                  <a:srgbClr val="68BBB4"/>
                </a:solidFill>
                <a:latin typeface="Calibri Bold"/>
                <a:ea typeface="Calibri Bold"/>
                <a:cs typeface="Calibri Bold"/>
              </a:rPr>
              <a:t> </a:t>
            </a:r>
          </a:p>
          <a:p>
            <a:endParaRPr lang="en-US" sz="1600">
              <a:highlight>
                <a:srgbClr val="FFFFFF"/>
              </a:highlight>
              <a:latin typeface="Montserrat"/>
            </a:endParaRPr>
          </a:p>
          <a:p>
            <a:endParaRPr lang="en-US" sz="1200">
              <a:solidFill>
                <a:srgbClr val="3A3A3A"/>
              </a:solidFill>
              <a:highlight>
                <a:srgbClr val="FFFFFF"/>
              </a:highlight>
              <a:ea typeface="+mn-lt"/>
              <a:cs typeface="+mn-lt"/>
            </a:endParaRPr>
          </a:p>
          <a:p>
            <a:pPr>
              <a:buFont typeface="Calibri"/>
            </a:pPr>
            <a:endParaRPr lang="en-US" sz="1600">
              <a:latin typeface="Montserrat" panose="00000500000000000000" pitchFamily="2" charset="0"/>
            </a:endParaRPr>
          </a:p>
          <a:p>
            <a:pPr>
              <a:buFont typeface="Calibri"/>
              <a:buChar char="-"/>
            </a:pPr>
            <a:endParaRPr lang="en-US" sz="1600">
              <a:latin typeface="Montserrat"/>
              <a:ea typeface="Calibri" panose="020F0502020204030204"/>
              <a:cs typeface="Calibri" panose="020F0502020204030204"/>
            </a:endParaRPr>
          </a:p>
          <a:p>
            <a:pPr algn="ctr"/>
            <a:endParaRPr lang="fr-FR">
              <a:ea typeface="Calibri" panose="020F0502020204030204"/>
              <a:cs typeface="Calibri" panose="020F0502020204030204"/>
            </a:endParaRPr>
          </a:p>
        </p:txBody>
      </p:sp>
      <p:sp>
        <p:nvSpPr>
          <p:cNvPr id="3" name="Rectangle 1">
            <a:extLst>
              <a:ext uri="{FF2B5EF4-FFF2-40B4-BE49-F238E27FC236}">
                <a16:creationId xmlns:a16="http://schemas.microsoft.com/office/drawing/2014/main" id="{AE49D9D2-359E-1CC6-5217-F794693A3C70}"/>
              </a:ext>
            </a:extLst>
          </p:cNvPr>
          <p:cNvSpPr>
            <a:spLocks noChangeArrowheads="1"/>
          </p:cNvSpPr>
          <p:nvPr/>
        </p:nvSpPr>
        <p:spPr bwMode="auto">
          <a:xfrm>
            <a:off x="776220" y="322626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fr-FR" altLang="fr-FR"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graphicFrame>
        <p:nvGraphicFramePr>
          <p:cNvPr id="2" name="Table 1">
            <a:extLst>
              <a:ext uri="{FF2B5EF4-FFF2-40B4-BE49-F238E27FC236}">
                <a16:creationId xmlns:a16="http://schemas.microsoft.com/office/drawing/2014/main" id="{6721C125-3FFE-B143-CEE8-C3C8EACA1EC3}"/>
              </a:ext>
            </a:extLst>
          </p:cNvPr>
          <p:cNvGraphicFramePr>
            <a:graphicFrameLocks noGrp="1"/>
          </p:cNvGraphicFramePr>
          <p:nvPr>
            <p:extLst>
              <p:ext uri="{D42A27DB-BD31-4B8C-83A1-F6EECF244321}">
                <p14:modId xmlns:p14="http://schemas.microsoft.com/office/powerpoint/2010/main" val="107917909"/>
              </p:ext>
            </p:extLst>
          </p:nvPr>
        </p:nvGraphicFramePr>
        <p:xfrm>
          <a:off x="674915" y="3011714"/>
          <a:ext cx="8477620" cy="2716586"/>
        </p:xfrm>
        <a:graphic>
          <a:graphicData uri="http://schemas.openxmlformats.org/drawingml/2006/table">
            <a:tbl>
              <a:tblPr firstRow="1" bandRow="1">
                <a:tableStyleId>{5C22544A-7EE6-4342-B048-85BDC9FD1C3A}</a:tableStyleId>
              </a:tblPr>
              <a:tblGrid>
                <a:gridCol w="2119405">
                  <a:extLst>
                    <a:ext uri="{9D8B030D-6E8A-4147-A177-3AD203B41FA5}">
                      <a16:colId xmlns:a16="http://schemas.microsoft.com/office/drawing/2014/main" val="552084612"/>
                    </a:ext>
                  </a:extLst>
                </a:gridCol>
                <a:gridCol w="2119405">
                  <a:extLst>
                    <a:ext uri="{9D8B030D-6E8A-4147-A177-3AD203B41FA5}">
                      <a16:colId xmlns:a16="http://schemas.microsoft.com/office/drawing/2014/main" val="1802871861"/>
                    </a:ext>
                  </a:extLst>
                </a:gridCol>
                <a:gridCol w="2119405">
                  <a:extLst>
                    <a:ext uri="{9D8B030D-6E8A-4147-A177-3AD203B41FA5}">
                      <a16:colId xmlns:a16="http://schemas.microsoft.com/office/drawing/2014/main" val="639661177"/>
                    </a:ext>
                  </a:extLst>
                </a:gridCol>
                <a:gridCol w="2119405">
                  <a:extLst>
                    <a:ext uri="{9D8B030D-6E8A-4147-A177-3AD203B41FA5}">
                      <a16:colId xmlns:a16="http://schemas.microsoft.com/office/drawing/2014/main" val="2981460679"/>
                    </a:ext>
                  </a:extLst>
                </a:gridCol>
              </a:tblGrid>
              <a:tr h="557249">
                <a:tc gridSpan="4">
                  <a:txBody>
                    <a:bodyPr/>
                    <a:lstStyle/>
                    <a:p>
                      <a:pPr algn="ctr"/>
                      <a:r>
                        <a:rPr lang="en-US" sz="1600" u="sng">
                          <a:latin typeface="Montserrat Light"/>
                        </a:rPr>
                        <a:t>Aides à </a:t>
                      </a:r>
                      <a:r>
                        <a:rPr lang="en-US" sz="1600" u="sng" err="1">
                          <a:latin typeface="Montserrat Light"/>
                        </a:rPr>
                        <a:t>l'apprentissage</a:t>
                      </a:r>
                    </a:p>
                    <a:p>
                      <a:pPr lvl="0" algn="ctr">
                        <a:buNone/>
                      </a:pPr>
                      <a:r>
                        <a:rPr lang="en-US" sz="1200" i="1" err="1">
                          <a:latin typeface="Montserrat Light"/>
                        </a:rPr>
                        <a:t>Comparatif</a:t>
                      </a:r>
                      <a:r>
                        <a:rPr lang="en-US" sz="1200" i="1">
                          <a:latin typeface="Montserrat Light"/>
                        </a:rPr>
                        <a:t> 2025 vs 2026</a:t>
                      </a:r>
                    </a:p>
                  </a:txBody>
                  <a:tcPr anchor="ctr">
                    <a:solidFill>
                      <a:srgbClr val="68BBB4"/>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25387205"/>
                  </a:ext>
                </a:extLst>
              </a:tr>
              <a:tr h="543317">
                <a:tc gridSpan="4">
                  <a:txBody>
                    <a:bodyPr/>
                    <a:lstStyle/>
                    <a:p>
                      <a:pPr algn="ctr"/>
                      <a:r>
                        <a:rPr lang="en-US" sz="1600" u="sng">
                          <a:solidFill>
                            <a:schemeClr val="bg1"/>
                          </a:solidFill>
                          <a:latin typeface="Montserrat Light"/>
                        </a:rPr>
                        <a:t>Entreprises de –250 </a:t>
                      </a:r>
                      <a:r>
                        <a:rPr lang="en-US" sz="1600" u="sng" err="1">
                          <a:solidFill>
                            <a:schemeClr val="bg1"/>
                          </a:solidFill>
                          <a:latin typeface="Montserrat Light"/>
                        </a:rPr>
                        <a:t>salariés</a:t>
                      </a:r>
                      <a:r>
                        <a:rPr lang="en-US" sz="1600" u="sng">
                          <a:solidFill>
                            <a:schemeClr val="bg1"/>
                          </a:solidFill>
                          <a:latin typeface="Montserrat Light"/>
                        </a:rPr>
                        <a:t> :</a:t>
                      </a:r>
                    </a:p>
                  </a:txBody>
                  <a:tcPr anchor="ctr">
                    <a:solidFill>
                      <a:srgbClr val="E4003A"/>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123242978"/>
                  </a:ext>
                </a:extLst>
              </a:tr>
              <a:tr h="404005">
                <a:tc>
                  <a:txBody>
                    <a:bodyPr/>
                    <a:lstStyle/>
                    <a:p>
                      <a:endParaRPr lang="en-US"/>
                    </a:p>
                  </a:txBody>
                  <a:tcPr>
                    <a:solidFill>
                      <a:srgbClr val="5D152C"/>
                    </a:solidFill>
                  </a:tcPr>
                </a:tc>
                <a:tc>
                  <a:txBody>
                    <a:bodyPr/>
                    <a:lstStyle/>
                    <a:p>
                      <a:pPr algn="ctr"/>
                      <a:r>
                        <a:rPr lang="en-US" sz="1600" b="1" u="sng">
                          <a:solidFill>
                            <a:schemeClr val="bg1"/>
                          </a:solidFill>
                          <a:latin typeface="Montserrat Light"/>
                        </a:rPr>
                        <a:t>2025</a:t>
                      </a:r>
                    </a:p>
                  </a:txBody>
                  <a:tcPr>
                    <a:solidFill>
                      <a:srgbClr val="5D152C"/>
                    </a:solidFill>
                  </a:tcPr>
                </a:tc>
                <a:tc>
                  <a:txBody>
                    <a:bodyPr/>
                    <a:lstStyle/>
                    <a:p>
                      <a:pPr algn="ctr"/>
                      <a:r>
                        <a:rPr lang="en-US" sz="1600" b="1" u="sng">
                          <a:solidFill>
                            <a:schemeClr val="bg1"/>
                          </a:solidFill>
                          <a:latin typeface="Montserrat Light"/>
                        </a:rPr>
                        <a:t>2026</a:t>
                      </a:r>
                    </a:p>
                  </a:txBody>
                  <a:tcPr>
                    <a:solidFill>
                      <a:srgbClr val="5D152C"/>
                    </a:solidFill>
                  </a:tcPr>
                </a:tc>
                <a:tc>
                  <a:txBody>
                    <a:bodyPr/>
                    <a:lstStyle/>
                    <a:p>
                      <a:pPr algn="ctr"/>
                      <a:r>
                        <a:rPr lang="en-US" sz="1600" b="1" u="sng" err="1">
                          <a:solidFill>
                            <a:schemeClr val="bg1"/>
                          </a:solidFill>
                          <a:latin typeface="Montserrat Light"/>
                        </a:rPr>
                        <a:t>Différence</a:t>
                      </a:r>
                    </a:p>
                  </a:txBody>
                  <a:tcPr>
                    <a:solidFill>
                      <a:srgbClr val="5D152C"/>
                    </a:solidFill>
                  </a:tcPr>
                </a:tc>
                <a:extLst>
                  <a:ext uri="{0D108BD9-81ED-4DB2-BD59-A6C34878D82A}">
                    <a16:rowId xmlns:a16="http://schemas.microsoft.com/office/drawing/2014/main" val="1789986549"/>
                  </a:ext>
                </a:extLst>
              </a:tr>
              <a:tr h="404005">
                <a:tc>
                  <a:txBody>
                    <a:bodyPr/>
                    <a:lstStyle/>
                    <a:p>
                      <a:r>
                        <a:rPr lang="en-US" sz="1600" b="1">
                          <a:latin typeface="Montserrat Light"/>
                        </a:rPr>
                        <a:t>Bac et infra-Bac</a:t>
                      </a:r>
                    </a:p>
                  </a:txBody>
                  <a:tcPr anchor="ctr">
                    <a:solidFill>
                      <a:schemeClr val="bg1">
                        <a:lumMod val="75000"/>
                      </a:schemeClr>
                    </a:solidFill>
                  </a:tcPr>
                </a:tc>
                <a:tc>
                  <a:txBody>
                    <a:bodyPr/>
                    <a:lstStyle/>
                    <a:p>
                      <a:pPr algn="ctr"/>
                      <a:r>
                        <a:rPr lang="en-US">
                          <a:solidFill>
                            <a:schemeClr val="bg1"/>
                          </a:solidFill>
                        </a:rPr>
                        <a:t>5 000 €</a:t>
                      </a:r>
                    </a:p>
                  </a:txBody>
                  <a:tcPr anchor="ctr">
                    <a:solidFill>
                      <a:srgbClr val="5D152C"/>
                    </a:solidFill>
                  </a:tcPr>
                </a:tc>
                <a:tc>
                  <a:txBody>
                    <a:bodyPr/>
                    <a:lstStyle/>
                    <a:p>
                      <a:pPr algn="ctr"/>
                      <a:r>
                        <a:rPr lang="en-US">
                          <a:solidFill>
                            <a:schemeClr val="bg1"/>
                          </a:solidFill>
                        </a:rPr>
                        <a:t>5 000 €</a:t>
                      </a:r>
                    </a:p>
                  </a:txBody>
                  <a:tcPr anchor="ctr">
                    <a:solidFill>
                      <a:srgbClr val="5D152C"/>
                    </a:solidFill>
                  </a:tcPr>
                </a:tc>
                <a:tc>
                  <a:txBody>
                    <a:bodyPr/>
                    <a:lstStyle/>
                    <a:p>
                      <a:pPr algn="ctr"/>
                      <a:r>
                        <a:rPr lang="en-US">
                          <a:solidFill>
                            <a:schemeClr val="bg1"/>
                          </a:solidFill>
                        </a:rPr>
                        <a:t>=</a:t>
                      </a:r>
                    </a:p>
                  </a:txBody>
                  <a:tcPr anchor="ctr">
                    <a:solidFill>
                      <a:srgbClr val="5D152C"/>
                    </a:solidFill>
                  </a:tcPr>
                </a:tc>
                <a:extLst>
                  <a:ext uri="{0D108BD9-81ED-4DB2-BD59-A6C34878D82A}">
                    <a16:rowId xmlns:a16="http://schemas.microsoft.com/office/drawing/2014/main" val="1004239675"/>
                  </a:ext>
                </a:extLst>
              </a:tr>
              <a:tr h="404005">
                <a:tc>
                  <a:txBody>
                    <a:bodyPr/>
                    <a:lstStyle/>
                    <a:p>
                      <a:r>
                        <a:rPr lang="en-US" sz="1600" b="1">
                          <a:latin typeface="Montserrat Light"/>
                        </a:rPr>
                        <a:t>Bac +2</a:t>
                      </a:r>
                    </a:p>
                  </a:txBody>
                  <a:tcPr anchor="ctr">
                    <a:solidFill>
                      <a:schemeClr val="bg1">
                        <a:lumMod val="75000"/>
                      </a:schemeClr>
                    </a:solidFill>
                  </a:tcPr>
                </a:tc>
                <a:tc>
                  <a:txBody>
                    <a:bodyPr/>
                    <a:lstStyle/>
                    <a:p>
                      <a:pPr algn="ctr"/>
                      <a:r>
                        <a:rPr lang="en-US">
                          <a:solidFill>
                            <a:schemeClr val="bg1"/>
                          </a:solidFill>
                        </a:rPr>
                        <a:t>5 000 €</a:t>
                      </a:r>
                    </a:p>
                  </a:txBody>
                  <a:tcPr anchor="ctr">
                    <a:solidFill>
                      <a:srgbClr val="5D152C"/>
                    </a:solidFill>
                  </a:tcPr>
                </a:tc>
                <a:tc>
                  <a:txBody>
                    <a:bodyPr/>
                    <a:lstStyle/>
                    <a:p>
                      <a:pPr algn="ctr"/>
                      <a:r>
                        <a:rPr lang="en-US">
                          <a:solidFill>
                            <a:schemeClr val="bg1"/>
                          </a:solidFill>
                        </a:rPr>
                        <a:t>4 500 €</a:t>
                      </a:r>
                    </a:p>
                  </a:txBody>
                  <a:tcPr anchor="ctr">
                    <a:solidFill>
                      <a:srgbClr val="5D152C"/>
                    </a:solidFill>
                  </a:tcPr>
                </a:tc>
                <a:tc>
                  <a:txBody>
                    <a:bodyPr/>
                    <a:lstStyle/>
                    <a:p>
                      <a:pPr marL="285750" indent="-285750" algn="ctr">
                        <a:buFont typeface="Calibri"/>
                        <a:buChar char="-"/>
                      </a:pPr>
                      <a:r>
                        <a:rPr lang="en-US">
                          <a:solidFill>
                            <a:schemeClr val="bg1"/>
                          </a:solidFill>
                        </a:rPr>
                        <a:t>500 €</a:t>
                      </a:r>
                    </a:p>
                  </a:txBody>
                  <a:tcPr anchor="ctr">
                    <a:solidFill>
                      <a:srgbClr val="5D152C"/>
                    </a:solidFill>
                  </a:tcPr>
                </a:tc>
                <a:extLst>
                  <a:ext uri="{0D108BD9-81ED-4DB2-BD59-A6C34878D82A}">
                    <a16:rowId xmlns:a16="http://schemas.microsoft.com/office/drawing/2014/main" val="1723275084"/>
                  </a:ext>
                </a:extLst>
              </a:tr>
              <a:tr h="404005">
                <a:tc>
                  <a:txBody>
                    <a:bodyPr/>
                    <a:lstStyle/>
                    <a:p>
                      <a:r>
                        <a:rPr lang="en-US" sz="1600" b="1">
                          <a:latin typeface="Montserrat Light"/>
                        </a:rPr>
                        <a:t>Bac +3 et Bac +5</a:t>
                      </a:r>
                    </a:p>
                  </a:txBody>
                  <a:tcPr anchor="ctr">
                    <a:solidFill>
                      <a:schemeClr val="bg1">
                        <a:lumMod val="75000"/>
                      </a:schemeClr>
                    </a:solidFill>
                  </a:tcPr>
                </a:tc>
                <a:tc>
                  <a:txBody>
                    <a:bodyPr/>
                    <a:lstStyle/>
                    <a:p>
                      <a:pPr algn="ctr"/>
                      <a:r>
                        <a:rPr lang="en-US">
                          <a:solidFill>
                            <a:schemeClr val="bg1"/>
                          </a:solidFill>
                        </a:rPr>
                        <a:t>5 000 €</a:t>
                      </a:r>
                    </a:p>
                  </a:txBody>
                  <a:tcPr anchor="ctr">
                    <a:solidFill>
                      <a:srgbClr val="5D152C"/>
                    </a:solidFill>
                  </a:tcPr>
                </a:tc>
                <a:tc>
                  <a:txBody>
                    <a:bodyPr/>
                    <a:lstStyle/>
                    <a:p>
                      <a:pPr algn="ctr"/>
                      <a:r>
                        <a:rPr lang="en-US">
                          <a:solidFill>
                            <a:schemeClr val="bg1"/>
                          </a:solidFill>
                        </a:rPr>
                        <a:t>2 000 €</a:t>
                      </a:r>
                    </a:p>
                  </a:txBody>
                  <a:tcPr anchor="ctr">
                    <a:solidFill>
                      <a:srgbClr val="5D152C"/>
                    </a:solidFill>
                  </a:tcPr>
                </a:tc>
                <a:tc>
                  <a:txBody>
                    <a:bodyPr/>
                    <a:lstStyle/>
                    <a:p>
                      <a:pPr marL="285750" indent="-285750" algn="ctr">
                        <a:buFont typeface="Calibri"/>
                        <a:buChar char="-"/>
                      </a:pPr>
                      <a:r>
                        <a:rPr lang="en-US">
                          <a:solidFill>
                            <a:schemeClr val="bg1"/>
                          </a:solidFill>
                        </a:rPr>
                        <a:t>3 000 €</a:t>
                      </a:r>
                    </a:p>
                  </a:txBody>
                  <a:tcPr anchor="ctr">
                    <a:solidFill>
                      <a:srgbClr val="5D152C"/>
                    </a:solidFill>
                  </a:tcPr>
                </a:tc>
                <a:extLst>
                  <a:ext uri="{0D108BD9-81ED-4DB2-BD59-A6C34878D82A}">
                    <a16:rowId xmlns:a16="http://schemas.microsoft.com/office/drawing/2014/main" val="3183021200"/>
                  </a:ext>
                </a:extLst>
              </a:tr>
            </a:tbl>
          </a:graphicData>
        </a:graphic>
      </p:graphicFrame>
    </p:spTree>
    <p:extLst>
      <p:ext uri="{BB962C8B-B14F-4D97-AF65-F5344CB8AC3E}">
        <p14:creationId xmlns:p14="http://schemas.microsoft.com/office/powerpoint/2010/main" val="1349178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3DA7A-4583-2F78-74A3-DD374B225646}"/>
            </a:ext>
          </a:extLst>
        </p:cNvPr>
        <p:cNvGrpSpPr/>
        <p:nvPr/>
      </p:nvGrpSpPr>
      <p:grpSpPr>
        <a:xfrm>
          <a:off x="0" y="0"/>
          <a:ext cx="0" cy="0"/>
          <a:chOff x="0" y="0"/>
          <a:chExt cx="0" cy="0"/>
        </a:xfrm>
      </p:grpSpPr>
      <p:sp>
        <p:nvSpPr>
          <p:cNvPr id="4" name="ZoneTexte 7">
            <a:extLst>
              <a:ext uri="{FF2B5EF4-FFF2-40B4-BE49-F238E27FC236}">
                <a16:creationId xmlns:a16="http://schemas.microsoft.com/office/drawing/2014/main" id="{6FADF276-174A-7DDA-22B7-463531F29F60}"/>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err="1">
                <a:solidFill>
                  <a:srgbClr val="5E152C"/>
                </a:solidFill>
                <a:latin typeface="Montserrat Light"/>
              </a:rPr>
              <a:t>ActualitÉ</a:t>
            </a:r>
            <a:r>
              <a:rPr lang="fr-FR" sz="3500" cap="all">
                <a:solidFill>
                  <a:srgbClr val="5E152C"/>
                </a:solidFill>
                <a:latin typeface="Montserrat Light"/>
              </a:rPr>
              <a:t> PAIE</a:t>
            </a:r>
            <a:endParaRPr lang="fr-FR" sz="3500" b="1" cap="all">
              <a:solidFill>
                <a:srgbClr val="5E152C"/>
              </a:solidFill>
              <a:latin typeface="Montserrat Black" panose="00000A00000000000000" pitchFamily="2" charset="0"/>
            </a:endParaRPr>
          </a:p>
        </p:txBody>
      </p:sp>
      <p:sp>
        <p:nvSpPr>
          <p:cNvPr id="5" name="ZoneTexte 4">
            <a:extLst>
              <a:ext uri="{FF2B5EF4-FFF2-40B4-BE49-F238E27FC236}">
                <a16:creationId xmlns:a16="http://schemas.microsoft.com/office/drawing/2014/main" id="{3BF86695-03CD-2001-8835-11CE8872E3E6}"/>
              </a:ext>
            </a:extLst>
          </p:cNvPr>
          <p:cNvSpPr txBox="1"/>
          <p:nvPr/>
        </p:nvSpPr>
        <p:spPr>
          <a:xfrm>
            <a:off x="538737" y="1917979"/>
            <a:ext cx="9105788" cy="172354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fontAlgn="base"/>
            <a:r>
              <a:rPr lang="fr-FR" b="1">
                <a:solidFill>
                  <a:srgbClr val="E4003A"/>
                </a:solidFill>
                <a:latin typeface="Montserrat"/>
              </a:rPr>
              <a:t>Refonte de la réduction générale des cotisations patronales ( RGDU): ​</a:t>
            </a:r>
          </a:p>
          <a:p>
            <a:r>
              <a:rPr lang="fr-FR">
                <a:solidFill>
                  <a:srgbClr val="E4003A"/>
                </a:solidFill>
                <a:ea typeface="+mn-lt"/>
                <a:cs typeface="+mn-lt"/>
              </a:rPr>
              <a:t>Article 18 LFSS pour 2025 (loi n°2025-199 du 28/02/2025)</a:t>
            </a:r>
            <a:endParaRPr lang="fr-FR">
              <a:ea typeface="+mn-lt"/>
              <a:cs typeface="+mn-lt"/>
            </a:endParaRPr>
          </a:p>
          <a:p>
            <a:pPr fontAlgn="base"/>
            <a:endParaRPr lang="fr-FR" b="1"/>
          </a:p>
          <a:p>
            <a:endParaRPr lang="fr-FR" b="1"/>
          </a:p>
          <a:p>
            <a:endParaRPr lang="en-US" sz="1600">
              <a:latin typeface="Montserrat" panose="00000500000000000000" pitchFamily="2" charset="0"/>
            </a:endParaRPr>
          </a:p>
          <a:p>
            <a:pPr algn="ctr"/>
            <a:endParaRPr lang="fr-FR">
              <a:ea typeface="Calibri" panose="020F0502020204030204"/>
              <a:cs typeface="Calibri" panose="020F0502020204030204"/>
            </a:endParaRPr>
          </a:p>
        </p:txBody>
      </p:sp>
      <p:pic>
        <p:nvPicPr>
          <p:cNvPr id="2" name="Image 1" descr="Une image contenant texte, capture d’écran, Police&#10;&#10;Le contenu généré par l’IA peut être incorrect.">
            <a:extLst>
              <a:ext uri="{FF2B5EF4-FFF2-40B4-BE49-F238E27FC236}">
                <a16:creationId xmlns:a16="http://schemas.microsoft.com/office/drawing/2014/main" id="{D18C6E3C-5021-EFCE-983C-2D70257E3C04}"/>
              </a:ext>
            </a:extLst>
          </p:cNvPr>
          <p:cNvPicPr>
            <a:picLocks noChangeAspect="1"/>
          </p:cNvPicPr>
          <p:nvPr/>
        </p:nvPicPr>
        <p:blipFill>
          <a:blip r:embed="rId3"/>
          <a:stretch>
            <a:fillRect/>
          </a:stretch>
        </p:blipFill>
        <p:spPr>
          <a:xfrm>
            <a:off x="682625" y="2640013"/>
            <a:ext cx="8286750" cy="3914775"/>
          </a:xfrm>
          <a:prstGeom prst="rect">
            <a:avLst/>
          </a:prstGeom>
        </p:spPr>
      </p:pic>
    </p:spTree>
    <p:extLst>
      <p:ext uri="{BB962C8B-B14F-4D97-AF65-F5344CB8AC3E}">
        <p14:creationId xmlns:p14="http://schemas.microsoft.com/office/powerpoint/2010/main" val="9564069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06BD3-575C-2404-0EB9-B8E19B1878FC}"/>
            </a:ext>
          </a:extLst>
        </p:cNvPr>
        <p:cNvGrpSpPr/>
        <p:nvPr/>
      </p:nvGrpSpPr>
      <p:grpSpPr>
        <a:xfrm>
          <a:off x="0" y="0"/>
          <a:ext cx="0" cy="0"/>
          <a:chOff x="0" y="0"/>
          <a:chExt cx="0" cy="0"/>
        </a:xfrm>
      </p:grpSpPr>
      <p:sp>
        <p:nvSpPr>
          <p:cNvPr id="4" name="ZoneTexte 7">
            <a:extLst>
              <a:ext uri="{FF2B5EF4-FFF2-40B4-BE49-F238E27FC236}">
                <a16:creationId xmlns:a16="http://schemas.microsoft.com/office/drawing/2014/main" id="{44148056-4791-CC07-C4EA-6451F200EC7A}"/>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err="1">
                <a:solidFill>
                  <a:srgbClr val="5E152C"/>
                </a:solidFill>
                <a:latin typeface="Montserrat Light"/>
              </a:rPr>
              <a:t>ActualitÉ</a:t>
            </a:r>
            <a:r>
              <a:rPr lang="fr-FR" sz="3500" cap="all">
                <a:solidFill>
                  <a:srgbClr val="5E152C"/>
                </a:solidFill>
                <a:latin typeface="Montserrat Light"/>
              </a:rPr>
              <a:t> PAIE</a:t>
            </a:r>
            <a:endParaRPr lang="fr-FR" sz="3500" b="1" cap="all">
              <a:solidFill>
                <a:srgbClr val="5E152C"/>
              </a:solidFill>
              <a:latin typeface="Montserrat Black" panose="00000A00000000000000" pitchFamily="2" charset="0"/>
            </a:endParaRPr>
          </a:p>
        </p:txBody>
      </p:sp>
      <p:sp>
        <p:nvSpPr>
          <p:cNvPr id="3" name="ZoneTexte 2">
            <a:extLst>
              <a:ext uri="{FF2B5EF4-FFF2-40B4-BE49-F238E27FC236}">
                <a16:creationId xmlns:a16="http://schemas.microsoft.com/office/drawing/2014/main" id="{082AE675-6C7A-84A8-75D5-BB0B5E27DAB4}"/>
              </a:ext>
            </a:extLst>
          </p:cNvPr>
          <p:cNvSpPr txBox="1"/>
          <p:nvPr/>
        </p:nvSpPr>
        <p:spPr>
          <a:xfrm>
            <a:off x="384932" y="2177764"/>
            <a:ext cx="8534531"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b="1">
                <a:solidFill>
                  <a:srgbClr val="E4003A"/>
                </a:solidFill>
                <a:latin typeface="Montserrat"/>
              </a:rPr>
              <a:t>Rupture conventionnelle : Hausse du coût employeur sur les ruptures conventionnelles</a:t>
            </a:r>
          </a:p>
          <a:p>
            <a:endParaRPr lang="fr-FR">
              <a:highlight>
                <a:srgbClr val="FFFFFF"/>
              </a:highlight>
            </a:endParaRPr>
          </a:p>
          <a:p>
            <a:endParaRPr lang="fr-FR">
              <a:highlight>
                <a:srgbClr val="FFFFFF"/>
              </a:highlight>
              <a:latin typeface="Calibri"/>
              <a:ea typeface="Calibri"/>
              <a:cs typeface="Calibri"/>
            </a:endParaRPr>
          </a:p>
          <a:p>
            <a:r>
              <a:rPr lang="fr-FR" sz="1600" b="1">
                <a:highlight>
                  <a:srgbClr val="FFFFFF"/>
                </a:highlight>
                <a:latin typeface="Montserrat Light"/>
              </a:rPr>
              <a:t>1er janvier 2026 : </a:t>
            </a:r>
          </a:p>
          <a:p>
            <a:endParaRPr lang="fr-FR" sz="1600">
              <a:highlight>
                <a:srgbClr val="FFFFFF"/>
              </a:highlight>
              <a:latin typeface="Montserrat Light"/>
            </a:endParaRPr>
          </a:p>
          <a:p>
            <a:r>
              <a:rPr lang="fr-FR" sz="1600">
                <a:highlight>
                  <a:srgbClr val="FFFFFF"/>
                </a:highlight>
                <a:latin typeface="Montserrat Light"/>
              </a:rPr>
              <a:t>Hausse de la contribution patronale à 40% (30% en 2025)</a:t>
            </a:r>
          </a:p>
        </p:txBody>
      </p:sp>
      <p:pic>
        <p:nvPicPr>
          <p:cNvPr id="5" name="Image 4" descr="Une image contenant dessin humoristique&#10;&#10;Le contenu généré par l’IA peut être incorrect.">
            <a:extLst>
              <a:ext uri="{FF2B5EF4-FFF2-40B4-BE49-F238E27FC236}">
                <a16:creationId xmlns:a16="http://schemas.microsoft.com/office/drawing/2014/main" id="{AF7E53C8-7A5E-076B-523D-25E6C7BF624E}"/>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20000" contrast="-40000"/>
                    </a14:imgEffect>
                  </a14:imgLayer>
                </a14:imgProps>
              </a:ext>
              <a:ext uri="{28A0092B-C50C-407E-A947-70E740481C1C}">
                <a14:useLocalDpi xmlns:a14="http://schemas.microsoft.com/office/drawing/2010/main" val="0"/>
              </a:ext>
            </a:extLst>
          </a:blip>
          <a:stretch>
            <a:fillRect/>
          </a:stretch>
        </p:blipFill>
        <p:spPr>
          <a:xfrm>
            <a:off x="6379335" y="3852680"/>
            <a:ext cx="2864969" cy="2509962"/>
          </a:xfrm>
          <a:prstGeom prst="rect">
            <a:avLst/>
          </a:prstGeom>
        </p:spPr>
      </p:pic>
    </p:spTree>
    <p:extLst>
      <p:ext uri="{BB962C8B-B14F-4D97-AF65-F5344CB8AC3E}">
        <p14:creationId xmlns:p14="http://schemas.microsoft.com/office/powerpoint/2010/main" val="547153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7">
            <a:extLst>
              <a:ext uri="{FF2B5EF4-FFF2-40B4-BE49-F238E27FC236}">
                <a16:creationId xmlns:a16="http://schemas.microsoft.com/office/drawing/2014/main" id="{0CE4096A-6A66-2E54-03FE-8D139CBDC6B5}"/>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err="1">
                <a:solidFill>
                  <a:srgbClr val="5E152C"/>
                </a:solidFill>
                <a:latin typeface="Montserrat Light"/>
              </a:rPr>
              <a:t>ActualitÉ</a:t>
            </a:r>
            <a:r>
              <a:rPr lang="fr-FR" sz="3500" cap="all">
                <a:solidFill>
                  <a:srgbClr val="5E152C"/>
                </a:solidFill>
                <a:latin typeface="Montserrat Light"/>
              </a:rPr>
              <a:t> PAIE</a:t>
            </a:r>
            <a:endParaRPr lang="fr-FR" sz="3500" b="1" cap="all">
              <a:solidFill>
                <a:srgbClr val="5E152C"/>
              </a:solidFill>
              <a:latin typeface="Montserrat Black" panose="00000A00000000000000" pitchFamily="2" charset="0"/>
            </a:endParaRPr>
          </a:p>
        </p:txBody>
      </p:sp>
      <p:sp>
        <p:nvSpPr>
          <p:cNvPr id="4" name="ZoneTexte 3">
            <a:extLst>
              <a:ext uri="{FF2B5EF4-FFF2-40B4-BE49-F238E27FC236}">
                <a16:creationId xmlns:a16="http://schemas.microsoft.com/office/drawing/2014/main" id="{E8881B14-ECAA-39DE-2F6F-13583621320C}"/>
              </a:ext>
            </a:extLst>
          </p:cNvPr>
          <p:cNvSpPr txBox="1"/>
          <p:nvPr/>
        </p:nvSpPr>
        <p:spPr>
          <a:xfrm>
            <a:off x="213830" y="1886991"/>
            <a:ext cx="8937938" cy="2695610"/>
          </a:xfrm>
          <a:prstGeom prst="rect">
            <a:avLst/>
          </a:prstGeom>
          <a:noFill/>
        </p:spPr>
        <p:txBody>
          <a:bodyPr wrap="square" lIns="91440" tIns="45720" rIns="91440" bIns="45720" anchor="t">
            <a:spAutoFit/>
          </a:bodyPr>
          <a:lstStyle/>
          <a:p>
            <a:pPr algn="l" rtl="0" fontAlgn="base">
              <a:lnSpc>
                <a:spcPts val="2400"/>
              </a:lnSpc>
              <a:buNone/>
            </a:pPr>
            <a:r>
              <a:rPr lang="fr-FR" b="1">
                <a:solidFill>
                  <a:srgbClr val="E4003A"/>
                </a:solidFill>
                <a:latin typeface="Montserrat"/>
              </a:rPr>
              <a:t>Création d’un congé supplémentaire de naissance:</a:t>
            </a:r>
            <a:r>
              <a:rPr lang="fr-FR" sz="2400" b="1" i="0" u="none" strike="noStrike">
                <a:solidFill>
                  <a:srgbClr val="68BBB4"/>
                </a:solidFill>
                <a:effectLst/>
                <a:latin typeface="Calibri"/>
                <a:ea typeface="Calibri"/>
                <a:cs typeface="Calibri"/>
              </a:rPr>
              <a:t> </a:t>
            </a:r>
            <a:r>
              <a:rPr lang="en-US" sz="2400" b="0" i="0">
                <a:solidFill>
                  <a:srgbClr val="000000"/>
                </a:solidFill>
                <a:effectLst/>
                <a:latin typeface="Calibri"/>
                <a:ea typeface="Calibri"/>
                <a:cs typeface="Calibri"/>
              </a:rPr>
              <a:t>​</a:t>
            </a:r>
            <a:endParaRPr lang="en-US" b="0" i="0">
              <a:solidFill>
                <a:srgbClr val="000000"/>
              </a:solidFill>
              <a:effectLst/>
              <a:latin typeface="Segoe UI" panose="020B0502040204020203" pitchFamily="34" charset="0"/>
              <a:ea typeface="Calibri"/>
              <a:cs typeface="Segoe UI" panose="020B0502040204020203" pitchFamily="34" charset="0"/>
            </a:endParaRPr>
          </a:p>
          <a:p>
            <a:pPr algn="just" fontAlgn="base">
              <a:lnSpc>
                <a:spcPts val="1875"/>
              </a:lnSpc>
            </a:pPr>
            <a:r>
              <a:rPr lang="fr-FR" sz="1600" b="1">
                <a:highlight>
                  <a:srgbClr val="FFFFFF"/>
                </a:highlight>
                <a:latin typeface="Montserrat Light"/>
              </a:rPr>
              <a:t>Naissances et adoptions à compter du 1er janvier 2026</a:t>
            </a:r>
            <a:r>
              <a:rPr lang="fr-FR" sz="1600">
                <a:highlight>
                  <a:srgbClr val="FFFFFF"/>
                </a:highlight>
                <a:latin typeface="Montserrat Light"/>
              </a:rPr>
              <a:t> </a:t>
            </a:r>
            <a:endParaRPr lang="en-US" sz="1600">
              <a:highlight>
                <a:srgbClr val="FFFFFF"/>
              </a:highlight>
              <a:latin typeface="Montserrat Light"/>
              <a:ea typeface="Calibri"/>
              <a:cs typeface="Calibri"/>
            </a:endParaRPr>
          </a:p>
          <a:p>
            <a:pPr algn="just">
              <a:lnSpc>
                <a:spcPts val="1875"/>
              </a:lnSpc>
            </a:pPr>
            <a:endParaRPr lang="fr-FR">
              <a:highlight>
                <a:srgbClr val="FFFFFF"/>
              </a:highlight>
            </a:endParaRPr>
          </a:p>
          <a:p>
            <a:pPr algn="just">
              <a:lnSpc>
                <a:spcPts val="1875"/>
              </a:lnSpc>
            </a:pPr>
            <a:endParaRPr lang="fr-FR">
              <a:highlight>
                <a:srgbClr val="FFFFFF"/>
              </a:highlight>
              <a:ea typeface="Calibri"/>
              <a:cs typeface="Calibri"/>
            </a:endParaRPr>
          </a:p>
          <a:p>
            <a:pPr algn="just">
              <a:lnSpc>
                <a:spcPts val="1875"/>
              </a:lnSpc>
            </a:pPr>
            <a:endParaRPr lang="fr-FR">
              <a:highlight>
                <a:srgbClr val="FFFFFF"/>
              </a:highlight>
              <a:ea typeface="Calibri"/>
              <a:cs typeface="Calibri"/>
            </a:endParaRPr>
          </a:p>
          <a:p>
            <a:pPr algn="just">
              <a:lnSpc>
                <a:spcPts val="1875"/>
              </a:lnSpc>
            </a:pPr>
            <a:endParaRPr lang="fr-FR" b="0" i="0">
              <a:solidFill>
                <a:srgbClr val="000000"/>
              </a:solidFill>
              <a:effectLst/>
              <a:highlight>
                <a:srgbClr val="FFFFFF"/>
              </a:highlight>
              <a:latin typeface="Calibri" panose="020F0502020204030204"/>
              <a:ea typeface="Calibri"/>
              <a:cs typeface="Calibri"/>
            </a:endParaRPr>
          </a:p>
          <a:p>
            <a:pPr algn="just" fontAlgn="base">
              <a:lnSpc>
                <a:spcPts val="2100"/>
              </a:lnSpc>
            </a:pPr>
            <a:endParaRPr lang="en-US">
              <a:solidFill>
                <a:srgbClr val="000000"/>
              </a:solidFill>
              <a:highlight>
                <a:srgbClr val="FFFFFF"/>
              </a:highlight>
              <a:latin typeface="Calibri" panose="020F0502020204030204"/>
              <a:ea typeface="Calibri"/>
              <a:cs typeface="Calibri"/>
            </a:endParaRPr>
          </a:p>
          <a:p>
            <a:pPr algn="just" fontAlgn="base">
              <a:lnSpc>
                <a:spcPts val="2100"/>
              </a:lnSpc>
              <a:buFont typeface="Arial" panose="020B0604020202020204" pitchFamily="34" charset="0"/>
              <a:buChar char="•"/>
            </a:pPr>
            <a:endParaRPr lang="en-US">
              <a:solidFill>
                <a:srgbClr val="000000"/>
              </a:solidFill>
              <a:highlight>
                <a:srgbClr val="FFFFFF"/>
              </a:highlight>
              <a:latin typeface="Calibri" panose="020F0502020204030204"/>
              <a:ea typeface="Calibri"/>
              <a:cs typeface="Calibri"/>
            </a:endParaRPr>
          </a:p>
          <a:p>
            <a:pPr algn="just" fontAlgn="base">
              <a:lnSpc>
                <a:spcPts val="2100"/>
              </a:lnSpc>
              <a:buFont typeface="Arial" panose="020B0604020202020204" pitchFamily="34" charset="0"/>
              <a:buChar char="•"/>
            </a:pPr>
            <a:endParaRPr lang="fr-FR">
              <a:solidFill>
                <a:srgbClr val="000000"/>
              </a:solidFill>
              <a:latin typeface="Arial" panose="020B0604020202020204" pitchFamily="34" charset="0"/>
              <a:cs typeface="Arial" panose="020B0604020202020204" pitchFamily="34" charset="0"/>
            </a:endParaRPr>
          </a:p>
          <a:p>
            <a:pPr algn="just">
              <a:lnSpc>
                <a:spcPts val="2100"/>
              </a:lnSpc>
              <a:buFont typeface="Arial" panose="020B0604020202020204" pitchFamily="34" charset="0"/>
              <a:buChar char="•"/>
            </a:pPr>
            <a:endParaRPr lang="fr-FR">
              <a:solidFill>
                <a:srgbClr val="000000"/>
              </a:solidFill>
              <a:latin typeface="Arial" panose="020B0604020202020204" pitchFamily="34" charset="0"/>
              <a:cs typeface="Arial"/>
            </a:endParaRPr>
          </a:p>
        </p:txBody>
      </p:sp>
      <p:sp>
        <p:nvSpPr>
          <p:cNvPr id="5" name="Rectangle: Rounded Corners 4">
            <a:extLst>
              <a:ext uri="{FF2B5EF4-FFF2-40B4-BE49-F238E27FC236}">
                <a16:creationId xmlns:a16="http://schemas.microsoft.com/office/drawing/2014/main" id="{0C27B4B2-89D7-A048-F9B2-164870BC5520}"/>
              </a:ext>
            </a:extLst>
          </p:cNvPr>
          <p:cNvSpPr/>
          <p:nvPr/>
        </p:nvSpPr>
        <p:spPr>
          <a:xfrm>
            <a:off x="541566" y="3689348"/>
            <a:ext cx="8615134" cy="2015672"/>
          </a:xfrm>
          <a:prstGeom prst="roundRect">
            <a:avLst/>
          </a:prstGeom>
          <a:solidFill>
            <a:schemeClr val="bg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BE1BE79-F551-DDDE-11EB-8790617D04EA}"/>
              </a:ext>
            </a:extLst>
          </p:cNvPr>
          <p:cNvSpPr txBox="1"/>
          <p:nvPr/>
        </p:nvSpPr>
        <p:spPr>
          <a:xfrm>
            <a:off x="650421" y="3829957"/>
            <a:ext cx="4109357"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err="1">
                <a:solidFill>
                  <a:srgbClr val="E4003A"/>
                </a:solidFill>
                <a:latin typeface="Montserrat"/>
              </a:rPr>
              <a:t>Salariés</a:t>
            </a:r>
            <a:r>
              <a:rPr lang="en-US" sz="1600" b="1">
                <a:solidFill>
                  <a:srgbClr val="E4003A"/>
                </a:solidFill>
                <a:latin typeface="Montserrat"/>
              </a:rPr>
              <a:t> ELIGIBLES </a:t>
            </a:r>
          </a:p>
        </p:txBody>
      </p:sp>
      <p:sp>
        <p:nvSpPr>
          <p:cNvPr id="7" name="TextBox 6">
            <a:extLst>
              <a:ext uri="{FF2B5EF4-FFF2-40B4-BE49-F238E27FC236}">
                <a16:creationId xmlns:a16="http://schemas.microsoft.com/office/drawing/2014/main" id="{D51CB93A-FD5F-6002-32F4-8B4AF8592429}"/>
              </a:ext>
            </a:extLst>
          </p:cNvPr>
          <p:cNvSpPr txBox="1"/>
          <p:nvPr/>
        </p:nvSpPr>
        <p:spPr>
          <a:xfrm>
            <a:off x="650421" y="4947556"/>
            <a:ext cx="3964214"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err="1">
                <a:solidFill>
                  <a:srgbClr val="E4003A"/>
                </a:solidFill>
                <a:latin typeface="Montserrat"/>
              </a:rPr>
              <a:t>Paruption</a:t>
            </a:r>
            <a:r>
              <a:rPr lang="en-US" sz="1600" b="1">
                <a:solidFill>
                  <a:srgbClr val="E4003A"/>
                </a:solidFill>
                <a:latin typeface="Montserrat"/>
              </a:rPr>
              <a:t> des </a:t>
            </a:r>
            <a:r>
              <a:rPr lang="en-US" sz="1600" b="1" err="1">
                <a:solidFill>
                  <a:srgbClr val="E4003A"/>
                </a:solidFill>
                <a:latin typeface="Montserrat"/>
              </a:rPr>
              <a:t>Décrets</a:t>
            </a:r>
            <a:endParaRPr lang="en-US" sz="1600" b="1" err="1">
              <a:solidFill>
                <a:srgbClr val="E4003A"/>
              </a:solidFill>
              <a:latin typeface="Montserrat"/>
              <a:ea typeface="Calibri" panose="020F0502020204030204"/>
              <a:cs typeface="Calibri" panose="020F0502020204030204"/>
            </a:endParaRPr>
          </a:p>
          <a:p>
            <a:r>
              <a:rPr lang="en-US" sz="1600" i="1">
                <a:solidFill>
                  <a:srgbClr val="E4003A"/>
                </a:solidFill>
                <a:latin typeface="Montserrat"/>
              </a:rPr>
              <a:t>(</a:t>
            </a:r>
            <a:r>
              <a:rPr lang="en-US" sz="1600" i="1" err="1">
                <a:solidFill>
                  <a:srgbClr val="E4003A"/>
                </a:solidFill>
                <a:latin typeface="Montserrat"/>
              </a:rPr>
              <a:t>nouvelles</a:t>
            </a:r>
            <a:r>
              <a:rPr lang="en-US" sz="1600" i="1">
                <a:solidFill>
                  <a:srgbClr val="E4003A"/>
                </a:solidFill>
                <a:latin typeface="Montserrat"/>
              </a:rPr>
              <a:t> </a:t>
            </a:r>
            <a:r>
              <a:rPr lang="en-US" sz="1600" i="1" err="1">
                <a:solidFill>
                  <a:srgbClr val="E4003A"/>
                </a:solidFill>
                <a:latin typeface="Montserrat"/>
              </a:rPr>
              <a:t>règles</a:t>
            </a:r>
            <a:r>
              <a:rPr lang="en-US" sz="1600" i="1">
                <a:solidFill>
                  <a:srgbClr val="E4003A"/>
                </a:solidFill>
                <a:latin typeface="Montserrat"/>
              </a:rPr>
              <a:t> au 01/01/2026)</a:t>
            </a:r>
            <a:endParaRPr lang="en-US">
              <a:ea typeface="Calibri" panose="020F0502020204030204"/>
              <a:cs typeface="Calibri" panose="020F0502020204030204"/>
            </a:endParaRPr>
          </a:p>
        </p:txBody>
      </p:sp>
      <p:sp>
        <p:nvSpPr>
          <p:cNvPr id="8" name="Rectangle: Rounded Corners 7">
            <a:extLst>
              <a:ext uri="{FF2B5EF4-FFF2-40B4-BE49-F238E27FC236}">
                <a16:creationId xmlns:a16="http://schemas.microsoft.com/office/drawing/2014/main" id="{BA9E2EF6-1943-841E-40E9-74E6580D0DE9}"/>
              </a:ext>
            </a:extLst>
          </p:cNvPr>
          <p:cNvSpPr/>
          <p:nvPr/>
        </p:nvSpPr>
        <p:spPr>
          <a:xfrm>
            <a:off x="4416877" y="3689347"/>
            <a:ext cx="4478563" cy="702129"/>
          </a:xfrm>
          <a:prstGeom prst="roundRect">
            <a:avLst/>
          </a:prstGeom>
          <a:solidFill>
            <a:schemeClr val="bg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54546B0-54D2-60E6-8782-4EB7D65EAA86}"/>
              </a:ext>
            </a:extLst>
          </p:cNvPr>
          <p:cNvSpPr txBox="1"/>
          <p:nvPr/>
        </p:nvSpPr>
        <p:spPr>
          <a:xfrm>
            <a:off x="4416877" y="3858985"/>
            <a:ext cx="4109357"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highlight>
                  <a:srgbClr val="FFFFFF"/>
                </a:highlight>
                <a:latin typeface="Montserrat"/>
              </a:rPr>
              <a:t>ENFANTS NES EN 2025</a:t>
            </a:r>
            <a:r>
              <a:rPr lang="en-US" sz="1600">
                <a:latin typeface="Montserrat"/>
              </a:rPr>
              <a:t> </a:t>
            </a:r>
          </a:p>
        </p:txBody>
      </p:sp>
      <p:sp>
        <p:nvSpPr>
          <p:cNvPr id="10" name="Rectangle: Rounded Corners 9">
            <a:extLst>
              <a:ext uri="{FF2B5EF4-FFF2-40B4-BE49-F238E27FC236}">
                <a16:creationId xmlns:a16="http://schemas.microsoft.com/office/drawing/2014/main" id="{A30ACCDC-8415-FDC0-5DD2-03E76E2BD512}"/>
              </a:ext>
            </a:extLst>
          </p:cNvPr>
          <p:cNvSpPr/>
          <p:nvPr/>
        </p:nvSpPr>
        <p:spPr>
          <a:xfrm>
            <a:off x="6978646" y="3391806"/>
            <a:ext cx="3389993" cy="586014"/>
          </a:xfrm>
          <a:prstGeom prst="roundRect">
            <a:avLst/>
          </a:prstGeom>
          <a:solidFill>
            <a:srgbClr val="FFFFFF"/>
          </a:solidFill>
          <a:ln w="28575">
            <a:solidFill>
              <a:srgbClr val="E4003A"/>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solidFill>
                  <a:srgbClr val="E4003A"/>
                </a:solidFill>
                <a:latin typeface="Montserrat"/>
              </a:rPr>
              <a:t>La naissance </a:t>
            </a:r>
            <a:r>
              <a:rPr lang="en-US" sz="1600" b="1" err="1">
                <a:solidFill>
                  <a:srgbClr val="E4003A"/>
                </a:solidFill>
                <a:latin typeface="Montserrat"/>
              </a:rPr>
              <a:t>était</a:t>
            </a:r>
            <a:r>
              <a:rPr lang="en-US" sz="1600" b="1">
                <a:solidFill>
                  <a:srgbClr val="E4003A"/>
                </a:solidFill>
                <a:latin typeface="Montserrat"/>
              </a:rPr>
              <a:t> </a:t>
            </a:r>
            <a:r>
              <a:rPr lang="en-US" sz="1600" b="1" err="1">
                <a:solidFill>
                  <a:srgbClr val="E4003A"/>
                </a:solidFill>
                <a:latin typeface="Montserrat"/>
              </a:rPr>
              <a:t>prévue</a:t>
            </a:r>
            <a:r>
              <a:rPr lang="en-US" sz="1600" b="1">
                <a:solidFill>
                  <a:srgbClr val="E4003A"/>
                </a:solidFill>
                <a:latin typeface="Montserrat"/>
              </a:rPr>
              <a:t> pour 2025</a:t>
            </a:r>
          </a:p>
        </p:txBody>
      </p:sp>
      <p:sp>
        <p:nvSpPr>
          <p:cNvPr id="11" name="Rectangle: Rounded Corners 10">
            <a:extLst>
              <a:ext uri="{FF2B5EF4-FFF2-40B4-BE49-F238E27FC236}">
                <a16:creationId xmlns:a16="http://schemas.microsoft.com/office/drawing/2014/main" id="{8AACA005-5534-FEC7-1B53-C953B8BCFC63}"/>
              </a:ext>
            </a:extLst>
          </p:cNvPr>
          <p:cNvSpPr/>
          <p:nvPr/>
        </p:nvSpPr>
        <p:spPr>
          <a:xfrm>
            <a:off x="6978646" y="4146547"/>
            <a:ext cx="4456792" cy="506187"/>
          </a:xfrm>
          <a:prstGeom prst="roundRect">
            <a:avLst/>
          </a:prstGeom>
          <a:solidFill>
            <a:srgbClr val="FFFFFF"/>
          </a:solid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600" b="1">
                <a:solidFill>
                  <a:schemeClr val="tx1"/>
                </a:solidFill>
                <a:latin typeface="Montserrat"/>
              </a:rPr>
              <a:t>La naissance </a:t>
            </a:r>
            <a:r>
              <a:rPr lang="en-US" sz="1600" b="1" err="1">
                <a:solidFill>
                  <a:schemeClr val="tx1"/>
                </a:solidFill>
                <a:latin typeface="Montserrat"/>
              </a:rPr>
              <a:t>était</a:t>
            </a:r>
            <a:r>
              <a:rPr lang="en-US" sz="1600" b="1">
                <a:solidFill>
                  <a:schemeClr val="tx1"/>
                </a:solidFill>
                <a:latin typeface="Montserrat"/>
              </a:rPr>
              <a:t> </a:t>
            </a:r>
            <a:r>
              <a:rPr lang="en-US" sz="1600" b="1" err="1">
                <a:solidFill>
                  <a:schemeClr val="tx1"/>
                </a:solidFill>
                <a:latin typeface="Montserrat"/>
              </a:rPr>
              <a:t>prévue</a:t>
            </a:r>
            <a:r>
              <a:rPr lang="en-US" sz="1600" b="1">
                <a:solidFill>
                  <a:schemeClr val="tx1"/>
                </a:solidFill>
                <a:latin typeface="Montserrat"/>
              </a:rPr>
              <a:t> pour</a:t>
            </a:r>
            <a:r>
              <a:rPr lang="en-US" sz="1600" b="1">
                <a:solidFill>
                  <a:srgbClr val="E4003A"/>
                </a:solidFill>
                <a:latin typeface="Montserrat"/>
              </a:rPr>
              <a:t> </a:t>
            </a:r>
            <a:r>
              <a:rPr lang="en-US" sz="1600" b="1">
                <a:solidFill>
                  <a:srgbClr val="00B050"/>
                </a:solidFill>
                <a:latin typeface="Montserrat"/>
              </a:rPr>
              <a:t>2026</a:t>
            </a:r>
            <a:r>
              <a:rPr lang="en-US" sz="1600" b="1">
                <a:solidFill>
                  <a:srgbClr val="E4003A"/>
                </a:solidFill>
                <a:latin typeface="Montserrat"/>
              </a:rPr>
              <a:t> </a:t>
            </a:r>
            <a:r>
              <a:rPr lang="en-US" sz="1600" b="1">
                <a:solidFill>
                  <a:schemeClr val="tx1"/>
                </a:solidFill>
                <a:latin typeface="Montserrat"/>
              </a:rPr>
              <a:t>(Accouchement </a:t>
            </a:r>
            <a:r>
              <a:rPr lang="en-US" sz="1600" b="1" err="1">
                <a:solidFill>
                  <a:schemeClr val="tx1"/>
                </a:solidFill>
                <a:latin typeface="Montserrat"/>
              </a:rPr>
              <a:t>prématuré</a:t>
            </a:r>
            <a:r>
              <a:rPr lang="en-US" sz="1600" b="1">
                <a:solidFill>
                  <a:schemeClr val="tx1"/>
                </a:solidFill>
                <a:latin typeface="Montserrat"/>
              </a:rPr>
              <a:t> pour 2025)</a:t>
            </a:r>
            <a:r>
              <a:rPr lang="en-US" sz="1600" b="1">
                <a:solidFill>
                  <a:srgbClr val="E4003A"/>
                </a:solidFill>
                <a:latin typeface="Montserrat"/>
              </a:rPr>
              <a:t> </a:t>
            </a:r>
          </a:p>
        </p:txBody>
      </p:sp>
      <p:sp>
        <p:nvSpPr>
          <p:cNvPr id="12" name="Rectangle: Rounded Corners 11">
            <a:extLst>
              <a:ext uri="{FF2B5EF4-FFF2-40B4-BE49-F238E27FC236}">
                <a16:creationId xmlns:a16="http://schemas.microsoft.com/office/drawing/2014/main" id="{FA01F74D-A1B8-A485-275C-D9333915FFDA}"/>
              </a:ext>
            </a:extLst>
          </p:cNvPr>
          <p:cNvSpPr/>
          <p:nvPr/>
        </p:nvSpPr>
        <p:spPr>
          <a:xfrm>
            <a:off x="4416876" y="4865003"/>
            <a:ext cx="4500335" cy="832758"/>
          </a:xfrm>
          <a:prstGeom prst="roundRect">
            <a:avLst/>
          </a:prstGeom>
          <a:solidFill>
            <a:schemeClr val="bg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39B56910-37A3-16D0-6B17-9FAD64A67AE6}"/>
              </a:ext>
            </a:extLst>
          </p:cNvPr>
          <p:cNvSpPr txBox="1"/>
          <p:nvPr/>
        </p:nvSpPr>
        <p:spPr>
          <a:xfrm>
            <a:off x="4416876" y="4867726"/>
            <a:ext cx="4109357"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highlight>
                  <a:srgbClr val="FFFFFF"/>
                </a:highlight>
                <a:latin typeface="Montserrat"/>
              </a:rPr>
              <a:t>ENFANTS NES EN 2026</a:t>
            </a:r>
          </a:p>
          <a:p>
            <a:endParaRPr lang="en-US" sz="1600">
              <a:highlight>
                <a:srgbClr val="FFFFFF"/>
              </a:highlight>
              <a:latin typeface="Montserrat"/>
            </a:endParaRPr>
          </a:p>
          <a:p>
            <a:r>
              <a:rPr lang="en-US" sz="1600">
                <a:highlight>
                  <a:srgbClr val="FFFFFF"/>
                </a:highlight>
                <a:latin typeface="Montserrat"/>
              </a:rPr>
              <a:t>ENFANTS ADOPTES EN 2026</a:t>
            </a:r>
            <a:endParaRPr lang="en-US" sz="1600">
              <a:highlight>
                <a:srgbClr val="FFFFFF"/>
              </a:highlight>
            </a:endParaRPr>
          </a:p>
        </p:txBody>
      </p:sp>
      <p:pic>
        <p:nvPicPr>
          <p:cNvPr id="14" name="Picture 13">
            <a:extLst>
              <a:ext uri="{FF2B5EF4-FFF2-40B4-BE49-F238E27FC236}">
                <a16:creationId xmlns:a16="http://schemas.microsoft.com/office/drawing/2014/main" id="{11DD8765-83EF-1EE3-22C2-D657BDA705A7}"/>
              </a:ext>
            </a:extLst>
          </p:cNvPr>
          <p:cNvPicPr>
            <a:picLocks noChangeAspect="1"/>
          </p:cNvPicPr>
          <p:nvPr/>
        </p:nvPicPr>
        <p:blipFill>
          <a:blip r:embed="rId3"/>
          <a:stretch>
            <a:fillRect/>
          </a:stretch>
        </p:blipFill>
        <p:spPr>
          <a:xfrm>
            <a:off x="10081759" y="3456440"/>
            <a:ext cx="570139" cy="460374"/>
          </a:xfrm>
          <a:prstGeom prst="rect">
            <a:avLst/>
          </a:prstGeom>
        </p:spPr>
      </p:pic>
      <p:pic>
        <p:nvPicPr>
          <p:cNvPr id="15" name="Picture 14">
            <a:extLst>
              <a:ext uri="{FF2B5EF4-FFF2-40B4-BE49-F238E27FC236}">
                <a16:creationId xmlns:a16="http://schemas.microsoft.com/office/drawing/2014/main" id="{6BC10026-E2F5-266C-12BE-75C3B9C7AF5D}"/>
              </a:ext>
            </a:extLst>
          </p:cNvPr>
          <p:cNvPicPr>
            <a:picLocks noChangeAspect="1"/>
          </p:cNvPicPr>
          <p:nvPr/>
        </p:nvPicPr>
        <p:blipFill>
          <a:blip r:embed="rId4"/>
          <a:stretch>
            <a:fillRect/>
          </a:stretch>
        </p:blipFill>
        <p:spPr>
          <a:xfrm>
            <a:off x="11292567" y="4196216"/>
            <a:ext cx="470807" cy="410482"/>
          </a:xfrm>
          <a:prstGeom prst="rect">
            <a:avLst/>
          </a:prstGeom>
        </p:spPr>
      </p:pic>
    </p:spTree>
    <p:extLst>
      <p:ext uri="{BB962C8B-B14F-4D97-AF65-F5344CB8AC3E}">
        <p14:creationId xmlns:p14="http://schemas.microsoft.com/office/powerpoint/2010/main" val="6438849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44F3F-8499-C20B-EAD2-23CCF7F88718}"/>
            </a:ext>
          </a:extLst>
        </p:cNvPr>
        <p:cNvGrpSpPr/>
        <p:nvPr/>
      </p:nvGrpSpPr>
      <p:grpSpPr>
        <a:xfrm>
          <a:off x="0" y="0"/>
          <a:ext cx="0" cy="0"/>
          <a:chOff x="0" y="0"/>
          <a:chExt cx="0" cy="0"/>
        </a:xfrm>
      </p:grpSpPr>
      <p:sp>
        <p:nvSpPr>
          <p:cNvPr id="2" name="ZoneTexte 7">
            <a:extLst>
              <a:ext uri="{FF2B5EF4-FFF2-40B4-BE49-F238E27FC236}">
                <a16:creationId xmlns:a16="http://schemas.microsoft.com/office/drawing/2014/main" id="{C21F4068-6040-F7CC-1F55-59D34489E917}"/>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err="1">
                <a:solidFill>
                  <a:srgbClr val="5E152C"/>
                </a:solidFill>
                <a:latin typeface="Montserrat Light"/>
              </a:rPr>
              <a:t>ActualitÉ</a:t>
            </a:r>
            <a:r>
              <a:rPr lang="fr-FR" sz="3500" cap="all">
                <a:solidFill>
                  <a:srgbClr val="5E152C"/>
                </a:solidFill>
                <a:latin typeface="Montserrat Light"/>
              </a:rPr>
              <a:t> PAIE</a:t>
            </a:r>
            <a:endParaRPr lang="fr-FR" sz="3500" b="1" cap="all">
              <a:solidFill>
                <a:srgbClr val="5E152C"/>
              </a:solidFill>
              <a:latin typeface="Montserrat Black" panose="00000A00000000000000" pitchFamily="2" charset="0"/>
            </a:endParaRPr>
          </a:p>
        </p:txBody>
      </p:sp>
      <p:sp>
        <p:nvSpPr>
          <p:cNvPr id="4" name="ZoneTexte 3">
            <a:extLst>
              <a:ext uri="{FF2B5EF4-FFF2-40B4-BE49-F238E27FC236}">
                <a16:creationId xmlns:a16="http://schemas.microsoft.com/office/drawing/2014/main" id="{1185BBCA-09AD-AE2E-B094-4C198B96F38C}"/>
              </a:ext>
            </a:extLst>
          </p:cNvPr>
          <p:cNvSpPr txBox="1"/>
          <p:nvPr/>
        </p:nvSpPr>
        <p:spPr>
          <a:xfrm>
            <a:off x="213830" y="1886991"/>
            <a:ext cx="8937938" cy="1720984"/>
          </a:xfrm>
          <a:prstGeom prst="rect">
            <a:avLst/>
          </a:prstGeom>
          <a:noFill/>
        </p:spPr>
        <p:txBody>
          <a:bodyPr wrap="square" lIns="91440" tIns="45720" rIns="91440" bIns="45720" anchor="t">
            <a:spAutoFit/>
          </a:bodyPr>
          <a:lstStyle/>
          <a:p>
            <a:pPr algn="l" rtl="0" fontAlgn="base">
              <a:lnSpc>
                <a:spcPts val="2400"/>
              </a:lnSpc>
              <a:buNone/>
            </a:pPr>
            <a:r>
              <a:rPr lang="fr-FR" b="1">
                <a:solidFill>
                  <a:srgbClr val="E4003A"/>
                </a:solidFill>
                <a:latin typeface="Montserrat"/>
              </a:rPr>
              <a:t>Création d’un congé supplémentaire de naissance:</a:t>
            </a:r>
            <a:r>
              <a:rPr lang="fr-FR" sz="2400" b="1" i="0" u="none" strike="noStrike">
                <a:solidFill>
                  <a:srgbClr val="68BBB4"/>
                </a:solidFill>
                <a:effectLst/>
                <a:latin typeface="Calibri"/>
                <a:ea typeface="Calibri"/>
                <a:cs typeface="Calibri"/>
              </a:rPr>
              <a:t> </a:t>
            </a:r>
            <a:r>
              <a:rPr lang="en-US" sz="2400" b="0" i="0">
                <a:solidFill>
                  <a:srgbClr val="000000"/>
                </a:solidFill>
                <a:effectLst/>
                <a:latin typeface="Calibri"/>
                <a:ea typeface="Calibri"/>
                <a:cs typeface="Calibri"/>
              </a:rPr>
              <a:t>​</a:t>
            </a:r>
            <a:endParaRPr lang="en-US" b="0" i="0">
              <a:solidFill>
                <a:srgbClr val="000000"/>
              </a:solidFill>
              <a:effectLst/>
              <a:latin typeface="Segoe UI" panose="020B0502040204020203" pitchFamily="34" charset="0"/>
              <a:ea typeface="Calibri"/>
              <a:cs typeface="Segoe UI" panose="020B0502040204020203" pitchFamily="34" charset="0"/>
            </a:endParaRPr>
          </a:p>
          <a:p>
            <a:pPr algn="just">
              <a:lnSpc>
                <a:spcPts val="1875"/>
              </a:lnSpc>
            </a:pPr>
            <a:endParaRPr lang="fr-FR">
              <a:highlight>
                <a:srgbClr val="FFFFFF"/>
              </a:highlight>
              <a:latin typeface="Calibri" panose="020F0502020204030204"/>
              <a:ea typeface="Calibri"/>
              <a:cs typeface="Calibri"/>
            </a:endParaRPr>
          </a:p>
          <a:p>
            <a:pPr algn="just" fontAlgn="base">
              <a:lnSpc>
                <a:spcPts val="2100"/>
              </a:lnSpc>
            </a:pPr>
            <a:endParaRPr lang="en-US">
              <a:highlight>
                <a:srgbClr val="FFFFFF"/>
              </a:highlight>
              <a:ea typeface="Calibri"/>
              <a:cs typeface="Calibri"/>
            </a:endParaRPr>
          </a:p>
          <a:p>
            <a:pPr algn="just" fontAlgn="base">
              <a:lnSpc>
                <a:spcPts val="2100"/>
              </a:lnSpc>
              <a:buFont typeface="Arial" panose="020B0604020202020204" pitchFamily="34" charset="0"/>
              <a:buChar char="•"/>
            </a:pPr>
            <a:endParaRPr lang="en-US">
              <a:highlight>
                <a:srgbClr val="FFFFFF"/>
              </a:highlight>
              <a:ea typeface="Calibri"/>
              <a:cs typeface="Calibri"/>
            </a:endParaRPr>
          </a:p>
          <a:p>
            <a:pPr algn="just" rtl="0" fontAlgn="base">
              <a:lnSpc>
                <a:spcPts val="2100"/>
              </a:lnSpc>
              <a:buFont typeface="Arial" panose="020B0604020202020204" pitchFamily="34" charset="0"/>
              <a:buChar char="•"/>
            </a:pPr>
            <a:endParaRPr lang="fr-FR">
              <a:latin typeface="Arial" panose="020B0604020202020204" pitchFamily="34" charset="0"/>
              <a:ea typeface="Calibri"/>
              <a:cs typeface="Arial" panose="020B0604020202020204" pitchFamily="34" charset="0"/>
            </a:endParaRPr>
          </a:p>
          <a:p>
            <a:pPr algn="just" rtl="0">
              <a:lnSpc>
                <a:spcPts val="2100"/>
              </a:lnSpc>
              <a:buFont typeface="Arial" panose="020B0604020202020204" pitchFamily="34" charset="0"/>
              <a:buChar char="•"/>
            </a:pPr>
            <a:endParaRPr lang="fr-FR" b="0" i="0">
              <a:solidFill>
                <a:srgbClr val="000000"/>
              </a:solidFill>
              <a:effectLst/>
              <a:latin typeface="Arial" panose="020B0604020202020204" pitchFamily="34" charset="0"/>
              <a:cs typeface="Arial"/>
            </a:endParaRPr>
          </a:p>
        </p:txBody>
      </p:sp>
      <p:pic>
        <p:nvPicPr>
          <p:cNvPr id="3" name="Image 2" descr="Une image contenant texte, capture d’écran, Police&#10;&#10;Le contenu généré par l’IA peut être incorrect.">
            <a:extLst>
              <a:ext uri="{FF2B5EF4-FFF2-40B4-BE49-F238E27FC236}">
                <a16:creationId xmlns:a16="http://schemas.microsoft.com/office/drawing/2014/main" id="{98D3E861-273C-FF29-191A-51D368C5B673}"/>
              </a:ext>
            </a:extLst>
          </p:cNvPr>
          <p:cNvPicPr>
            <a:picLocks noChangeAspect="1"/>
          </p:cNvPicPr>
          <p:nvPr/>
        </p:nvPicPr>
        <p:blipFill>
          <a:blip r:embed="rId3"/>
          <a:srcRect l="2126" t="34615" r="518" b="256"/>
          <a:stretch>
            <a:fillRect/>
          </a:stretch>
        </p:blipFill>
        <p:spPr>
          <a:xfrm>
            <a:off x="214541" y="2254027"/>
            <a:ext cx="10943060" cy="4042632"/>
          </a:xfrm>
          <a:prstGeom prst="rect">
            <a:avLst/>
          </a:prstGeom>
        </p:spPr>
      </p:pic>
    </p:spTree>
    <p:extLst>
      <p:ext uri="{BB962C8B-B14F-4D97-AF65-F5344CB8AC3E}">
        <p14:creationId xmlns:p14="http://schemas.microsoft.com/office/powerpoint/2010/main" val="26430807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6AAD8-FDEA-8274-0FA7-A1C74318BE38}"/>
            </a:ext>
          </a:extLst>
        </p:cNvPr>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6D98A84A-1DFD-8B72-B346-3C2395ED4602}"/>
              </a:ext>
            </a:extLst>
          </p:cNvPr>
          <p:cNvSpPr/>
          <p:nvPr/>
        </p:nvSpPr>
        <p:spPr>
          <a:xfrm>
            <a:off x="991639" y="5326411"/>
            <a:ext cx="7450666" cy="1166165"/>
          </a:xfrm>
          <a:prstGeom prst="roundRect">
            <a:avLst/>
          </a:prstGeom>
          <a:solidFill>
            <a:schemeClr val="bg1"/>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ZoneTexte 7">
            <a:extLst>
              <a:ext uri="{FF2B5EF4-FFF2-40B4-BE49-F238E27FC236}">
                <a16:creationId xmlns:a16="http://schemas.microsoft.com/office/drawing/2014/main" id="{BC0DC48D-5328-7682-7396-A7CE828584C6}"/>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b="1" cap="all">
                <a:solidFill>
                  <a:srgbClr val="5E152C"/>
                </a:solidFill>
                <a:latin typeface="Montserrat Light"/>
              </a:rPr>
              <a:t>Actualités PAIE</a:t>
            </a:r>
            <a:endParaRPr lang="fr-FR" sz="3500" b="1" cap="all">
              <a:solidFill>
                <a:srgbClr val="5E152C"/>
              </a:solidFill>
              <a:latin typeface="Montserrat Black" panose="00000A00000000000000" pitchFamily="2" charset="0"/>
            </a:endParaRPr>
          </a:p>
        </p:txBody>
      </p:sp>
      <p:sp>
        <p:nvSpPr>
          <p:cNvPr id="4" name="ZoneTexte 3">
            <a:extLst>
              <a:ext uri="{FF2B5EF4-FFF2-40B4-BE49-F238E27FC236}">
                <a16:creationId xmlns:a16="http://schemas.microsoft.com/office/drawing/2014/main" id="{A28E8716-65BD-39CC-8092-8C991A7074B4}"/>
              </a:ext>
            </a:extLst>
          </p:cNvPr>
          <p:cNvSpPr txBox="1"/>
          <p:nvPr/>
        </p:nvSpPr>
        <p:spPr>
          <a:xfrm>
            <a:off x="510380" y="1712662"/>
            <a:ext cx="11441825" cy="369332"/>
          </a:xfrm>
          <a:prstGeom prst="rect">
            <a:avLst/>
          </a:prstGeom>
          <a:noFill/>
        </p:spPr>
        <p:txBody>
          <a:bodyPr wrap="square" lIns="91440" tIns="45720" rIns="91440" bIns="45720" rtlCol="0" anchor="t">
            <a:spAutoFit/>
          </a:bodyPr>
          <a:lstStyle/>
          <a:p>
            <a:r>
              <a:rPr lang="fr-FR" b="1">
                <a:solidFill>
                  <a:srgbClr val="E4003A"/>
                </a:solidFill>
                <a:latin typeface="Montserrat"/>
              </a:rPr>
              <a:t>Prime carburant  (prime transport) - déplacements domicile/travail </a:t>
            </a:r>
            <a:endParaRPr lang="fr-FR" b="1" u="sng">
              <a:solidFill>
                <a:srgbClr val="6ABEB8"/>
              </a:solidFill>
              <a:latin typeface="Montserrat" pitchFamily="2" charset="0"/>
            </a:endParaRPr>
          </a:p>
        </p:txBody>
      </p:sp>
      <p:sp>
        <p:nvSpPr>
          <p:cNvPr id="5" name="ZoneTexte 4">
            <a:extLst>
              <a:ext uri="{FF2B5EF4-FFF2-40B4-BE49-F238E27FC236}">
                <a16:creationId xmlns:a16="http://schemas.microsoft.com/office/drawing/2014/main" id="{22D74276-7D77-8C41-A29B-114BD0D08202}"/>
              </a:ext>
            </a:extLst>
          </p:cNvPr>
          <p:cNvSpPr txBox="1"/>
          <p:nvPr/>
        </p:nvSpPr>
        <p:spPr>
          <a:xfrm>
            <a:off x="691796" y="2116307"/>
            <a:ext cx="10826360" cy="4278094"/>
          </a:xfrm>
          <a:prstGeom prst="rect">
            <a:avLst/>
          </a:prstGeom>
          <a:noFill/>
        </p:spPr>
        <p:txBody>
          <a:bodyPr wrap="square" lIns="91440" tIns="45720" rIns="91440" bIns="45720" anchor="t">
            <a:spAutoFit/>
          </a:bodyPr>
          <a:lstStyle/>
          <a:p>
            <a:r>
              <a:rPr lang="fr-FR" sz="1600" u="sng">
                <a:latin typeface="Montserrat Light"/>
                <a:ea typeface="Calibri"/>
                <a:cs typeface="Calibri"/>
              </a:rPr>
              <a:t>Bénéficiaires </a:t>
            </a:r>
            <a:r>
              <a:rPr lang="fr-FR" sz="1600">
                <a:latin typeface="Montserrat Light"/>
                <a:ea typeface="Calibri"/>
                <a:cs typeface="Calibri"/>
              </a:rPr>
              <a:t>: </a:t>
            </a:r>
            <a:endParaRPr lang="en-US">
              <a:ea typeface="Calibri"/>
              <a:cs typeface="Calibri"/>
            </a:endParaRPr>
          </a:p>
          <a:p>
            <a:endParaRPr lang="fr-FR" sz="1600">
              <a:solidFill>
                <a:srgbClr val="000000"/>
              </a:solidFill>
              <a:latin typeface="Montserrat Light"/>
              <a:ea typeface="Calibri"/>
              <a:cs typeface="Calibri"/>
            </a:endParaRPr>
          </a:p>
          <a:p>
            <a:pPr marL="285750" indent="-285750">
              <a:buFont typeface="Calibri"/>
              <a:buChar char="-"/>
            </a:pPr>
            <a:r>
              <a:rPr lang="fr-FR" sz="1600">
                <a:solidFill>
                  <a:srgbClr val="000000"/>
                </a:solidFill>
                <a:latin typeface="Montserrat Light"/>
                <a:ea typeface="Calibri"/>
                <a:cs typeface="Calibri"/>
              </a:rPr>
              <a:t>Soit la résidence habituelle ou le lieu de travail est situé dans une commune non desservie par un  transport collectif régulier</a:t>
            </a:r>
            <a:endParaRPr lang="fr-FR" sz="1600">
              <a:solidFill>
                <a:srgbClr val="000000"/>
              </a:solidFill>
              <a:highlight>
                <a:srgbClr val="FFFF00"/>
              </a:highlight>
              <a:latin typeface="Montserrat Light"/>
              <a:ea typeface="Calibri"/>
              <a:cs typeface="Calibri"/>
            </a:endParaRPr>
          </a:p>
          <a:p>
            <a:pPr marL="285750" indent="-285750">
              <a:buFont typeface="Calibri"/>
              <a:buChar char="-"/>
            </a:pPr>
            <a:endParaRPr lang="fr-FR" sz="1600">
              <a:solidFill>
                <a:srgbClr val="000000"/>
              </a:solidFill>
              <a:latin typeface="Montserrat Light"/>
              <a:ea typeface="Calibri"/>
              <a:cs typeface="Calibri"/>
            </a:endParaRPr>
          </a:p>
          <a:p>
            <a:pPr marL="285750" indent="-285750">
              <a:buFont typeface="Calibri"/>
              <a:buChar char="-"/>
            </a:pPr>
            <a:r>
              <a:rPr lang="fr-FR" sz="1600">
                <a:solidFill>
                  <a:srgbClr val="000000"/>
                </a:solidFill>
                <a:latin typeface="Montserrat Light"/>
                <a:ea typeface="Calibri"/>
                <a:cs typeface="Calibri"/>
              </a:rPr>
              <a:t>Soit l'utilisation du véhicule personnel est rendue indispensable en raison des horaires de travail particuliers ne permettant pas d'emprunter un mode collectif de transport. </a:t>
            </a:r>
            <a:endParaRPr lang="fr-FR" sz="1600">
              <a:solidFill>
                <a:srgbClr val="000000"/>
              </a:solidFill>
              <a:latin typeface="Montserrat Light" panose="00000400000000000000" pitchFamily="2" charset="0"/>
              <a:ea typeface="Calibri"/>
              <a:cs typeface="Calibri"/>
            </a:endParaRPr>
          </a:p>
          <a:p>
            <a:pPr marL="285750" indent="-285750">
              <a:buFont typeface="Calibri"/>
              <a:buChar char="-"/>
            </a:pPr>
            <a:endParaRPr lang="fr-FR" sz="1600">
              <a:solidFill>
                <a:srgbClr val="000000"/>
              </a:solidFill>
              <a:latin typeface="Montserrat Light" panose="00000400000000000000" pitchFamily="2" charset="0"/>
              <a:ea typeface="Calibri"/>
              <a:cs typeface="Calibri"/>
            </a:endParaRPr>
          </a:p>
          <a:p>
            <a:pPr marL="285750" indent="-285750">
              <a:buFont typeface="Calibri"/>
              <a:buChar char="-"/>
            </a:pPr>
            <a:endParaRPr lang="fr-FR" sz="1600">
              <a:solidFill>
                <a:srgbClr val="000000"/>
              </a:solidFill>
              <a:latin typeface="Montserrat Light" panose="00000400000000000000" pitchFamily="2" charset="0"/>
              <a:ea typeface="Calibri"/>
              <a:cs typeface="Calibri"/>
            </a:endParaRPr>
          </a:p>
          <a:p>
            <a:pPr marL="285750" indent="-285750">
              <a:buFont typeface="Calibri"/>
              <a:buChar char="-"/>
            </a:pPr>
            <a:endParaRPr lang="fr-FR" sz="1600">
              <a:solidFill>
                <a:srgbClr val="000000"/>
              </a:solidFill>
              <a:latin typeface="Montserrat Light"/>
              <a:ea typeface="Calibri"/>
              <a:cs typeface="Calibri"/>
            </a:endParaRPr>
          </a:p>
          <a:p>
            <a:pPr>
              <a:buFont typeface="Calibri"/>
            </a:pPr>
            <a:r>
              <a:rPr lang="fr-FR" sz="1600">
                <a:solidFill>
                  <a:srgbClr val="000000"/>
                </a:solidFill>
                <a:latin typeface="Montserrat Light"/>
                <a:ea typeface="Calibri"/>
                <a:cs typeface="Calibri"/>
              </a:rPr>
              <a:t>           </a:t>
            </a:r>
            <a:r>
              <a:rPr lang="fr-FR" sz="1600" u="sng">
                <a:solidFill>
                  <a:srgbClr val="000000"/>
                </a:solidFill>
                <a:latin typeface="Montserrat Light"/>
                <a:ea typeface="Calibri"/>
                <a:cs typeface="Calibri"/>
              </a:rPr>
              <a:t>Cas d'exclusions</a:t>
            </a:r>
            <a:r>
              <a:rPr lang="fr-FR" sz="1600">
                <a:solidFill>
                  <a:srgbClr val="000000"/>
                </a:solidFill>
                <a:latin typeface="Montserrat Light"/>
                <a:ea typeface="Calibri"/>
                <a:cs typeface="Calibri"/>
              </a:rPr>
              <a:t> : </a:t>
            </a:r>
            <a:endParaRPr lang="fr-FR" sz="1600">
              <a:solidFill>
                <a:srgbClr val="000000"/>
              </a:solidFill>
              <a:latin typeface="Montserrat Light" panose="00000400000000000000" pitchFamily="2" charset="0"/>
              <a:ea typeface="Calibri"/>
              <a:cs typeface="Calibri"/>
            </a:endParaRPr>
          </a:p>
          <a:p>
            <a:endParaRPr lang="fr-FR" sz="1600" i="1">
              <a:solidFill>
                <a:srgbClr val="000000"/>
              </a:solidFill>
              <a:latin typeface="Montserrat Light" panose="00000400000000000000" pitchFamily="2" charset="0"/>
              <a:ea typeface="Calibri"/>
              <a:cs typeface="Calibri"/>
            </a:endParaRPr>
          </a:p>
          <a:p>
            <a:endParaRPr lang="fr-FR" sz="1600">
              <a:solidFill>
                <a:srgbClr val="000000"/>
              </a:solidFill>
              <a:latin typeface="Montserrat Light" panose="00000400000000000000" pitchFamily="2" charset="0"/>
              <a:ea typeface="Calibri"/>
              <a:cs typeface="Calibri"/>
            </a:endParaRPr>
          </a:p>
          <a:p>
            <a:endParaRPr lang="fr-FR" sz="1600" b="1">
              <a:solidFill>
                <a:srgbClr val="E4003A"/>
              </a:solidFill>
              <a:latin typeface="Montserrat Light" panose="00000400000000000000" pitchFamily="2" charset="0"/>
              <a:ea typeface="Calibri"/>
              <a:cs typeface="Calibri"/>
            </a:endParaRPr>
          </a:p>
          <a:p>
            <a:pPr lvl="2"/>
            <a:endParaRPr lang="fr-FR" sz="1600" b="1">
              <a:latin typeface="Montserrat Light" panose="00000400000000000000" pitchFamily="2" charset="0"/>
              <a:ea typeface="Calibri"/>
              <a:cs typeface="Calibri"/>
            </a:endParaRPr>
          </a:p>
          <a:p>
            <a:pPr marL="1200150" indent="-285750">
              <a:buFont typeface="Calibri"/>
              <a:buChar char="-"/>
            </a:pPr>
            <a:endParaRPr lang="fr-FR" sz="1600">
              <a:latin typeface="Montserrat Light"/>
              <a:ea typeface="Calibri"/>
              <a:cs typeface="Calibri"/>
            </a:endParaRPr>
          </a:p>
          <a:p>
            <a:pPr marL="1200150" lvl="2" indent="-285750">
              <a:buFont typeface="Calibri"/>
              <a:buChar char="-"/>
            </a:pPr>
            <a:endParaRPr lang="fr-FR" sz="1600">
              <a:latin typeface="Montserrat Light"/>
              <a:ea typeface="Calibri"/>
              <a:cs typeface="Calibri"/>
            </a:endParaRPr>
          </a:p>
        </p:txBody>
      </p:sp>
      <p:pic>
        <p:nvPicPr>
          <p:cNvPr id="2" name="Picture 1">
            <a:extLst>
              <a:ext uri="{FF2B5EF4-FFF2-40B4-BE49-F238E27FC236}">
                <a16:creationId xmlns:a16="http://schemas.microsoft.com/office/drawing/2014/main" id="{5837F921-DF49-A9E9-C169-78959BD31655}"/>
              </a:ext>
            </a:extLst>
          </p:cNvPr>
          <p:cNvPicPr>
            <a:picLocks noChangeAspect="1"/>
          </p:cNvPicPr>
          <p:nvPr/>
        </p:nvPicPr>
        <p:blipFill>
          <a:blip r:embed="rId3"/>
          <a:stretch>
            <a:fillRect/>
          </a:stretch>
        </p:blipFill>
        <p:spPr>
          <a:xfrm>
            <a:off x="687059" y="5069816"/>
            <a:ext cx="624336" cy="585877"/>
          </a:xfrm>
          <a:prstGeom prst="rect">
            <a:avLst/>
          </a:prstGeom>
        </p:spPr>
      </p:pic>
      <p:pic>
        <p:nvPicPr>
          <p:cNvPr id="6" name="Picture 5">
            <a:extLst>
              <a:ext uri="{FF2B5EF4-FFF2-40B4-BE49-F238E27FC236}">
                <a16:creationId xmlns:a16="http://schemas.microsoft.com/office/drawing/2014/main" id="{3D7A5C04-187B-0641-FC03-5CE6FDB6422C}"/>
              </a:ext>
            </a:extLst>
          </p:cNvPr>
          <p:cNvPicPr>
            <a:picLocks noChangeAspect="1"/>
          </p:cNvPicPr>
          <p:nvPr/>
        </p:nvPicPr>
        <p:blipFill>
          <a:blip r:embed="rId4"/>
          <a:stretch>
            <a:fillRect/>
          </a:stretch>
        </p:blipFill>
        <p:spPr>
          <a:xfrm>
            <a:off x="1480869" y="5378660"/>
            <a:ext cx="1337095" cy="1118379"/>
          </a:xfrm>
          <a:prstGeom prst="rect">
            <a:avLst/>
          </a:prstGeom>
        </p:spPr>
      </p:pic>
      <p:pic>
        <p:nvPicPr>
          <p:cNvPr id="9" name="Picture 8">
            <a:extLst>
              <a:ext uri="{FF2B5EF4-FFF2-40B4-BE49-F238E27FC236}">
                <a16:creationId xmlns:a16="http://schemas.microsoft.com/office/drawing/2014/main" id="{254EE053-810F-4FB0-4FC9-0AE4676BD936}"/>
              </a:ext>
            </a:extLst>
          </p:cNvPr>
          <p:cNvPicPr>
            <a:picLocks noChangeAspect="1"/>
          </p:cNvPicPr>
          <p:nvPr/>
        </p:nvPicPr>
        <p:blipFill>
          <a:blip r:embed="rId5"/>
          <a:stretch>
            <a:fillRect/>
          </a:stretch>
        </p:blipFill>
        <p:spPr>
          <a:xfrm>
            <a:off x="3781605" y="5330316"/>
            <a:ext cx="1623923" cy="1114425"/>
          </a:xfrm>
          <a:prstGeom prst="rect">
            <a:avLst/>
          </a:prstGeom>
        </p:spPr>
      </p:pic>
      <p:pic>
        <p:nvPicPr>
          <p:cNvPr id="10" name="Picture 9">
            <a:extLst>
              <a:ext uri="{FF2B5EF4-FFF2-40B4-BE49-F238E27FC236}">
                <a16:creationId xmlns:a16="http://schemas.microsoft.com/office/drawing/2014/main" id="{9FC736D6-6E04-0FF8-6EFF-C722664FA0DD}"/>
              </a:ext>
            </a:extLst>
          </p:cNvPr>
          <p:cNvPicPr>
            <a:picLocks noChangeAspect="1"/>
          </p:cNvPicPr>
          <p:nvPr/>
        </p:nvPicPr>
        <p:blipFill>
          <a:blip r:embed="rId6"/>
          <a:stretch>
            <a:fillRect/>
          </a:stretch>
        </p:blipFill>
        <p:spPr>
          <a:xfrm>
            <a:off x="6100852" y="5458455"/>
            <a:ext cx="1701200" cy="858148"/>
          </a:xfrm>
          <a:prstGeom prst="rect">
            <a:avLst/>
          </a:prstGeom>
        </p:spPr>
      </p:pic>
    </p:spTree>
    <p:extLst>
      <p:ext uri="{BB962C8B-B14F-4D97-AF65-F5344CB8AC3E}">
        <p14:creationId xmlns:p14="http://schemas.microsoft.com/office/powerpoint/2010/main" val="5717858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C5721-3AF1-5E9A-8A0B-7EE71F129906}"/>
            </a:ext>
          </a:extLst>
        </p:cNvPr>
        <p:cNvGrpSpPr/>
        <p:nvPr/>
      </p:nvGrpSpPr>
      <p:grpSpPr>
        <a:xfrm>
          <a:off x="0" y="0"/>
          <a:ext cx="0" cy="0"/>
          <a:chOff x="0" y="0"/>
          <a:chExt cx="0" cy="0"/>
        </a:xfrm>
      </p:grpSpPr>
      <p:sp>
        <p:nvSpPr>
          <p:cNvPr id="4" name="ZoneTexte 7">
            <a:extLst>
              <a:ext uri="{FF2B5EF4-FFF2-40B4-BE49-F238E27FC236}">
                <a16:creationId xmlns:a16="http://schemas.microsoft.com/office/drawing/2014/main" id="{18974BDF-33FF-2913-7422-E273DEDF55BC}"/>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err="1">
                <a:solidFill>
                  <a:srgbClr val="5E152C"/>
                </a:solidFill>
                <a:latin typeface="Montserrat Light"/>
              </a:rPr>
              <a:t>ActualitÉ</a:t>
            </a:r>
            <a:r>
              <a:rPr lang="fr-FR" sz="3500" cap="all">
                <a:solidFill>
                  <a:srgbClr val="5E152C"/>
                </a:solidFill>
                <a:latin typeface="Montserrat Light"/>
              </a:rPr>
              <a:t> PAIE</a:t>
            </a:r>
            <a:endParaRPr lang="fr-FR" sz="3500" b="1" cap="all">
              <a:solidFill>
                <a:srgbClr val="5E152C"/>
              </a:solidFill>
              <a:latin typeface="Montserrat Black" panose="00000A00000000000000" pitchFamily="2" charset="0"/>
            </a:endParaRPr>
          </a:p>
        </p:txBody>
      </p:sp>
      <p:sp>
        <p:nvSpPr>
          <p:cNvPr id="5" name="ZoneTexte 4">
            <a:extLst>
              <a:ext uri="{FF2B5EF4-FFF2-40B4-BE49-F238E27FC236}">
                <a16:creationId xmlns:a16="http://schemas.microsoft.com/office/drawing/2014/main" id="{D6825414-5084-47AB-BF6C-5C1059707C95}"/>
              </a:ext>
            </a:extLst>
          </p:cNvPr>
          <p:cNvSpPr txBox="1"/>
          <p:nvPr/>
        </p:nvSpPr>
        <p:spPr>
          <a:xfrm>
            <a:off x="375087" y="1967186"/>
            <a:ext cx="11441825" cy="369332"/>
          </a:xfrm>
          <a:prstGeom prst="rect">
            <a:avLst/>
          </a:prstGeom>
          <a:noFill/>
        </p:spPr>
        <p:txBody>
          <a:bodyPr wrap="square" lIns="91440" tIns="45720" rIns="91440" bIns="45720" rtlCol="0" anchor="t">
            <a:spAutoFit/>
          </a:bodyPr>
          <a:lstStyle/>
          <a:p>
            <a:r>
              <a:rPr lang="fr-FR" b="1">
                <a:solidFill>
                  <a:srgbClr val="E4003A"/>
                </a:solidFill>
                <a:latin typeface="Montserrat"/>
              </a:rPr>
              <a:t>Prime carburant (prime transport) - déplacements domicile/travail </a:t>
            </a:r>
            <a:endParaRPr lang="fr-FR" b="1" u="sng">
              <a:solidFill>
                <a:srgbClr val="6ABEB8"/>
              </a:solidFill>
              <a:latin typeface="Montserrat" pitchFamily="2" charset="0"/>
            </a:endParaRPr>
          </a:p>
        </p:txBody>
      </p:sp>
      <p:sp>
        <p:nvSpPr>
          <p:cNvPr id="6" name="ZoneTexte 5">
            <a:extLst>
              <a:ext uri="{FF2B5EF4-FFF2-40B4-BE49-F238E27FC236}">
                <a16:creationId xmlns:a16="http://schemas.microsoft.com/office/drawing/2014/main" id="{B6EDF01C-6354-8C8E-553A-1EE196F6F59B}"/>
              </a:ext>
            </a:extLst>
          </p:cNvPr>
          <p:cNvSpPr txBox="1"/>
          <p:nvPr/>
        </p:nvSpPr>
        <p:spPr>
          <a:xfrm>
            <a:off x="504890" y="2245703"/>
            <a:ext cx="10438172" cy="3508653"/>
          </a:xfrm>
          <a:prstGeom prst="rect">
            <a:avLst/>
          </a:prstGeom>
          <a:noFill/>
        </p:spPr>
        <p:txBody>
          <a:bodyPr wrap="square" lIns="91440" tIns="45720" rIns="91440" bIns="45720" anchor="t">
            <a:spAutoFit/>
          </a:bodyPr>
          <a:lstStyle/>
          <a:p>
            <a:endParaRPr lang="fr-FR" sz="1400" i="1">
              <a:highlight>
                <a:srgbClr val="FFFF00"/>
              </a:highlight>
              <a:latin typeface="Montserrat Light"/>
              <a:ea typeface="Open Sans"/>
              <a:cs typeface="Open Sans"/>
            </a:endParaRPr>
          </a:p>
          <a:p>
            <a:pPr marL="285750" indent="-285750">
              <a:buFont typeface="Arial"/>
              <a:buChar char="•"/>
            </a:pPr>
            <a:r>
              <a:rPr lang="fr-FR" sz="1600" b="1">
                <a:solidFill>
                  <a:srgbClr val="000000"/>
                </a:solidFill>
                <a:latin typeface="Montserrat Light"/>
                <a:ea typeface="+mn-lt"/>
                <a:cs typeface="+mn-lt"/>
              </a:rPr>
              <a:t>Facultatif</a:t>
            </a:r>
          </a:p>
          <a:p>
            <a:pPr marL="285750" indent="-285750">
              <a:buFont typeface="Arial"/>
              <a:buChar char="•"/>
            </a:pPr>
            <a:endParaRPr lang="fr-FR" sz="1600">
              <a:solidFill>
                <a:srgbClr val="000000"/>
              </a:solidFill>
              <a:latin typeface="Montserrat Light"/>
              <a:ea typeface="+mn-lt"/>
              <a:cs typeface="+mn-lt"/>
            </a:endParaRPr>
          </a:p>
          <a:p>
            <a:pPr marL="285750" indent="-285750">
              <a:buFont typeface="Arial"/>
              <a:buChar char="•"/>
            </a:pPr>
            <a:r>
              <a:rPr lang="fr-FR" sz="1600">
                <a:solidFill>
                  <a:srgbClr val="000000"/>
                </a:solidFill>
                <a:latin typeface="Montserrat Light"/>
                <a:ea typeface="+mn-lt"/>
                <a:cs typeface="+mn-lt"/>
              </a:rPr>
              <a:t>Exonération de cotisations sociales, CSG-CRDS et impôt sur le revenu </a:t>
            </a:r>
            <a:br>
              <a:rPr lang="fr-FR" sz="1600">
                <a:solidFill>
                  <a:srgbClr val="000000"/>
                </a:solidFill>
                <a:latin typeface="Montserrat Light"/>
                <a:ea typeface="+mn-lt"/>
                <a:cs typeface="+mn-lt"/>
              </a:rPr>
            </a:br>
            <a:r>
              <a:rPr lang="fr-FR" sz="1600">
                <a:solidFill>
                  <a:srgbClr val="000000"/>
                </a:solidFill>
                <a:latin typeface="Montserrat Light"/>
                <a:ea typeface="+mn-lt"/>
                <a:cs typeface="+mn-lt"/>
              </a:rPr>
              <a:t>(dans les limites légales : 300€)</a:t>
            </a:r>
            <a:endParaRPr lang="fr-FR" sz="1600">
              <a:solidFill>
                <a:srgbClr val="FF0000"/>
              </a:solidFill>
              <a:latin typeface="Montserrat Light"/>
              <a:ea typeface="+mn-lt"/>
              <a:cs typeface="+mn-lt"/>
            </a:endParaRPr>
          </a:p>
          <a:p>
            <a:endParaRPr lang="fr-FR" sz="1600" u="sng">
              <a:latin typeface="Montserrat Light"/>
              <a:ea typeface="+mn-lt"/>
              <a:cs typeface="+mn-lt"/>
            </a:endParaRPr>
          </a:p>
          <a:p>
            <a:endParaRPr lang="fr-FR" sz="1600" u="sng">
              <a:solidFill>
                <a:srgbClr val="000000"/>
              </a:solidFill>
              <a:latin typeface="Montserrat Light"/>
              <a:ea typeface="+mn-lt"/>
              <a:cs typeface="+mn-lt"/>
            </a:endParaRPr>
          </a:p>
          <a:p>
            <a:pPr marL="285750" indent="-285750">
              <a:buFont typeface="Arial"/>
              <a:buChar char="•"/>
            </a:pPr>
            <a:r>
              <a:rPr lang="fr-FR" sz="1600" u="sng">
                <a:solidFill>
                  <a:srgbClr val="000000"/>
                </a:solidFill>
                <a:latin typeface="Montserrat Light"/>
                <a:ea typeface="+mn-lt"/>
                <a:cs typeface="+mn-lt"/>
              </a:rPr>
              <a:t>Mise en place</a:t>
            </a:r>
            <a:r>
              <a:rPr lang="fr-FR" sz="1600">
                <a:solidFill>
                  <a:srgbClr val="000000"/>
                </a:solidFill>
                <a:latin typeface="Montserrat Light"/>
                <a:ea typeface="+mn-lt"/>
                <a:cs typeface="+mn-lt"/>
              </a:rPr>
              <a:t> : accord collectif ou décision unilatérale de l’employeur (après consultation du CSE si existant) </a:t>
            </a:r>
            <a:endParaRPr lang="fr-FR" sz="1600">
              <a:latin typeface="Montserrat Light"/>
              <a:ea typeface="+mn-lt"/>
              <a:cs typeface="+mn-lt"/>
            </a:endParaRPr>
          </a:p>
          <a:p>
            <a:pPr marL="285750" indent="-285750">
              <a:buFont typeface="Arial"/>
              <a:buChar char="•"/>
            </a:pPr>
            <a:endParaRPr lang="fr-FR" sz="1600">
              <a:solidFill>
                <a:srgbClr val="000000"/>
              </a:solidFill>
              <a:latin typeface="Montserrat Light"/>
              <a:ea typeface="+mn-lt"/>
              <a:cs typeface="+mn-lt"/>
            </a:endParaRPr>
          </a:p>
          <a:p>
            <a:pPr marL="285750" indent="-285750">
              <a:buFont typeface="Arial"/>
              <a:buChar char="•"/>
            </a:pPr>
            <a:endParaRPr lang="fr-FR" sz="1600">
              <a:highlight>
                <a:srgbClr val="FFFF00"/>
              </a:highlight>
              <a:latin typeface="Montserrat Light" panose="00000400000000000000" pitchFamily="2" charset="0"/>
              <a:ea typeface="+mn-lt"/>
              <a:cs typeface="+mn-lt"/>
            </a:endParaRPr>
          </a:p>
          <a:p>
            <a:endParaRPr lang="fr-FR" sz="1600" b="1">
              <a:solidFill>
                <a:srgbClr val="E4003A"/>
              </a:solidFill>
              <a:latin typeface="Montserrat Light" panose="00000400000000000000" pitchFamily="2" charset="0"/>
              <a:ea typeface="Calibri"/>
              <a:cs typeface="Calibri"/>
            </a:endParaRPr>
          </a:p>
          <a:p>
            <a:pPr lvl="2"/>
            <a:endParaRPr lang="fr-FR" sz="1600" b="1">
              <a:solidFill>
                <a:srgbClr val="000000"/>
              </a:solidFill>
              <a:latin typeface="Montserrat Light" panose="00000400000000000000" pitchFamily="2" charset="0"/>
              <a:ea typeface="Calibri"/>
              <a:cs typeface="Calibri"/>
            </a:endParaRPr>
          </a:p>
          <a:p>
            <a:pPr marL="1200150" lvl="2" indent="-285750">
              <a:buFont typeface="Calibri"/>
              <a:buChar char="-"/>
            </a:pPr>
            <a:endParaRPr lang="fr-FR" sz="1600">
              <a:solidFill>
                <a:srgbClr val="000000"/>
              </a:solidFill>
              <a:latin typeface="Montserrat Light" panose="00000400000000000000" pitchFamily="2" charset="0"/>
              <a:ea typeface="Calibri"/>
              <a:cs typeface="Calibri"/>
            </a:endParaRPr>
          </a:p>
        </p:txBody>
      </p:sp>
      <p:sp>
        <p:nvSpPr>
          <p:cNvPr id="7" name="Rectangle: Rounded Corners 1">
            <a:extLst>
              <a:ext uri="{FF2B5EF4-FFF2-40B4-BE49-F238E27FC236}">
                <a16:creationId xmlns:a16="http://schemas.microsoft.com/office/drawing/2014/main" id="{DF904A79-A209-0152-3333-4898F6FACB79}"/>
              </a:ext>
            </a:extLst>
          </p:cNvPr>
          <p:cNvSpPr/>
          <p:nvPr/>
        </p:nvSpPr>
        <p:spPr>
          <a:xfrm>
            <a:off x="658374" y="5098076"/>
            <a:ext cx="8915355" cy="1306499"/>
          </a:xfrm>
          <a:prstGeom prst="roundRect">
            <a:avLst/>
          </a:prstGeom>
          <a:solidFill>
            <a:schemeClr val="bg1"/>
          </a:solidFill>
          <a:ln>
            <a:solidFill>
              <a:srgbClr val="68BBB4"/>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b="1">
                <a:solidFill>
                  <a:schemeClr val="tx1"/>
                </a:solidFill>
                <a:latin typeface="Montserrat Light"/>
                <a:ea typeface="Calibri"/>
                <a:cs typeface="Calibri"/>
              </a:rPr>
              <a:t>Nouveauté à </a:t>
            </a:r>
            <a:r>
              <a:rPr lang="en-US" b="1" err="1">
                <a:solidFill>
                  <a:schemeClr val="tx1"/>
                </a:solidFill>
                <a:latin typeface="Montserrat Light"/>
                <a:ea typeface="Calibri"/>
                <a:cs typeface="Calibri"/>
              </a:rPr>
              <a:t>venir</a:t>
            </a:r>
            <a:r>
              <a:rPr lang="en-US" b="1">
                <a:solidFill>
                  <a:schemeClr val="tx1"/>
                </a:solidFill>
                <a:latin typeface="Montserrat Light"/>
                <a:ea typeface="Calibri"/>
                <a:cs typeface="Calibri"/>
              </a:rPr>
              <a:t>  : </a:t>
            </a:r>
          </a:p>
          <a:p>
            <a:endParaRPr lang="en-US">
              <a:solidFill>
                <a:schemeClr val="tx1"/>
              </a:solidFill>
              <a:latin typeface="Montserrat Light"/>
              <a:ea typeface="Calibri"/>
              <a:cs typeface="Calibri"/>
            </a:endParaRPr>
          </a:p>
          <a:p>
            <a:r>
              <a:rPr lang="en-US" err="1">
                <a:solidFill>
                  <a:schemeClr val="tx1"/>
                </a:solidFill>
                <a:latin typeface="Montserrat Light"/>
                <a:ea typeface="Calibri"/>
                <a:cs typeface="Calibri"/>
              </a:rPr>
              <a:t>Réhaussement</a:t>
            </a:r>
            <a:r>
              <a:rPr lang="en-US">
                <a:solidFill>
                  <a:schemeClr val="tx1"/>
                </a:solidFill>
                <a:latin typeface="Montserrat Light"/>
                <a:ea typeface="Calibri"/>
                <a:cs typeface="Calibri"/>
              </a:rPr>
              <a:t> du plafond </a:t>
            </a:r>
            <a:r>
              <a:rPr lang="en-US" err="1">
                <a:solidFill>
                  <a:schemeClr val="tx1"/>
                </a:solidFill>
                <a:latin typeface="Montserrat Light"/>
                <a:ea typeface="Calibri"/>
                <a:cs typeface="Calibri"/>
              </a:rPr>
              <a:t>d'exonération</a:t>
            </a:r>
            <a:r>
              <a:rPr lang="en-US">
                <a:solidFill>
                  <a:schemeClr val="tx1"/>
                </a:solidFill>
                <a:latin typeface="Montserrat Light"/>
                <a:ea typeface="Calibri"/>
                <a:cs typeface="Calibri"/>
              </a:rPr>
              <a:t> à 600 € par an et par </a:t>
            </a:r>
            <a:r>
              <a:rPr lang="en-US" err="1">
                <a:solidFill>
                  <a:schemeClr val="tx1"/>
                </a:solidFill>
                <a:latin typeface="Montserrat Light"/>
                <a:ea typeface="Calibri"/>
                <a:cs typeface="Calibri"/>
              </a:rPr>
              <a:t>salarié</a:t>
            </a:r>
            <a:r>
              <a:rPr lang="en-US">
                <a:solidFill>
                  <a:schemeClr val="tx1"/>
                </a:solidFill>
                <a:latin typeface="Montserrat Light"/>
                <a:ea typeface="Calibri"/>
                <a:cs typeface="Calibri"/>
              </a:rPr>
              <a:t> pour les frais de carburant, </a:t>
            </a:r>
            <a:r>
              <a:rPr lang="en-US" err="1">
                <a:solidFill>
                  <a:schemeClr val="tx1"/>
                </a:solidFill>
                <a:latin typeface="Montserrat Light"/>
                <a:ea typeface="Calibri"/>
                <a:cs typeface="Calibri"/>
              </a:rPr>
              <a:t>d'alimentation</a:t>
            </a:r>
            <a:r>
              <a:rPr lang="en-US">
                <a:solidFill>
                  <a:schemeClr val="tx1"/>
                </a:solidFill>
                <a:latin typeface="Montserrat Light"/>
                <a:ea typeface="Calibri"/>
                <a:cs typeface="Calibri"/>
              </a:rPr>
              <a:t> des </a:t>
            </a:r>
            <a:r>
              <a:rPr lang="en-US" err="1">
                <a:solidFill>
                  <a:schemeClr val="tx1"/>
                </a:solidFill>
                <a:latin typeface="Montserrat Light"/>
                <a:ea typeface="Calibri"/>
                <a:cs typeface="Calibri"/>
              </a:rPr>
              <a:t>véhicules</a:t>
            </a:r>
            <a:r>
              <a:rPr lang="en-US">
                <a:solidFill>
                  <a:schemeClr val="tx1"/>
                </a:solidFill>
                <a:latin typeface="Montserrat Light"/>
                <a:ea typeface="Calibri"/>
                <a:cs typeface="Calibri"/>
              </a:rPr>
              <a:t> </a:t>
            </a:r>
            <a:r>
              <a:rPr lang="en-US" err="1">
                <a:solidFill>
                  <a:schemeClr val="tx1"/>
                </a:solidFill>
                <a:latin typeface="Montserrat Light"/>
                <a:ea typeface="Calibri"/>
                <a:cs typeface="Calibri"/>
              </a:rPr>
              <a:t>électriques</a:t>
            </a:r>
            <a:r>
              <a:rPr lang="en-US">
                <a:solidFill>
                  <a:schemeClr val="tx1"/>
                </a:solidFill>
                <a:latin typeface="Montserrat Light"/>
                <a:ea typeface="Calibri"/>
                <a:cs typeface="Calibri"/>
              </a:rPr>
              <a:t>, </a:t>
            </a:r>
            <a:r>
              <a:rPr lang="en-US" err="1">
                <a:solidFill>
                  <a:schemeClr val="tx1"/>
                </a:solidFill>
                <a:latin typeface="Montserrat Light"/>
                <a:ea typeface="Calibri"/>
                <a:cs typeface="Calibri"/>
              </a:rPr>
              <a:t>hybrides</a:t>
            </a:r>
            <a:r>
              <a:rPr lang="en-US">
                <a:solidFill>
                  <a:schemeClr val="tx1"/>
                </a:solidFill>
                <a:latin typeface="Montserrat Light"/>
                <a:ea typeface="Calibri"/>
                <a:cs typeface="Calibri"/>
              </a:rPr>
              <a:t> rechargeables </a:t>
            </a:r>
            <a:r>
              <a:rPr lang="en-US" err="1">
                <a:solidFill>
                  <a:schemeClr val="tx1"/>
                </a:solidFill>
                <a:latin typeface="Montserrat Light"/>
                <a:ea typeface="Calibri"/>
                <a:cs typeface="Calibri"/>
              </a:rPr>
              <a:t>ou</a:t>
            </a:r>
            <a:r>
              <a:rPr lang="en-US">
                <a:solidFill>
                  <a:schemeClr val="tx1"/>
                </a:solidFill>
                <a:latin typeface="Montserrat Light"/>
                <a:ea typeface="Calibri"/>
                <a:cs typeface="Calibri"/>
              </a:rPr>
              <a:t> </a:t>
            </a:r>
            <a:r>
              <a:rPr lang="en-US" err="1">
                <a:solidFill>
                  <a:schemeClr val="tx1"/>
                </a:solidFill>
                <a:latin typeface="Montserrat Light"/>
                <a:ea typeface="Calibri"/>
                <a:cs typeface="Calibri"/>
              </a:rPr>
              <a:t>hydrogène</a:t>
            </a:r>
            <a:r>
              <a:rPr lang="en-US">
                <a:solidFill>
                  <a:schemeClr val="tx1"/>
                </a:solidFill>
                <a:latin typeface="Montserrat Light"/>
                <a:ea typeface="Calibri"/>
                <a:cs typeface="Calibri"/>
              </a:rPr>
              <a:t>, </a:t>
            </a:r>
          </a:p>
          <a:p>
            <a:endParaRPr lang="en-US">
              <a:solidFill>
                <a:schemeClr val="tx1"/>
              </a:solidFill>
              <a:latin typeface="Montserrat Light"/>
              <a:ea typeface="Calibri"/>
              <a:cs typeface="Calibri"/>
            </a:endParaRPr>
          </a:p>
          <a:p>
            <a:pPr algn="ctr"/>
            <a:endParaRPr lang="en-US"/>
          </a:p>
        </p:txBody>
      </p:sp>
      <p:sp>
        <p:nvSpPr>
          <p:cNvPr id="2" name="TextBox 1">
            <a:extLst>
              <a:ext uri="{FF2B5EF4-FFF2-40B4-BE49-F238E27FC236}">
                <a16:creationId xmlns:a16="http://schemas.microsoft.com/office/drawing/2014/main" id="{8879EEC8-5C0A-8781-B433-D4117E993729}"/>
              </a:ext>
            </a:extLst>
          </p:cNvPr>
          <p:cNvSpPr txBox="1"/>
          <p:nvPr/>
        </p:nvSpPr>
        <p:spPr>
          <a:xfrm>
            <a:off x="5114966" y="1002145"/>
            <a:ext cx="2743200" cy="365760"/>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err="1">
                <a:ea typeface="Calibri"/>
                <a:cs typeface="Calibri"/>
              </a:rPr>
              <a:t>Annonce</a:t>
            </a:r>
            <a:r>
              <a:rPr lang="en-US">
                <a:ea typeface="Calibri"/>
                <a:cs typeface="Calibri"/>
              </a:rPr>
              <a:t> du </a:t>
            </a:r>
            <a:r>
              <a:rPr lang="en-US" err="1">
                <a:ea typeface="Calibri"/>
                <a:cs typeface="Calibri"/>
              </a:rPr>
              <a:t>gouvernement</a:t>
            </a:r>
            <a:endParaRPr lang="en-US" err="1"/>
          </a:p>
        </p:txBody>
      </p:sp>
    </p:spTree>
    <p:extLst>
      <p:ext uri="{BB962C8B-B14F-4D97-AF65-F5344CB8AC3E}">
        <p14:creationId xmlns:p14="http://schemas.microsoft.com/office/powerpoint/2010/main" val="15277091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EE12-1ED9-34C6-C2E5-237FD112F5D9}"/>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56AC6E2F-5613-47A4-1423-68D64345BE93}"/>
              </a:ext>
            </a:extLst>
          </p:cNvPr>
          <p:cNvSpPr txBox="1"/>
          <p:nvPr/>
        </p:nvSpPr>
        <p:spPr>
          <a:xfrm>
            <a:off x="416180" y="1598664"/>
            <a:ext cx="3806640" cy="1477328"/>
          </a:xfrm>
          <a:prstGeom prst="rect">
            <a:avLst/>
          </a:prstGeom>
          <a:noFill/>
        </p:spPr>
        <p:txBody>
          <a:bodyPr wrap="square" lIns="91440" tIns="45720" rIns="91440" bIns="45720" rtlCol="0" anchor="t">
            <a:spAutoFit/>
          </a:bodyPr>
          <a:lstStyle/>
          <a:p>
            <a:r>
              <a:rPr lang="fr-FR" sz="4500" b="1">
                <a:solidFill>
                  <a:schemeClr val="bg1"/>
                </a:solidFill>
                <a:latin typeface="Montserrat Black"/>
              </a:rPr>
              <a:t>Actualité droit social</a:t>
            </a:r>
            <a:endParaRPr lang="fr-FR" sz="4500" b="1">
              <a:solidFill>
                <a:schemeClr val="bg1"/>
              </a:solidFill>
              <a:latin typeface="Montserrat Black" panose="00000A00000000000000" pitchFamily="2" charset="0"/>
            </a:endParaRPr>
          </a:p>
        </p:txBody>
      </p:sp>
    </p:spTree>
    <p:extLst>
      <p:ext uri="{BB962C8B-B14F-4D97-AF65-F5344CB8AC3E}">
        <p14:creationId xmlns:p14="http://schemas.microsoft.com/office/powerpoint/2010/main" val="918224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BE2F1-B14E-37D5-7D9F-D2C3A49D72AE}"/>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2ACBD9E2-5465-9DF6-9653-C838D690D71A}"/>
              </a:ext>
            </a:extLst>
          </p:cNvPr>
          <p:cNvSpPr>
            <a:spLocks noGrp="1"/>
          </p:cNvSpPr>
          <p:nvPr>
            <p:ph type="title"/>
          </p:nvPr>
        </p:nvSpPr>
        <p:spPr>
          <a:xfrm>
            <a:off x="3224748" y="1191885"/>
            <a:ext cx="8701347" cy="2418959"/>
          </a:xfrm>
        </p:spPr>
        <p:txBody>
          <a:bodyPr>
            <a:normAutofit/>
          </a:bodyPr>
          <a:lstStyle/>
          <a:p>
            <a:r>
              <a:rPr lang="fr-FR" sz="4000">
                <a:latin typeface="Montserrat"/>
              </a:rPr>
              <a:t>SUR LE THEME :</a:t>
            </a:r>
            <a:br>
              <a:rPr lang="fr-FR" sz="4000">
                <a:latin typeface="Montserrat"/>
              </a:rPr>
            </a:br>
            <a:r>
              <a:rPr lang="fr-FR" sz="4000">
                <a:latin typeface="Montserrat"/>
              </a:rPr>
              <a:t>DU CONTENTIEUX</a:t>
            </a:r>
            <a:endParaRPr lang="fr-FR" sz="4000"/>
          </a:p>
        </p:txBody>
      </p:sp>
    </p:spTree>
    <p:extLst>
      <p:ext uri="{BB962C8B-B14F-4D97-AF65-F5344CB8AC3E}">
        <p14:creationId xmlns:p14="http://schemas.microsoft.com/office/powerpoint/2010/main" val="29581519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4CD7F-1630-B7B8-8673-066585B08C82}"/>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D6D2E9C7-7246-570F-7390-DEB4DBE5306A}"/>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JURIDIQUE</a:t>
            </a:r>
          </a:p>
        </p:txBody>
      </p:sp>
      <p:sp>
        <p:nvSpPr>
          <p:cNvPr id="4" name="ZoneTexte 3">
            <a:extLst>
              <a:ext uri="{FF2B5EF4-FFF2-40B4-BE49-F238E27FC236}">
                <a16:creationId xmlns:a16="http://schemas.microsoft.com/office/drawing/2014/main" id="{20948ED9-60B5-0017-0B08-D84C264CE9D3}"/>
              </a:ext>
            </a:extLst>
          </p:cNvPr>
          <p:cNvSpPr txBox="1"/>
          <p:nvPr/>
        </p:nvSpPr>
        <p:spPr>
          <a:xfrm>
            <a:off x="575977" y="1674375"/>
            <a:ext cx="9235535" cy="369332"/>
          </a:xfrm>
          <a:prstGeom prst="rect">
            <a:avLst/>
          </a:prstGeom>
          <a:noFill/>
        </p:spPr>
        <p:txBody>
          <a:bodyPr wrap="square" lIns="91440" tIns="45720" rIns="91440" bIns="45720" rtlCol="0" anchor="t">
            <a:spAutoFit/>
          </a:bodyPr>
          <a:lstStyle/>
          <a:p>
            <a:r>
              <a:rPr lang="fr-FR" b="1">
                <a:solidFill>
                  <a:srgbClr val="E4003A"/>
                </a:solidFill>
                <a:latin typeface="Montserrat"/>
              </a:rPr>
              <a:t>Droit de timbre pour les actions prud'homales</a:t>
            </a:r>
          </a:p>
        </p:txBody>
      </p:sp>
      <p:sp>
        <p:nvSpPr>
          <p:cNvPr id="5" name="ZoneTexte 4">
            <a:extLst>
              <a:ext uri="{FF2B5EF4-FFF2-40B4-BE49-F238E27FC236}">
                <a16:creationId xmlns:a16="http://schemas.microsoft.com/office/drawing/2014/main" id="{5F84FD25-C98D-88B8-9E60-7498852B988B}"/>
              </a:ext>
            </a:extLst>
          </p:cNvPr>
          <p:cNvSpPr txBox="1"/>
          <p:nvPr/>
        </p:nvSpPr>
        <p:spPr>
          <a:xfrm>
            <a:off x="575977" y="2043707"/>
            <a:ext cx="11228927" cy="3508653"/>
          </a:xfrm>
          <a:prstGeom prst="rect">
            <a:avLst/>
          </a:prstGeom>
          <a:noFill/>
        </p:spPr>
        <p:txBody>
          <a:bodyPr wrap="square" lIns="91440" tIns="45720" rIns="91440" bIns="45720" anchor="t">
            <a:spAutoFit/>
          </a:bodyPr>
          <a:lstStyle/>
          <a:p>
            <a:endParaRPr lang="fr-FR" sz="1400" i="1">
              <a:latin typeface="Montserrat Light" panose="00000400000000000000" pitchFamily="2" charset="0"/>
              <a:ea typeface="Calibri"/>
              <a:cs typeface="Calibri"/>
            </a:endParaRPr>
          </a:p>
          <a:p>
            <a:pPr lvl="0"/>
            <a:endParaRPr lang="fr-FR" sz="1600" i="1">
              <a:latin typeface="Montserrat Light" panose="00000400000000000000" pitchFamily="2" charset="0"/>
              <a:ea typeface="Calibri"/>
              <a:cs typeface="Calibri"/>
            </a:endParaRPr>
          </a:p>
          <a:p>
            <a:pPr marL="285750" indent="-285750">
              <a:buFont typeface="Wingdings" panose="05000000000000000000" pitchFamily="2" charset="2"/>
              <a:buChar char="Ø"/>
            </a:pPr>
            <a:r>
              <a:rPr lang="fr-FR" sz="1600">
                <a:latin typeface="Montserrat Light"/>
              </a:rPr>
              <a:t>Opposabilité : </a:t>
            </a:r>
            <a:r>
              <a:rPr lang="fr-FR" sz="1600" i="1">
                <a:latin typeface="Montserrat Light"/>
              </a:rPr>
              <a:t> </a:t>
            </a:r>
            <a:r>
              <a:rPr lang="fr-FR" sz="1600">
                <a:latin typeface="Montserrat Light"/>
              </a:rPr>
              <a:t>depuis </a:t>
            </a:r>
            <a:r>
              <a:rPr lang="fr-FR" sz="1600" b="1">
                <a:latin typeface="Montserrat Light"/>
              </a:rPr>
              <a:t>le 1</a:t>
            </a:r>
            <a:r>
              <a:rPr lang="fr-FR" sz="1600" b="1" baseline="30000">
                <a:latin typeface="Montserrat Light"/>
              </a:rPr>
              <a:t>er</a:t>
            </a:r>
            <a:r>
              <a:rPr lang="fr-FR" sz="1600" b="1">
                <a:latin typeface="Montserrat Light"/>
              </a:rPr>
              <a:t> mars 2026</a:t>
            </a:r>
          </a:p>
          <a:p>
            <a:pPr marL="285750" indent="-285750">
              <a:buFont typeface="Wingdings" panose="05000000000000000000" pitchFamily="2" charset="2"/>
              <a:buChar char="Ø"/>
            </a:pPr>
            <a:endParaRPr lang="fr-FR" sz="1600">
              <a:latin typeface="Montserrat Light" panose="00000400000000000000" pitchFamily="2" charset="0"/>
            </a:endParaRPr>
          </a:p>
          <a:p>
            <a:endParaRPr lang="fr-FR" sz="1600">
              <a:latin typeface="Montserrat Light" panose="00000400000000000000" pitchFamily="2" charset="0"/>
            </a:endParaRPr>
          </a:p>
          <a:p>
            <a:pPr marL="742950" lvl="1" indent="-285750">
              <a:buFont typeface="Calibri"/>
              <a:buChar char="-"/>
            </a:pPr>
            <a:r>
              <a:rPr lang="fr-FR" sz="1600">
                <a:latin typeface="Montserrat Light"/>
              </a:rPr>
              <a:t>Création d'un droit de timbre de 50 €</a:t>
            </a:r>
            <a:endParaRPr lang="fr-FR" sz="1600">
              <a:latin typeface="Montserrat Light" panose="00000400000000000000" pitchFamily="2" charset="0"/>
            </a:endParaRPr>
          </a:p>
          <a:p>
            <a:pPr marL="742950" lvl="1" indent="-285750">
              <a:buFont typeface="Calibri"/>
              <a:buChar char="-"/>
            </a:pPr>
            <a:r>
              <a:rPr lang="fr-FR" sz="1600">
                <a:latin typeface="Montserrat Light"/>
              </a:rPr>
              <a:t>Achat du timbre par voie dématérialisée (</a:t>
            </a:r>
            <a:r>
              <a:rPr lang="fr-FR" sz="1600" i="1">
                <a:latin typeface="Montserrat Light"/>
              </a:rPr>
              <a:t>de préférence</a:t>
            </a:r>
            <a:r>
              <a:rPr lang="fr-FR" sz="1600">
                <a:latin typeface="Montserrat Light"/>
              </a:rPr>
              <a:t>)</a:t>
            </a:r>
            <a:endParaRPr lang="fr-FR" sz="1600">
              <a:latin typeface="Montserrat Light" panose="00000400000000000000" pitchFamily="2" charset="0"/>
            </a:endParaRPr>
          </a:p>
          <a:p>
            <a:pPr lvl="1"/>
            <a:endParaRPr lang="fr-FR" sz="1600">
              <a:latin typeface="Montserrat Light" panose="00000400000000000000" pitchFamily="2" charset="0"/>
            </a:endParaRPr>
          </a:p>
          <a:p>
            <a:pPr lvl="1"/>
            <a:endParaRPr lang="fr-FR" sz="1600">
              <a:latin typeface="Montserrat Light" panose="00000400000000000000" pitchFamily="2" charset="0"/>
            </a:endParaRPr>
          </a:p>
          <a:p>
            <a:pPr lvl="1"/>
            <a:endParaRPr lang="fr-FR" sz="1600">
              <a:latin typeface="Montserrat Light" panose="00000400000000000000" pitchFamily="2" charset="0"/>
            </a:endParaRPr>
          </a:p>
          <a:p>
            <a:pPr marL="285750" indent="-285750">
              <a:buFont typeface="Wingdings"/>
              <a:buChar char="Ø"/>
            </a:pPr>
            <a:r>
              <a:rPr lang="fr-FR" sz="1600" b="1" i="1">
                <a:latin typeface="Montserrat Light"/>
              </a:rPr>
              <a:t>Objectif </a:t>
            </a:r>
            <a:r>
              <a:rPr lang="fr-FR" sz="1600">
                <a:latin typeface="Montserrat Light"/>
              </a:rPr>
              <a:t>: dissuader les éventuels recours abusifs, assurer une solidarité financière entre les justiciables et contribuer au financement de l'aide juridictionnelle</a:t>
            </a:r>
            <a:endParaRPr lang="fr-FR" sz="1600">
              <a:latin typeface="Montserrat Light" panose="00000400000000000000" pitchFamily="2" charset="0"/>
            </a:endParaRPr>
          </a:p>
          <a:p>
            <a:pPr lvl="1"/>
            <a:endParaRPr lang="fr-FR" sz="1600">
              <a:latin typeface="Montserrat Light" panose="00000400000000000000" pitchFamily="2" charset="0"/>
            </a:endParaRPr>
          </a:p>
          <a:p>
            <a:endParaRPr lang="fr-FR" sz="1600">
              <a:latin typeface="Montserrat Light" panose="00000400000000000000" pitchFamily="2" charset="0"/>
            </a:endParaRPr>
          </a:p>
        </p:txBody>
      </p:sp>
    </p:spTree>
    <p:extLst>
      <p:ext uri="{BB962C8B-B14F-4D97-AF65-F5344CB8AC3E}">
        <p14:creationId xmlns:p14="http://schemas.microsoft.com/office/powerpoint/2010/main" val="29638145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1FEBD-D9C3-CCD5-1FB9-C1B360CAE473}"/>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FEBCBD40-99B7-227D-75EE-1267FDEEBB62}"/>
              </a:ext>
            </a:extLst>
          </p:cNvPr>
          <p:cNvSpPr>
            <a:spLocks noGrp="1"/>
          </p:cNvSpPr>
          <p:nvPr>
            <p:ph type="title"/>
          </p:nvPr>
        </p:nvSpPr>
        <p:spPr>
          <a:xfrm>
            <a:off x="637630" y="3431817"/>
            <a:ext cx="8701347" cy="368283"/>
          </a:xfrm>
        </p:spPr>
        <p:txBody>
          <a:bodyPr>
            <a:normAutofit fontScale="90000"/>
          </a:bodyPr>
          <a:lstStyle/>
          <a:p>
            <a:r>
              <a:rPr lang="fr-FR" sz="4000">
                <a:latin typeface="Montserrat"/>
              </a:rPr>
              <a:t>SUR LE THEME :</a:t>
            </a:r>
            <a:br>
              <a:rPr lang="fr-FR" sz="4000">
                <a:latin typeface="Montserrat"/>
              </a:rPr>
            </a:br>
            <a:r>
              <a:rPr lang="fr-FR" sz="4000">
                <a:latin typeface="Montserrat"/>
              </a:rPr>
              <a:t>DE L'ÉXECUTION DU CONTRAT DE TRAVAIL </a:t>
            </a:r>
            <a:endParaRPr lang="fr-FR" sz="4000"/>
          </a:p>
        </p:txBody>
      </p:sp>
    </p:spTree>
    <p:extLst>
      <p:ext uri="{BB962C8B-B14F-4D97-AF65-F5344CB8AC3E}">
        <p14:creationId xmlns:p14="http://schemas.microsoft.com/office/powerpoint/2010/main" val="22596503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72022-0276-E55C-F748-58370E6724A0}"/>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33F2BDF4-068D-CFCB-E632-06EECD125D66}"/>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JURIDIQUE</a:t>
            </a:r>
          </a:p>
        </p:txBody>
      </p:sp>
      <p:sp>
        <p:nvSpPr>
          <p:cNvPr id="4" name="ZoneTexte 3">
            <a:extLst>
              <a:ext uri="{FF2B5EF4-FFF2-40B4-BE49-F238E27FC236}">
                <a16:creationId xmlns:a16="http://schemas.microsoft.com/office/drawing/2014/main" id="{3556233A-D414-C2BE-7896-FFE9A762752F}"/>
              </a:ext>
            </a:extLst>
          </p:cNvPr>
          <p:cNvSpPr txBox="1"/>
          <p:nvPr/>
        </p:nvSpPr>
        <p:spPr>
          <a:xfrm>
            <a:off x="575977" y="1674375"/>
            <a:ext cx="9235535" cy="369332"/>
          </a:xfrm>
          <a:prstGeom prst="rect">
            <a:avLst/>
          </a:prstGeom>
          <a:noFill/>
        </p:spPr>
        <p:txBody>
          <a:bodyPr wrap="square" lIns="91440" tIns="45720" rIns="91440" bIns="45720" rtlCol="0" anchor="t">
            <a:spAutoFit/>
          </a:bodyPr>
          <a:lstStyle/>
          <a:p>
            <a:r>
              <a:rPr lang="fr-FR" b="1">
                <a:solidFill>
                  <a:srgbClr val="E4003A"/>
                </a:solidFill>
                <a:latin typeface="Montserrat"/>
              </a:rPr>
              <a:t>L'entretien professionnel devient l'entretien de parcours professionnel </a:t>
            </a:r>
          </a:p>
        </p:txBody>
      </p:sp>
      <p:sp>
        <p:nvSpPr>
          <p:cNvPr id="5" name="ZoneTexte 4">
            <a:extLst>
              <a:ext uri="{FF2B5EF4-FFF2-40B4-BE49-F238E27FC236}">
                <a16:creationId xmlns:a16="http://schemas.microsoft.com/office/drawing/2014/main" id="{90057B07-470E-C739-1136-C19715474DC4}"/>
              </a:ext>
            </a:extLst>
          </p:cNvPr>
          <p:cNvSpPr txBox="1"/>
          <p:nvPr/>
        </p:nvSpPr>
        <p:spPr>
          <a:xfrm>
            <a:off x="575977" y="2164512"/>
            <a:ext cx="11228927" cy="3724096"/>
          </a:xfrm>
          <a:prstGeom prst="rect">
            <a:avLst/>
          </a:prstGeom>
          <a:noFill/>
        </p:spPr>
        <p:txBody>
          <a:bodyPr wrap="square" lIns="91440" tIns="45720" rIns="91440" bIns="45720" anchor="t">
            <a:spAutoFit/>
          </a:bodyPr>
          <a:lstStyle/>
          <a:p>
            <a:r>
              <a:rPr lang="fr-FR" sz="1400" i="1">
                <a:latin typeface="Montserrat Light"/>
                <a:ea typeface="Calibri"/>
                <a:cs typeface="Calibri"/>
              </a:rPr>
              <a:t>Loi portant transposition des ANI sur l’emploi des salariés expérimentés et sur l’évolution du dialogue social en date du 24 octobre 2025, JO du 25</a:t>
            </a:r>
          </a:p>
          <a:p>
            <a:pPr lvl="0"/>
            <a:endParaRPr lang="fr-FR" sz="1600" b="1" i="1">
              <a:latin typeface="Montserrat Light" panose="00000400000000000000" pitchFamily="2" charset="0"/>
              <a:ea typeface="Calibri"/>
              <a:cs typeface="Calibri"/>
            </a:endParaRPr>
          </a:p>
          <a:p>
            <a:endParaRPr lang="fr-FR" sz="1600" b="1" i="1">
              <a:latin typeface="Montserrat Light"/>
              <a:ea typeface="Calibri"/>
              <a:cs typeface="Calibri"/>
            </a:endParaRPr>
          </a:p>
          <a:p>
            <a:pPr marL="285750" indent="-285750">
              <a:buFont typeface="Wingdings" panose="05000000000000000000" pitchFamily="2" charset="2"/>
              <a:buChar char="Ø"/>
            </a:pPr>
            <a:r>
              <a:rPr lang="fr-FR" sz="1600" b="1">
                <a:latin typeface="Montserrat Light"/>
              </a:rPr>
              <a:t>Changement de dénomination</a:t>
            </a:r>
          </a:p>
          <a:p>
            <a:pPr marL="285750" indent="-285750">
              <a:buFont typeface="Wingdings" panose="05000000000000000000" pitchFamily="2" charset="2"/>
              <a:buChar char="Ø"/>
            </a:pPr>
            <a:endParaRPr lang="fr-FR" sz="1600">
              <a:latin typeface="Montserrat Light"/>
            </a:endParaRPr>
          </a:p>
          <a:p>
            <a:pPr lvl="4"/>
            <a:r>
              <a:rPr lang="fr-FR" sz="1600">
                <a:highlight>
                  <a:srgbClr val="FFFFFF"/>
                </a:highlight>
                <a:latin typeface="Montserrat Light"/>
                <a:ea typeface="Calibri"/>
                <a:cs typeface="Calibri"/>
              </a:rPr>
              <a:t>Entretien professionnel &gt; </a:t>
            </a:r>
            <a:r>
              <a:rPr lang="fr-FR" sz="1600" b="1">
                <a:highlight>
                  <a:srgbClr val="FFFFFF"/>
                </a:highlight>
                <a:latin typeface="Montserrat Light"/>
                <a:ea typeface="Calibri"/>
                <a:cs typeface="Calibri"/>
              </a:rPr>
              <a:t>Entretien de parcours professionnel </a:t>
            </a:r>
            <a:endParaRPr lang="fr-FR" sz="1600">
              <a:latin typeface="Montserrat Light"/>
            </a:endParaRPr>
          </a:p>
          <a:p>
            <a:pPr marL="285750" indent="-285750">
              <a:buFont typeface="Wingdings" panose="05000000000000000000" pitchFamily="2" charset="2"/>
              <a:buChar char="Ø"/>
            </a:pPr>
            <a:endParaRPr lang="fr-FR" sz="1600">
              <a:latin typeface="Montserrat Light" panose="00000400000000000000" pitchFamily="2" charset="0"/>
              <a:ea typeface="Calibri"/>
              <a:cs typeface="Calibri"/>
            </a:endParaRPr>
          </a:p>
          <a:p>
            <a:pPr algn="ctr"/>
            <a:endParaRPr lang="fr-FR" sz="1600">
              <a:latin typeface="Montserrat Light" panose="00000400000000000000" pitchFamily="2" charset="0"/>
              <a:ea typeface="Calibri"/>
              <a:cs typeface="Calibri"/>
            </a:endParaRPr>
          </a:p>
          <a:p>
            <a:pPr marL="310515" indent="-310515">
              <a:buFont typeface="Wingdings,Sans-Serif"/>
              <a:buChar char="Ø"/>
            </a:pPr>
            <a:r>
              <a:rPr lang="fr-FR" sz="1600" b="1">
                <a:highlight>
                  <a:srgbClr val="FFFFFF"/>
                </a:highlight>
                <a:latin typeface="Montserrat Light"/>
                <a:ea typeface="Calibri"/>
                <a:cs typeface="Calibri"/>
              </a:rPr>
              <a:t>Changement de la périodicité de l’entretien professionnel</a:t>
            </a:r>
            <a:endParaRPr lang="en-US" sz="1600">
              <a:latin typeface="Montserrat Light"/>
              <a:ea typeface="Calibri"/>
              <a:cs typeface="Calibri"/>
            </a:endParaRPr>
          </a:p>
          <a:p>
            <a:pPr marL="310515" indent="-310515">
              <a:buFont typeface="Wingdings,Sans-Serif"/>
              <a:buChar char="Ø"/>
            </a:pPr>
            <a:endParaRPr lang="fr-FR" sz="1600">
              <a:latin typeface="Montserrat Light"/>
              <a:ea typeface="Calibri"/>
              <a:cs typeface="Calibri"/>
            </a:endParaRPr>
          </a:p>
          <a:p>
            <a:pPr algn="ctr"/>
            <a:r>
              <a:rPr lang="fr-FR" sz="1600">
                <a:highlight>
                  <a:srgbClr val="FFFFFF"/>
                </a:highlight>
                <a:latin typeface="Montserrat Light"/>
                <a:ea typeface="Calibri"/>
                <a:cs typeface="Calibri"/>
              </a:rPr>
              <a:t>- Dès la </a:t>
            </a:r>
            <a:r>
              <a:rPr lang="fr-FR" sz="1600">
                <a:solidFill>
                  <a:srgbClr val="E4003A"/>
                </a:solidFill>
                <a:highlight>
                  <a:srgbClr val="FFFFFF"/>
                </a:highlight>
                <a:latin typeface="Montserrat Light"/>
                <a:ea typeface="Calibri"/>
                <a:cs typeface="Calibri"/>
              </a:rPr>
              <a:t>première année d’embauche</a:t>
            </a:r>
            <a:r>
              <a:rPr lang="fr-FR" sz="1600">
                <a:highlight>
                  <a:srgbClr val="FFFFFF"/>
                </a:highlight>
                <a:latin typeface="Montserrat Light"/>
                <a:ea typeface="Calibri"/>
                <a:cs typeface="Calibri"/>
              </a:rPr>
              <a:t>, </a:t>
            </a:r>
            <a:endParaRPr lang="en-US" sz="1600">
              <a:highlight>
                <a:srgbClr val="FFFFFF"/>
              </a:highlight>
              <a:latin typeface="Montserrat Light"/>
              <a:ea typeface="Calibri"/>
              <a:cs typeface="Calibri"/>
            </a:endParaRPr>
          </a:p>
          <a:p>
            <a:pPr algn="ctr"/>
            <a:r>
              <a:rPr lang="fr-FR" sz="1600">
                <a:highlight>
                  <a:srgbClr val="FFFFFF"/>
                </a:highlight>
                <a:latin typeface="Montserrat Light"/>
                <a:ea typeface="Calibri"/>
                <a:cs typeface="Calibri"/>
              </a:rPr>
              <a:t>- Puis</a:t>
            </a:r>
            <a:r>
              <a:rPr lang="fr-FR" sz="1600">
                <a:solidFill>
                  <a:srgbClr val="E4003A"/>
                </a:solidFill>
                <a:highlight>
                  <a:srgbClr val="FFFFFF"/>
                </a:highlight>
                <a:latin typeface="Montserrat Light"/>
                <a:ea typeface="Calibri"/>
                <a:cs typeface="Calibri"/>
              </a:rPr>
              <a:t> tous les 4 ans</a:t>
            </a:r>
            <a:r>
              <a:rPr lang="fr-FR" sz="1600">
                <a:highlight>
                  <a:srgbClr val="FFFFFF"/>
                </a:highlight>
                <a:latin typeface="Montserrat Light"/>
                <a:ea typeface="Calibri"/>
                <a:cs typeface="Calibri"/>
              </a:rPr>
              <a:t> (</a:t>
            </a:r>
            <a:r>
              <a:rPr lang="fr-FR" sz="1600" i="1">
                <a:highlight>
                  <a:srgbClr val="FFFFFF"/>
                </a:highlight>
                <a:latin typeface="Montserrat Light"/>
                <a:ea typeface="Calibri"/>
                <a:cs typeface="Calibri"/>
              </a:rPr>
              <a:t>au lieu de 2</a:t>
            </a:r>
            <a:r>
              <a:rPr lang="fr-FR" sz="1600">
                <a:highlight>
                  <a:srgbClr val="FFFFFF"/>
                </a:highlight>
                <a:latin typeface="Montserrat Light"/>
                <a:ea typeface="Calibri"/>
                <a:cs typeface="Calibri"/>
              </a:rPr>
              <a:t>)</a:t>
            </a:r>
            <a:endParaRPr lang="fr-FR" sz="1600">
              <a:latin typeface="Montserrat Light"/>
            </a:endParaRPr>
          </a:p>
          <a:p>
            <a:pPr lvl="1"/>
            <a:endParaRPr lang="fr-FR" sz="1600">
              <a:latin typeface="Montserrat Light" panose="00000400000000000000" pitchFamily="2" charset="0"/>
            </a:endParaRPr>
          </a:p>
          <a:p>
            <a:endParaRPr lang="fr-FR" sz="1600">
              <a:latin typeface="Montserrat Light" panose="00000400000000000000" pitchFamily="2" charset="0"/>
            </a:endParaRPr>
          </a:p>
        </p:txBody>
      </p:sp>
    </p:spTree>
    <p:extLst>
      <p:ext uri="{BB962C8B-B14F-4D97-AF65-F5344CB8AC3E}">
        <p14:creationId xmlns:p14="http://schemas.microsoft.com/office/powerpoint/2010/main" val="7691881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2EF1-E421-67CD-BA2D-85BE5817C697}"/>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B1D3AC10-FDE5-AB89-7A79-B1FB13EE7D70}"/>
              </a:ext>
            </a:extLst>
          </p:cNvPr>
          <p:cNvSpPr txBox="1"/>
          <p:nvPr/>
        </p:nvSpPr>
        <p:spPr>
          <a:xfrm>
            <a:off x="548099" y="2024792"/>
            <a:ext cx="9057006" cy="369332"/>
          </a:xfrm>
          <a:prstGeom prst="rect">
            <a:avLst/>
          </a:prstGeom>
          <a:noFill/>
        </p:spPr>
        <p:txBody>
          <a:bodyPr wrap="square" lIns="91440" tIns="45720" rIns="91440" bIns="45720" rtlCol="0" anchor="t">
            <a:spAutoFit/>
          </a:bodyPr>
          <a:lstStyle/>
          <a:p>
            <a:r>
              <a:rPr lang="fr-FR" b="1">
                <a:solidFill>
                  <a:srgbClr val="E4003A"/>
                </a:solidFill>
                <a:latin typeface="Montserrat"/>
              </a:rPr>
              <a:t>L'entretien professionnel devient l'entretien de parcours professionnel </a:t>
            </a:r>
            <a:endParaRPr lang="fr-FR" b="1">
              <a:solidFill>
                <a:srgbClr val="E4003A"/>
              </a:solidFill>
              <a:latin typeface="Montserrat" pitchFamily="2" charset="0"/>
            </a:endParaRPr>
          </a:p>
        </p:txBody>
      </p:sp>
      <p:sp>
        <p:nvSpPr>
          <p:cNvPr id="3" name="ZoneTexte 2">
            <a:extLst>
              <a:ext uri="{FF2B5EF4-FFF2-40B4-BE49-F238E27FC236}">
                <a16:creationId xmlns:a16="http://schemas.microsoft.com/office/drawing/2014/main" id="{C82ED6EF-7977-3561-A5ED-2D232494F4CB}"/>
              </a:ext>
            </a:extLst>
          </p:cNvPr>
          <p:cNvSpPr txBox="1"/>
          <p:nvPr/>
        </p:nvSpPr>
        <p:spPr>
          <a:xfrm>
            <a:off x="548098" y="2663612"/>
            <a:ext cx="9618872" cy="1077218"/>
          </a:xfrm>
          <a:prstGeom prst="rect">
            <a:avLst/>
          </a:prstGeom>
          <a:noFill/>
        </p:spPr>
        <p:txBody>
          <a:bodyPr wrap="square" lIns="91440" tIns="45720" rIns="91440" bIns="45720" anchor="t">
            <a:spAutoFit/>
          </a:bodyPr>
          <a:lstStyle/>
          <a:p>
            <a:r>
              <a:rPr lang="fr-FR" sz="1600" b="1">
                <a:solidFill>
                  <a:srgbClr val="000000"/>
                </a:solidFill>
                <a:highlight>
                  <a:srgbClr val="FFFFFF"/>
                </a:highlight>
                <a:latin typeface="Montserrat Light"/>
              </a:rPr>
              <a:t>NOUVELLE OBLIGATION</a:t>
            </a:r>
          </a:p>
          <a:p>
            <a:pPr marL="310515" indent="-310515">
              <a:buFont typeface="Wingdings,Sans-Serif"/>
              <a:buChar char="Ø"/>
            </a:pPr>
            <a:endParaRPr lang="fr-FR" sz="1600">
              <a:solidFill>
                <a:srgbClr val="000000"/>
              </a:solidFill>
              <a:latin typeface="Montserrat Light"/>
            </a:endParaRPr>
          </a:p>
          <a:p>
            <a:pPr algn="ctr"/>
            <a:endParaRPr lang="fr-FR" sz="1600">
              <a:solidFill>
                <a:srgbClr val="000000"/>
              </a:solidFill>
              <a:highlight>
                <a:srgbClr val="FFFFFF"/>
              </a:highlight>
              <a:latin typeface="Montserrat Light"/>
            </a:endParaRPr>
          </a:p>
          <a:p>
            <a:pPr algn="ctr"/>
            <a:endParaRPr lang="fr-FR" sz="1600">
              <a:highlight>
                <a:srgbClr val="FFFFFF"/>
              </a:highlight>
              <a:latin typeface="Montserrat Light"/>
            </a:endParaRPr>
          </a:p>
        </p:txBody>
      </p:sp>
      <p:sp>
        <p:nvSpPr>
          <p:cNvPr id="4" name="ZoneTexte 7">
            <a:extLst>
              <a:ext uri="{FF2B5EF4-FFF2-40B4-BE49-F238E27FC236}">
                <a16:creationId xmlns:a16="http://schemas.microsoft.com/office/drawing/2014/main" id="{7527D15A-9E2A-C1C3-398E-CACAA29BC740}"/>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b="1" cap="all" err="1">
                <a:solidFill>
                  <a:srgbClr val="5E152C"/>
                </a:solidFill>
                <a:latin typeface="Montserrat Light"/>
              </a:rPr>
              <a:t>ActualitÉ</a:t>
            </a:r>
            <a:r>
              <a:rPr lang="fr-FR" sz="3500" b="1" cap="all">
                <a:solidFill>
                  <a:srgbClr val="5E152C"/>
                </a:solidFill>
                <a:latin typeface="Montserrat Light"/>
              </a:rPr>
              <a:t> Droit social</a:t>
            </a:r>
            <a:endParaRPr lang="fr-FR" sz="3500" b="1" cap="all">
              <a:solidFill>
                <a:srgbClr val="5E152C"/>
              </a:solidFill>
              <a:latin typeface="Montserrat Black" panose="00000A00000000000000" pitchFamily="2" charset="0"/>
            </a:endParaRPr>
          </a:p>
        </p:txBody>
      </p:sp>
      <p:sp>
        <p:nvSpPr>
          <p:cNvPr id="6" name="Rectangle : coins arrondis 9">
            <a:extLst>
              <a:ext uri="{FF2B5EF4-FFF2-40B4-BE49-F238E27FC236}">
                <a16:creationId xmlns:a16="http://schemas.microsoft.com/office/drawing/2014/main" id="{9ADE2BA6-E06D-FDDA-9EE2-C5E98F2A0EAE}"/>
              </a:ext>
            </a:extLst>
          </p:cNvPr>
          <p:cNvSpPr/>
          <p:nvPr/>
        </p:nvSpPr>
        <p:spPr>
          <a:xfrm>
            <a:off x="543320" y="3163591"/>
            <a:ext cx="7970157" cy="2357079"/>
          </a:xfrm>
          <a:prstGeom prst="roundRect">
            <a:avLst/>
          </a:prstGeom>
          <a:solidFill>
            <a:schemeClr val="bg2"/>
          </a:solidFill>
          <a:ln>
            <a:solidFill>
              <a:srgbClr val="68BB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14726" rtl="0" eaLnBrk="1" latinLnBrk="0" hangingPunct="1">
              <a:defRPr sz="1633" kern="1200">
                <a:solidFill>
                  <a:schemeClr val="tx1"/>
                </a:solidFill>
                <a:latin typeface="+mn-lt"/>
                <a:ea typeface="+mn-ea"/>
                <a:cs typeface="+mn-cs"/>
              </a:defRPr>
            </a:lvl1pPr>
            <a:lvl2pPr marL="414726" algn="l" defTabSz="414726" rtl="0" eaLnBrk="1" latinLnBrk="0" hangingPunct="1">
              <a:defRPr sz="1633" kern="1200">
                <a:solidFill>
                  <a:schemeClr val="tx1"/>
                </a:solidFill>
                <a:latin typeface="+mn-lt"/>
                <a:ea typeface="+mn-ea"/>
                <a:cs typeface="+mn-cs"/>
              </a:defRPr>
            </a:lvl2pPr>
            <a:lvl3pPr marL="829452" algn="l" defTabSz="414726" rtl="0" eaLnBrk="1" latinLnBrk="0" hangingPunct="1">
              <a:defRPr sz="1633" kern="1200">
                <a:solidFill>
                  <a:schemeClr val="tx1"/>
                </a:solidFill>
                <a:latin typeface="+mn-lt"/>
                <a:ea typeface="+mn-ea"/>
                <a:cs typeface="+mn-cs"/>
              </a:defRPr>
            </a:lvl3pPr>
            <a:lvl4pPr marL="1244178" algn="l" defTabSz="414726" rtl="0" eaLnBrk="1" latinLnBrk="0" hangingPunct="1">
              <a:defRPr sz="1633" kern="1200">
                <a:solidFill>
                  <a:schemeClr val="tx1"/>
                </a:solidFill>
                <a:latin typeface="+mn-lt"/>
                <a:ea typeface="+mn-ea"/>
                <a:cs typeface="+mn-cs"/>
              </a:defRPr>
            </a:lvl4pPr>
            <a:lvl5pPr marL="1658904" algn="l" defTabSz="414726" rtl="0" eaLnBrk="1" latinLnBrk="0" hangingPunct="1">
              <a:defRPr sz="1633" kern="1200">
                <a:solidFill>
                  <a:schemeClr val="tx1"/>
                </a:solidFill>
                <a:latin typeface="+mn-lt"/>
                <a:ea typeface="+mn-ea"/>
                <a:cs typeface="+mn-cs"/>
              </a:defRPr>
            </a:lvl5pPr>
            <a:lvl6pPr marL="2073631" algn="l" defTabSz="414726" rtl="0" eaLnBrk="1" latinLnBrk="0" hangingPunct="1">
              <a:defRPr sz="1633" kern="1200">
                <a:solidFill>
                  <a:schemeClr val="tx1"/>
                </a:solidFill>
                <a:latin typeface="+mn-lt"/>
                <a:ea typeface="+mn-ea"/>
                <a:cs typeface="+mn-cs"/>
              </a:defRPr>
            </a:lvl6pPr>
            <a:lvl7pPr marL="2488357" algn="l" defTabSz="414726" rtl="0" eaLnBrk="1" latinLnBrk="0" hangingPunct="1">
              <a:defRPr sz="1633" kern="1200">
                <a:solidFill>
                  <a:schemeClr val="tx1"/>
                </a:solidFill>
                <a:latin typeface="+mn-lt"/>
                <a:ea typeface="+mn-ea"/>
                <a:cs typeface="+mn-cs"/>
              </a:defRPr>
            </a:lvl7pPr>
            <a:lvl8pPr marL="2903083" algn="l" defTabSz="414726" rtl="0" eaLnBrk="1" latinLnBrk="0" hangingPunct="1">
              <a:defRPr sz="1633" kern="1200">
                <a:solidFill>
                  <a:schemeClr val="tx1"/>
                </a:solidFill>
                <a:latin typeface="+mn-lt"/>
                <a:ea typeface="+mn-ea"/>
                <a:cs typeface="+mn-cs"/>
              </a:defRPr>
            </a:lvl8pPr>
            <a:lvl9pPr marL="3317809" algn="l" defTabSz="414726" rtl="0" eaLnBrk="1" latinLnBrk="0" hangingPunct="1">
              <a:defRPr sz="1633" kern="1200">
                <a:solidFill>
                  <a:schemeClr val="tx1"/>
                </a:solidFill>
                <a:latin typeface="+mn-lt"/>
                <a:ea typeface="+mn-ea"/>
                <a:cs typeface="+mn-cs"/>
              </a:defRPr>
            </a:lvl9pPr>
          </a:lstStyle>
          <a:p>
            <a:pPr algn="ctr"/>
            <a:endParaRPr lang="fr-FR" sz="1481"/>
          </a:p>
        </p:txBody>
      </p:sp>
      <p:sp>
        <p:nvSpPr>
          <p:cNvPr id="8" name="ZoneTexte 10">
            <a:extLst>
              <a:ext uri="{FF2B5EF4-FFF2-40B4-BE49-F238E27FC236}">
                <a16:creationId xmlns:a16="http://schemas.microsoft.com/office/drawing/2014/main" id="{06D2CEF6-BE57-6979-E272-37618BFDDDD0}"/>
              </a:ext>
            </a:extLst>
          </p:cNvPr>
          <p:cNvSpPr txBox="1"/>
          <p:nvPr/>
        </p:nvSpPr>
        <p:spPr>
          <a:xfrm>
            <a:off x="731603" y="3198464"/>
            <a:ext cx="7586728" cy="2308324"/>
          </a:xfrm>
          <a:prstGeom prst="rect">
            <a:avLst/>
          </a:prstGeom>
          <a:noFill/>
        </p:spPr>
        <p:txBody>
          <a:bodyPr wrap="square" lIns="91440" tIns="45720" rIns="91440" bIns="45720" rtlCol="0" anchor="t">
            <a:spAutoFit/>
          </a:bodyPr>
          <a:lstStyle>
            <a:defPPr>
              <a:defRPr lang="en-US"/>
            </a:defPPr>
            <a:lvl1pPr marL="0" algn="l" defTabSz="414726" rtl="0" eaLnBrk="1" latinLnBrk="0" hangingPunct="1">
              <a:defRPr sz="1633" kern="1200">
                <a:solidFill>
                  <a:schemeClr val="tx1"/>
                </a:solidFill>
                <a:latin typeface="+mn-lt"/>
                <a:ea typeface="+mn-ea"/>
                <a:cs typeface="+mn-cs"/>
              </a:defRPr>
            </a:lvl1pPr>
            <a:lvl2pPr marL="414726" algn="l" defTabSz="414726" rtl="0" eaLnBrk="1" latinLnBrk="0" hangingPunct="1">
              <a:defRPr sz="1633" kern="1200">
                <a:solidFill>
                  <a:schemeClr val="tx1"/>
                </a:solidFill>
                <a:latin typeface="+mn-lt"/>
                <a:ea typeface="+mn-ea"/>
                <a:cs typeface="+mn-cs"/>
              </a:defRPr>
            </a:lvl2pPr>
            <a:lvl3pPr marL="829452" algn="l" defTabSz="414726" rtl="0" eaLnBrk="1" latinLnBrk="0" hangingPunct="1">
              <a:defRPr sz="1633" kern="1200">
                <a:solidFill>
                  <a:schemeClr val="tx1"/>
                </a:solidFill>
                <a:latin typeface="+mn-lt"/>
                <a:ea typeface="+mn-ea"/>
                <a:cs typeface="+mn-cs"/>
              </a:defRPr>
            </a:lvl3pPr>
            <a:lvl4pPr marL="1244178" algn="l" defTabSz="414726" rtl="0" eaLnBrk="1" latinLnBrk="0" hangingPunct="1">
              <a:defRPr sz="1633" kern="1200">
                <a:solidFill>
                  <a:schemeClr val="tx1"/>
                </a:solidFill>
                <a:latin typeface="+mn-lt"/>
                <a:ea typeface="+mn-ea"/>
                <a:cs typeface="+mn-cs"/>
              </a:defRPr>
            </a:lvl4pPr>
            <a:lvl5pPr marL="1658904" algn="l" defTabSz="414726" rtl="0" eaLnBrk="1" latinLnBrk="0" hangingPunct="1">
              <a:defRPr sz="1633" kern="1200">
                <a:solidFill>
                  <a:schemeClr val="tx1"/>
                </a:solidFill>
                <a:latin typeface="+mn-lt"/>
                <a:ea typeface="+mn-ea"/>
                <a:cs typeface="+mn-cs"/>
              </a:defRPr>
            </a:lvl5pPr>
            <a:lvl6pPr marL="2073631" algn="l" defTabSz="414726" rtl="0" eaLnBrk="1" latinLnBrk="0" hangingPunct="1">
              <a:defRPr sz="1633" kern="1200">
                <a:solidFill>
                  <a:schemeClr val="tx1"/>
                </a:solidFill>
                <a:latin typeface="+mn-lt"/>
                <a:ea typeface="+mn-ea"/>
                <a:cs typeface="+mn-cs"/>
              </a:defRPr>
            </a:lvl6pPr>
            <a:lvl7pPr marL="2488357" algn="l" defTabSz="414726" rtl="0" eaLnBrk="1" latinLnBrk="0" hangingPunct="1">
              <a:defRPr sz="1633" kern="1200">
                <a:solidFill>
                  <a:schemeClr val="tx1"/>
                </a:solidFill>
                <a:latin typeface="+mn-lt"/>
                <a:ea typeface="+mn-ea"/>
                <a:cs typeface="+mn-cs"/>
              </a:defRPr>
            </a:lvl7pPr>
            <a:lvl8pPr marL="2903083" algn="l" defTabSz="414726" rtl="0" eaLnBrk="1" latinLnBrk="0" hangingPunct="1">
              <a:defRPr sz="1633" kern="1200">
                <a:solidFill>
                  <a:schemeClr val="tx1"/>
                </a:solidFill>
                <a:latin typeface="+mn-lt"/>
                <a:ea typeface="+mn-ea"/>
                <a:cs typeface="+mn-cs"/>
              </a:defRPr>
            </a:lvl8pPr>
            <a:lvl9pPr marL="3317809" algn="l" defTabSz="414726" rtl="0" eaLnBrk="1" latinLnBrk="0" hangingPunct="1">
              <a:defRPr sz="1633" kern="1200">
                <a:solidFill>
                  <a:schemeClr val="tx1"/>
                </a:solidFill>
                <a:latin typeface="+mn-lt"/>
                <a:ea typeface="+mn-ea"/>
                <a:cs typeface="+mn-cs"/>
              </a:defRPr>
            </a:lvl9pPr>
          </a:lstStyle>
          <a:p>
            <a:r>
              <a:rPr lang="fr-FR" sz="1600">
                <a:latin typeface="Montserrat Light"/>
              </a:rPr>
              <a:t>Un accord de branche ou un accord d'entreprise peut définir une périodicité différente, dans la limite de 4 ans.</a:t>
            </a:r>
          </a:p>
          <a:p>
            <a:endParaRPr lang="fr-FR" sz="1600">
              <a:latin typeface="Montserrat Light"/>
            </a:endParaRPr>
          </a:p>
          <a:p>
            <a:r>
              <a:rPr lang="fr-FR" sz="1600">
                <a:latin typeface="Montserrat Light"/>
                <a:ea typeface="Calibri"/>
                <a:cs typeface="Calibri"/>
              </a:rPr>
              <a:t>Dans ce cas, les entreprises et branches couvertes par un accord relatif aux entretiens professionnels pourront renégocier la périodicité. </a:t>
            </a:r>
          </a:p>
          <a:p>
            <a:endParaRPr lang="fr-FR" sz="1600">
              <a:latin typeface="Montserrat Light"/>
              <a:ea typeface="Calibri"/>
              <a:cs typeface="Calibri"/>
            </a:endParaRPr>
          </a:p>
          <a:p>
            <a:r>
              <a:rPr lang="fr-FR" sz="1600" dirty="0">
                <a:latin typeface="Montserrat Light"/>
                <a:ea typeface="Calibri"/>
                <a:cs typeface="Calibri"/>
              </a:rPr>
              <a:t>À défaut de négociation et en cas de périodicité conventionnelle </a:t>
            </a:r>
            <a:r>
              <a:rPr lang="fr-FR" sz="1600">
                <a:latin typeface="Montserrat Light"/>
                <a:ea typeface="Calibri"/>
                <a:cs typeface="Calibri"/>
              </a:rPr>
              <a:t>supérieure à 4 ans,  la limite légale (4 ans) s'imposera dès le 1er octobre 2026. </a:t>
            </a:r>
          </a:p>
        </p:txBody>
      </p:sp>
    </p:spTree>
    <p:extLst>
      <p:ext uri="{BB962C8B-B14F-4D97-AF65-F5344CB8AC3E}">
        <p14:creationId xmlns:p14="http://schemas.microsoft.com/office/powerpoint/2010/main" val="4043327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40166-A463-E81E-4894-FEF313970499}"/>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ED47E235-E453-2FFF-8EEF-727E202B230C}"/>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JURIDIQUE</a:t>
            </a:r>
          </a:p>
        </p:txBody>
      </p:sp>
      <p:sp>
        <p:nvSpPr>
          <p:cNvPr id="4" name="ZoneTexte 3">
            <a:extLst>
              <a:ext uri="{FF2B5EF4-FFF2-40B4-BE49-F238E27FC236}">
                <a16:creationId xmlns:a16="http://schemas.microsoft.com/office/drawing/2014/main" id="{514DDA88-7696-9E86-644E-B35CC3AB6E2A}"/>
              </a:ext>
            </a:extLst>
          </p:cNvPr>
          <p:cNvSpPr txBox="1"/>
          <p:nvPr/>
        </p:nvSpPr>
        <p:spPr>
          <a:xfrm>
            <a:off x="575977" y="1674375"/>
            <a:ext cx="9235535" cy="369332"/>
          </a:xfrm>
          <a:prstGeom prst="rect">
            <a:avLst/>
          </a:prstGeom>
          <a:noFill/>
        </p:spPr>
        <p:txBody>
          <a:bodyPr wrap="square" lIns="91440" tIns="45720" rIns="91440" bIns="45720" rtlCol="0" anchor="t">
            <a:spAutoFit/>
          </a:bodyPr>
          <a:lstStyle/>
          <a:p>
            <a:r>
              <a:rPr lang="fr-FR" b="1">
                <a:solidFill>
                  <a:srgbClr val="E4003A"/>
                </a:solidFill>
                <a:latin typeface="Montserrat"/>
              </a:rPr>
              <a:t>L'entretien professionnel devient l'entretien de parcours professionnel </a:t>
            </a:r>
          </a:p>
        </p:txBody>
      </p:sp>
      <p:graphicFrame>
        <p:nvGraphicFramePr>
          <p:cNvPr id="7" name="Table 6">
            <a:extLst>
              <a:ext uri="{FF2B5EF4-FFF2-40B4-BE49-F238E27FC236}">
                <a16:creationId xmlns:a16="http://schemas.microsoft.com/office/drawing/2014/main" id="{DDDEF768-33B7-8355-08EE-53013EE3B009}"/>
              </a:ext>
            </a:extLst>
          </p:cNvPr>
          <p:cNvGraphicFramePr>
            <a:graphicFrameLocks noGrp="1"/>
          </p:cNvGraphicFramePr>
          <p:nvPr>
            <p:extLst>
              <p:ext uri="{D42A27DB-BD31-4B8C-83A1-F6EECF244321}">
                <p14:modId xmlns:p14="http://schemas.microsoft.com/office/powerpoint/2010/main" val="3869314108"/>
              </p:ext>
            </p:extLst>
          </p:nvPr>
        </p:nvGraphicFramePr>
        <p:xfrm>
          <a:off x="1639018" y="3579962"/>
          <a:ext cx="8168640" cy="2376439"/>
        </p:xfrm>
        <a:graphic>
          <a:graphicData uri="http://schemas.openxmlformats.org/drawingml/2006/table">
            <a:tbl>
              <a:tblPr firstRow="1" bandRow="1">
                <a:tableStyleId>{5C22544A-7EE6-4342-B048-85BDC9FD1C3A}</a:tableStyleId>
              </a:tblPr>
              <a:tblGrid>
                <a:gridCol w="2722880">
                  <a:extLst>
                    <a:ext uri="{9D8B030D-6E8A-4147-A177-3AD203B41FA5}">
                      <a16:colId xmlns:a16="http://schemas.microsoft.com/office/drawing/2014/main" val="779602783"/>
                    </a:ext>
                  </a:extLst>
                </a:gridCol>
                <a:gridCol w="2722880">
                  <a:extLst>
                    <a:ext uri="{9D8B030D-6E8A-4147-A177-3AD203B41FA5}">
                      <a16:colId xmlns:a16="http://schemas.microsoft.com/office/drawing/2014/main" val="281463619"/>
                    </a:ext>
                  </a:extLst>
                </a:gridCol>
                <a:gridCol w="2722880">
                  <a:extLst>
                    <a:ext uri="{9D8B030D-6E8A-4147-A177-3AD203B41FA5}">
                      <a16:colId xmlns:a16="http://schemas.microsoft.com/office/drawing/2014/main" val="2164970936"/>
                    </a:ext>
                  </a:extLst>
                </a:gridCol>
              </a:tblGrid>
              <a:tr h="395239">
                <a:tc>
                  <a:txBody>
                    <a:bodyPr/>
                    <a:lstStyle/>
                    <a:p>
                      <a:pPr lvl="0">
                        <a:buNone/>
                      </a:pPr>
                      <a:r>
                        <a:rPr lang="en-US" sz="1600">
                          <a:solidFill>
                            <a:schemeClr val="bg1"/>
                          </a:solidFill>
                          <a:latin typeface="Montserrat Light"/>
                        </a:rPr>
                        <a:t>Entretien de </a:t>
                      </a:r>
                      <a:r>
                        <a:rPr lang="en-US" sz="1600" err="1">
                          <a:solidFill>
                            <a:schemeClr val="bg1"/>
                          </a:solidFill>
                          <a:latin typeface="Montserrat Light"/>
                        </a:rPr>
                        <a:t>parcours</a:t>
                      </a:r>
                      <a:r>
                        <a:rPr lang="en-US" sz="1600">
                          <a:solidFill>
                            <a:schemeClr val="bg1"/>
                          </a:solidFill>
                          <a:latin typeface="Montserrat Light"/>
                        </a:rPr>
                        <a:t> </a:t>
                      </a:r>
                      <a:r>
                        <a:rPr lang="en-US" sz="1600" err="1">
                          <a:solidFill>
                            <a:schemeClr val="bg1"/>
                          </a:solidFill>
                          <a:latin typeface="Montserrat Light"/>
                        </a:rPr>
                        <a:t>professionnel</a:t>
                      </a:r>
                    </a:p>
                  </a:txBody>
                  <a:tcPr>
                    <a:solidFill>
                      <a:srgbClr val="68BBB4"/>
                    </a:solidFill>
                  </a:tcPr>
                </a:tc>
                <a:tc>
                  <a:txBody>
                    <a:bodyPr/>
                    <a:lstStyle/>
                    <a:p>
                      <a:pPr lvl="0">
                        <a:buNone/>
                      </a:pPr>
                      <a:r>
                        <a:rPr lang="en-US" sz="1600" b="0">
                          <a:solidFill>
                            <a:schemeClr val="tx1"/>
                          </a:solidFill>
                          <a:latin typeface="Montserrat Light"/>
                        </a:rPr>
                        <a:t>Tous les 4 ans. </a:t>
                      </a:r>
                    </a:p>
                  </a:txBody>
                  <a:tcPr>
                    <a:solidFill>
                      <a:schemeClr val="bg2"/>
                    </a:solidFill>
                  </a:tcPr>
                </a:tc>
                <a:tc>
                  <a:txBody>
                    <a:bodyPr/>
                    <a:lstStyle/>
                    <a:p>
                      <a:pPr lvl="0">
                        <a:buNone/>
                      </a:pPr>
                      <a:r>
                        <a:rPr lang="en-US" sz="1600" b="0">
                          <a:solidFill>
                            <a:schemeClr val="tx1"/>
                          </a:solidFill>
                          <a:latin typeface="Montserrat Light"/>
                        </a:rPr>
                        <a:t>Tous les 2 </a:t>
                      </a:r>
                      <a:r>
                        <a:rPr lang="en-US" sz="1600" b="0" err="1">
                          <a:solidFill>
                            <a:schemeClr val="tx1"/>
                          </a:solidFill>
                          <a:latin typeface="Montserrat Light"/>
                        </a:rPr>
                        <a:t>ans</a:t>
                      </a:r>
                    </a:p>
                  </a:txBody>
                  <a:tcPr>
                    <a:solidFill>
                      <a:schemeClr val="bg2"/>
                    </a:solidFill>
                  </a:tcPr>
                </a:tc>
                <a:extLst>
                  <a:ext uri="{0D108BD9-81ED-4DB2-BD59-A6C34878D82A}">
                    <a16:rowId xmlns:a16="http://schemas.microsoft.com/office/drawing/2014/main" val="1304919203"/>
                  </a:ext>
                </a:extLst>
              </a:tr>
              <a:tr h="395239">
                <a:tc>
                  <a:txBody>
                    <a:bodyPr/>
                    <a:lstStyle/>
                    <a:p>
                      <a:r>
                        <a:rPr lang="en-US" sz="1600" b="1">
                          <a:solidFill>
                            <a:schemeClr val="bg1"/>
                          </a:solidFill>
                          <a:latin typeface="Montserrat Light"/>
                        </a:rPr>
                        <a:t>Entretien de </a:t>
                      </a:r>
                      <a:r>
                        <a:rPr lang="en-US" sz="1600" b="1" err="1">
                          <a:solidFill>
                            <a:schemeClr val="bg1"/>
                          </a:solidFill>
                          <a:latin typeface="Montserrat Light"/>
                        </a:rPr>
                        <a:t>bilan</a:t>
                      </a:r>
                    </a:p>
                  </a:txBody>
                  <a:tcPr>
                    <a:solidFill>
                      <a:srgbClr val="68BBB4"/>
                    </a:solidFill>
                  </a:tcPr>
                </a:tc>
                <a:tc>
                  <a:txBody>
                    <a:bodyPr/>
                    <a:lstStyle/>
                    <a:p>
                      <a:r>
                        <a:rPr lang="en-US" sz="1600" b="0">
                          <a:solidFill>
                            <a:schemeClr val="tx1"/>
                          </a:solidFill>
                          <a:latin typeface="Montserrat Light"/>
                        </a:rPr>
                        <a:t>Tous les 8 </a:t>
                      </a:r>
                      <a:r>
                        <a:rPr lang="en-US" sz="1600" b="0" err="1">
                          <a:solidFill>
                            <a:schemeClr val="tx1"/>
                          </a:solidFill>
                          <a:latin typeface="Montserrat Light"/>
                        </a:rPr>
                        <a:t>ans</a:t>
                      </a:r>
                    </a:p>
                  </a:txBody>
                  <a:tcPr>
                    <a:solidFill>
                      <a:schemeClr val="bg2"/>
                    </a:solidFill>
                  </a:tcPr>
                </a:tc>
                <a:tc>
                  <a:txBody>
                    <a:bodyPr/>
                    <a:lstStyle/>
                    <a:p>
                      <a:r>
                        <a:rPr lang="en-US" sz="1600" b="0">
                          <a:solidFill>
                            <a:schemeClr val="tx1"/>
                          </a:solidFill>
                          <a:latin typeface="Montserrat Light"/>
                        </a:rPr>
                        <a:t>Tous les 6 </a:t>
                      </a:r>
                      <a:r>
                        <a:rPr lang="en-US" sz="1600" b="0" err="1">
                          <a:solidFill>
                            <a:schemeClr val="tx1"/>
                          </a:solidFill>
                          <a:latin typeface="Montserrat Light"/>
                        </a:rPr>
                        <a:t>ans</a:t>
                      </a:r>
                    </a:p>
                  </a:txBody>
                  <a:tcPr>
                    <a:solidFill>
                      <a:schemeClr val="bg2"/>
                    </a:solidFill>
                  </a:tcPr>
                </a:tc>
                <a:extLst>
                  <a:ext uri="{0D108BD9-81ED-4DB2-BD59-A6C34878D82A}">
                    <a16:rowId xmlns:a16="http://schemas.microsoft.com/office/drawing/2014/main" val="367501611"/>
                  </a:ext>
                </a:extLst>
              </a:tr>
              <a:tr h="425643">
                <a:tc>
                  <a:txBody>
                    <a:bodyPr/>
                    <a:lstStyle/>
                    <a:p>
                      <a:r>
                        <a:rPr lang="en-US" sz="1600" b="1">
                          <a:solidFill>
                            <a:schemeClr val="bg1"/>
                          </a:solidFill>
                          <a:latin typeface="Montserrat Light"/>
                        </a:rPr>
                        <a:t>Entretien de </a:t>
                      </a:r>
                      <a:r>
                        <a:rPr lang="en-US" sz="1600" b="1" err="1">
                          <a:solidFill>
                            <a:schemeClr val="bg1"/>
                          </a:solidFill>
                          <a:latin typeface="Montserrat Light"/>
                        </a:rPr>
                        <a:t>parcours</a:t>
                      </a:r>
                      <a:r>
                        <a:rPr lang="en-US" sz="1600" b="1">
                          <a:solidFill>
                            <a:schemeClr val="bg1"/>
                          </a:solidFill>
                          <a:latin typeface="Montserrat Light"/>
                        </a:rPr>
                        <a:t> </a:t>
                      </a:r>
                      <a:r>
                        <a:rPr lang="en-US" sz="1600" b="1" err="1">
                          <a:solidFill>
                            <a:schemeClr val="bg1"/>
                          </a:solidFill>
                          <a:latin typeface="Montserrat Light"/>
                        </a:rPr>
                        <a:t>professionnel</a:t>
                      </a:r>
                      <a:r>
                        <a:rPr lang="en-US" sz="1600" b="1">
                          <a:solidFill>
                            <a:schemeClr val="bg1"/>
                          </a:solidFill>
                          <a:latin typeface="Montserrat Light"/>
                        </a:rPr>
                        <a:t>  </a:t>
                      </a:r>
                      <a:r>
                        <a:rPr lang="en-US" sz="1600" b="1" err="1">
                          <a:solidFill>
                            <a:schemeClr val="bg1"/>
                          </a:solidFill>
                          <a:latin typeface="Montserrat Light"/>
                        </a:rPr>
                        <a:t>renforcé</a:t>
                      </a:r>
                      <a:r>
                        <a:rPr lang="en-US" sz="1600" b="1">
                          <a:solidFill>
                            <a:schemeClr val="bg1"/>
                          </a:solidFill>
                          <a:latin typeface="Montserrat Light"/>
                        </a:rPr>
                        <a:t> de mi-</a:t>
                      </a:r>
                      <a:r>
                        <a:rPr lang="en-US" sz="1600" b="1" err="1">
                          <a:solidFill>
                            <a:schemeClr val="bg1"/>
                          </a:solidFill>
                          <a:latin typeface="Montserrat Light"/>
                        </a:rPr>
                        <a:t>carrière</a:t>
                      </a:r>
                    </a:p>
                  </a:txBody>
                  <a:tcPr>
                    <a:solidFill>
                      <a:srgbClr val="68BBB4"/>
                    </a:solidFill>
                  </a:tcPr>
                </a:tc>
                <a:tc>
                  <a:txBody>
                    <a:bodyPr/>
                    <a:lstStyle/>
                    <a:p>
                      <a:pPr lvl="0">
                        <a:buNone/>
                      </a:pPr>
                      <a:r>
                        <a:rPr lang="fr-FR" sz="1600" b="0" i="0" u="none" strike="noStrike" noProof="0">
                          <a:solidFill>
                            <a:schemeClr val="tx1"/>
                          </a:solidFill>
                          <a:latin typeface="Montserrat Light"/>
                        </a:rPr>
                        <a:t>Dans les 2 mois suivant la visite médicale de    mi-carrière </a:t>
                      </a:r>
                      <a:endParaRPr lang="en-US" sz="1600">
                        <a:solidFill>
                          <a:schemeClr val="tx1"/>
                        </a:solidFill>
                        <a:latin typeface="Montserrat Light"/>
                      </a:endParaRPr>
                    </a:p>
                  </a:txBody>
                  <a:tcPr>
                    <a:solidFill>
                      <a:schemeClr val="bg2"/>
                    </a:solidFill>
                  </a:tcPr>
                </a:tc>
                <a:tc>
                  <a:txBody>
                    <a:bodyPr/>
                    <a:lstStyle/>
                    <a:p>
                      <a:endParaRPr lang="en-US" sz="1600">
                        <a:solidFill>
                          <a:schemeClr val="tx1"/>
                        </a:solidFill>
                        <a:latin typeface="Montserrat Light"/>
                      </a:endParaRPr>
                    </a:p>
                  </a:txBody>
                  <a:tcPr>
                    <a:solidFill>
                      <a:schemeClr val="bg2"/>
                    </a:solidFill>
                  </a:tcPr>
                </a:tc>
                <a:extLst>
                  <a:ext uri="{0D108BD9-81ED-4DB2-BD59-A6C34878D82A}">
                    <a16:rowId xmlns:a16="http://schemas.microsoft.com/office/drawing/2014/main" val="3151157108"/>
                  </a:ext>
                </a:extLst>
              </a:tr>
              <a:tr h="516851">
                <a:tc>
                  <a:txBody>
                    <a:bodyPr/>
                    <a:lstStyle/>
                    <a:p>
                      <a:r>
                        <a:rPr lang="en-US" sz="1600" b="1">
                          <a:solidFill>
                            <a:schemeClr val="bg1"/>
                          </a:solidFill>
                          <a:latin typeface="Montserrat Light"/>
                        </a:rPr>
                        <a:t>Entretien de fin de </a:t>
                      </a:r>
                      <a:r>
                        <a:rPr lang="en-US" sz="1600" b="1" err="1">
                          <a:solidFill>
                            <a:schemeClr val="bg1"/>
                          </a:solidFill>
                          <a:latin typeface="Montserrat Light"/>
                        </a:rPr>
                        <a:t>carrière</a:t>
                      </a:r>
                      <a:r>
                        <a:rPr lang="en-US" sz="1600" b="1">
                          <a:solidFill>
                            <a:schemeClr val="bg1"/>
                          </a:solidFill>
                          <a:latin typeface="Montserrat Light"/>
                        </a:rPr>
                        <a:t> </a:t>
                      </a:r>
                    </a:p>
                  </a:txBody>
                  <a:tcPr>
                    <a:solidFill>
                      <a:srgbClr val="68BBB4"/>
                    </a:solidFill>
                  </a:tcPr>
                </a:tc>
                <a:tc>
                  <a:txBody>
                    <a:bodyPr/>
                    <a:lstStyle/>
                    <a:p>
                      <a:r>
                        <a:rPr lang="en-US" sz="1600">
                          <a:solidFill>
                            <a:schemeClr val="tx1"/>
                          </a:solidFill>
                          <a:latin typeface="Montserrat Light"/>
                        </a:rPr>
                        <a:t>2 </a:t>
                      </a:r>
                      <a:r>
                        <a:rPr lang="en-US" sz="1600" err="1">
                          <a:solidFill>
                            <a:schemeClr val="tx1"/>
                          </a:solidFill>
                          <a:latin typeface="Montserrat Light"/>
                        </a:rPr>
                        <a:t>ans</a:t>
                      </a:r>
                      <a:r>
                        <a:rPr lang="en-US" sz="1600">
                          <a:solidFill>
                            <a:schemeClr val="tx1"/>
                          </a:solidFill>
                          <a:latin typeface="Montserrat Light"/>
                        </a:rPr>
                        <a:t> avant les 60 </a:t>
                      </a:r>
                      <a:r>
                        <a:rPr lang="en-US" sz="1600" err="1">
                          <a:solidFill>
                            <a:schemeClr val="tx1"/>
                          </a:solidFill>
                          <a:latin typeface="Montserrat Light"/>
                        </a:rPr>
                        <a:t>ans</a:t>
                      </a:r>
                      <a:r>
                        <a:rPr lang="en-US" sz="1600">
                          <a:solidFill>
                            <a:schemeClr val="tx1"/>
                          </a:solidFill>
                          <a:latin typeface="Montserrat Light"/>
                        </a:rPr>
                        <a:t> du </a:t>
                      </a:r>
                      <a:r>
                        <a:rPr lang="en-US" sz="1600" err="1">
                          <a:solidFill>
                            <a:schemeClr val="tx1"/>
                          </a:solidFill>
                          <a:latin typeface="Montserrat Light"/>
                        </a:rPr>
                        <a:t>salarié</a:t>
                      </a:r>
                      <a:r>
                        <a:rPr lang="en-US" sz="1600">
                          <a:solidFill>
                            <a:schemeClr val="tx1"/>
                          </a:solidFill>
                          <a:latin typeface="Montserrat Light"/>
                        </a:rPr>
                        <a:t> </a:t>
                      </a:r>
                    </a:p>
                  </a:txBody>
                  <a:tcPr>
                    <a:solidFill>
                      <a:schemeClr val="bg2"/>
                    </a:solidFill>
                  </a:tcPr>
                </a:tc>
                <a:tc>
                  <a:txBody>
                    <a:bodyPr/>
                    <a:lstStyle/>
                    <a:p>
                      <a:endParaRPr lang="en-US" sz="1600">
                        <a:solidFill>
                          <a:schemeClr val="tx1"/>
                        </a:solidFill>
                        <a:latin typeface="Montserrat Light"/>
                      </a:endParaRPr>
                    </a:p>
                  </a:txBody>
                  <a:tcPr>
                    <a:solidFill>
                      <a:schemeClr val="bg2"/>
                    </a:solidFill>
                  </a:tcPr>
                </a:tc>
                <a:extLst>
                  <a:ext uri="{0D108BD9-81ED-4DB2-BD59-A6C34878D82A}">
                    <a16:rowId xmlns:a16="http://schemas.microsoft.com/office/drawing/2014/main" val="3165220009"/>
                  </a:ext>
                </a:extLst>
              </a:tr>
            </a:tbl>
          </a:graphicData>
        </a:graphic>
      </p:graphicFrame>
      <p:pic>
        <p:nvPicPr>
          <p:cNvPr id="9" name="Picture 8">
            <a:extLst>
              <a:ext uri="{FF2B5EF4-FFF2-40B4-BE49-F238E27FC236}">
                <a16:creationId xmlns:a16="http://schemas.microsoft.com/office/drawing/2014/main" id="{CC56BD3C-7BC4-7D35-9CD4-8B6B42AFC8E1}"/>
              </a:ext>
            </a:extLst>
          </p:cNvPr>
          <p:cNvPicPr>
            <a:picLocks noChangeAspect="1"/>
          </p:cNvPicPr>
          <p:nvPr/>
        </p:nvPicPr>
        <p:blipFill>
          <a:blip r:embed="rId3"/>
          <a:stretch>
            <a:fillRect/>
          </a:stretch>
        </p:blipFill>
        <p:spPr>
          <a:xfrm>
            <a:off x="5383423" y="2874571"/>
            <a:ext cx="706288" cy="685694"/>
          </a:xfrm>
          <a:prstGeom prst="rect">
            <a:avLst/>
          </a:prstGeom>
        </p:spPr>
      </p:pic>
      <p:pic>
        <p:nvPicPr>
          <p:cNvPr id="11" name="Picture 10">
            <a:extLst>
              <a:ext uri="{FF2B5EF4-FFF2-40B4-BE49-F238E27FC236}">
                <a16:creationId xmlns:a16="http://schemas.microsoft.com/office/drawing/2014/main" id="{5A0518B7-2F4A-0CC8-1E62-A550CC3E9A97}"/>
              </a:ext>
            </a:extLst>
          </p:cNvPr>
          <p:cNvPicPr>
            <a:picLocks noChangeAspect="1"/>
          </p:cNvPicPr>
          <p:nvPr/>
        </p:nvPicPr>
        <p:blipFill>
          <a:blip r:embed="rId4"/>
          <a:srcRect t="-2428" r="-1724" b="-222"/>
          <a:stretch>
            <a:fillRect/>
          </a:stretch>
        </p:blipFill>
        <p:spPr>
          <a:xfrm>
            <a:off x="7985905" y="2877487"/>
            <a:ext cx="777644" cy="710393"/>
          </a:xfrm>
          <a:prstGeom prst="rect">
            <a:avLst/>
          </a:prstGeom>
        </p:spPr>
      </p:pic>
      <p:sp>
        <p:nvSpPr>
          <p:cNvPr id="2" name="TextBox 1">
            <a:extLst>
              <a:ext uri="{FF2B5EF4-FFF2-40B4-BE49-F238E27FC236}">
                <a16:creationId xmlns:a16="http://schemas.microsoft.com/office/drawing/2014/main" id="{28A0C364-3DA8-EFBE-EDEF-9D6859E4D354}"/>
              </a:ext>
            </a:extLst>
          </p:cNvPr>
          <p:cNvSpPr txBox="1"/>
          <p:nvPr/>
        </p:nvSpPr>
        <p:spPr>
          <a:xfrm>
            <a:off x="776377" y="2048773"/>
            <a:ext cx="9201509"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rtl="0"/>
            <a:r>
              <a:rPr lang="fr-FR" b="0" i="0">
                <a:solidFill>
                  <a:srgbClr val="444444"/>
                </a:solidFill>
                <a:latin typeface="Aptos"/>
                <a:ea typeface="Calibri"/>
                <a:cs typeface="Calibri"/>
              </a:rPr>
              <a:t>​</a:t>
            </a:r>
          </a:p>
          <a:p>
            <a:pPr algn="just" rtl="0"/>
            <a:endParaRPr lang="fr-FR" b="1" i="0" u="none" strike="noStrike">
              <a:solidFill>
                <a:srgbClr val="3A3A3A"/>
              </a:solidFill>
              <a:highlight>
                <a:srgbClr val="FFFF00"/>
              </a:highlight>
              <a:latin typeface="Aptos"/>
              <a:ea typeface="Calibri"/>
              <a:cs typeface="Calibri"/>
            </a:endParaRPr>
          </a:p>
          <a:p>
            <a:pPr algn="ctr"/>
            <a:endParaRPr lang="en-US"/>
          </a:p>
        </p:txBody>
      </p:sp>
    </p:spTree>
    <p:extLst>
      <p:ext uri="{BB962C8B-B14F-4D97-AF65-F5344CB8AC3E}">
        <p14:creationId xmlns:p14="http://schemas.microsoft.com/office/powerpoint/2010/main" val="1489350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F613D-05A4-A07F-3CEC-452A939C6A6E}"/>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6C5C7FBF-F658-3E8A-755D-A2A9E6DC583E}"/>
              </a:ext>
            </a:extLst>
          </p:cNvPr>
          <p:cNvSpPr txBox="1"/>
          <p:nvPr/>
        </p:nvSpPr>
        <p:spPr>
          <a:xfrm>
            <a:off x="511305" y="639797"/>
            <a:ext cx="10110612" cy="68416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b="1" cap="all">
                <a:solidFill>
                  <a:srgbClr val="5E152C"/>
                </a:solidFill>
                <a:latin typeface="Montserrat Light" pitchFamily="2" charset="0"/>
              </a:rPr>
              <a:t>Actualités JURIDIQUE</a:t>
            </a:r>
            <a:endParaRPr lang="fr-FR" sz="3500" b="1" cap="all">
              <a:solidFill>
                <a:srgbClr val="5E152C"/>
              </a:solidFill>
              <a:latin typeface="Montserrat Black" panose="00000A00000000000000" pitchFamily="2" charset="0"/>
            </a:endParaRPr>
          </a:p>
        </p:txBody>
      </p:sp>
      <p:sp>
        <p:nvSpPr>
          <p:cNvPr id="4" name="ZoneTexte 3">
            <a:extLst>
              <a:ext uri="{FF2B5EF4-FFF2-40B4-BE49-F238E27FC236}">
                <a16:creationId xmlns:a16="http://schemas.microsoft.com/office/drawing/2014/main" id="{20FCA09A-3AFC-559A-6BE1-888B59C97394}"/>
              </a:ext>
            </a:extLst>
          </p:cNvPr>
          <p:cNvSpPr txBox="1"/>
          <p:nvPr/>
        </p:nvSpPr>
        <p:spPr>
          <a:xfrm>
            <a:off x="575977" y="1681771"/>
            <a:ext cx="9235535" cy="369332"/>
          </a:xfrm>
          <a:prstGeom prst="rect">
            <a:avLst/>
          </a:prstGeom>
          <a:noFill/>
        </p:spPr>
        <p:txBody>
          <a:bodyPr wrap="square" lIns="91440" tIns="45720" rIns="91440" bIns="45720" rtlCol="0" anchor="t">
            <a:spAutoFit/>
          </a:bodyPr>
          <a:lstStyle/>
          <a:p>
            <a:r>
              <a:rPr lang="fr-FR" b="1">
                <a:solidFill>
                  <a:srgbClr val="E4003A"/>
                </a:solidFill>
                <a:latin typeface="Montserrat"/>
              </a:rPr>
              <a:t>Travail du 1er mai pour les fleuristes et boulangers</a:t>
            </a:r>
            <a:endParaRPr lang="fr-FR" u="sng">
              <a:solidFill>
                <a:srgbClr val="E4003A"/>
              </a:solidFill>
              <a:latin typeface="Montserrat" pitchFamily="2" charset="0"/>
            </a:endParaRPr>
          </a:p>
        </p:txBody>
      </p:sp>
      <p:sp>
        <p:nvSpPr>
          <p:cNvPr id="5" name="ZoneTexte 4">
            <a:extLst>
              <a:ext uri="{FF2B5EF4-FFF2-40B4-BE49-F238E27FC236}">
                <a16:creationId xmlns:a16="http://schemas.microsoft.com/office/drawing/2014/main" id="{39818752-6BB9-569F-E6F0-2EABF4FB07C4}"/>
              </a:ext>
            </a:extLst>
          </p:cNvPr>
          <p:cNvSpPr txBox="1"/>
          <p:nvPr/>
        </p:nvSpPr>
        <p:spPr>
          <a:xfrm>
            <a:off x="575977" y="2117895"/>
            <a:ext cx="11228927" cy="4385816"/>
          </a:xfrm>
          <a:prstGeom prst="rect">
            <a:avLst/>
          </a:prstGeom>
          <a:noFill/>
        </p:spPr>
        <p:txBody>
          <a:bodyPr wrap="square" lIns="91440" tIns="45720" rIns="91440" bIns="45720" anchor="t">
            <a:spAutoFit/>
          </a:bodyPr>
          <a:lstStyle/>
          <a:p>
            <a:r>
              <a:rPr lang="fr-FR" sz="1400" i="1">
                <a:solidFill>
                  <a:srgbClr val="263C46"/>
                </a:solidFill>
                <a:highlight>
                  <a:srgbClr val="FFFFFF"/>
                </a:highlight>
                <a:latin typeface="Montserrat Light"/>
                <a:ea typeface="Open Sans"/>
                <a:cs typeface="Open Sans"/>
              </a:rPr>
              <a:t>Projet de loi de sécurisation du travail le 1er mai des salariés volontaires des boulangers-pâtissiers artisanaux et des artisans fleuristes, présenté en Conseil des ministres le 29/04/2026</a:t>
            </a:r>
            <a:endParaRPr lang="en-US" sz="1400">
              <a:highlight>
                <a:srgbClr val="FFFFFF"/>
              </a:highlight>
              <a:latin typeface="Montserrat Light"/>
            </a:endParaRPr>
          </a:p>
          <a:p>
            <a:pPr lvl="0"/>
            <a:endParaRPr lang="fr-FR" sz="1600" i="1">
              <a:latin typeface="Montserrat Light" panose="00000400000000000000" pitchFamily="2" charset="0"/>
              <a:ea typeface="Calibri"/>
              <a:cs typeface="Calibri"/>
            </a:endParaRPr>
          </a:p>
          <a:p>
            <a:endParaRPr lang="fr-FR" sz="1600" i="1">
              <a:latin typeface="Montserrat Light"/>
              <a:ea typeface="Calibri"/>
              <a:cs typeface="Calibri"/>
            </a:endParaRPr>
          </a:p>
          <a:p>
            <a:pPr marL="285750" indent="-285750">
              <a:buFont typeface="Wingdings"/>
              <a:buChar char="ü"/>
            </a:pPr>
            <a:r>
              <a:rPr lang="fr-FR" sz="1600">
                <a:latin typeface="Montserrat Light"/>
              </a:rPr>
              <a:t>Boulangeries-pâtisseries </a:t>
            </a:r>
            <a:r>
              <a:rPr lang="fr-FR" sz="1600" b="1">
                <a:latin typeface="Montserrat Light"/>
              </a:rPr>
              <a:t>artisanales </a:t>
            </a:r>
            <a:r>
              <a:rPr lang="fr-FR" sz="1600">
                <a:latin typeface="Montserrat Light"/>
              </a:rPr>
              <a:t>autorisées à ouvrir</a:t>
            </a:r>
            <a:endParaRPr lang="fr-FR" sz="1600" i="1" u="sng">
              <a:latin typeface="Montserrat Light" panose="00000400000000000000" pitchFamily="2" charset="0"/>
            </a:endParaRPr>
          </a:p>
          <a:p>
            <a:pPr marL="285750" indent="-285750">
              <a:buFont typeface="Wingdings"/>
              <a:buChar char="ü"/>
            </a:pPr>
            <a:r>
              <a:rPr lang="fr-FR" sz="1600" b="1">
                <a:latin typeface="Montserrat Light"/>
              </a:rPr>
              <a:t>Artisans </a:t>
            </a:r>
            <a:r>
              <a:rPr lang="fr-FR" sz="1600">
                <a:latin typeface="Montserrat Light"/>
              </a:rPr>
              <a:t>fleuristes également </a:t>
            </a:r>
            <a:endParaRPr lang="fr-FR" sz="1600">
              <a:latin typeface="Montserrat Light" panose="00000400000000000000" pitchFamily="2" charset="0"/>
            </a:endParaRPr>
          </a:p>
          <a:p>
            <a:pPr marL="285750" indent="-285750">
              <a:buFont typeface="Wingdings"/>
              <a:buChar char="ü"/>
            </a:pPr>
            <a:endParaRPr lang="fr-FR" sz="1600">
              <a:latin typeface="Montserrat Light" panose="00000400000000000000" pitchFamily="2" charset="0"/>
            </a:endParaRPr>
          </a:p>
          <a:p>
            <a:endParaRPr lang="fr-FR" sz="1600">
              <a:latin typeface="Montserrat Light" panose="00000400000000000000" pitchFamily="2" charset="0"/>
            </a:endParaRPr>
          </a:p>
          <a:p>
            <a:pPr>
              <a:buFont typeface="Wingdings"/>
            </a:pPr>
            <a:r>
              <a:rPr lang="fr-FR" sz="1600" u="sng">
                <a:latin typeface="Montserrat Light"/>
              </a:rPr>
              <a:t>Conditions</a:t>
            </a:r>
          </a:p>
          <a:p>
            <a:r>
              <a:rPr lang="fr-FR" sz="1600">
                <a:latin typeface="Montserrat Light"/>
              </a:rPr>
              <a:t>- Salariés </a:t>
            </a:r>
            <a:r>
              <a:rPr lang="fr-FR" sz="1600" b="1">
                <a:latin typeface="Montserrat Light"/>
              </a:rPr>
              <a:t>volontaires </a:t>
            </a:r>
            <a:r>
              <a:rPr lang="fr-FR" sz="1600">
                <a:latin typeface="Montserrat Light"/>
              </a:rPr>
              <a:t>uniquement (avec </a:t>
            </a:r>
            <a:r>
              <a:rPr lang="fr-FR" sz="1600" b="1">
                <a:solidFill>
                  <a:schemeClr val="accent2">
                    <a:lumMod val="76000"/>
                  </a:schemeClr>
                </a:solidFill>
                <a:latin typeface="Montserrat Light"/>
              </a:rPr>
              <a:t>accord écrit</a:t>
            </a:r>
            <a:r>
              <a:rPr lang="fr-FR" sz="1600">
                <a:latin typeface="Montserrat Light"/>
              </a:rPr>
              <a:t>),</a:t>
            </a:r>
          </a:p>
          <a:p>
            <a:r>
              <a:rPr lang="fr-FR" sz="1600">
                <a:latin typeface="Montserrat Light"/>
              </a:rPr>
              <a:t>- </a:t>
            </a:r>
            <a:r>
              <a:rPr lang="fr-FR" sz="1600" b="1">
                <a:latin typeface="Montserrat Light"/>
              </a:rPr>
              <a:t>Rémunération doublée, </a:t>
            </a:r>
            <a:endParaRPr lang="fr-FR" sz="1600" b="1">
              <a:latin typeface="Montserrat Light" panose="00000400000000000000" pitchFamily="2" charset="0"/>
            </a:endParaRPr>
          </a:p>
          <a:p>
            <a:r>
              <a:rPr lang="fr-FR" sz="1600">
                <a:latin typeface="Montserrat Light"/>
              </a:rPr>
              <a:t>- Accord de branche autorise le travail des salariés le 1er mai.</a:t>
            </a:r>
            <a:endParaRPr lang="fr-FR" sz="1600" i="1">
              <a:latin typeface="Montserrat Light" panose="00000400000000000000" pitchFamily="2" charset="0"/>
            </a:endParaRPr>
          </a:p>
          <a:p>
            <a:endParaRPr lang="fr-FR" sz="1600">
              <a:latin typeface="Montserrat Light" panose="00000400000000000000" pitchFamily="2" charset="0"/>
            </a:endParaRPr>
          </a:p>
          <a:p>
            <a:endParaRPr lang="fr-FR" sz="1600" i="1">
              <a:latin typeface="Montserrat Light" panose="00000400000000000000" pitchFamily="2" charset="0"/>
            </a:endParaRPr>
          </a:p>
          <a:p>
            <a:r>
              <a:rPr lang="fr-FR" sz="1600" i="1">
                <a:solidFill>
                  <a:srgbClr val="000000"/>
                </a:solidFill>
                <a:latin typeface="Montserrat Light"/>
                <a:ea typeface="Open Sans"/>
                <a:cs typeface="Open Sans"/>
              </a:rPr>
              <a:t>-&gt; Dans l'attente de l'adoption définitive du texte</a:t>
            </a:r>
            <a:endParaRPr lang="fr-FR" sz="1600" i="1">
              <a:solidFill>
                <a:srgbClr val="000000"/>
              </a:solidFill>
              <a:latin typeface="Montserrat Light" panose="00000400000000000000" pitchFamily="2" charset="0"/>
              <a:ea typeface="Open Sans"/>
              <a:cs typeface="Open Sans"/>
            </a:endParaRPr>
          </a:p>
          <a:p>
            <a:endParaRPr lang="fr-FR" sz="1600">
              <a:solidFill>
                <a:srgbClr val="000000"/>
              </a:solidFill>
              <a:latin typeface="Montserrat Light" panose="00000400000000000000" pitchFamily="2" charset="0"/>
              <a:ea typeface="Open Sans"/>
              <a:cs typeface="Open Sans"/>
            </a:endParaRPr>
          </a:p>
          <a:p>
            <a:endParaRPr lang="fr-FR" sz="1100">
              <a:solidFill>
                <a:srgbClr val="263C46"/>
              </a:solidFill>
              <a:highlight>
                <a:srgbClr val="FFFFFF"/>
              </a:highlight>
              <a:latin typeface="Open Sans"/>
              <a:ea typeface="Open Sans"/>
              <a:cs typeface="Open Sans"/>
            </a:endParaRPr>
          </a:p>
          <a:p>
            <a:endParaRPr lang="fr-FR" sz="1600">
              <a:latin typeface="Montserrat Light" panose="00000400000000000000" pitchFamily="2" charset="0"/>
            </a:endParaRPr>
          </a:p>
        </p:txBody>
      </p:sp>
    </p:spTree>
    <p:extLst>
      <p:ext uri="{BB962C8B-B14F-4D97-AF65-F5344CB8AC3E}">
        <p14:creationId xmlns:p14="http://schemas.microsoft.com/office/powerpoint/2010/main" val="185045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06FFD-7F3B-E00D-31E1-758E0D3CDC1C}"/>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D582E9CD-5382-458F-0F7A-492241145573}"/>
              </a:ext>
            </a:extLst>
          </p:cNvPr>
          <p:cNvSpPr txBox="1"/>
          <p:nvPr/>
        </p:nvSpPr>
        <p:spPr>
          <a:xfrm>
            <a:off x="511305" y="639797"/>
            <a:ext cx="10110612" cy="68416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b="1" cap="all">
                <a:solidFill>
                  <a:srgbClr val="5E152C"/>
                </a:solidFill>
                <a:latin typeface="Montserrat Light" pitchFamily="2" charset="0"/>
              </a:rPr>
              <a:t>Actualités JURIDIQUE</a:t>
            </a:r>
            <a:endParaRPr lang="fr-FR" sz="3500" b="1" cap="all">
              <a:solidFill>
                <a:srgbClr val="5E152C"/>
              </a:solidFill>
              <a:latin typeface="Montserrat Black" panose="00000A00000000000000" pitchFamily="2" charset="0"/>
            </a:endParaRPr>
          </a:p>
        </p:txBody>
      </p:sp>
      <p:sp>
        <p:nvSpPr>
          <p:cNvPr id="4" name="ZoneTexte 3">
            <a:extLst>
              <a:ext uri="{FF2B5EF4-FFF2-40B4-BE49-F238E27FC236}">
                <a16:creationId xmlns:a16="http://schemas.microsoft.com/office/drawing/2014/main" id="{2EE0579B-8447-9353-5CFA-D5161332545F}"/>
              </a:ext>
            </a:extLst>
          </p:cNvPr>
          <p:cNvSpPr txBox="1"/>
          <p:nvPr/>
        </p:nvSpPr>
        <p:spPr>
          <a:xfrm>
            <a:off x="510380" y="1712662"/>
            <a:ext cx="11441825" cy="369332"/>
          </a:xfrm>
          <a:prstGeom prst="rect">
            <a:avLst/>
          </a:prstGeom>
          <a:noFill/>
        </p:spPr>
        <p:txBody>
          <a:bodyPr wrap="square" lIns="91440" tIns="45720" rIns="91440" bIns="45720" rtlCol="0" anchor="t">
            <a:spAutoFit/>
          </a:bodyPr>
          <a:lstStyle/>
          <a:p>
            <a:r>
              <a:rPr lang="fr-FR" b="1">
                <a:solidFill>
                  <a:srgbClr val="E4003A"/>
                </a:solidFill>
                <a:latin typeface="Montserrat"/>
              </a:rPr>
              <a:t>Protection et accompagnement des parents d'enfants gravement malades</a:t>
            </a:r>
            <a:endParaRPr lang="fr-FR" b="1" u="sng">
              <a:solidFill>
                <a:srgbClr val="6ABEB8"/>
              </a:solidFill>
              <a:latin typeface="Montserrat" pitchFamily="2" charset="0"/>
            </a:endParaRPr>
          </a:p>
        </p:txBody>
      </p:sp>
      <p:sp>
        <p:nvSpPr>
          <p:cNvPr id="5" name="ZoneTexte 4">
            <a:extLst>
              <a:ext uri="{FF2B5EF4-FFF2-40B4-BE49-F238E27FC236}">
                <a16:creationId xmlns:a16="http://schemas.microsoft.com/office/drawing/2014/main" id="{C882A260-2DA6-66EE-C531-6680369DDFF0}"/>
              </a:ext>
            </a:extLst>
          </p:cNvPr>
          <p:cNvSpPr txBox="1"/>
          <p:nvPr/>
        </p:nvSpPr>
        <p:spPr>
          <a:xfrm>
            <a:off x="504890" y="2245703"/>
            <a:ext cx="10438172" cy="5170646"/>
          </a:xfrm>
          <a:prstGeom prst="rect">
            <a:avLst/>
          </a:prstGeom>
          <a:noFill/>
        </p:spPr>
        <p:txBody>
          <a:bodyPr wrap="square" lIns="91440" tIns="45720" rIns="91440" bIns="45720" anchor="t">
            <a:spAutoFit/>
          </a:bodyPr>
          <a:lstStyle/>
          <a:p>
            <a:r>
              <a:rPr lang="fr-FR" sz="1400" i="1">
                <a:latin typeface="Montserrat Light"/>
                <a:ea typeface="Open Sans"/>
                <a:cs typeface="Open Sans"/>
              </a:rPr>
              <a:t>Loi visant à améliorer la protection et l'accompagnement des parents d'enfants atteints d'un cancer, d'une maladie grave ou d'un handicap, du 12 juin 2026, JO du 12 </a:t>
            </a:r>
          </a:p>
          <a:p>
            <a:pPr lvl="0"/>
            <a:endParaRPr lang="fr-FR" sz="1400" i="1">
              <a:latin typeface="Montserrat Light" panose="00000400000000000000" pitchFamily="2" charset="0"/>
              <a:ea typeface="Open Sans"/>
              <a:cs typeface="Open Sans"/>
            </a:endParaRPr>
          </a:p>
          <a:p>
            <a:endParaRPr lang="fr-FR" sz="1600">
              <a:solidFill>
                <a:srgbClr val="000000"/>
              </a:solidFill>
              <a:latin typeface="Montserrat Light" panose="00000400000000000000" pitchFamily="2" charset="0"/>
              <a:ea typeface="Calibri"/>
              <a:cs typeface="Calibri"/>
            </a:endParaRPr>
          </a:p>
          <a:p>
            <a:r>
              <a:rPr lang="fr-FR" sz="1600">
                <a:solidFill>
                  <a:srgbClr val="000000"/>
                </a:solidFill>
                <a:latin typeface="Montserrat Light"/>
                <a:ea typeface="Calibri"/>
                <a:cs typeface="Calibri"/>
              </a:rPr>
              <a:t>                </a:t>
            </a:r>
            <a:r>
              <a:rPr lang="fr-FR" sz="1600" b="1">
                <a:solidFill>
                  <a:srgbClr val="E4003A"/>
                </a:solidFill>
                <a:latin typeface="Montserrat Light"/>
                <a:ea typeface="Calibri"/>
                <a:cs typeface="Calibri"/>
              </a:rPr>
              <a:t>Congé pour l'annonce d'un handicap ou d'une pathologie grave </a:t>
            </a:r>
            <a:endParaRPr lang="fr-FR" sz="1600" b="1">
              <a:solidFill>
                <a:srgbClr val="E4003A"/>
              </a:solidFill>
              <a:latin typeface="Montserrat Light" panose="00000400000000000000" pitchFamily="2" charset="0"/>
              <a:ea typeface="Calibri"/>
              <a:cs typeface="Calibri"/>
            </a:endParaRPr>
          </a:p>
          <a:p>
            <a:pPr marL="1200150" lvl="2" indent="-285750">
              <a:buFont typeface="Calibri"/>
              <a:buChar char="-"/>
            </a:pPr>
            <a:r>
              <a:rPr lang="fr-FR" sz="1600">
                <a:solidFill>
                  <a:srgbClr val="000000"/>
                </a:solidFill>
                <a:latin typeface="Montserrat Light"/>
                <a:ea typeface="Calibri"/>
                <a:cs typeface="Calibri"/>
              </a:rPr>
              <a:t>5 jours ouvrables </a:t>
            </a:r>
            <a:r>
              <a:rPr lang="fr-FR" sz="1600" u="sng">
                <a:solidFill>
                  <a:srgbClr val="000000"/>
                </a:solidFill>
                <a:latin typeface="Montserrat Light"/>
                <a:ea typeface="Calibri"/>
                <a:cs typeface="Calibri"/>
              </a:rPr>
              <a:t>actuellement</a:t>
            </a:r>
            <a:r>
              <a:rPr lang="fr-FR" sz="1600">
                <a:solidFill>
                  <a:srgbClr val="000000"/>
                </a:solidFill>
                <a:latin typeface="Montserrat Light"/>
                <a:ea typeface="Calibri"/>
                <a:cs typeface="Calibri"/>
              </a:rPr>
              <a:t>, </a:t>
            </a:r>
            <a:endParaRPr lang="fr-FR" sz="1600">
              <a:solidFill>
                <a:srgbClr val="000000"/>
              </a:solidFill>
              <a:latin typeface="Montserrat Light" panose="00000400000000000000" pitchFamily="2" charset="0"/>
              <a:ea typeface="Calibri"/>
              <a:cs typeface="Calibri"/>
            </a:endParaRPr>
          </a:p>
          <a:p>
            <a:pPr marL="1200150" lvl="2" indent="-285750">
              <a:buFont typeface="Calibri"/>
              <a:buChar char="-"/>
            </a:pPr>
            <a:r>
              <a:rPr lang="fr-FR" sz="1600">
                <a:solidFill>
                  <a:srgbClr val="000000"/>
                </a:solidFill>
                <a:latin typeface="Montserrat Light"/>
                <a:ea typeface="Calibri"/>
                <a:cs typeface="Calibri"/>
              </a:rPr>
              <a:t>Augmenté à </a:t>
            </a:r>
            <a:r>
              <a:rPr lang="fr-FR" sz="1600" b="1">
                <a:solidFill>
                  <a:srgbClr val="000000"/>
                </a:solidFill>
                <a:latin typeface="Montserrat Light"/>
                <a:ea typeface="Calibri"/>
                <a:cs typeface="Calibri"/>
              </a:rPr>
              <a:t>10 jours ouvrables</a:t>
            </a:r>
            <a:r>
              <a:rPr lang="fr-FR" sz="1600">
                <a:solidFill>
                  <a:srgbClr val="000000"/>
                </a:solidFill>
                <a:latin typeface="Montserrat Light"/>
                <a:ea typeface="Calibri"/>
                <a:cs typeface="Calibri"/>
              </a:rPr>
              <a:t> </a:t>
            </a:r>
            <a:endParaRPr lang="fr-FR" sz="1600">
              <a:solidFill>
                <a:srgbClr val="000000"/>
              </a:solidFill>
              <a:latin typeface="Montserrat Light" panose="00000400000000000000" pitchFamily="2" charset="0"/>
              <a:ea typeface="Calibri"/>
              <a:cs typeface="Calibri"/>
            </a:endParaRPr>
          </a:p>
          <a:p>
            <a:pPr marL="1200150" lvl="2" indent="-285750">
              <a:buFont typeface="Calibri"/>
              <a:buChar char="-"/>
            </a:pPr>
            <a:endParaRPr lang="fr-FR" sz="1600">
              <a:solidFill>
                <a:srgbClr val="000000"/>
              </a:solidFill>
              <a:latin typeface="Montserrat Light" panose="00000400000000000000" pitchFamily="2" charset="0"/>
              <a:ea typeface="Calibri"/>
              <a:cs typeface="Calibri"/>
            </a:endParaRPr>
          </a:p>
          <a:p>
            <a:endParaRPr lang="fr-FR" sz="1600" strike="sngStrike">
              <a:solidFill>
                <a:srgbClr val="000000"/>
              </a:solidFill>
              <a:highlight>
                <a:srgbClr val="FFFF00"/>
              </a:highlight>
              <a:latin typeface="Montserrat Light" panose="00000400000000000000" pitchFamily="2" charset="0"/>
              <a:ea typeface="Calibri"/>
              <a:cs typeface="Calibri"/>
            </a:endParaRPr>
          </a:p>
          <a:p>
            <a:endParaRPr lang="fr-FR" sz="1600" strike="sngStrike">
              <a:highlight>
                <a:srgbClr val="FFFF00"/>
              </a:highlight>
              <a:latin typeface="Montserrat Light"/>
              <a:ea typeface="Calibri"/>
              <a:cs typeface="Calibri"/>
            </a:endParaRPr>
          </a:p>
          <a:p>
            <a:pPr lvl="2"/>
            <a:r>
              <a:rPr lang="fr-FR" sz="1600" b="1">
                <a:solidFill>
                  <a:srgbClr val="E4003A"/>
                </a:solidFill>
                <a:latin typeface="Montserrat Light"/>
                <a:ea typeface="Calibri"/>
                <a:cs typeface="Calibri"/>
              </a:rPr>
              <a:t>Aménagement des horaires pour les parents </a:t>
            </a:r>
            <a:endParaRPr lang="fr-FR" sz="1600">
              <a:latin typeface="Montserrat Light"/>
              <a:ea typeface="Calibri"/>
              <a:cs typeface="Calibri"/>
            </a:endParaRPr>
          </a:p>
          <a:p>
            <a:pPr marL="1200150" lvl="2" indent="-285750">
              <a:buFont typeface="Calibri,Sans-Serif"/>
              <a:buChar char="-"/>
            </a:pPr>
            <a:r>
              <a:rPr lang="fr-FR" sz="1600">
                <a:latin typeface="Montserrat Light"/>
                <a:ea typeface="Calibri"/>
                <a:cs typeface="Calibri"/>
              </a:rPr>
              <a:t>Les proches aidants bénéficient d'un aménagement d'horaires individualisés (</a:t>
            </a:r>
            <a:r>
              <a:rPr lang="fr-FR" sz="1600" u="sng">
                <a:latin typeface="Montserrat Light"/>
                <a:ea typeface="Calibri"/>
                <a:cs typeface="Calibri"/>
              </a:rPr>
              <a:t>actuellement</a:t>
            </a:r>
            <a:r>
              <a:rPr lang="fr-FR" sz="1600">
                <a:latin typeface="Montserrat Light"/>
                <a:ea typeface="Calibri"/>
                <a:cs typeface="Calibri"/>
              </a:rPr>
              <a:t>), </a:t>
            </a:r>
          </a:p>
          <a:p>
            <a:pPr marL="1200150" lvl="2" indent="-285750">
              <a:buFont typeface="Calibri,Sans-Serif"/>
              <a:buChar char="-"/>
            </a:pPr>
            <a:r>
              <a:rPr lang="fr-FR" sz="1600">
                <a:latin typeface="Montserrat Light"/>
                <a:ea typeface="Calibri"/>
                <a:cs typeface="Calibri"/>
              </a:rPr>
              <a:t>Élargissement aux parents ou responsables </a:t>
            </a:r>
            <a:r>
              <a:rPr lang="fr-FR" sz="1600">
                <a:solidFill>
                  <a:srgbClr val="000000"/>
                </a:solidFill>
                <a:latin typeface="Montserrat Light"/>
                <a:ea typeface="Calibri"/>
                <a:cs typeface="Calibri"/>
              </a:rPr>
              <a:t>légaux (</a:t>
            </a:r>
            <a:r>
              <a:rPr lang="fr-FR" sz="1600" i="1">
                <a:solidFill>
                  <a:srgbClr val="000000"/>
                </a:solidFill>
                <a:latin typeface="Montserrat Light"/>
                <a:ea typeface="Calibri"/>
                <a:cs typeface="Calibri"/>
              </a:rPr>
              <a:t>selon la version adoptée par le </a:t>
            </a:r>
            <a:r>
              <a:rPr lang="fr-FR" sz="1600" i="1">
                <a:latin typeface="Montserrat Light"/>
                <a:ea typeface="Calibri"/>
                <a:cs typeface="Calibri"/>
              </a:rPr>
              <a:t>Sénat</a:t>
            </a:r>
            <a:r>
              <a:rPr lang="fr-FR" sz="1600">
                <a:latin typeface="Montserrat Light"/>
                <a:ea typeface="Calibri"/>
                <a:cs typeface="Calibri"/>
              </a:rPr>
              <a:t>).</a:t>
            </a:r>
          </a:p>
          <a:p>
            <a:pPr marL="1200150" lvl="2" indent="-285750">
              <a:buFont typeface="Calibri,Sans-Serif"/>
              <a:buChar char="-"/>
            </a:pPr>
            <a:endParaRPr lang="fr-FR" sz="1600">
              <a:highlight>
                <a:srgbClr val="FFFF00"/>
              </a:highlight>
              <a:latin typeface="Montserrat Light"/>
              <a:ea typeface="Calibri"/>
              <a:cs typeface="Calibri"/>
            </a:endParaRPr>
          </a:p>
          <a:p>
            <a:pPr marL="285750" indent="-285750">
              <a:buFont typeface="Arial"/>
              <a:buChar char="•"/>
            </a:pPr>
            <a:endParaRPr lang="fr-FR" sz="1600">
              <a:latin typeface="Montserrat Light"/>
              <a:ea typeface="Calibri"/>
              <a:cs typeface="Calibri"/>
            </a:endParaRPr>
          </a:p>
          <a:p>
            <a:r>
              <a:rPr lang="fr-FR" sz="1600">
                <a:latin typeface="Montserrat Light"/>
                <a:ea typeface="Calibri"/>
                <a:cs typeface="Calibri"/>
              </a:rPr>
              <a:t>-&gt; Entrée en vigueur prévue </a:t>
            </a:r>
            <a:r>
              <a:rPr lang="fr-FR" sz="1600" b="1">
                <a:latin typeface="Montserrat Light"/>
                <a:ea typeface="Calibri"/>
                <a:cs typeface="Calibri"/>
              </a:rPr>
              <a:t>18 mois après la promulgation de la Loi.</a:t>
            </a:r>
            <a:endParaRPr lang="fr-FR">
              <a:ea typeface="Calibri" panose="020F0502020204030204"/>
              <a:cs typeface="Calibri" panose="020F0502020204030204"/>
            </a:endParaRPr>
          </a:p>
          <a:p>
            <a:endParaRPr lang="fr-FR" sz="1600" b="1">
              <a:latin typeface="Montserrat Light"/>
              <a:ea typeface="Calibri"/>
              <a:cs typeface="Calibri"/>
            </a:endParaRPr>
          </a:p>
          <a:p>
            <a:endParaRPr lang="fr-FR" sz="1600" b="1">
              <a:highlight>
                <a:srgbClr val="FFFF00"/>
              </a:highlight>
              <a:latin typeface="Montserrat Light"/>
              <a:ea typeface="Calibri"/>
              <a:cs typeface="Calibri"/>
            </a:endParaRPr>
          </a:p>
          <a:p>
            <a:pPr marL="1200150" lvl="2" indent="-285750">
              <a:buFont typeface="Calibri"/>
              <a:buChar char="-"/>
            </a:pPr>
            <a:endParaRPr lang="fr-FR" sz="1600">
              <a:latin typeface="Montserrat Light"/>
              <a:ea typeface="Calibri"/>
              <a:cs typeface="Calibri"/>
            </a:endParaRPr>
          </a:p>
        </p:txBody>
      </p:sp>
      <p:pic>
        <p:nvPicPr>
          <p:cNvPr id="8" name="Picture 7">
            <a:extLst>
              <a:ext uri="{FF2B5EF4-FFF2-40B4-BE49-F238E27FC236}">
                <a16:creationId xmlns:a16="http://schemas.microsoft.com/office/drawing/2014/main" id="{0DAD622B-44B7-2BEB-9387-A7B1D1547FC1}"/>
              </a:ext>
            </a:extLst>
          </p:cNvPr>
          <p:cNvPicPr>
            <a:picLocks noChangeAspect="1"/>
          </p:cNvPicPr>
          <p:nvPr/>
        </p:nvPicPr>
        <p:blipFill>
          <a:blip r:embed="rId3"/>
          <a:stretch>
            <a:fillRect/>
          </a:stretch>
        </p:blipFill>
        <p:spPr>
          <a:xfrm>
            <a:off x="764328" y="3142649"/>
            <a:ext cx="485775" cy="295275"/>
          </a:xfrm>
          <a:prstGeom prst="rect">
            <a:avLst/>
          </a:prstGeom>
        </p:spPr>
      </p:pic>
      <p:pic>
        <p:nvPicPr>
          <p:cNvPr id="6" name="Picture 5">
            <a:extLst>
              <a:ext uri="{FF2B5EF4-FFF2-40B4-BE49-F238E27FC236}">
                <a16:creationId xmlns:a16="http://schemas.microsoft.com/office/drawing/2014/main" id="{EE563B9D-6B72-4821-CF42-C0A9C6DD0FD1}"/>
              </a:ext>
            </a:extLst>
          </p:cNvPr>
          <p:cNvPicPr>
            <a:picLocks noChangeAspect="1"/>
          </p:cNvPicPr>
          <p:nvPr/>
        </p:nvPicPr>
        <p:blipFill>
          <a:blip r:embed="rId3"/>
          <a:stretch>
            <a:fillRect/>
          </a:stretch>
        </p:blipFill>
        <p:spPr>
          <a:xfrm>
            <a:off x="763529" y="4560949"/>
            <a:ext cx="485775" cy="295275"/>
          </a:xfrm>
          <a:prstGeom prst="rect">
            <a:avLst/>
          </a:prstGeom>
        </p:spPr>
      </p:pic>
    </p:spTree>
    <p:extLst>
      <p:ext uri="{BB962C8B-B14F-4D97-AF65-F5344CB8AC3E}">
        <p14:creationId xmlns:p14="http://schemas.microsoft.com/office/powerpoint/2010/main" val="29354095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EA2F6-53B1-589E-BB18-345122471833}"/>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A1B71C4F-5420-6A9B-22A3-433EBC58EB12}"/>
              </a:ext>
            </a:extLst>
          </p:cNvPr>
          <p:cNvSpPr txBox="1"/>
          <p:nvPr/>
        </p:nvSpPr>
        <p:spPr>
          <a:xfrm>
            <a:off x="511305" y="639797"/>
            <a:ext cx="10110612" cy="68416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b="1" cap="all">
                <a:solidFill>
                  <a:srgbClr val="5E152C"/>
                </a:solidFill>
                <a:latin typeface="Montserrat Light" pitchFamily="2" charset="0"/>
              </a:rPr>
              <a:t>Actualités JURIDIQUE</a:t>
            </a:r>
            <a:endParaRPr lang="fr-FR" sz="3500" b="1" cap="all">
              <a:solidFill>
                <a:srgbClr val="5E152C"/>
              </a:solidFill>
              <a:latin typeface="Montserrat Black" panose="00000A00000000000000" pitchFamily="2" charset="0"/>
            </a:endParaRPr>
          </a:p>
        </p:txBody>
      </p:sp>
      <p:sp>
        <p:nvSpPr>
          <p:cNvPr id="4" name="ZoneTexte 3">
            <a:extLst>
              <a:ext uri="{FF2B5EF4-FFF2-40B4-BE49-F238E27FC236}">
                <a16:creationId xmlns:a16="http://schemas.microsoft.com/office/drawing/2014/main" id="{C49B5DC0-CE28-53EF-D0C0-D7DEF8B4A213}"/>
              </a:ext>
            </a:extLst>
          </p:cNvPr>
          <p:cNvSpPr txBox="1"/>
          <p:nvPr/>
        </p:nvSpPr>
        <p:spPr>
          <a:xfrm>
            <a:off x="575977" y="1674375"/>
            <a:ext cx="9235535" cy="369332"/>
          </a:xfrm>
          <a:prstGeom prst="rect">
            <a:avLst/>
          </a:prstGeom>
          <a:noFill/>
        </p:spPr>
        <p:txBody>
          <a:bodyPr wrap="square" lIns="91440" tIns="45720" rIns="91440" bIns="45720" rtlCol="0" anchor="t">
            <a:spAutoFit/>
          </a:bodyPr>
          <a:lstStyle/>
          <a:p>
            <a:r>
              <a:rPr lang="fr-FR" b="1">
                <a:solidFill>
                  <a:srgbClr val="E4003A"/>
                </a:solidFill>
                <a:latin typeface="Montserrat"/>
              </a:rPr>
              <a:t>Nouveau dispositif : la période de reconversion</a:t>
            </a:r>
          </a:p>
        </p:txBody>
      </p:sp>
      <p:sp>
        <p:nvSpPr>
          <p:cNvPr id="5" name="ZoneTexte 4">
            <a:extLst>
              <a:ext uri="{FF2B5EF4-FFF2-40B4-BE49-F238E27FC236}">
                <a16:creationId xmlns:a16="http://schemas.microsoft.com/office/drawing/2014/main" id="{4341F946-A7FA-5677-6BD2-553439BA86E1}"/>
              </a:ext>
            </a:extLst>
          </p:cNvPr>
          <p:cNvSpPr txBox="1"/>
          <p:nvPr/>
        </p:nvSpPr>
        <p:spPr>
          <a:xfrm>
            <a:off x="575977" y="2209194"/>
            <a:ext cx="11228927" cy="1000274"/>
          </a:xfrm>
          <a:prstGeom prst="rect">
            <a:avLst/>
          </a:prstGeom>
          <a:noFill/>
        </p:spPr>
        <p:txBody>
          <a:bodyPr wrap="square" lIns="91440" tIns="45720" rIns="91440" bIns="45720" anchor="t">
            <a:spAutoFit/>
          </a:bodyPr>
          <a:lstStyle/>
          <a:p>
            <a:r>
              <a:rPr lang="fr-FR" sz="1400" i="1">
                <a:latin typeface="Montserrat Light"/>
                <a:ea typeface="Calibri"/>
                <a:cs typeface="Calibri"/>
              </a:rPr>
              <a:t>Loi n° 2025-989 du 24 octobre 2025, portant transposition des accords nationaux interprofessionnels en faveur de l'emploi des salariés expérimentés et relatif à l'évolution du dialogue social</a:t>
            </a:r>
            <a:endParaRPr lang="fr-FR" sz="1400" i="1">
              <a:latin typeface="Montserrat Light" panose="00000400000000000000" pitchFamily="2" charset="0"/>
              <a:ea typeface="Calibri"/>
              <a:cs typeface="Calibri"/>
            </a:endParaRPr>
          </a:p>
          <a:p>
            <a:endParaRPr lang="fr-FR" sz="1500">
              <a:solidFill>
                <a:srgbClr val="3A3A3A"/>
              </a:solidFill>
              <a:highlight>
                <a:srgbClr val="FFFFFF"/>
              </a:highlight>
              <a:ea typeface="Calibri"/>
              <a:cs typeface="Calibri"/>
            </a:endParaRPr>
          </a:p>
          <a:p>
            <a:endParaRPr lang="fr-FR" sz="1600">
              <a:latin typeface="Montserrat Light" panose="00000400000000000000" pitchFamily="2" charset="0"/>
            </a:endParaRPr>
          </a:p>
        </p:txBody>
      </p:sp>
      <p:pic>
        <p:nvPicPr>
          <p:cNvPr id="6" name="Image 5">
            <a:extLst>
              <a:ext uri="{FF2B5EF4-FFF2-40B4-BE49-F238E27FC236}">
                <a16:creationId xmlns:a16="http://schemas.microsoft.com/office/drawing/2014/main" id="{D6E5BC27-14F0-971D-05F4-F2AD4FE23236}"/>
              </a:ext>
            </a:extLst>
          </p:cNvPr>
          <p:cNvPicPr>
            <a:picLocks noChangeAspect="1"/>
          </p:cNvPicPr>
          <p:nvPr/>
        </p:nvPicPr>
        <p:blipFill>
          <a:blip r:embed="rId3"/>
          <a:srcRect l="6222" t="2542" r="4496" b="2321"/>
          <a:stretch>
            <a:fillRect/>
          </a:stretch>
        </p:blipFill>
        <p:spPr>
          <a:xfrm>
            <a:off x="571696" y="2863464"/>
            <a:ext cx="3982195" cy="3728053"/>
          </a:xfrm>
          <a:prstGeom prst="rect">
            <a:avLst/>
          </a:prstGeom>
        </p:spPr>
      </p:pic>
      <p:sp>
        <p:nvSpPr>
          <p:cNvPr id="7" name="ZoneTexte 6">
            <a:extLst>
              <a:ext uri="{FF2B5EF4-FFF2-40B4-BE49-F238E27FC236}">
                <a16:creationId xmlns:a16="http://schemas.microsoft.com/office/drawing/2014/main" id="{BE937125-4B2E-3696-7342-EA5E00A76406}"/>
              </a:ext>
            </a:extLst>
          </p:cNvPr>
          <p:cNvSpPr txBox="1"/>
          <p:nvPr/>
        </p:nvSpPr>
        <p:spPr>
          <a:xfrm>
            <a:off x="915135" y="3431632"/>
            <a:ext cx="3517951" cy="2554545"/>
          </a:xfrm>
          <a:prstGeom prst="rect">
            <a:avLst/>
          </a:prstGeom>
          <a:noFill/>
        </p:spPr>
        <p:txBody>
          <a:bodyPr wrap="square" lIns="91440" tIns="45720" rIns="91440" bIns="45720" rtlCol="0" anchor="t">
            <a:spAutoFit/>
          </a:bodyPr>
          <a:lstStyle/>
          <a:p>
            <a:pPr marL="285750" indent="-285750">
              <a:buFont typeface="Wingdings" panose="05000000000000000000" pitchFamily="2" charset="2"/>
              <a:buChar char="Ø"/>
            </a:pPr>
            <a:r>
              <a:rPr lang="fr-FR" sz="1600">
                <a:latin typeface="Montserrat Light"/>
              </a:rPr>
              <a:t>Entrée en vigueur depuis le </a:t>
            </a:r>
            <a:r>
              <a:rPr lang="fr-FR" sz="1600" b="1">
                <a:latin typeface="Montserrat Light"/>
              </a:rPr>
              <a:t>1</a:t>
            </a:r>
            <a:r>
              <a:rPr lang="fr-FR" sz="1600" b="1" baseline="30000">
                <a:latin typeface="Montserrat Light"/>
              </a:rPr>
              <a:t>er</a:t>
            </a:r>
            <a:r>
              <a:rPr lang="fr-FR" sz="1600" b="1">
                <a:latin typeface="Montserrat Light"/>
              </a:rPr>
              <a:t> février 2026 </a:t>
            </a:r>
            <a:endParaRPr lang="en-US"/>
          </a:p>
          <a:p>
            <a:endParaRPr lang="fr-FR" sz="1600">
              <a:latin typeface="Montserrat Light" panose="00000400000000000000" pitchFamily="2" charset="0"/>
            </a:endParaRPr>
          </a:p>
          <a:p>
            <a:r>
              <a:rPr lang="fr-FR" sz="1600">
                <a:latin typeface="Montserrat Light" panose="00000400000000000000" pitchFamily="2" charset="0"/>
              </a:rPr>
              <a:t>Permet d’organiser une mobilité professionnelle, interne ou externe à l’entreprise, en combinant : </a:t>
            </a:r>
          </a:p>
          <a:p>
            <a:pPr marL="285750" indent="-285750">
              <a:buFontTx/>
              <a:buChar char="-"/>
            </a:pPr>
            <a:r>
              <a:rPr lang="fr-FR" sz="1600">
                <a:latin typeface="Montserrat Light" panose="00000400000000000000" pitchFamily="2" charset="0"/>
              </a:rPr>
              <a:t>des actions de formation, </a:t>
            </a:r>
          </a:p>
          <a:p>
            <a:pPr marL="285750" indent="-285750">
              <a:buFontTx/>
              <a:buChar char="-"/>
            </a:pPr>
            <a:r>
              <a:rPr lang="fr-FR" sz="1600">
                <a:latin typeface="Montserrat Light" panose="00000400000000000000" pitchFamily="2" charset="0"/>
              </a:rPr>
              <a:t>et le cas échéant, une activité professionnelle en entreprise</a:t>
            </a:r>
          </a:p>
        </p:txBody>
      </p:sp>
      <p:sp>
        <p:nvSpPr>
          <p:cNvPr id="8" name="ZoneTexte 7">
            <a:extLst>
              <a:ext uri="{FF2B5EF4-FFF2-40B4-BE49-F238E27FC236}">
                <a16:creationId xmlns:a16="http://schemas.microsoft.com/office/drawing/2014/main" id="{89E96024-76DF-AE01-94D6-A23B4F56805A}"/>
              </a:ext>
            </a:extLst>
          </p:cNvPr>
          <p:cNvSpPr txBox="1"/>
          <p:nvPr/>
        </p:nvSpPr>
        <p:spPr>
          <a:xfrm>
            <a:off x="5738394" y="3193852"/>
            <a:ext cx="4466819" cy="2800767"/>
          </a:xfrm>
          <a:prstGeom prst="rect">
            <a:avLst/>
          </a:prstGeom>
          <a:noFill/>
          <a:ln>
            <a:solidFill>
              <a:srgbClr val="6ABEB8"/>
            </a:solidFill>
          </a:ln>
        </p:spPr>
        <p:txBody>
          <a:bodyPr wrap="square" lIns="91440" tIns="45720" rIns="91440" bIns="45720" rtlCol="0" anchor="t">
            <a:spAutoFit/>
          </a:bodyPr>
          <a:lstStyle/>
          <a:p>
            <a:r>
              <a:rPr lang="fr-FR" sz="1600" u="sng">
                <a:latin typeface="Montserrat Light" panose="00000400000000000000" pitchFamily="2" charset="0"/>
              </a:rPr>
              <a:t>Mise en place</a:t>
            </a:r>
            <a:endParaRPr lang="fr-FR"/>
          </a:p>
          <a:p>
            <a:pPr marL="285750" indent="-285750">
              <a:buFont typeface="Wingdings" panose="05000000000000000000" pitchFamily="2" charset="2"/>
              <a:buChar char="q"/>
            </a:pPr>
            <a:r>
              <a:rPr lang="fr-FR" sz="1600" b="1">
                <a:latin typeface="Montserrat Light"/>
              </a:rPr>
              <a:t>Reconversion externe</a:t>
            </a:r>
            <a:r>
              <a:rPr lang="fr-FR" sz="1600">
                <a:latin typeface="Montserrat Light"/>
              </a:rPr>
              <a:t> </a:t>
            </a:r>
          </a:p>
          <a:p>
            <a:endParaRPr lang="fr-FR" sz="1600">
              <a:latin typeface="Montserrat Light" panose="00000400000000000000" pitchFamily="2" charset="0"/>
            </a:endParaRPr>
          </a:p>
          <a:p>
            <a:r>
              <a:rPr lang="fr-FR" sz="1600" i="1">
                <a:latin typeface="Montserrat Light"/>
              </a:rPr>
              <a:t>Entreprises -50 salariés </a:t>
            </a:r>
          </a:p>
          <a:p>
            <a:r>
              <a:rPr lang="fr-FR" sz="1600">
                <a:latin typeface="Montserrat Light" panose="00000400000000000000" pitchFamily="2" charset="0"/>
              </a:rPr>
              <a:t>: </a:t>
            </a:r>
            <a:r>
              <a:rPr lang="fr-FR" sz="1600">
                <a:solidFill>
                  <a:srgbClr val="0070C0"/>
                </a:solidFill>
                <a:latin typeface="Montserrat Light" panose="00000400000000000000" pitchFamily="2" charset="0"/>
              </a:rPr>
              <a:t>décision unilatérale</a:t>
            </a:r>
            <a:r>
              <a:rPr lang="fr-FR" sz="1600">
                <a:latin typeface="Montserrat Light" panose="00000400000000000000" pitchFamily="2" charset="0"/>
              </a:rPr>
              <a:t>, après </a:t>
            </a:r>
            <a:r>
              <a:rPr lang="fr-FR" sz="1600">
                <a:solidFill>
                  <a:srgbClr val="0070C0"/>
                </a:solidFill>
                <a:latin typeface="Montserrat Light" panose="00000400000000000000" pitchFamily="2" charset="0"/>
              </a:rPr>
              <a:t>consultation du CSE</a:t>
            </a:r>
          </a:p>
          <a:p>
            <a:endParaRPr lang="fr-FR" sz="1600">
              <a:solidFill>
                <a:srgbClr val="0070C0"/>
              </a:solidFill>
              <a:latin typeface="Montserrat Light" panose="00000400000000000000" pitchFamily="2" charset="0"/>
            </a:endParaRPr>
          </a:p>
          <a:p>
            <a:endParaRPr lang="fr-FR" sz="1600">
              <a:solidFill>
                <a:srgbClr val="0070C0"/>
              </a:solidFill>
              <a:latin typeface="Montserrat Light"/>
            </a:endParaRPr>
          </a:p>
          <a:p>
            <a:pPr marL="285750" indent="-285750">
              <a:buFont typeface="Wingdings" panose="05000000000000000000" pitchFamily="2" charset="2"/>
              <a:buChar char="q"/>
            </a:pPr>
            <a:r>
              <a:rPr lang="fr-FR" sz="1600" b="1">
                <a:latin typeface="Montserrat Light" panose="00000400000000000000" pitchFamily="2" charset="0"/>
              </a:rPr>
              <a:t>Reconversion interne</a:t>
            </a:r>
            <a:endParaRPr lang="fr-FR" sz="1600">
              <a:latin typeface="Montserrat Light" panose="00000400000000000000" pitchFamily="2" charset="0"/>
            </a:endParaRPr>
          </a:p>
          <a:p>
            <a:r>
              <a:rPr lang="fr-FR" sz="1600">
                <a:solidFill>
                  <a:srgbClr val="0070C0"/>
                </a:solidFill>
                <a:latin typeface="Montserrat Light"/>
              </a:rPr>
              <a:t>Pas de négociation ou de consultation du CSE</a:t>
            </a:r>
          </a:p>
        </p:txBody>
      </p:sp>
    </p:spTree>
    <p:extLst>
      <p:ext uri="{BB962C8B-B14F-4D97-AF65-F5344CB8AC3E}">
        <p14:creationId xmlns:p14="http://schemas.microsoft.com/office/powerpoint/2010/main" val="33416727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8A8EA-8C3F-EEF8-95FA-5CE5AA1DCEDF}"/>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739810F4-9CD8-02F5-DF29-8CAFCEAD0FB1}"/>
              </a:ext>
            </a:extLst>
          </p:cNvPr>
          <p:cNvSpPr txBox="1"/>
          <p:nvPr/>
        </p:nvSpPr>
        <p:spPr>
          <a:xfrm>
            <a:off x="511305" y="639797"/>
            <a:ext cx="10110612" cy="68416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b="1" cap="all">
                <a:solidFill>
                  <a:srgbClr val="5E152C"/>
                </a:solidFill>
                <a:latin typeface="Montserrat Light" pitchFamily="2" charset="0"/>
              </a:rPr>
              <a:t>Actualités JURIDIQUE</a:t>
            </a:r>
            <a:endParaRPr lang="fr-FR" sz="3500" b="1" cap="all">
              <a:solidFill>
                <a:srgbClr val="5E152C"/>
              </a:solidFill>
              <a:latin typeface="Montserrat Black" panose="00000A00000000000000" pitchFamily="2" charset="0"/>
            </a:endParaRPr>
          </a:p>
        </p:txBody>
      </p:sp>
      <p:sp>
        <p:nvSpPr>
          <p:cNvPr id="4" name="ZoneTexte 3">
            <a:extLst>
              <a:ext uri="{FF2B5EF4-FFF2-40B4-BE49-F238E27FC236}">
                <a16:creationId xmlns:a16="http://schemas.microsoft.com/office/drawing/2014/main" id="{ED1D643A-F07E-F76D-8CE6-976D92988F6B}"/>
              </a:ext>
            </a:extLst>
          </p:cNvPr>
          <p:cNvSpPr txBox="1"/>
          <p:nvPr/>
        </p:nvSpPr>
        <p:spPr>
          <a:xfrm>
            <a:off x="575977" y="1674375"/>
            <a:ext cx="9235535" cy="369332"/>
          </a:xfrm>
          <a:prstGeom prst="rect">
            <a:avLst/>
          </a:prstGeom>
          <a:noFill/>
        </p:spPr>
        <p:txBody>
          <a:bodyPr wrap="square" lIns="91440" tIns="45720" rIns="91440" bIns="45720" rtlCol="0" anchor="t">
            <a:spAutoFit/>
          </a:bodyPr>
          <a:lstStyle/>
          <a:p>
            <a:r>
              <a:rPr lang="fr-FR" b="1">
                <a:solidFill>
                  <a:srgbClr val="E4003A"/>
                </a:solidFill>
                <a:latin typeface="Montserrat"/>
              </a:rPr>
              <a:t>Nouveau dispositif : la période de reconversion</a:t>
            </a:r>
          </a:p>
        </p:txBody>
      </p:sp>
      <p:sp>
        <p:nvSpPr>
          <p:cNvPr id="5" name="ZoneTexte 4">
            <a:extLst>
              <a:ext uri="{FF2B5EF4-FFF2-40B4-BE49-F238E27FC236}">
                <a16:creationId xmlns:a16="http://schemas.microsoft.com/office/drawing/2014/main" id="{ED319E5E-40EC-16C1-9754-3EDBFB6D8D05}"/>
              </a:ext>
            </a:extLst>
          </p:cNvPr>
          <p:cNvSpPr txBox="1"/>
          <p:nvPr/>
        </p:nvSpPr>
        <p:spPr>
          <a:xfrm>
            <a:off x="575977" y="2209194"/>
            <a:ext cx="11228927" cy="1538883"/>
          </a:xfrm>
          <a:prstGeom prst="rect">
            <a:avLst/>
          </a:prstGeom>
          <a:noFill/>
        </p:spPr>
        <p:txBody>
          <a:bodyPr wrap="square" lIns="91440" tIns="45720" rIns="91440" bIns="45720" anchor="t">
            <a:spAutoFit/>
          </a:bodyPr>
          <a:lstStyle/>
          <a:p>
            <a:endParaRPr lang="fr-FR" sz="1400" i="1">
              <a:highlight>
                <a:srgbClr val="FFFF00"/>
              </a:highlight>
              <a:latin typeface="Montserrat Light" panose="00000400000000000000" pitchFamily="2" charset="0"/>
              <a:ea typeface="Calibri"/>
              <a:cs typeface="Calibri"/>
            </a:endParaRPr>
          </a:p>
          <a:p>
            <a:pPr marL="285750" indent="-285750">
              <a:buFont typeface="Wingdings"/>
              <a:buChar char="Ø"/>
            </a:pPr>
            <a:r>
              <a:rPr lang="fr-FR" sz="1600">
                <a:latin typeface="Montserrat Light"/>
              </a:rPr>
              <a:t>Accord devant être formalisé par un écrit et un formulaire CERFA</a:t>
            </a:r>
            <a:endParaRPr lang="fr-FR" sz="1600">
              <a:latin typeface="Montserrat Light" panose="00000400000000000000" pitchFamily="2" charset="0"/>
            </a:endParaRPr>
          </a:p>
          <a:p>
            <a:pPr marL="285750" indent="-285750">
              <a:buFont typeface="Wingdings"/>
              <a:buChar char="Ø"/>
            </a:pPr>
            <a:endParaRPr lang="fr-FR" sz="1600">
              <a:latin typeface="Montserrat Light" panose="00000400000000000000" pitchFamily="2" charset="0"/>
            </a:endParaRPr>
          </a:p>
          <a:p>
            <a:pPr marL="285750" indent="-285750">
              <a:buFont typeface="Wingdings"/>
              <a:buChar char="Ø"/>
            </a:pPr>
            <a:r>
              <a:rPr lang="fr-FR" sz="1600">
                <a:latin typeface="Montserrat Light"/>
              </a:rPr>
              <a:t>Procédures particulières à respecter </a:t>
            </a:r>
          </a:p>
          <a:p>
            <a:pPr marL="285750" indent="-285750">
              <a:buFont typeface="Wingdings"/>
              <a:buChar char="Ø"/>
            </a:pPr>
            <a:endParaRPr lang="fr-FR" sz="1600">
              <a:highlight>
                <a:srgbClr val="FFFF00"/>
              </a:highlight>
              <a:latin typeface="Montserrat Light"/>
            </a:endParaRPr>
          </a:p>
          <a:p>
            <a:endParaRPr lang="fr-FR" sz="1600">
              <a:latin typeface="Montserrat Light" panose="00000400000000000000" pitchFamily="2" charset="0"/>
            </a:endParaRPr>
          </a:p>
        </p:txBody>
      </p:sp>
      <p:sp>
        <p:nvSpPr>
          <p:cNvPr id="6" name="ZoneTexte 1">
            <a:extLst>
              <a:ext uri="{FF2B5EF4-FFF2-40B4-BE49-F238E27FC236}">
                <a16:creationId xmlns:a16="http://schemas.microsoft.com/office/drawing/2014/main" id="{E43FA823-A94E-CAE6-75ED-2D61A537F850}"/>
              </a:ext>
            </a:extLst>
          </p:cNvPr>
          <p:cNvSpPr txBox="1"/>
          <p:nvPr/>
        </p:nvSpPr>
        <p:spPr>
          <a:xfrm>
            <a:off x="2563383" y="3740049"/>
            <a:ext cx="6001142" cy="2800767"/>
          </a:xfrm>
          <a:prstGeom prst="rect">
            <a:avLst/>
          </a:prstGeom>
          <a:noFill/>
          <a:ln>
            <a:solidFill>
              <a:srgbClr val="6ABEB8"/>
            </a:solidFill>
          </a:ln>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sz="1600" u="sng">
                <a:latin typeface="Montserrat Light" panose="00000400000000000000" pitchFamily="2" charset="0"/>
              </a:rPr>
              <a:t>Financement</a:t>
            </a:r>
          </a:p>
          <a:p>
            <a:endParaRPr lang="fr-FR" sz="1600" u="sng">
              <a:latin typeface="Montserrat Light" panose="00000400000000000000" pitchFamily="2" charset="0"/>
            </a:endParaRPr>
          </a:p>
          <a:p>
            <a:pPr marL="285750" indent="-285750">
              <a:buFont typeface="Wingdings" panose="05000000000000000000" pitchFamily="2" charset="2"/>
              <a:buChar char="q"/>
            </a:pPr>
            <a:r>
              <a:rPr lang="fr-FR" sz="1600">
                <a:solidFill>
                  <a:schemeClr val="accent1"/>
                </a:solidFill>
                <a:latin typeface="Montserrat Light" panose="00000400000000000000" pitchFamily="2" charset="0"/>
              </a:rPr>
              <a:t>Compétence de l’OPCO </a:t>
            </a:r>
            <a:r>
              <a:rPr lang="fr-FR" sz="1600">
                <a:latin typeface="Montserrat Light" panose="00000400000000000000" pitchFamily="2" charset="0"/>
              </a:rPr>
              <a:t>: </a:t>
            </a:r>
          </a:p>
          <a:p>
            <a:endParaRPr lang="fr-FR" sz="1600">
              <a:latin typeface="Montserrat Light" panose="00000400000000000000" pitchFamily="2" charset="0"/>
            </a:endParaRPr>
          </a:p>
          <a:p>
            <a:r>
              <a:rPr lang="fr-FR" sz="1600" i="1">
                <a:latin typeface="Montserrat Light" panose="00000400000000000000" pitchFamily="2" charset="0"/>
              </a:rPr>
              <a:t>Reconversion interne </a:t>
            </a:r>
            <a:r>
              <a:rPr lang="fr-FR" sz="1600">
                <a:latin typeface="Montserrat Light" panose="00000400000000000000" pitchFamily="2" charset="0"/>
              </a:rPr>
              <a:t>: OPCO </a:t>
            </a:r>
            <a:r>
              <a:rPr lang="fr-FR" sz="1600" b="1">
                <a:latin typeface="Montserrat Light" panose="00000400000000000000" pitchFamily="2" charset="0"/>
              </a:rPr>
              <a:t>de l’employeur </a:t>
            </a:r>
          </a:p>
          <a:p>
            <a:endParaRPr lang="fr-FR" sz="1600">
              <a:latin typeface="Montserrat Light" panose="00000400000000000000" pitchFamily="2" charset="0"/>
            </a:endParaRPr>
          </a:p>
          <a:p>
            <a:r>
              <a:rPr lang="fr-FR" sz="1600" i="1">
                <a:latin typeface="Montserrat Light" panose="00000400000000000000" pitchFamily="2" charset="0"/>
              </a:rPr>
              <a:t>Reconversion externe </a:t>
            </a:r>
            <a:r>
              <a:rPr lang="fr-FR" sz="1600">
                <a:latin typeface="Montserrat Light" panose="00000400000000000000" pitchFamily="2" charset="0"/>
              </a:rPr>
              <a:t>: OPCO </a:t>
            </a:r>
            <a:r>
              <a:rPr lang="fr-FR" sz="1600" b="1">
                <a:latin typeface="Montserrat Light" panose="00000400000000000000" pitchFamily="2" charset="0"/>
              </a:rPr>
              <a:t>de l’entreprise d’accueil. </a:t>
            </a:r>
          </a:p>
          <a:p>
            <a:endParaRPr lang="fr-FR" sz="1600" b="1">
              <a:latin typeface="Montserrat Light" panose="00000400000000000000" pitchFamily="2" charset="0"/>
            </a:endParaRPr>
          </a:p>
          <a:p>
            <a:r>
              <a:rPr lang="fr-FR" sz="1600">
                <a:latin typeface="Montserrat Light" panose="00000400000000000000" pitchFamily="2" charset="0"/>
              </a:rPr>
              <a:t>L’OPCO dispose de 20 jours pour répondre à la demande de prise en charge </a:t>
            </a:r>
          </a:p>
          <a:p>
            <a:r>
              <a:rPr lang="fr-FR" sz="1600">
                <a:latin typeface="Montserrat Light" panose="00000400000000000000" pitchFamily="2" charset="0"/>
              </a:rPr>
              <a:t>-&gt; à défaut, refus</a:t>
            </a:r>
          </a:p>
        </p:txBody>
      </p:sp>
      <p:sp>
        <p:nvSpPr>
          <p:cNvPr id="2" name="Speech Bubble: Rectangle with Corners Rounded 1">
            <a:extLst>
              <a:ext uri="{FF2B5EF4-FFF2-40B4-BE49-F238E27FC236}">
                <a16:creationId xmlns:a16="http://schemas.microsoft.com/office/drawing/2014/main" id="{C44C9BD1-606B-0656-E192-CFF48F2E7C36}"/>
              </a:ext>
            </a:extLst>
          </p:cNvPr>
          <p:cNvSpPr/>
          <p:nvPr/>
        </p:nvSpPr>
        <p:spPr>
          <a:xfrm>
            <a:off x="8898022" y="3166948"/>
            <a:ext cx="2298148" cy="1359016"/>
          </a:xfrm>
          <a:prstGeom prst="wedgeRoundRectCallout">
            <a:avLst/>
          </a:prstGeom>
          <a:solidFill>
            <a:schemeClr val="bg1"/>
          </a:solidFill>
          <a:ln>
            <a:solidFill>
              <a:srgbClr val="E4003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rgbClr val="000000"/>
                </a:solidFill>
                <a:latin typeface="Montserrat Light"/>
                <a:ea typeface="Calibri"/>
                <a:cs typeface="Calibri"/>
              </a:rPr>
              <a:t>CPF </a:t>
            </a:r>
            <a:r>
              <a:rPr lang="en-US" sz="1600" err="1">
                <a:solidFill>
                  <a:srgbClr val="000000"/>
                </a:solidFill>
                <a:latin typeface="Montserrat Light"/>
                <a:ea typeface="Calibri"/>
                <a:cs typeface="Calibri"/>
              </a:rPr>
              <a:t>pouvant</a:t>
            </a:r>
            <a:r>
              <a:rPr lang="en-US" sz="1600">
                <a:solidFill>
                  <a:srgbClr val="000000"/>
                </a:solidFill>
                <a:latin typeface="Montserrat Light"/>
                <a:ea typeface="Calibri"/>
                <a:cs typeface="Calibri"/>
              </a:rPr>
              <a:t> </a:t>
            </a:r>
            <a:r>
              <a:rPr lang="en-US" sz="1600" err="1">
                <a:solidFill>
                  <a:srgbClr val="000000"/>
                </a:solidFill>
                <a:latin typeface="Montserrat Light"/>
                <a:ea typeface="Calibri"/>
                <a:cs typeface="Calibri"/>
              </a:rPr>
              <a:t>être</a:t>
            </a:r>
            <a:r>
              <a:rPr lang="en-US" sz="1600">
                <a:solidFill>
                  <a:srgbClr val="000000"/>
                </a:solidFill>
                <a:latin typeface="Montserrat Light"/>
                <a:ea typeface="Calibri"/>
                <a:cs typeface="Calibri"/>
              </a:rPr>
              <a:t> </a:t>
            </a:r>
            <a:r>
              <a:rPr lang="en-US" sz="1600" err="1">
                <a:solidFill>
                  <a:srgbClr val="000000"/>
                </a:solidFill>
                <a:latin typeface="Montserrat Light"/>
                <a:ea typeface="Calibri"/>
                <a:cs typeface="Calibri"/>
              </a:rPr>
              <a:t>mobilisé</a:t>
            </a:r>
          </a:p>
          <a:p>
            <a:pPr algn="ctr"/>
            <a:r>
              <a:rPr lang="en-US" sz="1600" i="1">
                <a:solidFill>
                  <a:srgbClr val="E4003A"/>
                </a:solidFill>
                <a:latin typeface="Montserrat Light"/>
                <a:ea typeface="Calibri"/>
                <a:cs typeface="Calibri"/>
              </a:rPr>
              <a:t>(accord </a:t>
            </a:r>
            <a:r>
              <a:rPr lang="en-US" sz="1600" i="1" err="1">
                <a:solidFill>
                  <a:srgbClr val="E4003A"/>
                </a:solidFill>
                <a:latin typeface="Montserrat Light"/>
                <a:ea typeface="Calibri"/>
                <a:cs typeface="Calibri"/>
              </a:rPr>
              <a:t>nécessaire</a:t>
            </a:r>
            <a:r>
              <a:rPr lang="en-US" sz="1600" i="1">
                <a:solidFill>
                  <a:srgbClr val="E4003A"/>
                </a:solidFill>
                <a:latin typeface="Montserrat Light"/>
                <a:ea typeface="Calibri"/>
                <a:cs typeface="Calibri"/>
              </a:rPr>
              <a:t>)</a:t>
            </a:r>
          </a:p>
        </p:txBody>
      </p:sp>
    </p:spTree>
    <p:extLst>
      <p:ext uri="{BB962C8B-B14F-4D97-AF65-F5344CB8AC3E}">
        <p14:creationId xmlns:p14="http://schemas.microsoft.com/office/powerpoint/2010/main" val="37959066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1E858-35B4-82FD-4DFD-F1B0D361F1ED}"/>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6B272143-AA9F-2077-3563-4468D436CF23}"/>
              </a:ext>
            </a:extLst>
          </p:cNvPr>
          <p:cNvSpPr>
            <a:spLocks noGrp="1"/>
          </p:cNvSpPr>
          <p:nvPr>
            <p:ph type="title"/>
          </p:nvPr>
        </p:nvSpPr>
        <p:spPr>
          <a:xfrm>
            <a:off x="3224748" y="1191885"/>
            <a:ext cx="8701347" cy="2418959"/>
          </a:xfrm>
        </p:spPr>
        <p:txBody>
          <a:bodyPr>
            <a:normAutofit/>
          </a:bodyPr>
          <a:lstStyle/>
          <a:p>
            <a:r>
              <a:rPr lang="fr-FR" sz="4000">
                <a:latin typeface="Montserrat"/>
              </a:rPr>
              <a:t>SUR LE THEME :</a:t>
            </a:r>
            <a:br>
              <a:rPr lang="fr-FR" sz="4000">
                <a:latin typeface="Montserrat"/>
              </a:rPr>
            </a:br>
            <a:r>
              <a:rPr lang="fr-FR" sz="4000">
                <a:latin typeface="Montserrat"/>
              </a:rPr>
              <a:t>DE LA RUPTURE DU CONTRAT DE TRAVAIL</a:t>
            </a:r>
            <a:endParaRPr lang="fr-FR" sz="4000"/>
          </a:p>
        </p:txBody>
      </p:sp>
    </p:spTree>
    <p:extLst>
      <p:ext uri="{BB962C8B-B14F-4D97-AF65-F5344CB8AC3E}">
        <p14:creationId xmlns:p14="http://schemas.microsoft.com/office/powerpoint/2010/main" val="32507691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3FECA-9DB1-8573-46C7-A987CF210783}"/>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35D06DAC-C0B4-C3E7-1622-24C2B6443EFA}"/>
              </a:ext>
            </a:extLst>
          </p:cNvPr>
          <p:cNvSpPr txBox="1"/>
          <p:nvPr/>
        </p:nvSpPr>
        <p:spPr>
          <a:xfrm>
            <a:off x="511305" y="639797"/>
            <a:ext cx="10110612" cy="68416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b="1" cap="all">
                <a:solidFill>
                  <a:srgbClr val="5E152C"/>
                </a:solidFill>
                <a:latin typeface="Montserrat Light" pitchFamily="2" charset="0"/>
              </a:rPr>
              <a:t>Actualités JURIDIQUE</a:t>
            </a:r>
            <a:endParaRPr lang="fr-FR" sz="3500" b="1" cap="all">
              <a:solidFill>
                <a:srgbClr val="5E152C"/>
              </a:solidFill>
              <a:latin typeface="Montserrat Black" panose="00000A00000000000000" pitchFamily="2" charset="0"/>
            </a:endParaRPr>
          </a:p>
        </p:txBody>
      </p:sp>
      <p:sp>
        <p:nvSpPr>
          <p:cNvPr id="4" name="ZoneTexte 3">
            <a:extLst>
              <a:ext uri="{FF2B5EF4-FFF2-40B4-BE49-F238E27FC236}">
                <a16:creationId xmlns:a16="http://schemas.microsoft.com/office/drawing/2014/main" id="{913F709F-2442-6F09-9FC8-6CB7544B5743}"/>
              </a:ext>
            </a:extLst>
          </p:cNvPr>
          <p:cNvSpPr txBox="1"/>
          <p:nvPr/>
        </p:nvSpPr>
        <p:spPr>
          <a:xfrm>
            <a:off x="510380" y="1712662"/>
            <a:ext cx="11441825" cy="369332"/>
          </a:xfrm>
          <a:prstGeom prst="rect">
            <a:avLst/>
          </a:prstGeom>
          <a:noFill/>
        </p:spPr>
        <p:txBody>
          <a:bodyPr wrap="square" lIns="91440" tIns="45720" rIns="91440" bIns="45720" rtlCol="0" anchor="t">
            <a:spAutoFit/>
          </a:bodyPr>
          <a:lstStyle/>
          <a:p>
            <a:r>
              <a:rPr lang="fr-FR" b="1">
                <a:solidFill>
                  <a:srgbClr val="E4003A"/>
                </a:solidFill>
                <a:latin typeface="Montserrat"/>
              </a:rPr>
              <a:t>Révision des règles d'indemnisation chômage post-rupture conventionnelle</a:t>
            </a:r>
            <a:endParaRPr lang="fr-FR" b="1">
              <a:solidFill>
                <a:srgbClr val="E4003A"/>
              </a:solidFill>
              <a:latin typeface="Montserrat" pitchFamily="2" charset="0"/>
            </a:endParaRPr>
          </a:p>
        </p:txBody>
      </p:sp>
      <p:sp>
        <p:nvSpPr>
          <p:cNvPr id="5" name="ZoneTexte 4">
            <a:extLst>
              <a:ext uri="{FF2B5EF4-FFF2-40B4-BE49-F238E27FC236}">
                <a16:creationId xmlns:a16="http://schemas.microsoft.com/office/drawing/2014/main" id="{3C0C0996-6292-FD44-2198-7F5198BE221E}"/>
              </a:ext>
            </a:extLst>
          </p:cNvPr>
          <p:cNvSpPr txBox="1"/>
          <p:nvPr/>
        </p:nvSpPr>
        <p:spPr>
          <a:xfrm>
            <a:off x="547223" y="2358592"/>
            <a:ext cx="10438172" cy="800219"/>
          </a:xfrm>
          <a:prstGeom prst="rect">
            <a:avLst/>
          </a:prstGeom>
          <a:noFill/>
        </p:spPr>
        <p:txBody>
          <a:bodyPr wrap="square" lIns="91440" tIns="45720" rIns="91440" bIns="45720" anchor="t">
            <a:spAutoFit/>
          </a:bodyPr>
          <a:lstStyle/>
          <a:p>
            <a:endParaRPr lang="fr-FR" sz="1400" i="1">
              <a:solidFill>
                <a:srgbClr val="000000"/>
              </a:solidFill>
              <a:highlight>
                <a:srgbClr val="FFFFFF"/>
              </a:highlight>
              <a:latin typeface="Montserrat Light" panose="00000400000000000000" pitchFamily="2" charset="0"/>
              <a:ea typeface="Open Sans"/>
              <a:cs typeface="Open Sans"/>
            </a:endParaRPr>
          </a:p>
          <a:p>
            <a:r>
              <a:rPr lang="fr-FR" sz="1600" b="1">
                <a:solidFill>
                  <a:srgbClr val="5D152C"/>
                </a:solidFill>
                <a:latin typeface="Montserrat Light"/>
                <a:ea typeface="Calibri"/>
                <a:cs typeface="Calibri"/>
              </a:rPr>
              <a:t>     </a:t>
            </a:r>
            <a:endParaRPr lang="fr-FR" sz="1600" b="1">
              <a:solidFill>
                <a:srgbClr val="5D152C"/>
              </a:solidFill>
              <a:latin typeface="Montserrat Light" panose="00000400000000000000" pitchFamily="2" charset="0"/>
              <a:ea typeface="Calibri"/>
              <a:cs typeface="Calibri"/>
            </a:endParaRPr>
          </a:p>
          <a:p>
            <a:endParaRPr lang="fr-FR" sz="1600" b="1">
              <a:solidFill>
                <a:srgbClr val="5D152C"/>
              </a:solidFill>
              <a:highlight>
                <a:srgbClr val="FFFF00"/>
              </a:highlight>
              <a:latin typeface="Montserrat Light"/>
              <a:ea typeface="Calibri"/>
              <a:cs typeface="Calibri"/>
            </a:endParaRPr>
          </a:p>
        </p:txBody>
      </p:sp>
      <p:sp>
        <p:nvSpPr>
          <p:cNvPr id="2" name="Rectangle: Rounded Corners 1">
            <a:extLst>
              <a:ext uri="{FF2B5EF4-FFF2-40B4-BE49-F238E27FC236}">
                <a16:creationId xmlns:a16="http://schemas.microsoft.com/office/drawing/2014/main" id="{7FC55D94-AC52-7BE2-1E38-027541EED589}"/>
              </a:ext>
            </a:extLst>
          </p:cNvPr>
          <p:cNvSpPr/>
          <p:nvPr/>
        </p:nvSpPr>
        <p:spPr>
          <a:xfrm>
            <a:off x="1328996" y="2754713"/>
            <a:ext cx="8417859" cy="2459858"/>
          </a:xfrm>
          <a:prstGeom prst="roundRect">
            <a:avLst/>
          </a:prstGeom>
          <a:solidFill>
            <a:schemeClr val="bg1"/>
          </a:solidFill>
          <a:ln>
            <a:solidFill>
              <a:srgbClr val="6ABEB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 name="TextBox 6">
            <a:extLst>
              <a:ext uri="{FF2B5EF4-FFF2-40B4-BE49-F238E27FC236}">
                <a16:creationId xmlns:a16="http://schemas.microsoft.com/office/drawing/2014/main" id="{FDB9B121-6CBC-8E9B-20EF-5C02BA42708E}"/>
              </a:ext>
            </a:extLst>
          </p:cNvPr>
          <p:cNvSpPr txBox="1"/>
          <p:nvPr/>
        </p:nvSpPr>
        <p:spPr>
          <a:xfrm>
            <a:off x="1702593" y="2917032"/>
            <a:ext cx="7631905"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fr-FR" sz="1600" baseline="0">
                <a:latin typeface="Montserrat Light"/>
                <a:ea typeface="Segoe UI"/>
                <a:cs typeface="Segoe UI"/>
              </a:rPr>
              <a:t>  </a:t>
            </a:r>
            <a:r>
              <a:rPr lang="fr-FR" sz="1600" b="1" baseline="0">
                <a:latin typeface="Montserrat Light"/>
                <a:ea typeface="Segoe UI"/>
                <a:cs typeface="Segoe UI"/>
              </a:rPr>
              <a:t>Réduction de la durée maximale d'indemnisation : </a:t>
            </a:r>
            <a:r>
              <a:rPr lang="fr-FR" sz="1600">
                <a:latin typeface="Montserrat Light"/>
                <a:ea typeface="Segoe UI"/>
                <a:cs typeface="Segoe UI"/>
              </a:rPr>
              <a:t>​</a:t>
            </a:r>
          </a:p>
          <a:p>
            <a:pPr rtl="0"/>
            <a:r>
              <a:rPr lang="fr-FR" sz="1600">
                <a:latin typeface="Montserrat Light"/>
                <a:ea typeface="Segoe UI"/>
                <a:cs typeface="Segoe UI"/>
              </a:rPr>
              <a:t>​</a:t>
            </a:r>
          </a:p>
          <a:p>
            <a:pPr marL="1200150" lvl="2" indent="-285750">
              <a:buFont typeface="Calibri,Sans-Serif"/>
              <a:buChar char="-"/>
            </a:pPr>
            <a:r>
              <a:rPr lang="fr-FR" sz="1600" b="1" baseline="0">
                <a:latin typeface="Montserrat Light"/>
                <a:ea typeface="Arial"/>
                <a:cs typeface="Arial"/>
              </a:rPr>
              <a:t>15 mois </a:t>
            </a:r>
            <a:r>
              <a:rPr lang="fr-FR" sz="1600" baseline="0">
                <a:latin typeface="Montserrat Light"/>
                <a:ea typeface="Arial"/>
                <a:cs typeface="Arial"/>
              </a:rPr>
              <a:t>pour les allocataires âgés de </a:t>
            </a:r>
            <a:r>
              <a:rPr lang="fr-FR" sz="1600" b="1" baseline="0">
                <a:solidFill>
                  <a:srgbClr val="E4003A"/>
                </a:solidFill>
                <a:latin typeface="Montserrat Light"/>
                <a:ea typeface="Arial"/>
                <a:cs typeface="Arial"/>
              </a:rPr>
              <a:t>–55 ans</a:t>
            </a:r>
            <a:r>
              <a:rPr lang="fr-FR" sz="1600" baseline="0">
                <a:latin typeface="Montserrat Light"/>
                <a:ea typeface="Arial"/>
                <a:cs typeface="Arial"/>
              </a:rPr>
              <a:t> </a:t>
            </a:r>
            <a:r>
              <a:rPr lang="fr-FR" sz="1600">
                <a:latin typeface="Montserrat Light"/>
                <a:ea typeface="Arial"/>
                <a:cs typeface="Arial"/>
              </a:rPr>
              <a:t>​(</a:t>
            </a:r>
            <a:r>
              <a:rPr lang="fr-FR" sz="1600" i="1">
                <a:latin typeface="Montserrat Light"/>
                <a:ea typeface="Arial"/>
                <a:cs typeface="Arial"/>
              </a:rPr>
              <a:t>contre 18 mois</a:t>
            </a:r>
            <a:r>
              <a:rPr lang="fr-FR" sz="1600">
                <a:latin typeface="Montserrat Light"/>
                <a:ea typeface="Arial"/>
                <a:cs typeface="Arial"/>
              </a:rPr>
              <a:t>)</a:t>
            </a:r>
          </a:p>
          <a:p>
            <a:pPr lvl="2"/>
            <a:endParaRPr lang="fr-FR" sz="1600">
              <a:latin typeface="Montserrat Light"/>
              <a:ea typeface="Arial"/>
              <a:cs typeface="Arial"/>
            </a:endParaRPr>
          </a:p>
          <a:p>
            <a:pPr marL="1200150" lvl="2" indent="-285750">
              <a:buFont typeface="Calibri,Sans-Serif"/>
              <a:buChar char="-"/>
            </a:pPr>
            <a:r>
              <a:rPr lang="fr-FR" sz="1600" b="1" baseline="0">
                <a:latin typeface="Montserrat Light"/>
                <a:ea typeface="Arial"/>
                <a:cs typeface="Arial"/>
              </a:rPr>
              <a:t>20,5 mois </a:t>
            </a:r>
            <a:r>
              <a:rPr lang="fr-FR" sz="1600" baseline="0">
                <a:latin typeface="Montserrat Light"/>
                <a:ea typeface="Arial"/>
                <a:cs typeface="Arial"/>
              </a:rPr>
              <a:t>pour les allocataires âgés d'au moins </a:t>
            </a:r>
            <a:r>
              <a:rPr lang="fr-FR" sz="1600" b="1" baseline="0">
                <a:solidFill>
                  <a:srgbClr val="E4003A"/>
                </a:solidFill>
                <a:latin typeface="Montserrat Light"/>
                <a:ea typeface="Arial"/>
                <a:cs typeface="Arial"/>
              </a:rPr>
              <a:t>55 ans ou plus</a:t>
            </a:r>
            <a:r>
              <a:rPr lang="fr-FR" sz="1600">
                <a:latin typeface="Montserrat Light"/>
                <a:ea typeface="Arial"/>
                <a:cs typeface="Arial"/>
              </a:rPr>
              <a:t> (</a:t>
            </a:r>
            <a:r>
              <a:rPr lang="fr-FR" sz="1600" i="1">
                <a:latin typeface="Montserrat Light"/>
                <a:ea typeface="Arial"/>
                <a:cs typeface="Arial"/>
              </a:rPr>
              <a:t>contre 22,50 mois)</a:t>
            </a:r>
            <a:endParaRPr lang="fr-FR" sz="1600">
              <a:latin typeface="Montserrat Light"/>
              <a:ea typeface="Arial"/>
              <a:cs typeface="Arial"/>
            </a:endParaRPr>
          </a:p>
          <a:p>
            <a:pPr marL="1200150" lvl="2" indent="-285750">
              <a:buFont typeface="Calibri,Sans-Serif"/>
              <a:buChar char="-"/>
            </a:pPr>
            <a:endParaRPr lang="fr-FR" sz="1600" i="1">
              <a:latin typeface="Montserrat Light"/>
              <a:ea typeface="Arial"/>
              <a:cs typeface="Arial"/>
            </a:endParaRPr>
          </a:p>
          <a:p>
            <a:pPr marL="1200150" lvl="2" indent="-285750">
              <a:buFont typeface="Calibri,Sans-Serif"/>
              <a:buChar char="-"/>
            </a:pPr>
            <a:r>
              <a:rPr lang="fr-FR" sz="1600" b="1" i="1">
                <a:latin typeface="Montserrat Light"/>
                <a:ea typeface="Arial"/>
                <a:cs typeface="Arial"/>
              </a:rPr>
              <a:t>20,5 mois </a:t>
            </a:r>
            <a:r>
              <a:rPr lang="fr-FR" sz="1600" i="1">
                <a:latin typeface="Montserrat Light"/>
                <a:ea typeface="Arial"/>
                <a:cs typeface="Arial"/>
              </a:rPr>
              <a:t>pour ceux âgés de </a:t>
            </a:r>
            <a:r>
              <a:rPr lang="fr-FR" sz="1600" b="1" i="1">
                <a:solidFill>
                  <a:srgbClr val="E4003A"/>
                </a:solidFill>
                <a:latin typeface="Montserrat Light"/>
                <a:ea typeface="Arial"/>
                <a:cs typeface="Arial"/>
              </a:rPr>
              <a:t>57 ans ou plus.</a:t>
            </a:r>
          </a:p>
          <a:p>
            <a:pPr lvl="2"/>
            <a:r>
              <a:rPr lang="fr-FR" sz="1600" b="1" i="1">
                <a:solidFill>
                  <a:srgbClr val="E4003A"/>
                </a:solidFill>
                <a:latin typeface="Montserrat Light"/>
                <a:ea typeface="Arial"/>
                <a:cs typeface="Arial"/>
              </a:rPr>
              <a:t> </a:t>
            </a:r>
            <a:r>
              <a:rPr lang="fr-FR" sz="1600" i="1">
                <a:latin typeface="Montserrat Light"/>
                <a:ea typeface="Arial"/>
                <a:cs typeface="Arial"/>
              </a:rPr>
              <a:t>(</a:t>
            </a:r>
            <a:r>
              <a:rPr lang="fr-FR" sz="1600" i="1">
                <a:latin typeface="Montserrat Light"/>
                <a:cs typeface="Arial"/>
              </a:rPr>
              <a:t>contre 27 mois)</a:t>
            </a:r>
            <a:endParaRPr lang="fr-FR">
              <a:ea typeface="Calibri" panose="020F0502020204030204"/>
              <a:cs typeface="Calibri" panose="020F0502020204030204"/>
            </a:endParaRPr>
          </a:p>
          <a:p>
            <a:pPr algn="ctr"/>
            <a:endParaRPr lang="en-US"/>
          </a:p>
        </p:txBody>
      </p:sp>
      <p:pic>
        <p:nvPicPr>
          <p:cNvPr id="9" name="Picture 8">
            <a:extLst>
              <a:ext uri="{FF2B5EF4-FFF2-40B4-BE49-F238E27FC236}">
                <a16:creationId xmlns:a16="http://schemas.microsoft.com/office/drawing/2014/main" id="{2A0F5C88-76D8-BA1D-B3DB-B98B014A20D4}"/>
              </a:ext>
            </a:extLst>
          </p:cNvPr>
          <p:cNvPicPr>
            <a:picLocks noChangeAspect="1"/>
          </p:cNvPicPr>
          <p:nvPr/>
        </p:nvPicPr>
        <p:blipFill>
          <a:blip r:embed="rId3"/>
          <a:srcRect r="-2174"/>
          <a:stretch>
            <a:fillRect/>
          </a:stretch>
        </p:blipFill>
        <p:spPr>
          <a:xfrm>
            <a:off x="1459705" y="2912269"/>
            <a:ext cx="496335" cy="295275"/>
          </a:xfrm>
          <a:prstGeom prst="rect">
            <a:avLst/>
          </a:prstGeom>
        </p:spPr>
      </p:pic>
      <p:sp>
        <p:nvSpPr>
          <p:cNvPr id="10" name="TextBox 9">
            <a:extLst>
              <a:ext uri="{FF2B5EF4-FFF2-40B4-BE49-F238E27FC236}">
                <a16:creationId xmlns:a16="http://schemas.microsoft.com/office/drawing/2014/main" id="{CC07BBB4-51E6-D698-BE30-9F8B8AC9D91B}"/>
              </a:ext>
            </a:extLst>
          </p:cNvPr>
          <p:cNvSpPr txBox="1"/>
          <p:nvPr/>
        </p:nvSpPr>
        <p:spPr>
          <a:xfrm>
            <a:off x="511969" y="2119312"/>
            <a:ext cx="609600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400" i="1">
                <a:latin typeface="Montserrat Light"/>
              </a:rPr>
              <a:t>Loi n° 2026-470 du 11 juin, JO du 12</a:t>
            </a:r>
            <a:endParaRPr lang="en-US" sz="1400"/>
          </a:p>
          <a:p>
            <a:pPr algn="ctr"/>
            <a:endParaRPr lang="en-US"/>
          </a:p>
        </p:txBody>
      </p:sp>
    </p:spTree>
    <p:extLst>
      <p:ext uri="{BB962C8B-B14F-4D97-AF65-F5344CB8AC3E}">
        <p14:creationId xmlns:p14="http://schemas.microsoft.com/office/powerpoint/2010/main" val="42312375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3BBE-350E-A071-21EE-0A7C8D43A216}"/>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7B0AD213-7A16-541D-1253-06AB812961A3}"/>
              </a:ext>
            </a:extLst>
          </p:cNvPr>
          <p:cNvSpPr>
            <a:spLocks noGrp="1"/>
          </p:cNvSpPr>
          <p:nvPr>
            <p:ph type="title"/>
          </p:nvPr>
        </p:nvSpPr>
        <p:spPr>
          <a:xfrm>
            <a:off x="637630" y="3431817"/>
            <a:ext cx="8701347" cy="368283"/>
          </a:xfrm>
        </p:spPr>
        <p:txBody>
          <a:bodyPr>
            <a:normAutofit fontScale="90000"/>
          </a:bodyPr>
          <a:lstStyle/>
          <a:p>
            <a:r>
              <a:rPr lang="fr-FR" sz="4000">
                <a:latin typeface="Montserrat"/>
              </a:rPr>
              <a:t>SUR LE THEME :</a:t>
            </a:r>
            <a:br>
              <a:rPr lang="fr-FR" sz="4000">
                <a:latin typeface="Montserrat"/>
              </a:rPr>
            </a:br>
            <a:r>
              <a:rPr lang="fr-FR" sz="4000">
                <a:latin typeface="Montserrat"/>
              </a:rPr>
              <a:t>DES RISQUES PROFESSIONNELS</a:t>
            </a:r>
            <a:endParaRPr lang="fr-FR" sz="4000"/>
          </a:p>
        </p:txBody>
      </p:sp>
    </p:spTree>
    <p:extLst>
      <p:ext uri="{BB962C8B-B14F-4D97-AF65-F5344CB8AC3E}">
        <p14:creationId xmlns:p14="http://schemas.microsoft.com/office/powerpoint/2010/main" val="19738600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E00FD-52F3-E73A-C608-3DCB7C9D37F8}"/>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98956922-13C3-4E35-F6D5-A017C7D1B629}"/>
              </a:ext>
            </a:extLst>
          </p:cNvPr>
          <p:cNvSpPr txBox="1"/>
          <p:nvPr/>
        </p:nvSpPr>
        <p:spPr>
          <a:xfrm>
            <a:off x="548099" y="2024792"/>
            <a:ext cx="6984738" cy="369332"/>
          </a:xfrm>
          <a:prstGeom prst="rect">
            <a:avLst/>
          </a:prstGeom>
          <a:noFill/>
        </p:spPr>
        <p:txBody>
          <a:bodyPr wrap="square" lIns="91440" tIns="45720" rIns="91440" bIns="45720" rtlCol="0" anchor="t">
            <a:spAutoFit/>
          </a:bodyPr>
          <a:lstStyle/>
          <a:p>
            <a:r>
              <a:rPr lang="fr-FR" b="1">
                <a:solidFill>
                  <a:srgbClr val="E4003A"/>
                </a:solidFill>
                <a:latin typeface="Montserrat"/>
              </a:rPr>
              <a:t>Nouvelle sanction en l'absence de DUERP</a:t>
            </a:r>
            <a:endParaRPr lang="en-US">
              <a:solidFill>
                <a:srgbClr val="E4003A"/>
              </a:solidFill>
            </a:endParaRPr>
          </a:p>
        </p:txBody>
      </p:sp>
      <p:sp>
        <p:nvSpPr>
          <p:cNvPr id="3" name="ZoneTexte 2">
            <a:extLst>
              <a:ext uri="{FF2B5EF4-FFF2-40B4-BE49-F238E27FC236}">
                <a16:creationId xmlns:a16="http://schemas.microsoft.com/office/drawing/2014/main" id="{561FEB17-1B03-4F92-83A6-0609E9D27402}"/>
              </a:ext>
            </a:extLst>
          </p:cNvPr>
          <p:cNvSpPr txBox="1"/>
          <p:nvPr/>
        </p:nvSpPr>
        <p:spPr>
          <a:xfrm>
            <a:off x="548098" y="2487051"/>
            <a:ext cx="8271433" cy="3724096"/>
          </a:xfrm>
          <a:prstGeom prst="rect">
            <a:avLst/>
          </a:prstGeom>
          <a:noFill/>
        </p:spPr>
        <p:txBody>
          <a:bodyPr wrap="square" lIns="91440" tIns="45720" rIns="91440" bIns="45720" anchor="t">
            <a:spAutoFit/>
          </a:bodyPr>
          <a:lstStyle/>
          <a:p>
            <a:r>
              <a:rPr lang="fr-FR" sz="1400" i="1">
                <a:solidFill>
                  <a:srgbClr val="263C46"/>
                </a:solidFill>
                <a:latin typeface="Montserrat Light"/>
              </a:rPr>
              <a:t>Loi n° 2026-534 du 25 juin 2026 relative à la lutte contre les fraudes sociales et fiscales, JO du 26</a:t>
            </a:r>
          </a:p>
          <a:p>
            <a:endParaRPr lang="fr-FR" sz="1600">
              <a:solidFill>
                <a:srgbClr val="000000"/>
              </a:solidFill>
              <a:latin typeface="Montserrat Light"/>
            </a:endParaRPr>
          </a:p>
          <a:p>
            <a:endParaRPr lang="fr-FR" sz="1600">
              <a:solidFill>
                <a:srgbClr val="000000"/>
              </a:solidFill>
              <a:latin typeface="Montserrat Light"/>
            </a:endParaRPr>
          </a:p>
          <a:p>
            <a:r>
              <a:rPr lang="fr-FR" sz="1600">
                <a:solidFill>
                  <a:srgbClr val="000000"/>
                </a:solidFill>
                <a:latin typeface="Montserrat Light"/>
              </a:rPr>
              <a:t>L'inspection du travail prononce : </a:t>
            </a:r>
            <a:endParaRPr lang="en-US" sz="1600">
              <a:solidFill>
                <a:srgbClr val="000000"/>
              </a:solidFill>
              <a:latin typeface="Montserrat Light"/>
            </a:endParaRPr>
          </a:p>
          <a:p>
            <a:pPr marL="285750" indent="-285750">
              <a:buFont typeface="Courier New,monospace"/>
              <a:buChar char="o"/>
            </a:pPr>
            <a:r>
              <a:rPr lang="fr-FR" sz="1600">
                <a:solidFill>
                  <a:srgbClr val="000000"/>
                </a:solidFill>
                <a:latin typeface="Montserrat Light"/>
              </a:rPr>
              <a:t>Soit un avertissement </a:t>
            </a:r>
            <a:endParaRPr lang="en-US" sz="1600">
              <a:solidFill>
                <a:srgbClr val="000000"/>
              </a:solidFill>
              <a:latin typeface="Montserrat Light"/>
            </a:endParaRPr>
          </a:p>
          <a:p>
            <a:pPr marL="285750" indent="-285750">
              <a:buFont typeface="Courier New,monospace"/>
              <a:buChar char="o"/>
            </a:pPr>
            <a:r>
              <a:rPr lang="fr-FR" sz="1600">
                <a:solidFill>
                  <a:srgbClr val="000000"/>
                </a:solidFill>
                <a:latin typeface="Montserrat Light"/>
              </a:rPr>
              <a:t>Ou une amende administrative (sous réserve qu'il n'y ait pas de poursuite pénale)</a:t>
            </a:r>
            <a:endParaRPr lang="en-US" sz="1600">
              <a:solidFill>
                <a:srgbClr val="000000"/>
              </a:solidFill>
              <a:latin typeface="Montserrat Light"/>
            </a:endParaRPr>
          </a:p>
          <a:p>
            <a:pPr marL="285750" indent="-285750">
              <a:buFont typeface="Courier New,monospace"/>
              <a:buChar char="o"/>
            </a:pPr>
            <a:endParaRPr lang="fr-FR" sz="1600">
              <a:solidFill>
                <a:srgbClr val="000000"/>
              </a:solidFill>
              <a:latin typeface="Montserrat Light"/>
            </a:endParaRPr>
          </a:p>
          <a:p>
            <a:pPr marL="285750" indent="-285750">
              <a:buFont typeface="Courier New,monospace"/>
              <a:buChar char="o"/>
            </a:pPr>
            <a:endParaRPr lang="fr-FR" sz="1600">
              <a:solidFill>
                <a:srgbClr val="000000"/>
              </a:solidFill>
              <a:latin typeface="Montserrat Light"/>
            </a:endParaRPr>
          </a:p>
          <a:p>
            <a:r>
              <a:rPr lang="fr-FR" sz="1600">
                <a:solidFill>
                  <a:srgbClr val="000000"/>
                </a:solidFill>
                <a:latin typeface="Montserrat Light"/>
              </a:rPr>
              <a:t>L'amende pourra atteindre : </a:t>
            </a:r>
          </a:p>
          <a:p>
            <a:endParaRPr lang="fr-FR" sz="1600">
              <a:solidFill>
                <a:srgbClr val="000000"/>
              </a:solidFill>
              <a:latin typeface="Montserrat Light"/>
            </a:endParaRPr>
          </a:p>
          <a:p>
            <a:pPr marL="285750" indent="-285750">
              <a:buFont typeface="Courier New,monospace"/>
              <a:buChar char="o"/>
            </a:pPr>
            <a:r>
              <a:rPr lang="fr-FR" sz="1600">
                <a:solidFill>
                  <a:srgbClr val="000000"/>
                </a:solidFill>
                <a:latin typeface="Montserrat Light"/>
              </a:rPr>
              <a:t>4 000 € par salarié concerné,  </a:t>
            </a:r>
            <a:endParaRPr lang="en-US" sz="1600">
              <a:solidFill>
                <a:srgbClr val="000000"/>
              </a:solidFill>
              <a:latin typeface="Montserrat Light"/>
            </a:endParaRPr>
          </a:p>
          <a:p>
            <a:pPr marL="285750" indent="-285750">
              <a:buFont typeface="Courier New,monospace"/>
              <a:buChar char="o"/>
            </a:pPr>
            <a:r>
              <a:rPr lang="fr-FR" sz="1600">
                <a:solidFill>
                  <a:srgbClr val="000000"/>
                </a:solidFill>
                <a:latin typeface="Montserrat Light"/>
              </a:rPr>
              <a:t>6 000 € en cas de récidive après un avertissement ou une amende,  </a:t>
            </a:r>
            <a:endParaRPr lang="en-US" sz="1600">
              <a:solidFill>
                <a:srgbClr val="000000"/>
              </a:solidFill>
              <a:latin typeface="Montserrat Light"/>
            </a:endParaRPr>
          </a:p>
          <a:p>
            <a:pPr marL="285750" indent="-285750">
              <a:buFont typeface="Courier New,monospace"/>
              <a:buChar char="o"/>
            </a:pPr>
            <a:r>
              <a:rPr lang="fr-FR" sz="1600">
                <a:solidFill>
                  <a:srgbClr val="000000"/>
                </a:solidFill>
                <a:latin typeface="Montserrat Light"/>
              </a:rPr>
              <a:t>8 000 € en cas de récidive après une amende dans les deux ans. </a:t>
            </a:r>
            <a:endParaRPr lang="fr-FR"/>
          </a:p>
        </p:txBody>
      </p:sp>
      <p:sp>
        <p:nvSpPr>
          <p:cNvPr id="4" name="ZoneTexte 7">
            <a:extLst>
              <a:ext uri="{FF2B5EF4-FFF2-40B4-BE49-F238E27FC236}">
                <a16:creationId xmlns:a16="http://schemas.microsoft.com/office/drawing/2014/main" id="{8348344D-6DDC-F77D-C7A4-04C3ACA33151}"/>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b="1" cap="all" err="1">
                <a:solidFill>
                  <a:srgbClr val="5E152C"/>
                </a:solidFill>
                <a:latin typeface="Montserrat Light"/>
              </a:rPr>
              <a:t>ActualitÉ</a:t>
            </a:r>
            <a:r>
              <a:rPr lang="fr-FR" sz="3500" b="1" cap="all">
                <a:solidFill>
                  <a:srgbClr val="5E152C"/>
                </a:solidFill>
                <a:latin typeface="Montserrat Light"/>
              </a:rPr>
              <a:t> Droit social</a:t>
            </a:r>
            <a:endParaRPr lang="fr-FR" sz="3500" b="1" cap="all">
              <a:solidFill>
                <a:srgbClr val="5E152C"/>
              </a:solidFill>
              <a:latin typeface="Montserrat Black" panose="00000A00000000000000" pitchFamily="2" charset="0"/>
            </a:endParaRPr>
          </a:p>
        </p:txBody>
      </p:sp>
    </p:spTree>
    <p:extLst>
      <p:ext uri="{BB962C8B-B14F-4D97-AF65-F5344CB8AC3E}">
        <p14:creationId xmlns:p14="http://schemas.microsoft.com/office/powerpoint/2010/main" val="3093236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73A4B0B4-1A3E-691C-07E9-FDED1CC4F5FD}"/>
              </a:ext>
            </a:extLst>
          </p:cNvPr>
          <p:cNvSpPr txBox="1"/>
          <p:nvPr/>
        </p:nvSpPr>
        <p:spPr>
          <a:xfrm>
            <a:off x="416180" y="1598664"/>
            <a:ext cx="6092856" cy="2169825"/>
          </a:xfrm>
          <a:prstGeom prst="rect">
            <a:avLst/>
          </a:prstGeom>
          <a:noFill/>
        </p:spPr>
        <p:txBody>
          <a:bodyPr wrap="square" lIns="91440" tIns="45720" rIns="91440" bIns="45720" rtlCol="0" anchor="t">
            <a:spAutoFit/>
          </a:bodyPr>
          <a:lstStyle/>
          <a:p>
            <a:r>
              <a:rPr lang="fr-FR" sz="4500" b="1">
                <a:solidFill>
                  <a:schemeClr val="bg1"/>
                </a:solidFill>
                <a:latin typeface="Montserrat Black"/>
              </a:rPr>
              <a:t>Actualité jurisprudentielle</a:t>
            </a:r>
            <a:endParaRPr lang="fr-FR" sz="4500">
              <a:solidFill>
                <a:srgbClr val="000000"/>
              </a:solidFill>
              <a:latin typeface="Montserrat Black"/>
            </a:endParaRPr>
          </a:p>
          <a:p>
            <a:endParaRPr lang="fr-FR" sz="4500" b="1">
              <a:solidFill>
                <a:schemeClr val="bg1"/>
              </a:solidFill>
              <a:latin typeface="Montserrat Black" panose="00000A00000000000000" pitchFamily="2" charset="0"/>
            </a:endParaRPr>
          </a:p>
        </p:txBody>
      </p:sp>
    </p:spTree>
    <p:extLst>
      <p:ext uri="{BB962C8B-B14F-4D97-AF65-F5344CB8AC3E}">
        <p14:creationId xmlns:p14="http://schemas.microsoft.com/office/powerpoint/2010/main" val="27442811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96F34078-85BB-5325-7ACF-FA2790FF06FD}"/>
              </a:ext>
            </a:extLst>
          </p:cNvPr>
          <p:cNvSpPr>
            <a:spLocks noGrp="1"/>
          </p:cNvSpPr>
          <p:nvPr>
            <p:ph type="title"/>
          </p:nvPr>
        </p:nvSpPr>
        <p:spPr>
          <a:xfrm>
            <a:off x="3224748" y="1191885"/>
            <a:ext cx="8701347" cy="2418959"/>
          </a:xfrm>
        </p:spPr>
        <p:txBody>
          <a:bodyPr>
            <a:normAutofit/>
          </a:bodyPr>
          <a:lstStyle/>
          <a:p>
            <a:r>
              <a:rPr lang="fr-FR" sz="4000">
                <a:latin typeface="Montserrat"/>
              </a:rPr>
              <a:t>SUR LE THEME :</a:t>
            </a:r>
            <a:br>
              <a:rPr lang="fr-FR" sz="4000">
                <a:latin typeface="Montserrat"/>
              </a:rPr>
            </a:br>
            <a:r>
              <a:rPr lang="fr-FR" sz="4000">
                <a:latin typeface="Montserrat"/>
              </a:rPr>
              <a:t>DES CONTRATS DE TRAVAIL</a:t>
            </a:r>
            <a:endParaRPr lang="fr-FR" sz="4000"/>
          </a:p>
        </p:txBody>
      </p:sp>
    </p:spTree>
    <p:extLst>
      <p:ext uri="{BB962C8B-B14F-4D97-AF65-F5344CB8AC3E}">
        <p14:creationId xmlns:p14="http://schemas.microsoft.com/office/powerpoint/2010/main" val="5350037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CC328-CCF3-F36E-7A73-366F7A9A9AB7}"/>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56140C31-6B6F-3E40-2600-EE709C64C08F}"/>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ACTUALITE JURISPRUDENTIELLE</a:t>
            </a:r>
            <a:endParaRPr lang="fr-FR"/>
          </a:p>
        </p:txBody>
      </p:sp>
      <p:sp>
        <p:nvSpPr>
          <p:cNvPr id="6" name="ZoneTexte 5">
            <a:extLst>
              <a:ext uri="{FF2B5EF4-FFF2-40B4-BE49-F238E27FC236}">
                <a16:creationId xmlns:a16="http://schemas.microsoft.com/office/drawing/2014/main" id="{46850DFA-A29C-D3E2-9896-00CE03373EE0}"/>
              </a:ext>
            </a:extLst>
          </p:cNvPr>
          <p:cNvSpPr txBox="1"/>
          <p:nvPr/>
        </p:nvSpPr>
        <p:spPr>
          <a:xfrm>
            <a:off x="540535" y="1558837"/>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pitchFamily="2" charset="0"/>
              </a:rPr>
              <a:t>CDD de remplacement sans terme précis : le défaut d'information de la fin du contrat peut mener à la requalification d'un CDI</a:t>
            </a:r>
          </a:p>
        </p:txBody>
      </p:sp>
      <p:sp>
        <p:nvSpPr>
          <p:cNvPr id="7" name="ZoneTexte 6">
            <a:extLst>
              <a:ext uri="{FF2B5EF4-FFF2-40B4-BE49-F238E27FC236}">
                <a16:creationId xmlns:a16="http://schemas.microsoft.com/office/drawing/2014/main" id="{06799B84-BA99-895D-FD5C-08701CB91303}"/>
              </a:ext>
            </a:extLst>
          </p:cNvPr>
          <p:cNvSpPr txBox="1"/>
          <p:nvPr/>
        </p:nvSpPr>
        <p:spPr>
          <a:xfrm>
            <a:off x="540488" y="2294860"/>
            <a:ext cx="609600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400" b="0" i="1" u="none" strike="noStrike" baseline="0">
                <a:solidFill>
                  <a:srgbClr val="000000"/>
                </a:solidFill>
                <a:latin typeface="Montserrat Light"/>
              </a:rPr>
              <a:t>Cass. Soc. 13 novembre 2025, n° 24-14.259</a:t>
            </a:r>
            <a:endParaRPr lang="fr-FR"/>
          </a:p>
          <a:p>
            <a:pPr algn="ctr"/>
            <a:endParaRPr lang="fr-FR"/>
          </a:p>
        </p:txBody>
      </p:sp>
      <p:pic>
        <p:nvPicPr>
          <p:cNvPr id="2" name="Image 1" descr="Une image contenant logo, Police, Graphique, clipart&#10;&#10;Le contenu généré par l’IA peut être incorrect.">
            <a:extLst>
              <a:ext uri="{FF2B5EF4-FFF2-40B4-BE49-F238E27FC236}">
                <a16:creationId xmlns:a16="http://schemas.microsoft.com/office/drawing/2014/main" id="{E740E266-B74B-7422-76CD-04D4AFF4B257}"/>
              </a:ext>
            </a:extLst>
          </p:cNvPr>
          <p:cNvPicPr>
            <a:picLocks noChangeAspect="1"/>
          </p:cNvPicPr>
          <p:nvPr/>
        </p:nvPicPr>
        <p:blipFill>
          <a:blip r:embed="rId3"/>
          <a:stretch>
            <a:fillRect/>
          </a:stretch>
        </p:blipFill>
        <p:spPr>
          <a:xfrm>
            <a:off x="413204" y="5252433"/>
            <a:ext cx="2076450" cy="1457325"/>
          </a:xfrm>
          <a:prstGeom prst="rect">
            <a:avLst/>
          </a:prstGeom>
        </p:spPr>
      </p:pic>
      <p:sp>
        <p:nvSpPr>
          <p:cNvPr id="4" name="ZoneTexte 3">
            <a:extLst>
              <a:ext uri="{FF2B5EF4-FFF2-40B4-BE49-F238E27FC236}">
                <a16:creationId xmlns:a16="http://schemas.microsoft.com/office/drawing/2014/main" id="{89537CD4-B922-21CB-368B-9D0CA7CC1399}"/>
              </a:ext>
            </a:extLst>
          </p:cNvPr>
          <p:cNvSpPr txBox="1"/>
          <p:nvPr/>
        </p:nvSpPr>
        <p:spPr>
          <a:xfrm>
            <a:off x="2753962" y="4957188"/>
            <a:ext cx="6012252" cy="1815882"/>
          </a:xfrm>
          <a:prstGeom prst="rect">
            <a:avLst/>
          </a:prstGeom>
          <a:noFill/>
        </p:spPr>
        <p:txBody>
          <a:bodyPr wrap="square" lIns="91440" tIns="45720" rIns="91440" bIns="45720" anchor="t">
            <a:spAutoFit/>
          </a:bodyPr>
          <a:lstStyle/>
          <a:p>
            <a:pPr algn="just"/>
            <a:endParaRPr lang="fr-FR" sz="1600">
              <a:solidFill>
                <a:srgbClr val="000000"/>
              </a:solidFill>
              <a:latin typeface="Montserrat Light"/>
            </a:endParaRPr>
          </a:p>
          <a:p>
            <a:pPr algn="just"/>
            <a:endParaRPr lang="fr-FR" sz="1600">
              <a:solidFill>
                <a:srgbClr val="000000"/>
              </a:solidFill>
              <a:latin typeface="Montserrat Light"/>
            </a:endParaRPr>
          </a:p>
          <a:p>
            <a:pPr algn="just"/>
            <a:r>
              <a:rPr lang="fr-FR" sz="1600" b="1" u="sng">
                <a:solidFill>
                  <a:srgbClr val="68BBB4"/>
                </a:solidFill>
                <a:latin typeface="Montserrat Light"/>
              </a:rPr>
              <a:t>Rappel des fondamentaux sur le CDD à terme imprécis :</a:t>
            </a:r>
          </a:p>
          <a:p>
            <a:pPr marL="285750" indent="-285750" algn="just">
              <a:buFont typeface="Calibri"/>
              <a:buChar char="-"/>
            </a:pPr>
            <a:r>
              <a:rPr lang="fr-FR" sz="1600">
                <a:solidFill>
                  <a:srgbClr val="000000"/>
                </a:solidFill>
                <a:latin typeface="Montserrat Light"/>
              </a:rPr>
              <a:t>Ne comporte pas de date de fin,</a:t>
            </a:r>
          </a:p>
          <a:p>
            <a:pPr marL="285750" indent="-285750" algn="just">
              <a:buFont typeface="Calibri"/>
              <a:buChar char="-"/>
            </a:pPr>
            <a:r>
              <a:rPr lang="fr-FR" sz="1600">
                <a:solidFill>
                  <a:srgbClr val="000000"/>
                </a:solidFill>
                <a:latin typeface="Montserrat Light"/>
              </a:rPr>
              <a:t>Fait mention de l'évènement qui mettra fin au contrat, </a:t>
            </a:r>
          </a:p>
          <a:p>
            <a:pPr marL="285750" indent="-285750" algn="just">
              <a:buFont typeface="Calibri"/>
              <a:buChar char="-"/>
            </a:pPr>
            <a:r>
              <a:rPr lang="fr-FR" sz="1600">
                <a:solidFill>
                  <a:srgbClr val="000000"/>
                </a:solidFill>
                <a:latin typeface="Montserrat Light"/>
              </a:rPr>
              <a:t>Allégement administratif</a:t>
            </a:r>
          </a:p>
          <a:p>
            <a:pPr algn="just"/>
            <a:endParaRPr lang="fr-FR" sz="1600">
              <a:solidFill>
                <a:srgbClr val="000000"/>
              </a:solidFill>
              <a:latin typeface="Montserrat Light"/>
            </a:endParaRPr>
          </a:p>
        </p:txBody>
      </p:sp>
      <p:pic>
        <p:nvPicPr>
          <p:cNvPr id="8" name="Image 7" descr="Dessin de bateau | Canva">
            <a:extLst>
              <a:ext uri="{FF2B5EF4-FFF2-40B4-BE49-F238E27FC236}">
                <a16:creationId xmlns:a16="http://schemas.microsoft.com/office/drawing/2014/main" id="{2BFCECAF-9C07-931D-3D8B-2581C2457315}"/>
              </a:ext>
            </a:extLst>
          </p:cNvPr>
          <p:cNvPicPr>
            <a:picLocks noChangeAspect="1"/>
          </p:cNvPicPr>
          <p:nvPr/>
        </p:nvPicPr>
        <p:blipFill>
          <a:blip r:embed="rId4"/>
          <a:stretch>
            <a:fillRect/>
          </a:stretch>
        </p:blipFill>
        <p:spPr>
          <a:xfrm>
            <a:off x="744927" y="3107666"/>
            <a:ext cx="1457505" cy="1160253"/>
          </a:xfrm>
          <a:prstGeom prst="rect">
            <a:avLst/>
          </a:prstGeom>
        </p:spPr>
      </p:pic>
      <p:pic>
        <p:nvPicPr>
          <p:cNvPr id="9" name="Image 8" descr="Matelot Stock Illustrations, Vecteurs, &amp; Clipart – (242 Stock Illustrations)">
            <a:extLst>
              <a:ext uri="{FF2B5EF4-FFF2-40B4-BE49-F238E27FC236}">
                <a16:creationId xmlns:a16="http://schemas.microsoft.com/office/drawing/2014/main" id="{5A0F1FE8-868E-FA7A-5176-7DCC72C1225B}"/>
              </a:ext>
            </a:extLst>
          </p:cNvPr>
          <p:cNvPicPr>
            <a:picLocks noChangeAspect="1"/>
          </p:cNvPicPr>
          <p:nvPr/>
        </p:nvPicPr>
        <p:blipFill>
          <a:blip r:embed="rId5"/>
          <a:stretch>
            <a:fillRect/>
          </a:stretch>
        </p:blipFill>
        <p:spPr>
          <a:xfrm>
            <a:off x="1864743" y="2875400"/>
            <a:ext cx="755246" cy="1266688"/>
          </a:xfrm>
          <a:prstGeom prst="rect">
            <a:avLst/>
          </a:prstGeom>
        </p:spPr>
      </p:pic>
      <p:pic>
        <p:nvPicPr>
          <p:cNvPr id="11" name="Image 10" descr="Illustration Vecteur De Patient Blessé Avec Bandages Clip Art Libres De  Droits, Svg, Vecteurs Et Illustration. Image 64820884">
            <a:extLst>
              <a:ext uri="{FF2B5EF4-FFF2-40B4-BE49-F238E27FC236}">
                <a16:creationId xmlns:a16="http://schemas.microsoft.com/office/drawing/2014/main" id="{5C421E49-D057-C416-4485-EE46F9DDA915}"/>
              </a:ext>
            </a:extLst>
          </p:cNvPr>
          <p:cNvPicPr>
            <a:picLocks noChangeAspect="1"/>
          </p:cNvPicPr>
          <p:nvPr/>
        </p:nvPicPr>
        <p:blipFill>
          <a:blip r:embed="rId6"/>
          <a:stretch>
            <a:fillRect/>
          </a:stretch>
        </p:blipFill>
        <p:spPr>
          <a:xfrm>
            <a:off x="5155721" y="2790645"/>
            <a:ext cx="1204822" cy="1348596"/>
          </a:xfrm>
          <a:prstGeom prst="rect">
            <a:avLst/>
          </a:prstGeom>
        </p:spPr>
      </p:pic>
      <p:pic>
        <p:nvPicPr>
          <p:cNvPr id="12" name="Image 11" descr="Dessin de bateau | Canva">
            <a:extLst>
              <a:ext uri="{FF2B5EF4-FFF2-40B4-BE49-F238E27FC236}">
                <a16:creationId xmlns:a16="http://schemas.microsoft.com/office/drawing/2014/main" id="{4C74C604-436A-6308-EFB6-5CAE9E4920F0}"/>
              </a:ext>
            </a:extLst>
          </p:cNvPr>
          <p:cNvPicPr>
            <a:picLocks noChangeAspect="1"/>
          </p:cNvPicPr>
          <p:nvPr/>
        </p:nvPicPr>
        <p:blipFill>
          <a:blip r:embed="rId4"/>
          <a:stretch>
            <a:fillRect/>
          </a:stretch>
        </p:blipFill>
        <p:spPr>
          <a:xfrm>
            <a:off x="4267379" y="3093287"/>
            <a:ext cx="1342486" cy="1160253"/>
          </a:xfrm>
          <a:prstGeom prst="rect">
            <a:avLst/>
          </a:prstGeom>
        </p:spPr>
      </p:pic>
      <p:cxnSp>
        <p:nvCxnSpPr>
          <p:cNvPr id="13" name="Connecteur : en arc 12">
            <a:extLst>
              <a:ext uri="{FF2B5EF4-FFF2-40B4-BE49-F238E27FC236}">
                <a16:creationId xmlns:a16="http://schemas.microsoft.com/office/drawing/2014/main" id="{1CD83186-15E2-F5F1-BF00-CAE8BF3D58F8}"/>
              </a:ext>
            </a:extLst>
          </p:cNvPr>
          <p:cNvCxnSpPr/>
          <p:nvPr/>
        </p:nvCxnSpPr>
        <p:spPr>
          <a:xfrm>
            <a:off x="2747325" y="3439939"/>
            <a:ext cx="1176130" cy="496956"/>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eur : en arc 14">
            <a:extLst>
              <a:ext uri="{FF2B5EF4-FFF2-40B4-BE49-F238E27FC236}">
                <a16:creationId xmlns:a16="http://schemas.microsoft.com/office/drawing/2014/main" id="{827696C9-96AD-5E28-486E-DA17D9FAEA28}"/>
              </a:ext>
            </a:extLst>
          </p:cNvPr>
          <p:cNvCxnSpPr>
            <a:cxnSpLocks/>
          </p:cNvCxnSpPr>
          <p:nvPr/>
        </p:nvCxnSpPr>
        <p:spPr>
          <a:xfrm>
            <a:off x="6356041" y="3425562"/>
            <a:ext cx="1176130" cy="496956"/>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pic>
        <p:nvPicPr>
          <p:cNvPr id="16" name="Image 15" descr="7 000+ Licenciement Stock Illustrations, graphiques vectoriels libre de  droits et Clip Art - iStock | Départ, Divorce, Travail">
            <a:extLst>
              <a:ext uri="{FF2B5EF4-FFF2-40B4-BE49-F238E27FC236}">
                <a16:creationId xmlns:a16="http://schemas.microsoft.com/office/drawing/2014/main" id="{3BC8A7C1-5CA1-A51F-5DD6-6C57DDB56081}"/>
              </a:ext>
            </a:extLst>
          </p:cNvPr>
          <p:cNvPicPr>
            <a:picLocks noChangeAspect="1"/>
          </p:cNvPicPr>
          <p:nvPr/>
        </p:nvPicPr>
        <p:blipFill>
          <a:blip r:embed="rId7"/>
          <a:stretch>
            <a:fillRect/>
          </a:stretch>
        </p:blipFill>
        <p:spPr>
          <a:xfrm>
            <a:off x="7946366" y="2584509"/>
            <a:ext cx="2395267" cy="1832755"/>
          </a:xfrm>
          <a:prstGeom prst="rect">
            <a:avLst/>
          </a:prstGeom>
        </p:spPr>
      </p:pic>
      <p:pic>
        <p:nvPicPr>
          <p:cNvPr id="19" name="Image 18" descr="Illustration Vecteur De Patient Blessé Avec Bandages Clip Art Libres De  Droits, Svg, Vecteurs Et Illustration. Image 64820884">
            <a:extLst>
              <a:ext uri="{FF2B5EF4-FFF2-40B4-BE49-F238E27FC236}">
                <a16:creationId xmlns:a16="http://schemas.microsoft.com/office/drawing/2014/main" id="{1A8CCB45-9993-D71D-FB64-EF3794D2AD73}"/>
              </a:ext>
            </a:extLst>
          </p:cNvPr>
          <p:cNvPicPr>
            <a:picLocks noChangeAspect="1"/>
          </p:cNvPicPr>
          <p:nvPr/>
        </p:nvPicPr>
        <p:blipFill>
          <a:blip r:embed="rId6"/>
          <a:stretch>
            <a:fillRect/>
          </a:stretch>
        </p:blipFill>
        <p:spPr>
          <a:xfrm>
            <a:off x="7944927" y="2790644"/>
            <a:ext cx="1204822" cy="1348596"/>
          </a:xfrm>
          <a:prstGeom prst="rect">
            <a:avLst/>
          </a:prstGeom>
        </p:spPr>
      </p:pic>
    </p:spTree>
    <p:extLst>
      <p:ext uri="{BB962C8B-B14F-4D97-AF65-F5344CB8AC3E}">
        <p14:creationId xmlns:p14="http://schemas.microsoft.com/office/powerpoint/2010/main" val="16537785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7">
            <a:extLst>
              <a:ext uri="{FF2B5EF4-FFF2-40B4-BE49-F238E27FC236}">
                <a16:creationId xmlns:a16="http://schemas.microsoft.com/office/drawing/2014/main" id="{0BBCB76B-4F54-548C-1681-E8B9261463F2}"/>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ACTUALITE JURISPRUDENTIELLE</a:t>
            </a:r>
            <a:endParaRPr lang="fr-FR"/>
          </a:p>
        </p:txBody>
      </p:sp>
      <p:sp>
        <p:nvSpPr>
          <p:cNvPr id="5" name="ZoneTexte 4">
            <a:extLst>
              <a:ext uri="{FF2B5EF4-FFF2-40B4-BE49-F238E27FC236}">
                <a16:creationId xmlns:a16="http://schemas.microsoft.com/office/drawing/2014/main" id="{87E84AF9-D6F3-4DD5-AE7A-4F8BB6185394}"/>
              </a:ext>
            </a:extLst>
          </p:cNvPr>
          <p:cNvSpPr txBox="1"/>
          <p:nvPr/>
        </p:nvSpPr>
        <p:spPr>
          <a:xfrm>
            <a:off x="540534" y="2695380"/>
            <a:ext cx="11418822" cy="3323987"/>
          </a:xfrm>
          <a:prstGeom prst="rect">
            <a:avLst/>
          </a:prstGeom>
          <a:noFill/>
        </p:spPr>
        <p:txBody>
          <a:bodyPr wrap="square" lIns="91440" tIns="45720" rIns="91440" bIns="45720" anchor="t">
            <a:spAutoFit/>
          </a:bodyPr>
          <a:lstStyle/>
          <a:p>
            <a:pPr algn="just"/>
            <a:endParaRPr lang="fr-FR" sz="1600">
              <a:solidFill>
                <a:srgbClr val="000000"/>
              </a:solidFill>
              <a:latin typeface="Montserrat Light" panose="00000400000000000000" pitchFamily="2" charset="0"/>
            </a:endParaRPr>
          </a:p>
          <a:p>
            <a:pPr algn="just"/>
            <a:endParaRPr lang="fr-FR" sz="1600">
              <a:latin typeface="Montserrat Light"/>
            </a:endParaRPr>
          </a:p>
          <a:p>
            <a:pPr algn="just"/>
            <a:r>
              <a:rPr lang="fr-FR"/>
              <a:t>📌</a:t>
            </a:r>
            <a:r>
              <a:rPr lang="fr-FR" sz="1600" b="1" u="sng">
                <a:solidFill>
                  <a:srgbClr val="68BBB4"/>
                </a:solidFill>
                <a:latin typeface="Montserrat Light"/>
              </a:rPr>
              <a:t> Portée juridique de l’arrêt</a:t>
            </a:r>
          </a:p>
          <a:p>
            <a:pPr algn="just"/>
            <a:endParaRPr lang="fr-FR" sz="1600" b="1" u="sng">
              <a:solidFill>
                <a:srgbClr val="68BBB4"/>
              </a:solidFill>
              <a:latin typeface="Montserrat Light"/>
            </a:endParaRPr>
          </a:p>
          <a:p>
            <a:pPr algn="just"/>
            <a:r>
              <a:rPr lang="fr-FR" sz="1600">
                <a:solidFill>
                  <a:srgbClr val="000000"/>
                </a:solidFill>
                <a:latin typeface="Montserrat Light"/>
              </a:rPr>
              <a:t>L’arrêt rappelle 2 règles essentielles du CDD de remplacement sans terme précis :</a:t>
            </a:r>
          </a:p>
          <a:p>
            <a:pPr marL="285750" indent="-285750" algn="just">
              <a:buFont typeface="Arial"/>
              <a:buChar char="•"/>
            </a:pPr>
            <a:r>
              <a:rPr lang="fr-FR" sz="1600">
                <a:solidFill>
                  <a:srgbClr val="000000"/>
                </a:solidFill>
                <a:latin typeface="Montserrat Light"/>
              </a:rPr>
              <a:t>L’employeur doit </a:t>
            </a:r>
            <a:r>
              <a:rPr lang="fr-FR" sz="1600" b="1">
                <a:solidFill>
                  <a:srgbClr val="000000"/>
                </a:solidFill>
                <a:latin typeface="Montserrat Light"/>
              </a:rPr>
              <a:t>prouver l’événement constitutif du terme</a:t>
            </a:r>
            <a:r>
              <a:rPr lang="fr-FR" sz="1600">
                <a:solidFill>
                  <a:srgbClr val="000000"/>
                </a:solidFill>
                <a:latin typeface="Montserrat Light"/>
              </a:rPr>
              <a:t> (retour du salarié remplacé, cessation définitive de son activité, etc.). </a:t>
            </a:r>
          </a:p>
          <a:p>
            <a:pPr marL="285750" indent="-285750" algn="just">
              <a:buFont typeface="Arial"/>
              <a:buChar char="•"/>
            </a:pPr>
            <a:r>
              <a:rPr lang="fr-FR" sz="1600">
                <a:solidFill>
                  <a:srgbClr val="000000"/>
                </a:solidFill>
                <a:latin typeface="Montserrat Light"/>
              </a:rPr>
              <a:t>L’employeur doit </a:t>
            </a:r>
            <a:r>
              <a:rPr lang="fr-FR" sz="1600" b="1">
                <a:solidFill>
                  <a:srgbClr val="000000"/>
                </a:solidFill>
                <a:latin typeface="Montserrat Light"/>
              </a:rPr>
              <a:t>informer le salarié remplaçant de la survenance de cet événement,</a:t>
            </a:r>
            <a:r>
              <a:rPr lang="fr-FR" sz="1600">
                <a:solidFill>
                  <a:srgbClr val="000000"/>
                </a:solidFill>
                <a:latin typeface="Montserrat Light"/>
              </a:rPr>
              <a:t> faute de quoi le contrat continue de produire ses effets. </a:t>
            </a:r>
          </a:p>
          <a:p>
            <a:pPr marL="285750" indent="-285750" algn="just">
              <a:buFont typeface="Arial"/>
              <a:buChar char="•"/>
            </a:pPr>
            <a:r>
              <a:rPr lang="fr-FR" sz="1600">
                <a:solidFill>
                  <a:srgbClr val="000000"/>
                </a:solidFill>
                <a:latin typeface="Montserrat Light"/>
              </a:rPr>
              <a:t>Si la relation se poursuit après le terme, l’article L.1243‑11 du Code du travail impose</a:t>
            </a:r>
          </a:p>
          <a:p>
            <a:pPr algn="just"/>
            <a:r>
              <a:rPr lang="fr-FR" sz="1600">
                <a:solidFill>
                  <a:srgbClr val="000000"/>
                </a:solidFill>
                <a:latin typeface="Montserrat Light"/>
              </a:rPr>
              <a:t> la requalification en CDI.</a:t>
            </a:r>
            <a:endParaRPr lang="fr-FR">
              <a:ea typeface="Calibri" panose="020F0502020204030204"/>
              <a:cs typeface="Calibri" panose="020F0502020204030204"/>
            </a:endParaRPr>
          </a:p>
          <a:p>
            <a:pPr algn="just"/>
            <a:endParaRPr lang="fr-FR" sz="1600">
              <a:solidFill>
                <a:srgbClr val="000000"/>
              </a:solidFill>
              <a:latin typeface="Montserrat Light"/>
            </a:endParaRPr>
          </a:p>
          <a:p>
            <a:endParaRPr lang="fr-FR" sz="1600">
              <a:solidFill>
                <a:srgbClr val="000000"/>
              </a:solidFill>
              <a:latin typeface="Montserrat Light"/>
            </a:endParaRPr>
          </a:p>
        </p:txBody>
      </p:sp>
      <p:sp>
        <p:nvSpPr>
          <p:cNvPr id="6" name="ZoneTexte 5">
            <a:extLst>
              <a:ext uri="{FF2B5EF4-FFF2-40B4-BE49-F238E27FC236}">
                <a16:creationId xmlns:a16="http://schemas.microsoft.com/office/drawing/2014/main" id="{FDCAF980-0E07-3D44-89B0-11E12F8EE0C6}"/>
              </a:ext>
            </a:extLst>
          </p:cNvPr>
          <p:cNvSpPr txBox="1"/>
          <p:nvPr/>
        </p:nvSpPr>
        <p:spPr>
          <a:xfrm>
            <a:off x="540535" y="1558837"/>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pitchFamily="2" charset="0"/>
              </a:rPr>
              <a:t>CDD de remplacement sans terme précis : le défaut d'information de la fin du contrat peut mener à la requalification d'un CDI</a:t>
            </a:r>
          </a:p>
        </p:txBody>
      </p:sp>
      <p:sp>
        <p:nvSpPr>
          <p:cNvPr id="7" name="ZoneTexte 6">
            <a:extLst>
              <a:ext uri="{FF2B5EF4-FFF2-40B4-BE49-F238E27FC236}">
                <a16:creationId xmlns:a16="http://schemas.microsoft.com/office/drawing/2014/main" id="{168EC179-80FF-2806-E897-8FAF81407A0E}"/>
              </a:ext>
            </a:extLst>
          </p:cNvPr>
          <p:cNvSpPr txBox="1"/>
          <p:nvPr/>
        </p:nvSpPr>
        <p:spPr>
          <a:xfrm>
            <a:off x="540488" y="2294860"/>
            <a:ext cx="609600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400" b="0" i="1" u="none" strike="noStrike" baseline="0">
                <a:solidFill>
                  <a:srgbClr val="000000"/>
                </a:solidFill>
                <a:latin typeface="Montserrat Light"/>
              </a:rPr>
              <a:t>Cass. Soc. 13 novembre 2025, n° 24-14.259</a:t>
            </a:r>
            <a:endParaRPr lang="fr-FR"/>
          </a:p>
          <a:p>
            <a:pPr algn="ctr"/>
            <a:endParaRPr lang="fr-FR"/>
          </a:p>
        </p:txBody>
      </p:sp>
    </p:spTree>
    <p:extLst>
      <p:ext uri="{BB962C8B-B14F-4D97-AF65-F5344CB8AC3E}">
        <p14:creationId xmlns:p14="http://schemas.microsoft.com/office/powerpoint/2010/main" val="14237885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3C6EF-546C-C693-043F-7558DA198459}"/>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6B321058-79C3-21CA-78AB-51A75D6F5362}"/>
              </a:ext>
            </a:extLst>
          </p:cNvPr>
          <p:cNvSpPr>
            <a:spLocks noGrp="1"/>
          </p:cNvSpPr>
          <p:nvPr>
            <p:ph type="title"/>
          </p:nvPr>
        </p:nvSpPr>
        <p:spPr>
          <a:xfrm>
            <a:off x="637630" y="3431817"/>
            <a:ext cx="8701347" cy="368283"/>
          </a:xfrm>
        </p:spPr>
        <p:txBody>
          <a:bodyPr>
            <a:normAutofit fontScale="90000"/>
          </a:bodyPr>
          <a:lstStyle/>
          <a:p>
            <a:r>
              <a:rPr lang="fr-FR" sz="4000">
                <a:latin typeface="Montserrat"/>
              </a:rPr>
              <a:t>SUR LE THEME :</a:t>
            </a:r>
            <a:br>
              <a:rPr lang="fr-FR" sz="4000">
                <a:latin typeface="Montserrat"/>
              </a:rPr>
            </a:br>
            <a:r>
              <a:rPr lang="fr-FR" sz="4000">
                <a:latin typeface="Montserrat"/>
              </a:rPr>
              <a:t>DE LA DUREE DU TRAVAIL </a:t>
            </a:r>
            <a:endParaRPr lang="fr-FR" sz="4000"/>
          </a:p>
        </p:txBody>
      </p:sp>
    </p:spTree>
    <p:extLst>
      <p:ext uri="{BB962C8B-B14F-4D97-AF65-F5344CB8AC3E}">
        <p14:creationId xmlns:p14="http://schemas.microsoft.com/office/powerpoint/2010/main" val="13832846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ECCD2-2B9F-3C4A-7A37-4DBA12271338}"/>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4E882C38-E1C9-8D3C-652B-895373312757}"/>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7239A79B-04A2-B553-B17B-5B15CE083167}"/>
              </a:ext>
            </a:extLst>
          </p:cNvPr>
          <p:cNvSpPr txBox="1"/>
          <p:nvPr/>
        </p:nvSpPr>
        <p:spPr>
          <a:xfrm>
            <a:off x="508742" y="1577238"/>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pitchFamily="2" charset="0"/>
              </a:rPr>
              <a:t>Les heures supplémentaires, ce n’est pas automatique</a:t>
            </a:r>
          </a:p>
          <a:p>
            <a:endParaRPr lang="fr-FR" b="1" u="sng">
              <a:solidFill>
                <a:srgbClr val="6ABEB8"/>
              </a:solidFill>
              <a:latin typeface="Montserrat" pitchFamily="2" charset="0"/>
            </a:endParaRPr>
          </a:p>
        </p:txBody>
      </p:sp>
      <p:sp>
        <p:nvSpPr>
          <p:cNvPr id="5" name="ZoneTexte 4">
            <a:extLst>
              <a:ext uri="{FF2B5EF4-FFF2-40B4-BE49-F238E27FC236}">
                <a16:creationId xmlns:a16="http://schemas.microsoft.com/office/drawing/2014/main" id="{C751EB6B-E2CE-4DCA-C48F-940252CCD435}"/>
              </a:ext>
            </a:extLst>
          </p:cNvPr>
          <p:cNvSpPr txBox="1"/>
          <p:nvPr/>
        </p:nvSpPr>
        <p:spPr>
          <a:xfrm>
            <a:off x="508742" y="2101945"/>
            <a:ext cx="11424179" cy="1569660"/>
          </a:xfrm>
          <a:prstGeom prst="rect">
            <a:avLst/>
          </a:prstGeom>
          <a:noFill/>
        </p:spPr>
        <p:txBody>
          <a:bodyPr wrap="square" lIns="91440" tIns="45720" rIns="91440" bIns="45720" anchor="t">
            <a:spAutoFit/>
          </a:bodyPr>
          <a:lstStyle/>
          <a:p>
            <a:r>
              <a:rPr lang="fr-FR" sz="1400" i="1">
                <a:latin typeface="Montserrat Light"/>
                <a:ea typeface="+mn-lt"/>
                <a:cs typeface="+mn-lt"/>
              </a:rPr>
              <a:t>Cour. Cass. soc. 7 janvier 2026, n° </a:t>
            </a:r>
            <a:r>
              <a:rPr lang="fr-FR" sz="1400" i="1">
                <a:latin typeface="Montserrat Light"/>
                <a:ea typeface="+mn-lt"/>
                <a:cs typeface="+mn-lt"/>
                <a:hlinkClick r:id="rId3">
                  <a:extLst>
                    <a:ext uri="{A12FA001-AC4F-418D-AE19-62706E023703}">
                      <ahyp:hlinkClr xmlns:ahyp="http://schemas.microsoft.com/office/drawing/2018/hyperlinkcolor" val="tx"/>
                    </a:ext>
                  </a:extLst>
                </a:hlinkClick>
              </a:rPr>
              <a:t>24-10984</a:t>
            </a:r>
            <a:r>
              <a:rPr lang="fr-FR" sz="1400" i="1">
                <a:latin typeface="Montserrat Light"/>
                <a:ea typeface="+mn-lt"/>
                <a:cs typeface="+mn-lt"/>
              </a:rPr>
              <a:t> FD</a:t>
            </a:r>
          </a:p>
          <a:p>
            <a:pPr lvl="0" algn="just"/>
            <a:endParaRPr lang="fr-FR" sz="1600" i="1">
              <a:latin typeface="Montserrat Light" panose="00000400000000000000" pitchFamily="2" charset="0"/>
              <a:ea typeface="Calibri"/>
              <a:cs typeface="Calibri"/>
            </a:endParaRPr>
          </a:p>
          <a:p>
            <a:pPr algn="just"/>
            <a:endParaRPr lang="fr-FR" sz="1600">
              <a:solidFill>
                <a:srgbClr val="000000"/>
              </a:solidFill>
              <a:highlight>
                <a:srgbClr val="FFFF00"/>
              </a:highlight>
              <a:latin typeface="Montserrat Light"/>
            </a:endParaRPr>
          </a:p>
          <a:p>
            <a:endParaRPr lang="fr-FR" sz="1600">
              <a:solidFill>
                <a:srgbClr val="000000"/>
              </a:solidFill>
              <a:latin typeface="Montserrat Light" panose="00000400000000000000" pitchFamily="2" charset="0"/>
              <a:ea typeface="Calibri" panose="020F0502020204030204"/>
              <a:cs typeface="Calibri" panose="020F0502020204030204"/>
            </a:endParaRPr>
          </a:p>
          <a:p>
            <a:pPr algn="just"/>
            <a:endParaRPr lang="en-US" sz="1600">
              <a:solidFill>
                <a:srgbClr val="000000"/>
              </a:solidFill>
              <a:latin typeface="Montserrat Light" panose="00000400000000000000" pitchFamily="2" charset="0"/>
              <a:ea typeface="Calibri" panose="020F0502020204030204"/>
              <a:cs typeface="Calibri" panose="020F0502020204030204"/>
            </a:endParaRPr>
          </a:p>
          <a:p>
            <a:pPr algn="just"/>
            <a:endParaRPr lang="fr-FR"/>
          </a:p>
        </p:txBody>
      </p:sp>
      <p:pic>
        <p:nvPicPr>
          <p:cNvPr id="8" name="Image 7" descr="Une image contenant texte, Police, écriture manuscrite, reçu&#10;&#10;Le contenu généré par l’IA peut être incorrect.">
            <a:extLst>
              <a:ext uri="{FF2B5EF4-FFF2-40B4-BE49-F238E27FC236}">
                <a16:creationId xmlns:a16="http://schemas.microsoft.com/office/drawing/2014/main" id="{D0C2FABC-E9BB-B843-ED0B-0BCEEDA06838}"/>
              </a:ext>
            </a:extLst>
          </p:cNvPr>
          <p:cNvPicPr>
            <a:picLocks noChangeAspect="1"/>
          </p:cNvPicPr>
          <p:nvPr/>
        </p:nvPicPr>
        <p:blipFill>
          <a:blip r:embed="rId4"/>
          <a:stretch>
            <a:fillRect/>
          </a:stretch>
        </p:blipFill>
        <p:spPr>
          <a:xfrm>
            <a:off x="6455793" y="2303703"/>
            <a:ext cx="1178225" cy="1373577"/>
          </a:xfrm>
          <a:prstGeom prst="rect">
            <a:avLst/>
          </a:prstGeom>
        </p:spPr>
      </p:pic>
      <p:sp>
        <p:nvSpPr>
          <p:cNvPr id="9" name="Flèche : droite 8">
            <a:extLst>
              <a:ext uri="{FF2B5EF4-FFF2-40B4-BE49-F238E27FC236}">
                <a16:creationId xmlns:a16="http://schemas.microsoft.com/office/drawing/2014/main" id="{B4899CC6-B1B8-E89D-E7B5-6B430D6F9BD4}"/>
              </a:ext>
            </a:extLst>
          </p:cNvPr>
          <p:cNvSpPr/>
          <p:nvPr/>
        </p:nvSpPr>
        <p:spPr>
          <a:xfrm>
            <a:off x="4554496" y="2879535"/>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Flèche : droite 9">
            <a:extLst>
              <a:ext uri="{FF2B5EF4-FFF2-40B4-BE49-F238E27FC236}">
                <a16:creationId xmlns:a16="http://schemas.microsoft.com/office/drawing/2014/main" id="{FD43F050-83EC-8252-A06E-0A08AAC4D9BE}"/>
              </a:ext>
            </a:extLst>
          </p:cNvPr>
          <p:cNvSpPr/>
          <p:nvPr/>
        </p:nvSpPr>
        <p:spPr>
          <a:xfrm>
            <a:off x="4554495" y="4346025"/>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1" name="Image 10" descr="Une image contenant clipart, illustration, dessin humoristique, conception&#10;&#10;Le contenu généré par l’IA peut être incorrect.">
            <a:extLst>
              <a:ext uri="{FF2B5EF4-FFF2-40B4-BE49-F238E27FC236}">
                <a16:creationId xmlns:a16="http://schemas.microsoft.com/office/drawing/2014/main" id="{2C02B615-50E2-05F9-3BFF-9B329B79A9FA}"/>
              </a:ext>
            </a:extLst>
          </p:cNvPr>
          <p:cNvPicPr>
            <a:picLocks noChangeAspect="1"/>
          </p:cNvPicPr>
          <p:nvPr/>
        </p:nvPicPr>
        <p:blipFill>
          <a:blip r:embed="rId5"/>
          <a:stretch>
            <a:fillRect/>
          </a:stretch>
        </p:blipFill>
        <p:spPr>
          <a:xfrm>
            <a:off x="6461813" y="3911900"/>
            <a:ext cx="1899429" cy="1550240"/>
          </a:xfrm>
          <a:prstGeom prst="rect">
            <a:avLst/>
          </a:prstGeom>
        </p:spPr>
      </p:pic>
      <p:pic>
        <p:nvPicPr>
          <p:cNvPr id="12" name="Image 11" descr="femme avec illustration vectorielle plane argent. personne riche. l' employeur donne le salaire. être payé pour le travail. femme détient des  dollars. Fille avec personnage de dessin animé isolé sur fond blanc 2934550">
            <a:extLst>
              <a:ext uri="{FF2B5EF4-FFF2-40B4-BE49-F238E27FC236}">
                <a16:creationId xmlns:a16="http://schemas.microsoft.com/office/drawing/2014/main" id="{2D3AD15C-C52B-0FB5-09A1-E913F413DDCB}"/>
              </a:ext>
            </a:extLst>
          </p:cNvPr>
          <p:cNvPicPr>
            <a:picLocks noChangeAspect="1"/>
          </p:cNvPicPr>
          <p:nvPr/>
        </p:nvPicPr>
        <p:blipFill>
          <a:blip r:embed="rId6"/>
          <a:stretch>
            <a:fillRect/>
          </a:stretch>
        </p:blipFill>
        <p:spPr>
          <a:xfrm>
            <a:off x="221876" y="2554941"/>
            <a:ext cx="3225053" cy="3180230"/>
          </a:xfrm>
          <a:prstGeom prst="rect">
            <a:avLst/>
          </a:prstGeom>
        </p:spPr>
      </p:pic>
      <p:pic>
        <p:nvPicPr>
          <p:cNvPr id="14" name="Image 13" descr="Heures supplémentaires : n'oubliez pas la charge de la preuve ! - UNSA">
            <a:extLst>
              <a:ext uri="{FF2B5EF4-FFF2-40B4-BE49-F238E27FC236}">
                <a16:creationId xmlns:a16="http://schemas.microsoft.com/office/drawing/2014/main" id="{7611F9F2-E5C1-4C91-670E-40C35D4AF894}"/>
              </a:ext>
            </a:extLst>
          </p:cNvPr>
          <p:cNvPicPr>
            <a:picLocks noChangeAspect="1"/>
          </p:cNvPicPr>
          <p:nvPr/>
        </p:nvPicPr>
        <p:blipFill>
          <a:blip r:embed="rId7"/>
          <a:stretch>
            <a:fillRect/>
          </a:stretch>
        </p:blipFill>
        <p:spPr>
          <a:xfrm>
            <a:off x="2154370" y="3427195"/>
            <a:ext cx="1296287" cy="1112210"/>
          </a:xfrm>
          <a:prstGeom prst="rect">
            <a:avLst/>
          </a:prstGeom>
        </p:spPr>
      </p:pic>
    </p:spTree>
    <p:extLst>
      <p:ext uri="{BB962C8B-B14F-4D97-AF65-F5344CB8AC3E}">
        <p14:creationId xmlns:p14="http://schemas.microsoft.com/office/powerpoint/2010/main" val="17093853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69BA1-B106-7D3D-0821-84FCEDC92964}"/>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E9D473B3-99D7-5BB6-3A31-97C7EE5D4FBA}"/>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DAEC905A-01F4-149C-B81B-9784DE879B1F}"/>
              </a:ext>
            </a:extLst>
          </p:cNvPr>
          <p:cNvSpPr txBox="1"/>
          <p:nvPr/>
        </p:nvSpPr>
        <p:spPr>
          <a:xfrm>
            <a:off x="508742" y="1577238"/>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pitchFamily="2" charset="0"/>
              </a:rPr>
              <a:t>Les heures supplémentaires, ce n’est pas automatique</a:t>
            </a:r>
          </a:p>
          <a:p>
            <a:endParaRPr lang="fr-FR" b="1" u="sng">
              <a:solidFill>
                <a:srgbClr val="6ABEB8"/>
              </a:solidFill>
              <a:latin typeface="Montserrat" pitchFamily="2" charset="0"/>
            </a:endParaRPr>
          </a:p>
        </p:txBody>
      </p:sp>
      <p:sp>
        <p:nvSpPr>
          <p:cNvPr id="5" name="ZoneTexte 4">
            <a:extLst>
              <a:ext uri="{FF2B5EF4-FFF2-40B4-BE49-F238E27FC236}">
                <a16:creationId xmlns:a16="http://schemas.microsoft.com/office/drawing/2014/main" id="{E82F6865-E4CB-AD1B-1097-AE8C502DE060}"/>
              </a:ext>
            </a:extLst>
          </p:cNvPr>
          <p:cNvSpPr txBox="1"/>
          <p:nvPr/>
        </p:nvSpPr>
        <p:spPr>
          <a:xfrm>
            <a:off x="508742" y="2101945"/>
            <a:ext cx="11424179" cy="1569660"/>
          </a:xfrm>
          <a:prstGeom prst="rect">
            <a:avLst/>
          </a:prstGeom>
          <a:noFill/>
        </p:spPr>
        <p:txBody>
          <a:bodyPr wrap="square" lIns="91440" tIns="45720" rIns="91440" bIns="45720" anchor="t">
            <a:spAutoFit/>
          </a:bodyPr>
          <a:lstStyle/>
          <a:p>
            <a:r>
              <a:rPr lang="fr-FR" sz="1400" i="1">
                <a:latin typeface="Montserrat Light"/>
                <a:ea typeface="+mn-lt"/>
                <a:cs typeface="+mn-lt"/>
              </a:rPr>
              <a:t>Cour. Cass. soc. 7 janvier 2026, n° </a:t>
            </a:r>
            <a:r>
              <a:rPr lang="fr-FR" sz="1400" i="1">
                <a:latin typeface="Montserrat Light"/>
                <a:ea typeface="+mn-lt"/>
                <a:cs typeface="+mn-lt"/>
                <a:hlinkClick r:id="rId3">
                  <a:extLst>
                    <a:ext uri="{A12FA001-AC4F-418D-AE19-62706E023703}">
                      <ahyp:hlinkClr xmlns:ahyp="http://schemas.microsoft.com/office/drawing/2018/hyperlinkcolor" val="tx"/>
                    </a:ext>
                  </a:extLst>
                </a:hlinkClick>
              </a:rPr>
              <a:t>24-10984</a:t>
            </a:r>
            <a:r>
              <a:rPr lang="fr-FR" sz="1400" i="1">
                <a:latin typeface="Montserrat Light"/>
                <a:ea typeface="+mn-lt"/>
                <a:cs typeface="+mn-lt"/>
              </a:rPr>
              <a:t> FD</a:t>
            </a:r>
          </a:p>
          <a:p>
            <a:pPr lvl="0" algn="just"/>
            <a:endParaRPr lang="fr-FR" sz="1600" i="1">
              <a:latin typeface="Montserrat Light" panose="00000400000000000000" pitchFamily="2" charset="0"/>
              <a:ea typeface="Calibri"/>
              <a:cs typeface="Calibri"/>
            </a:endParaRPr>
          </a:p>
          <a:p>
            <a:pPr algn="just"/>
            <a:endParaRPr lang="fr-FR" sz="1600">
              <a:solidFill>
                <a:srgbClr val="000000"/>
              </a:solidFill>
              <a:highlight>
                <a:srgbClr val="FFFF00"/>
              </a:highlight>
              <a:latin typeface="Montserrat Light"/>
            </a:endParaRPr>
          </a:p>
          <a:p>
            <a:endParaRPr lang="fr-FR" sz="1600">
              <a:solidFill>
                <a:srgbClr val="000000"/>
              </a:solidFill>
              <a:latin typeface="Montserrat Light" panose="00000400000000000000" pitchFamily="2" charset="0"/>
              <a:ea typeface="Calibri" panose="020F0502020204030204"/>
              <a:cs typeface="Calibri" panose="020F0502020204030204"/>
            </a:endParaRPr>
          </a:p>
          <a:p>
            <a:pPr algn="just"/>
            <a:endParaRPr lang="en-US" sz="1600">
              <a:solidFill>
                <a:srgbClr val="000000"/>
              </a:solidFill>
              <a:latin typeface="Montserrat Light" panose="00000400000000000000" pitchFamily="2" charset="0"/>
              <a:ea typeface="Calibri" panose="020F0502020204030204"/>
              <a:cs typeface="Calibri" panose="020F0502020204030204"/>
            </a:endParaRPr>
          </a:p>
          <a:p>
            <a:pPr algn="just"/>
            <a:endParaRPr lang="fr-FR"/>
          </a:p>
        </p:txBody>
      </p:sp>
      <p:sp>
        <p:nvSpPr>
          <p:cNvPr id="9" name="Flèche : droite 8">
            <a:extLst>
              <a:ext uri="{FF2B5EF4-FFF2-40B4-BE49-F238E27FC236}">
                <a16:creationId xmlns:a16="http://schemas.microsoft.com/office/drawing/2014/main" id="{F6D9A597-CD85-B571-2228-485E8CB1A5A6}"/>
              </a:ext>
            </a:extLst>
          </p:cNvPr>
          <p:cNvSpPr/>
          <p:nvPr/>
        </p:nvSpPr>
        <p:spPr>
          <a:xfrm>
            <a:off x="4722845" y="3428884"/>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Flèche : droite 9">
            <a:extLst>
              <a:ext uri="{FF2B5EF4-FFF2-40B4-BE49-F238E27FC236}">
                <a16:creationId xmlns:a16="http://schemas.microsoft.com/office/drawing/2014/main" id="{FE75E10E-ED9C-57CE-BAC8-93F844205D88}"/>
              </a:ext>
            </a:extLst>
          </p:cNvPr>
          <p:cNvSpPr/>
          <p:nvPr/>
        </p:nvSpPr>
        <p:spPr>
          <a:xfrm>
            <a:off x="4722844" y="4478933"/>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2" name="Image 11" descr="Une image contenant habits, dessin humoristique, joint, chaussures&#10;&#10;Le contenu généré par l’IA peut être incorrect.">
            <a:extLst>
              <a:ext uri="{FF2B5EF4-FFF2-40B4-BE49-F238E27FC236}">
                <a16:creationId xmlns:a16="http://schemas.microsoft.com/office/drawing/2014/main" id="{BECACDD5-98BF-0167-8AAC-B2F89CB83885}"/>
              </a:ext>
            </a:extLst>
          </p:cNvPr>
          <p:cNvPicPr>
            <a:picLocks noChangeAspect="1"/>
          </p:cNvPicPr>
          <p:nvPr/>
        </p:nvPicPr>
        <p:blipFill>
          <a:blip r:embed="rId4"/>
          <a:stretch>
            <a:fillRect/>
          </a:stretch>
        </p:blipFill>
        <p:spPr>
          <a:xfrm>
            <a:off x="2075897" y="2616273"/>
            <a:ext cx="1385998" cy="2972244"/>
          </a:xfrm>
          <a:prstGeom prst="rect">
            <a:avLst/>
          </a:prstGeom>
        </p:spPr>
      </p:pic>
      <p:pic>
        <p:nvPicPr>
          <p:cNvPr id="13" name="Image 12" descr="Une image contenant texte, Bleu électrique, conception&#10;&#10;Le contenu généré par l’IA peut être incorrect.">
            <a:extLst>
              <a:ext uri="{FF2B5EF4-FFF2-40B4-BE49-F238E27FC236}">
                <a16:creationId xmlns:a16="http://schemas.microsoft.com/office/drawing/2014/main" id="{C8EA1C00-0635-403C-9C18-81343538552C}"/>
              </a:ext>
            </a:extLst>
          </p:cNvPr>
          <p:cNvPicPr>
            <a:picLocks noChangeAspect="1"/>
          </p:cNvPicPr>
          <p:nvPr/>
        </p:nvPicPr>
        <p:blipFill>
          <a:blip r:embed="rId5"/>
          <a:stretch>
            <a:fillRect/>
          </a:stretch>
        </p:blipFill>
        <p:spPr>
          <a:xfrm>
            <a:off x="7759441" y="2555692"/>
            <a:ext cx="2131165" cy="1542828"/>
          </a:xfrm>
          <a:prstGeom prst="rect">
            <a:avLst/>
          </a:prstGeom>
        </p:spPr>
      </p:pic>
      <p:pic>
        <p:nvPicPr>
          <p:cNvPr id="14" name="Image 13" descr="Illustration Stock Feu Vert - Validation | Adobe Stock">
            <a:extLst>
              <a:ext uri="{FF2B5EF4-FFF2-40B4-BE49-F238E27FC236}">
                <a16:creationId xmlns:a16="http://schemas.microsoft.com/office/drawing/2014/main" id="{7816949C-38BF-23FA-BDE0-C6FB1D19C417}"/>
              </a:ext>
            </a:extLst>
          </p:cNvPr>
          <p:cNvPicPr>
            <a:picLocks noChangeAspect="1"/>
          </p:cNvPicPr>
          <p:nvPr/>
        </p:nvPicPr>
        <p:blipFill>
          <a:blip r:embed="rId6"/>
          <a:stretch>
            <a:fillRect/>
          </a:stretch>
        </p:blipFill>
        <p:spPr>
          <a:xfrm>
            <a:off x="8229048" y="3999948"/>
            <a:ext cx="1608398" cy="1817503"/>
          </a:xfrm>
          <a:prstGeom prst="rect">
            <a:avLst/>
          </a:prstGeom>
        </p:spPr>
      </p:pic>
    </p:spTree>
    <p:extLst>
      <p:ext uri="{BB962C8B-B14F-4D97-AF65-F5344CB8AC3E}">
        <p14:creationId xmlns:p14="http://schemas.microsoft.com/office/powerpoint/2010/main" val="5563080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B9556-91D8-C3DD-A23B-B4B6F93B8C9F}"/>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58650336-77B5-A2CF-8683-282079612C2C}"/>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ACTUALITE JURISPRUDENTIELLE</a:t>
            </a:r>
            <a:endParaRPr lang="fr-FR"/>
          </a:p>
        </p:txBody>
      </p:sp>
      <p:sp>
        <p:nvSpPr>
          <p:cNvPr id="5" name="ZoneTexte 4">
            <a:extLst>
              <a:ext uri="{FF2B5EF4-FFF2-40B4-BE49-F238E27FC236}">
                <a16:creationId xmlns:a16="http://schemas.microsoft.com/office/drawing/2014/main" id="{894C156B-0AE0-94A9-9C47-E3BF99B3DDF4}"/>
              </a:ext>
            </a:extLst>
          </p:cNvPr>
          <p:cNvSpPr txBox="1"/>
          <p:nvPr/>
        </p:nvSpPr>
        <p:spPr>
          <a:xfrm>
            <a:off x="540534" y="2695380"/>
            <a:ext cx="11418822" cy="3323987"/>
          </a:xfrm>
          <a:prstGeom prst="rect">
            <a:avLst/>
          </a:prstGeom>
          <a:noFill/>
        </p:spPr>
        <p:txBody>
          <a:bodyPr wrap="square" lIns="91440" tIns="45720" rIns="91440" bIns="45720" anchor="t">
            <a:spAutoFit/>
          </a:bodyPr>
          <a:lstStyle/>
          <a:p>
            <a:pPr algn="just"/>
            <a:endParaRPr lang="fr-FR" sz="1600">
              <a:solidFill>
                <a:srgbClr val="000000"/>
              </a:solidFill>
              <a:latin typeface="Montserrat Light" panose="00000400000000000000" pitchFamily="2" charset="0"/>
            </a:endParaRPr>
          </a:p>
          <a:p>
            <a:pPr algn="just"/>
            <a:r>
              <a:rPr lang="fr-FR"/>
              <a:t>📌</a:t>
            </a:r>
            <a:r>
              <a:rPr lang="fr-FR" sz="1600" b="1" u="sng">
                <a:solidFill>
                  <a:srgbClr val="68BBB4"/>
                </a:solidFill>
                <a:latin typeface="Montserrat Light"/>
              </a:rPr>
              <a:t> La solution </a:t>
            </a:r>
          </a:p>
          <a:p>
            <a:pPr algn="just"/>
            <a:endParaRPr lang="fr-FR" sz="1600" b="1" u="sng">
              <a:solidFill>
                <a:srgbClr val="68BBB4"/>
              </a:solidFill>
              <a:latin typeface="Montserrat Light"/>
            </a:endParaRPr>
          </a:p>
          <a:p>
            <a:pPr algn="just"/>
            <a:r>
              <a:rPr lang="fr-FR" sz="1600">
                <a:solidFill>
                  <a:srgbClr val="000000"/>
                </a:solidFill>
                <a:latin typeface="Montserrat Light"/>
              </a:rPr>
              <a:t>La Cour de cassation admet qu’un employeur puisse :</a:t>
            </a:r>
          </a:p>
          <a:p>
            <a:pPr marL="285750" indent="-285750" algn="just">
              <a:buFont typeface="Calibri"/>
              <a:buChar char="-"/>
            </a:pPr>
            <a:r>
              <a:rPr lang="fr-FR" sz="1600">
                <a:solidFill>
                  <a:srgbClr val="000000"/>
                </a:solidFill>
                <a:latin typeface="Montserrat Light"/>
              </a:rPr>
              <a:t>instaurer une procédure interne de validation préalable des heures supplémentaires</a:t>
            </a:r>
          </a:p>
          <a:p>
            <a:pPr marL="285750" indent="-285750" algn="just">
              <a:buFont typeface="Calibri"/>
              <a:buChar char="-"/>
            </a:pPr>
            <a:r>
              <a:rPr lang="fr-FR" sz="1600">
                <a:solidFill>
                  <a:srgbClr val="000000"/>
                </a:solidFill>
                <a:latin typeface="Montserrat Light"/>
              </a:rPr>
              <a:t>et refuser leur paiement si cette procédure n’a pas été respectée</a:t>
            </a:r>
          </a:p>
          <a:p>
            <a:pPr algn="just"/>
            <a:endParaRPr lang="fr-FR" sz="1600">
              <a:solidFill>
                <a:srgbClr val="000000"/>
              </a:solidFill>
              <a:latin typeface="Montserrat Light"/>
            </a:endParaRPr>
          </a:p>
          <a:p>
            <a:pPr algn="just"/>
            <a:r>
              <a:rPr lang="fr-FR" sz="1600" b="1" u="sng">
                <a:solidFill>
                  <a:srgbClr val="000000"/>
                </a:solidFill>
                <a:latin typeface="Montserrat Light"/>
              </a:rPr>
              <a:t>Sous condition</a:t>
            </a:r>
            <a:r>
              <a:rPr lang="fr-FR" sz="1600" u="sng">
                <a:solidFill>
                  <a:srgbClr val="000000"/>
                </a:solidFill>
                <a:latin typeface="Montserrat Light"/>
              </a:rPr>
              <a:t> :</a:t>
            </a:r>
          </a:p>
          <a:p>
            <a:pPr marL="285750" indent="-285750" algn="just">
              <a:buFont typeface="Calibri"/>
              <a:buChar char="-"/>
            </a:pPr>
            <a:r>
              <a:rPr lang="fr-FR" sz="1600">
                <a:solidFill>
                  <a:srgbClr val="000000"/>
                </a:solidFill>
                <a:latin typeface="Montserrat Light"/>
              </a:rPr>
              <a:t>la procédure soit connue du salarié,</a:t>
            </a:r>
          </a:p>
          <a:p>
            <a:pPr marL="285750" indent="-285750" algn="just">
              <a:buFont typeface="Calibri"/>
              <a:buChar char="-"/>
            </a:pPr>
            <a:r>
              <a:rPr lang="fr-FR" sz="1600">
                <a:solidFill>
                  <a:srgbClr val="000000"/>
                </a:solidFill>
                <a:latin typeface="Montserrat Light"/>
              </a:rPr>
              <a:t>effective,</a:t>
            </a:r>
          </a:p>
          <a:p>
            <a:pPr marL="285750" indent="-285750" algn="just">
              <a:buFont typeface="Calibri"/>
              <a:buChar char="-"/>
            </a:pPr>
            <a:r>
              <a:rPr lang="fr-FR" sz="1600">
                <a:solidFill>
                  <a:srgbClr val="000000"/>
                </a:solidFill>
                <a:latin typeface="Montserrat Light"/>
              </a:rPr>
              <a:t>et non contournée par l’employeur lui-même</a:t>
            </a:r>
          </a:p>
          <a:p>
            <a:pPr algn="just"/>
            <a:endParaRPr lang="fr-FR" sz="1600">
              <a:solidFill>
                <a:srgbClr val="000000"/>
              </a:solidFill>
              <a:latin typeface="Montserrat Light"/>
            </a:endParaRPr>
          </a:p>
          <a:p>
            <a:endParaRPr lang="fr-FR" sz="1600">
              <a:solidFill>
                <a:srgbClr val="000000"/>
              </a:solidFill>
              <a:latin typeface="Montserrat Light"/>
            </a:endParaRPr>
          </a:p>
        </p:txBody>
      </p:sp>
      <p:sp>
        <p:nvSpPr>
          <p:cNvPr id="6" name="ZoneTexte 5">
            <a:extLst>
              <a:ext uri="{FF2B5EF4-FFF2-40B4-BE49-F238E27FC236}">
                <a16:creationId xmlns:a16="http://schemas.microsoft.com/office/drawing/2014/main" id="{FAAD0B1E-E06A-9BED-3B55-A3E4A877F321}"/>
              </a:ext>
            </a:extLst>
          </p:cNvPr>
          <p:cNvSpPr txBox="1"/>
          <p:nvPr/>
        </p:nvSpPr>
        <p:spPr>
          <a:xfrm>
            <a:off x="540535" y="1558837"/>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a:rPr>
              <a:t>Les heures supplémentaires, ce n’est pas automatique</a:t>
            </a:r>
            <a:endParaRPr lang="fr-FR">
              <a:solidFill>
                <a:srgbClr val="000000"/>
              </a:solidFill>
              <a:latin typeface="Montserrat"/>
            </a:endParaRPr>
          </a:p>
          <a:p>
            <a:endParaRPr lang="fr-FR" b="1">
              <a:solidFill>
                <a:srgbClr val="E4003A"/>
              </a:solidFill>
              <a:latin typeface="Montserrat"/>
            </a:endParaRPr>
          </a:p>
        </p:txBody>
      </p:sp>
      <p:sp>
        <p:nvSpPr>
          <p:cNvPr id="7" name="ZoneTexte 6">
            <a:extLst>
              <a:ext uri="{FF2B5EF4-FFF2-40B4-BE49-F238E27FC236}">
                <a16:creationId xmlns:a16="http://schemas.microsoft.com/office/drawing/2014/main" id="{C1479303-9573-91C8-DAF0-EAD1CE8680B5}"/>
              </a:ext>
            </a:extLst>
          </p:cNvPr>
          <p:cNvSpPr txBox="1"/>
          <p:nvPr/>
        </p:nvSpPr>
        <p:spPr>
          <a:xfrm>
            <a:off x="540488" y="2003507"/>
            <a:ext cx="6096000" cy="8002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400" i="1">
                <a:solidFill>
                  <a:srgbClr val="000000"/>
                </a:solidFill>
                <a:latin typeface="Montserrat Light"/>
              </a:rPr>
              <a:t>Cour</a:t>
            </a:r>
            <a:r>
              <a:rPr lang="fr-FR" sz="1400" b="0" i="1" u="none" strike="noStrike" baseline="0">
                <a:solidFill>
                  <a:srgbClr val="000000"/>
                </a:solidFill>
                <a:latin typeface="Montserrat Light"/>
              </a:rPr>
              <a:t>. </a:t>
            </a:r>
            <a:r>
              <a:rPr lang="fr-FR" sz="1400" i="1">
                <a:solidFill>
                  <a:srgbClr val="000000"/>
                </a:solidFill>
                <a:latin typeface="Montserrat Light"/>
              </a:rPr>
              <a:t>Cass. soc</a:t>
            </a:r>
            <a:r>
              <a:rPr lang="fr-FR" sz="1400" b="0" i="1" u="none" strike="noStrike" baseline="0">
                <a:solidFill>
                  <a:srgbClr val="000000"/>
                </a:solidFill>
                <a:latin typeface="Montserrat Light"/>
              </a:rPr>
              <a:t>. </a:t>
            </a:r>
            <a:r>
              <a:rPr lang="fr-FR" sz="1400" i="1">
                <a:solidFill>
                  <a:srgbClr val="000000"/>
                </a:solidFill>
                <a:latin typeface="Montserrat Light"/>
              </a:rPr>
              <a:t>7 janvier 2026</a:t>
            </a:r>
            <a:r>
              <a:rPr lang="fr-FR" sz="1400" b="0" i="1" u="none" strike="noStrike" baseline="0">
                <a:solidFill>
                  <a:srgbClr val="000000"/>
                </a:solidFill>
                <a:latin typeface="Montserrat Light"/>
              </a:rPr>
              <a:t>, n°</a:t>
            </a:r>
            <a:r>
              <a:rPr lang="fr-FR" sz="1400" i="1">
                <a:solidFill>
                  <a:srgbClr val="000000"/>
                </a:solidFill>
                <a:latin typeface="Montserrat Light"/>
              </a:rPr>
              <a:t> </a:t>
            </a:r>
            <a:r>
              <a:rPr lang="fr-FR" sz="1400" i="1">
                <a:solidFill>
                  <a:srgbClr val="000000"/>
                </a:solidFill>
                <a:latin typeface="Montserrat Light"/>
                <a:hlinkClick r:id="rId3">
                  <a:extLst>
                    <a:ext uri="{A12FA001-AC4F-418D-AE19-62706E023703}">
                      <ahyp:hlinkClr xmlns:ahyp="http://schemas.microsoft.com/office/drawing/2018/hyperlinkcolor" val="tx"/>
                    </a:ext>
                  </a:extLst>
                </a:hlinkClick>
              </a:rPr>
              <a:t>24-10984</a:t>
            </a:r>
            <a:r>
              <a:rPr lang="fr-FR" sz="1400" i="1">
                <a:solidFill>
                  <a:srgbClr val="000000"/>
                </a:solidFill>
                <a:latin typeface="Montserrat Light"/>
              </a:rPr>
              <a:t> FD</a:t>
            </a:r>
            <a:endParaRPr lang="fr-FR" sz="1400">
              <a:solidFill>
                <a:srgbClr val="000000"/>
              </a:solidFill>
              <a:latin typeface="Montserrat Light"/>
            </a:endParaRPr>
          </a:p>
          <a:p>
            <a:endParaRPr lang="fr-FR" sz="1400" i="1">
              <a:latin typeface="Montserrat Light"/>
            </a:endParaRPr>
          </a:p>
          <a:p>
            <a:pPr algn="ctr"/>
            <a:endParaRPr lang="fr-FR"/>
          </a:p>
        </p:txBody>
      </p:sp>
      <p:sp>
        <p:nvSpPr>
          <p:cNvPr id="2" name="Ellipse 1">
            <a:extLst>
              <a:ext uri="{FF2B5EF4-FFF2-40B4-BE49-F238E27FC236}">
                <a16:creationId xmlns:a16="http://schemas.microsoft.com/office/drawing/2014/main" id="{CB75B50C-9017-5BF9-16EA-E1DEDE28CBBE}"/>
              </a:ext>
            </a:extLst>
          </p:cNvPr>
          <p:cNvSpPr/>
          <p:nvPr/>
        </p:nvSpPr>
        <p:spPr>
          <a:xfrm>
            <a:off x="9132795" y="4056528"/>
            <a:ext cx="2308411" cy="196102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err="1">
                <a:solidFill>
                  <a:srgbClr val="E4003A"/>
                </a:solidFill>
                <a:latin typeface="Montserrat"/>
              </a:rPr>
              <a:t>L’arrêt</a:t>
            </a:r>
            <a:r>
              <a:rPr lang="en-US" sz="1400" b="1">
                <a:solidFill>
                  <a:srgbClr val="E4003A"/>
                </a:solidFill>
                <a:latin typeface="Montserrat"/>
              </a:rPr>
              <a:t> </a:t>
            </a:r>
            <a:r>
              <a:rPr lang="en-US" sz="1400" b="1" err="1">
                <a:solidFill>
                  <a:srgbClr val="E4003A"/>
                </a:solidFill>
                <a:latin typeface="Montserrat"/>
              </a:rPr>
              <a:t>sécurise</a:t>
            </a:r>
            <a:r>
              <a:rPr lang="en-US" sz="1400" b="1">
                <a:solidFill>
                  <a:srgbClr val="E4003A"/>
                </a:solidFill>
                <a:latin typeface="Montserrat"/>
              </a:rPr>
              <a:t> les </a:t>
            </a:r>
            <a:r>
              <a:rPr lang="en-US" sz="1400" b="1" err="1">
                <a:solidFill>
                  <a:srgbClr val="E4003A"/>
                </a:solidFill>
                <a:latin typeface="Montserrat"/>
              </a:rPr>
              <a:t>employeurs</a:t>
            </a:r>
            <a:r>
              <a:rPr lang="en-US" sz="1400" b="1">
                <a:solidFill>
                  <a:srgbClr val="E4003A"/>
                </a:solidFill>
                <a:latin typeface="Montserrat"/>
              </a:rPr>
              <a:t> qui </a:t>
            </a:r>
            <a:r>
              <a:rPr lang="en-US" sz="1400" b="1" err="1">
                <a:solidFill>
                  <a:srgbClr val="E4003A"/>
                </a:solidFill>
                <a:latin typeface="Montserrat"/>
              </a:rPr>
              <a:t>organisent</a:t>
            </a:r>
            <a:r>
              <a:rPr lang="en-US" sz="1400" b="1">
                <a:solidFill>
                  <a:srgbClr val="E4003A"/>
                </a:solidFill>
                <a:latin typeface="Montserrat"/>
              </a:rPr>
              <a:t> le </a:t>
            </a:r>
            <a:r>
              <a:rPr lang="en-US" sz="1400" b="1" err="1">
                <a:solidFill>
                  <a:srgbClr val="E4003A"/>
                </a:solidFill>
                <a:latin typeface="Montserrat"/>
              </a:rPr>
              <a:t>contrôle</a:t>
            </a:r>
            <a:r>
              <a:rPr lang="en-US" sz="1400" b="1">
                <a:solidFill>
                  <a:srgbClr val="E4003A"/>
                </a:solidFill>
                <a:latin typeface="Montserrat"/>
              </a:rPr>
              <a:t> du temps de travail</a:t>
            </a:r>
            <a:endParaRPr lang="fr-FR" sz="1400" b="1">
              <a:solidFill>
                <a:srgbClr val="E4003A"/>
              </a:solidFill>
              <a:latin typeface="Montserrat"/>
            </a:endParaRPr>
          </a:p>
        </p:txBody>
      </p:sp>
    </p:spTree>
    <p:extLst>
      <p:ext uri="{BB962C8B-B14F-4D97-AF65-F5344CB8AC3E}">
        <p14:creationId xmlns:p14="http://schemas.microsoft.com/office/powerpoint/2010/main" val="30758289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B1888-83FC-508E-8329-6F269F4829F9}"/>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0E133763-5546-8EED-A38A-824FE02109BB}"/>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36AD6633-C591-CC89-A055-3488FE828B06}"/>
              </a:ext>
            </a:extLst>
          </p:cNvPr>
          <p:cNvSpPr txBox="1"/>
          <p:nvPr/>
        </p:nvSpPr>
        <p:spPr>
          <a:xfrm>
            <a:off x="508742" y="1577238"/>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a:rPr>
              <a:t>Heures supplémentaires non autorisées = heures supplémentaires quand même !</a:t>
            </a:r>
          </a:p>
          <a:p>
            <a:endParaRPr lang="fr-FR" b="1" u="sng">
              <a:solidFill>
                <a:srgbClr val="6ABEB8"/>
              </a:solidFill>
              <a:latin typeface="Montserrat" pitchFamily="2" charset="0"/>
            </a:endParaRPr>
          </a:p>
        </p:txBody>
      </p:sp>
      <p:sp>
        <p:nvSpPr>
          <p:cNvPr id="5" name="ZoneTexte 4">
            <a:extLst>
              <a:ext uri="{FF2B5EF4-FFF2-40B4-BE49-F238E27FC236}">
                <a16:creationId xmlns:a16="http://schemas.microsoft.com/office/drawing/2014/main" id="{F48E906C-B0EE-FE4B-7178-2E4E15EC8C3F}"/>
              </a:ext>
            </a:extLst>
          </p:cNvPr>
          <p:cNvSpPr txBox="1"/>
          <p:nvPr/>
        </p:nvSpPr>
        <p:spPr>
          <a:xfrm>
            <a:off x="508742" y="2101945"/>
            <a:ext cx="11424179" cy="1569660"/>
          </a:xfrm>
          <a:prstGeom prst="rect">
            <a:avLst/>
          </a:prstGeom>
          <a:noFill/>
        </p:spPr>
        <p:txBody>
          <a:bodyPr wrap="square" lIns="91440" tIns="45720" rIns="91440" bIns="45720" anchor="t">
            <a:spAutoFit/>
          </a:bodyPr>
          <a:lstStyle/>
          <a:p>
            <a:r>
              <a:rPr lang="fr-FR" sz="1400" i="1">
                <a:latin typeface="Montserrat Light"/>
                <a:ea typeface="+mn-lt"/>
                <a:cs typeface="+mn-lt"/>
              </a:rPr>
              <a:t>Cass. soc. 20 mai 2026, n° 25-109843</a:t>
            </a:r>
          </a:p>
          <a:p>
            <a:pPr lvl="0" algn="just"/>
            <a:endParaRPr lang="fr-FR" sz="1600" i="1">
              <a:latin typeface="Montserrat Light" panose="00000400000000000000" pitchFamily="2" charset="0"/>
              <a:ea typeface="Calibri"/>
              <a:cs typeface="Calibri"/>
            </a:endParaRPr>
          </a:p>
          <a:p>
            <a:pPr algn="just"/>
            <a:endParaRPr lang="fr-FR" sz="1600">
              <a:solidFill>
                <a:srgbClr val="000000"/>
              </a:solidFill>
              <a:highlight>
                <a:srgbClr val="FFFF00"/>
              </a:highlight>
              <a:latin typeface="Montserrat Light"/>
            </a:endParaRPr>
          </a:p>
          <a:p>
            <a:endParaRPr lang="fr-FR" sz="1600">
              <a:solidFill>
                <a:srgbClr val="000000"/>
              </a:solidFill>
              <a:latin typeface="Montserrat Light" panose="00000400000000000000" pitchFamily="2" charset="0"/>
              <a:ea typeface="Calibri" panose="020F0502020204030204"/>
              <a:cs typeface="Calibri" panose="020F0502020204030204"/>
            </a:endParaRPr>
          </a:p>
          <a:p>
            <a:pPr algn="just"/>
            <a:endParaRPr lang="en-US" sz="1600">
              <a:solidFill>
                <a:srgbClr val="000000"/>
              </a:solidFill>
              <a:latin typeface="Montserrat Light" panose="00000400000000000000" pitchFamily="2" charset="0"/>
              <a:ea typeface="Calibri" panose="020F0502020204030204"/>
              <a:cs typeface="Calibri" panose="020F0502020204030204"/>
            </a:endParaRPr>
          </a:p>
          <a:p>
            <a:pPr algn="just"/>
            <a:endParaRPr lang="fr-FR"/>
          </a:p>
        </p:txBody>
      </p:sp>
      <p:sp>
        <p:nvSpPr>
          <p:cNvPr id="10" name="Flèche : droite 9">
            <a:extLst>
              <a:ext uri="{FF2B5EF4-FFF2-40B4-BE49-F238E27FC236}">
                <a16:creationId xmlns:a16="http://schemas.microsoft.com/office/drawing/2014/main" id="{6D1247CA-1922-7A30-944F-982ECCB91D3D}"/>
              </a:ext>
            </a:extLst>
          </p:cNvPr>
          <p:cNvSpPr/>
          <p:nvPr/>
        </p:nvSpPr>
        <p:spPr>
          <a:xfrm>
            <a:off x="4846890" y="3796676"/>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4" name="Image 13" descr="Heures supplémentaires : n'oubliez pas la charge de la preuve ! - UNSA">
            <a:extLst>
              <a:ext uri="{FF2B5EF4-FFF2-40B4-BE49-F238E27FC236}">
                <a16:creationId xmlns:a16="http://schemas.microsoft.com/office/drawing/2014/main" id="{DE3E2FFF-C492-AEEE-4FC8-ACD3E57CFEE6}"/>
              </a:ext>
            </a:extLst>
          </p:cNvPr>
          <p:cNvPicPr>
            <a:picLocks noChangeAspect="1"/>
          </p:cNvPicPr>
          <p:nvPr/>
        </p:nvPicPr>
        <p:blipFill>
          <a:blip r:embed="rId3"/>
          <a:stretch>
            <a:fillRect/>
          </a:stretch>
        </p:blipFill>
        <p:spPr>
          <a:xfrm>
            <a:off x="2517649" y="3400614"/>
            <a:ext cx="1296287" cy="111221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Encre 5">
                <a:extLst>
                  <a:ext uri="{FF2B5EF4-FFF2-40B4-BE49-F238E27FC236}">
                    <a16:creationId xmlns:a16="http://schemas.microsoft.com/office/drawing/2014/main" id="{6913D8E9-963B-7780-EF84-3C5CD839CC59}"/>
                  </a:ext>
                </a:extLst>
              </p14:cNvPr>
              <p14:cNvContentPartPr/>
              <p14:nvPr/>
            </p14:nvContentPartPr>
            <p14:xfrm>
              <a:off x="1866900" y="3792269"/>
              <a:ext cx="12700" cy="12700"/>
            </p14:xfrm>
          </p:contentPart>
        </mc:Choice>
        <mc:Fallback xmlns="">
          <p:pic>
            <p:nvPicPr>
              <p:cNvPr id="6" name="Encre 5">
                <a:extLst>
                  <a:ext uri="{FF2B5EF4-FFF2-40B4-BE49-F238E27FC236}">
                    <a16:creationId xmlns:a16="http://schemas.microsoft.com/office/drawing/2014/main" id="{6913D8E9-963B-7780-EF84-3C5CD839CC59}"/>
                  </a:ext>
                </a:extLst>
              </p:cNvPr>
              <p:cNvPicPr/>
              <p:nvPr/>
            </p:nvPicPr>
            <p:blipFill>
              <a:blip r:embed="rId5"/>
              <a:stretch>
                <a:fillRect/>
              </a:stretch>
            </p:blipFill>
            <p:spPr>
              <a:xfrm>
                <a:off x="1231900" y="3746912"/>
                <a:ext cx="1270000" cy="102507"/>
              </a:xfrm>
              <a:prstGeom prst="rect">
                <a:avLst/>
              </a:prstGeom>
            </p:spPr>
          </p:pic>
        </mc:Fallback>
      </mc:AlternateContent>
      <p:pic>
        <p:nvPicPr>
          <p:cNvPr id="7" name="Image 6" descr="cuisine, homme, vecteur, dessin animé 19483293 Art vectoriel chez Vecteezy">
            <a:extLst>
              <a:ext uri="{FF2B5EF4-FFF2-40B4-BE49-F238E27FC236}">
                <a16:creationId xmlns:a16="http://schemas.microsoft.com/office/drawing/2014/main" id="{767BEDEE-D375-C1D6-EFBF-9255129EE1B2}"/>
              </a:ext>
            </a:extLst>
          </p:cNvPr>
          <p:cNvPicPr>
            <a:picLocks noChangeAspect="1"/>
          </p:cNvPicPr>
          <p:nvPr/>
        </p:nvPicPr>
        <p:blipFill>
          <a:blip r:embed="rId6"/>
          <a:stretch>
            <a:fillRect/>
          </a:stretch>
        </p:blipFill>
        <p:spPr>
          <a:xfrm>
            <a:off x="257507" y="2880205"/>
            <a:ext cx="2355776" cy="2311474"/>
          </a:xfrm>
          <a:prstGeom prst="rect">
            <a:avLst/>
          </a:prstGeom>
        </p:spPr>
      </p:pic>
      <p:pic>
        <p:nvPicPr>
          <p:cNvPr id="8" name="Image 7" descr="Une image contenant texte, Police, écriture manuscrite, reçu&#10;&#10;Le contenu généré par l’IA peut être incorrect.">
            <a:extLst>
              <a:ext uri="{FF2B5EF4-FFF2-40B4-BE49-F238E27FC236}">
                <a16:creationId xmlns:a16="http://schemas.microsoft.com/office/drawing/2014/main" id="{0F5315ED-84AB-B0C5-580C-F38CB4E9BB02}"/>
              </a:ext>
            </a:extLst>
          </p:cNvPr>
          <p:cNvPicPr>
            <a:picLocks noChangeAspect="1"/>
          </p:cNvPicPr>
          <p:nvPr/>
        </p:nvPicPr>
        <p:blipFill>
          <a:blip r:embed="rId7"/>
          <a:stretch>
            <a:fillRect/>
          </a:stretch>
        </p:blipFill>
        <p:spPr>
          <a:xfrm>
            <a:off x="6702322" y="3132938"/>
            <a:ext cx="1178225" cy="1373577"/>
          </a:xfrm>
          <a:prstGeom prst="rect">
            <a:avLst/>
          </a:prstGeom>
        </p:spPr>
      </p:pic>
    </p:spTree>
    <p:extLst>
      <p:ext uri="{BB962C8B-B14F-4D97-AF65-F5344CB8AC3E}">
        <p14:creationId xmlns:p14="http://schemas.microsoft.com/office/powerpoint/2010/main" val="16616324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FC109-9E43-7898-BDDB-37D22502A705}"/>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D020E6E0-5E36-6223-0BDE-5EF9879DD2EF}"/>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546FA4EA-B132-B42E-55BC-020D31816C42}"/>
              </a:ext>
            </a:extLst>
          </p:cNvPr>
          <p:cNvSpPr txBox="1"/>
          <p:nvPr/>
        </p:nvSpPr>
        <p:spPr>
          <a:xfrm>
            <a:off x="508742" y="1577238"/>
            <a:ext cx="10808303" cy="923330"/>
          </a:xfrm>
          <a:prstGeom prst="rect">
            <a:avLst/>
          </a:prstGeom>
          <a:noFill/>
        </p:spPr>
        <p:txBody>
          <a:bodyPr wrap="square" lIns="91440" tIns="45720" rIns="91440" bIns="45720" rtlCol="0" anchor="t">
            <a:spAutoFit/>
          </a:bodyPr>
          <a:lstStyle/>
          <a:p>
            <a:r>
              <a:rPr lang="fr-FR" b="1">
                <a:solidFill>
                  <a:srgbClr val="E4003A"/>
                </a:solidFill>
                <a:latin typeface="Montserrat"/>
              </a:rPr>
              <a:t>Heures supplémentaires non autorisées = heures supplémentaires quand même !</a:t>
            </a:r>
            <a:endParaRPr lang="fr-FR">
              <a:solidFill>
                <a:srgbClr val="000000"/>
              </a:solidFill>
              <a:latin typeface="Montserrat"/>
            </a:endParaRPr>
          </a:p>
          <a:p>
            <a:endParaRPr lang="fr-FR" b="1">
              <a:solidFill>
                <a:srgbClr val="E4003A"/>
              </a:solidFill>
              <a:latin typeface="Montserrat" pitchFamily="2" charset="0"/>
            </a:endParaRPr>
          </a:p>
          <a:p>
            <a:endParaRPr lang="fr-FR" b="1" u="sng">
              <a:solidFill>
                <a:srgbClr val="6ABEB8"/>
              </a:solidFill>
              <a:latin typeface="Montserrat" pitchFamily="2" charset="0"/>
            </a:endParaRPr>
          </a:p>
        </p:txBody>
      </p:sp>
      <p:sp>
        <p:nvSpPr>
          <p:cNvPr id="5" name="ZoneTexte 4">
            <a:extLst>
              <a:ext uri="{FF2B5EF4-FFF2-40B4-BE49-F238E27FC236}">
                <a16:creationId xmlns:a16="http://schemas.microsoft.com/office/drawing/2014/main" id="{0DBA6149-5682-E50D-6B34-5BFFCEE03EE9}"/>
              </a:ext>
            </a:extLst>
          </p:cNvPr>
          <p:cNvSpPr txBox="1"/>
          <p:nvPr/>
        </p:nvSpPr>
        <p:spPr>
          <a:xfrm>
            <a:off x="508742" y="2101945"/>
            <a:ext cx="11424179" cy="1569660"/>
          </a:xfrm>
          <a:prstGeom prst="rect">
            <a:avLst/>
          </a:prstGeom>
          <a:noFill/>
        </p:spPr>
        <p:txBody>
          <a:bodyPr wrap="square" lIns="91440" tIns="45720" rIns="91440" bIns="45720" anchor="t">
            <a:spAutoFit/>
          </a:bodyPr>
          <a:lstStyle/>
          <a:p>
            <a:r>
              <a:rPr lang="fr-FR" sz="1400" i="1">
                <a:latin typeface="Montserrat Light"/>
                <a:ea typeface="+mn-lt"/>
                <a:cs typeface="+mn-lt"/>
              </a:rPr>
              <a:t>Cour Cass. soc. 7 janvier 2026, n° </a:t>
            </a:r>
            <a:r>
              <a:rPr lang="fr-FR" sz="1400" i="1">
                <a:latin typeface="Montserrat Light"/>
                <a:ea typeface="+mn-lt"/>
                <a:cs typeface="+mn-lt"/>
                <a:hlinkClick r:id="rId3">
                  <a:extLst>
                    <a:ext uri="{A12FA001-AC4F-418D-AE19-62706E023703}">
                      <ahyp:hlinkClr xmlns:ahyp="http://schemas.microsoft.com/office/drawing/2018/hyperlinkcolor" val="tx"/>
                    </a:ext>
                  </a:extLst>
                </a:hlinkClick>
              </a:rPr>
              <a:t>24-10984</a:t>
            </a:r>
            <a:r>
              <a:rPr lang="fr-FR" sz="1400" i="1">
                <a:latin typeface="Montserrat Light"/>
                <a:ea typeface="+mn-lt"/>
                <a:cs typeface="+mn-lt"/>
              </a:rPr>
              <a:t> FD</a:t>
            </a:r>
          </a:p>
          <a:p>
            <a:pPr lvl="0" algn="just"/>
            <a:endParaRPr lang="fr-FR" sz="1600" i="1">
              <a:latin typeface="Montserrat Light" panose="00000400000000000000" pitchFamily="2" charset="0"/>
              <a:ea typeface="Calibri"/>
              <a:cs typeface="Calibri"/>
            </a:endParaRPr>
          </a:p>
          <a:p>
            <a:pPr algn="just"/>
            <a:endParaRPr lang="fr-FR" sz="1600">
              <a:solidFill>
                <a:srgbClr val="000000"/>
              </a:solidFill>
              <a:highlight>
                <a:srgbClr val="FFFF00"/>
              </a:highlight>
              <a:latin typeface="Montserrat Light"/>
            </a:endParaRPr>
          </a:p>
          <a:p>
            <a:endParaRPr lang="fr-FR" sz="1600">
              <a:solidFill>
                <a:srgbClr val="000000"/>
              </a:solidFill>
              <a:latin typeface="Montserrat Light" panose="00000400000000000000" pitchFamily="2" charset="0"/>
              <a:ea typeface="Calibri" panose="020F0502020204030204"/>
              <a:cs typeface="Calibri" panose="020F0502020204030204"/>
            </a:endParaRPr>
          </a:p>
          <a:p>
            <a:pPr algn="just"/>
            <a:endParaRPr lang="en-US" sz="1600">
              <a:solidFill>
                <a:srgbClr val="000000"/>
              </a:solidFill>
              <a:latin typeface="Montserrat Light" panose="00000400000000000000" pitchFamily="2" charset="0"/>
              <a:ea typeface="Calibri" panose="020F0502020204030204"/>
              <a:cs typeface="Calibri" panose="020F0502020204030204"/>
            </a:endParaRPr>
          </a:p>
          <a:p>
            <a:pPr algn="just"/>
            <a:endParaRPr lang="fr-FR"/>
          </a:p>
        </p:txBody>
      </p:sp>
      <p:sp>
        <p:nvSpPr>
          <p:cNvPr id="9" name="Flèche : droite 8">
            <a:extLst>
              <a:ext uri="{FF2B5EF4-FFF2-40B4-BE49-F238E27FC236}">
                <a16:creationId xmlns:a16="http://schemas.microsoft.com/office/drawing/2014/main" id="{AD106988-D371-C3DD-F089-A30A9849CC2D}"/>
              </a:ext>
            </a:extLst>
          </p:cNvPr>
          <p:cNvSpPr/>
          <p:nvPr/>
        </p:nvSpPr>
        <p:spPr>
          <a:xfrm>
            <a:off x="4633945" y="3670184"/>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descr="Bureau Souriant Dessin De Travail Homme Homme Homme Homme Homme Personne  Debout Les Mains Sur Les Hanches En Costume De Travail En Illustration  Stock - Illustration du drôle, tête: 340308798">
            <a:extLst>
              <a:ext uri="{FF2B5EF4-FFF2-40B4-BE49-F238E27FC236}">
                <a16:creationId xmlns:a16="http://schemas.microsoft.com/office/drawing/2014/main" id="{B4E081E7-61C5-E99B-3413-EBFE231D679C}"/>
              </a:ext>
            </a:extLst>
          </p:cNvPr>
          <p:cNvPicPr>
            <a:picLocks noChangeAspect="1"/>
          </p:cNvPicPr>
          <p:nvPr/>
        </p:nvPicPr>
        <p:blipFill>
          <a:blip r:embed="rId4"/>
          <a:stretch>
            <a:fillRect/>
          </a:stretch>
        </p:blipFill>
        <p:spPr>
          <a:xfrm>
            <a:off x="1930400" y="2559050"/>
            <a:ext cx="1600200" cy="2857500"/>
          </a:xfrm>
          <a:prstGeom prst="rect">
            <a:avLst/>
          </a:prstGeom>
        </p:spPr>
      </p:pic>
      <p:pic>
        <p:nvPicPr>
          <p:cNvPr id="10" name="Image 9" descr="cuisine, homme, vecteur, dessin animé 19483293 Art vectoriel chez Vecteezy">
            <a:extLst>
              <a:ext uri="{FF2B5EF4-FFF2-40B4-BE49-F238E27FC236}">
                <a16:creationId xmlns:a16="http://schemas.microsoft.com/office/drawing/2014/main" id="{C9E35375-C79F-25C8-D05D-CCC70DF4D772}"/>
              </a:ext>
            </a:extLst>
          </p:cNvPr>
          <p:cNvPicPr>
            <a:picLocks noChangeAspect="1"/>
          </p:cNvPicPr>
          <p:nvPr/>
        </p:nvPicPr>
        <p:blipFill>
          <a:blip r:embed="rId5"/>
          <a:stretch>
            <a:fillRect/>
          </a:stretch>
        </p:blipFill>
        <p:spPr>
          <a:xfrm>
            <a:off x="7926761" y="2648791"/>
            <a:ext cx="2412066" cy="2468095"/>
          </a:xfrm>
          <a:prstGeom prst="rect">
            <a:avLst/>
          </a:prstGeom>
        </p:spPr>
      </p:pic>
      <p:pic>
        <p:nvPicPr>
          <p:cNvPr id="11" name="Image 10" descr="Images sur Dessin heure : Téléchargement gratuit sur Magnific (anciennement  Freepik)">
            <a:extLst>
              <a:ext uri="{FF2B5EF4-FFF2-40B4-BE49-F238E27FC236}">
                <a16:creationId xmlns:a16="http://schemas.microsoft.com/office/drawing/2014/main" id="{A6571673-54B1-75EA-DDB3-F5FAC209FA5B}"/>
              </a:ext>
            </a:extLst>
          </p:cNvPr>
          <p:cNvPicPr>
            <a:picLocks noChangeAspect="1"/>
          </p:cNvPicPr>
          <p:nvPr/>
        </p:nvPicPr>
        <p:blipFill>
          <a:blip r:embed="rId6"/>
          <a:stretch>
            <a:fillRect/>
          </a:stretch>
        </p:blipFill>
        <p:spPr>
          <a:xfrm>
            <a:off x="9979119" y="3884519"/>
            <a:ext cx="907117" cy="893109"/>
          </a:xfrm>
          <a:prstGeom prst="rect">
            <a:avLst/>
          </a:prstGeom>
        </p:spPr>
      </p:pic>
      <mc:AlternateContent xmlns:mc="http://schemas.openxmlformats.org/markup-compatibility/2006" xmlns:p14="http://schemas.microsoft.com/office/powerpoint/2010/main">
        <mc:Choice Requires="p14">
          <p:contentPart p14:bwMode="auto" r:id="rId7">
            <p14:nvContentPartPr>
              <p14:cNvPr id="21" name="Encre 20">
                <a:extLst>
                  <a:ext uri="{FF2B5EF4-FFF2-40B4-BE49-F238E27FC236}">
                    <a16:creationId xmlns:a16="http://schemas.microsoft.com/office/drawing/2014/main" id="{7620E3F6-6B1C-705C-5903-856844D1B848}"/>
                  </a:ext>
                </a:extLst>
              </p14:cNvPr>
              <p14:cNvContentPartPr/>
              <p14:nvPr/>
            </p14:nvContentPartPr>
            <p14:xfrm>
              <a:off x="3496235" y="7144914"/>
              <a:ext cx="11205" cy="11205"/>
            </p14:xfrm>
          </p:contentPart>
        </mc:Choice>
        <mc:Fallback xmlns="">
          <p:pic>
            <p:nvPicPr>
              <p:cNvPr id="21" name="Encre 20">
                <a:extLst>
                  <a:ext uri="{FF2B5EF4-FFF2-40B4-BE49-F238E27FC236}">
                    <a16:creationId xmlns:a16="http://schemas.microsoft.com/office/drawing/2014/main" id="{7620E3F6-6B1C-705C-5903-856844D1B848}"/>
                  </a:ext>
                </a:extLst>
              </p:cNvPr>
              <p:cNvPicPr/>
              <p:nvPr/>
            </p:nvPicPr>
            <p:blipFill>
              <a:blip r:embed="rId8"/>
              <a:stretch>
                <a:fillRect/>
              </a:stretch>
            </p:blipFill>
            <p:spPr>
              <a:xfrm>
                <a:off x="3468222" y="7104896"/>
                <a:ext cx="66670" cy="90440"/>
              </a:xfrm>
              <a:prstGeom prst="rect">
                <a:avLst/>
              </a:prstGeom>
            </p:spPr>
          </p:pic>
        </mc:Fallback>
      </mc:AlternateContent>
      <p:sp>
        <p:nvSpPr>
          <p:cNvPr id="6" name="Multiplication Sign 5">
            <a:extLst>
              <a:ext uri="{FF2B5EF4-FFF2-40B4-BE49-F238E27FC236}">
                <a16:creationId xmlns:a16="http://schemas.microsoft.com/office/drawing/2014/main" id="{E4A2C536-AD0B-5EC8-F9D1-D0244AD213C7}"/>
              </a:ext>
            </a:extLst>
          </p:cNvPr>
          <p:cNvSpPr/>
          <p:nvPr/>
        </p:nvSpPr>
        <p:spPr>
          <a:xfrm>
            <a:off x="10175174" y="3881912"/>
            <a:ext cx="453901" cy="870197"/>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3471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9497F-4C25-076B-9999-819F966A1AED}"/>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7FB3BBA9-BEB8-5F56-6B8E-B0B3CEA8BFF0}"/>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ACTUALITE JURISPRUDENTIELLE</a:t>
            </a:r>
            <a:endParaRPr lang="fr-FR"/>
          </a:p>
        </p:txBody>
      </p:sp>
      <p:sp>
        <p:nvSpPr>
          <p:cNvPr id="5" name="ZoneTexte 4">
            <a:extLst>
              <a:ext uri="{FF2B5EF4-FFF2-40B4-BE49-F238E27FC236}">
                <a16:creationId xmlns:a16="http://schemas.microsoft.com/office/drawing/2014/main" id="{D86A2281-C4A3-D3D3-D5B9-57D71C499E19}"/>
              </a:ext>
            </a:extLst>
          </p:cNvPr>
          <p:cNvSpPr txBox="1"/>
          <p:nvPr/>
        </p:nvSpPr>
        <p:spPr>
          <a:xfrm>
            <a:off x="540534" y="2695380"/>
            <a:ext cx="11418822" cy="3323987"/>
          </a:xfrm>
          <a:prstGeom prst="rect">
            <a:avLst/>
          </a:prstGeom>
          <a:noFill/>
        </p:spPr>
        <p:txBody>
          <a:bodyPr wrap="square" lIns="91440" tIns="45720" rIns="91440" bIns="45720" anchor="t">
            <a:spAutoFit/>
          </a:bodyPr>
          <a:lstStyle/>
          <a:p>
            <a:pPr algn="just"/>
            <a:endParaRPr lang="fr-FR" sz="1600">
              <a:solidFill>
                <a:srgbClr val="000000"/>
              </a:solidFill>
              <a:latin typeface="Montserrat Light" panose="00000400000000000000" pitchFamily="2" charset="0"/>
            </a:endParaRPr>
          </a:p>
          <a:p>
            <a:pPr algn="just"/>
            <a:endParaRPr lang="fr-FR" sz="1600">
              <a:latin typeface="Montserrat Light"/>
            </a:endParaRPr>
          </a:p>
          <a:p>
            <a:pPr algn="just"/>
            <a:r>
              <a:rPr lang="fr-FR"/>
              <a:t>📌</a:t>
            </a:r>
            <a:r>
              <a:rPr lang="fr-FR" sz="1600" b="1" u="sng">
                <a:solidFill>
                  <a:srgbClr val="68BBB4"/>
                </a:solidFill>
                <a:latin typeface="Montserrat Light"/>
              </a:rPr>
              <a:t> La solution </a:t>
            </a:r>
          </a:p>
          <a:p>
            <a:pPr algn="just"/>
            <a:r>
              <a:rPr lang="fr-FR" sz="1600">
                <a:solidFill>
                  <a:srgbClr val="000000"/>
                </a:solidFill>
                <a:latin typeface="Montserrat Light"/>
              </a:rPr>
              <a:t>La Cour de cassation admet les HS ici :</a:t>
            </a:r>
            <a:endParaRPr lang="fr-FR"/>
          </a:p>
          <a:p>
            <a:pPr marL="285750" indent="-285750" algn="just">
              <a:buFont typeface="Calibri"/>
              <a:buChar char="-"/>
            </a:pPr>
            <a:r>
              <a:rPr lang="fr-FR" sz="1600">
                <a:solidFill>
                  <a:srgbClr val="000000"/>
                </a:solidFill>
                <a:latin typeface="Montserrat Light"/>
              </a:rPr>
              <a:t>Un salarié peut être payé pour des HS réalisées sans autorisation préalable, si elles étaient </a:t>
            </a:r>
            <a:r>
              <a:rPr lang="fr-FR" sz="1600" b="1">
                <a:solidFill>
                  <a:srgbClr val="000000"/>
                </a:solidFill>
                <a:latin typeface="Montserrat Light"/>
              </a:rPr>
              <a:t>nécessaires pour accomplir ses missions. </a:t>
            </a:r>
            <a:endParaRPr lang="fr-FR" b="1">
              <a:ea typeface="Calibri"/>
              <a:cs typeface="Calibri"/>
            </a:endParaRPr>
          </a:p>
          <a:p>
            <a:pPr algn="just"/>
            <a:endParaRPr lang="fr-FR" sz="1600">
              <a:solidFill>
                <a:srgbClr val="000000"/>
              </a:solidFill>
              <a:latin typeface="Montserrat Light"/>
            </a:endParaRPr>
          </a:p>
          <a:p>
            <a:pPr algn="just"/>
            <a:endParaRPr lang="fr-FR" sz="1600">
              <a:solidFill>
                <a:srgbClr val="000000"/>
              </a:solidFill>
              <a:latin typeface="Montserrat Light"/>
            </a:endParaRPr>
          </a:p>
          <a:p>
            <a:pPr algn="just"/>
            <a:r>
              <a:rPr lang="fr-FR" sz="1600" b="1" u="sng">
                <a:solidFill>
                  <a:srgbClr val="000000"/>
                </a:solidFill>
                <a:latin typeface="Montserrat Light"/>
              </a:rPr>
              <a:t>Portée juridique</a:t>
            </a:r>
            <a:endParaRPr lang="fr-FR"/>
          </a:p>
          <a:p>
            <a:pPr algn="just"/>
            <a:r>
              <a:rPr lang="fr-FR" sz="1600">
                <a:solidFill>
                  <a:srgbClr val="000000"/>
                </a:solidFill>
                <a:latin typeface="Montserrat Light"/>
              </a:rPr>
              <a:t>Si l'employeur ne veut pas payer des heures non prévues, il faut qu'il assure une charge de travail permettant de tenir dans le temps contractuel. </a:t>
            </a:r>
          </a:p>
          <a:p>
            <a:pPr algn="just"/>
            <a:endParaRPr lang="fr-FR" sz="1600">
              <a:solidFill>
                <a:srgbClr val="000000"/>
              </a:solidFill>
              <a:latin typeface="Montserrat Light"/>
            </a:endParaRPr>
          </a:p>
          <a:p>
            <a:endParaRPr lang="fr-FR" sz="1600">
              <a:solidFill>
                <a:srgbClr val="000000"/>
              </a:solidFill>
              <a:latin typeface="Montserrat Light"/>
            </a:endParaRPr>
          </a:p>
        </p:txBody>
      </p:sp>
      <p:sp>
        <p:nvSpPr>
          <p:cNvPr id="6" name="ZoneTexte 5">
            <a:extLst>
              <a:ext uri="{FF2B5EF4-FFF2-40B4-BE49-F238E27FC236}">
                <a16:creationId xmlns:a16="http://schemas.microsoft.com/office/drawing/2014/main" id="{799C8148-11D1-DD3E-CD44-9B1669354D83}"/>
              </a:ext>
            </a:extLst>
          </p:cNvPr>
          <p:cNvSpPr txBox="1"/>
          <p:nvPr/>
        </p:nvSpPr>
        <p:spPr>
          <a:xfrm>
            <a:off x="540535" y="1558837"/>
            <a:ext cx="10808303" cy="923330"/>
          </a:xfrm>
          <a:prstGeom prst="rect">
            <a:avLst/>
          </a:prstGeom>
          <a:noFill/>
        </p:spPr>
        <p:txBody>
          <a:bodyPr wrap="square" lIns="91440" tIns="45720" rIns="91440" bIns="45720" rtlCol="0" anchor="t">
            <a:spAutoFit/>
          </a:bodyPr>
          <a:lstStyle/>
          <a:p>
            <a:r>
              <a:rPr lang="fr-FR" b="1">
                <a:solidFill>
                  <a:srgbClr val="E4003A"/>
                </a:solidFill>
                <a:latin typeface="Montserrat"/>
              </a:rPr>
              <a:t>Heures supplémentaires non autorisées = heures supplémentaires quand même !</a:t>
            </a:r>
            <a:endParaRPr lang="fr-FR">
              <a:solidFill>
                <a:srgbClr val="000000"/>
              </a:solidFill>
              <a:latin typeface="Montserrat"/>
            </a:endParaRPr>
          </a:p>
          <a:p>
            <a:endParaRPr lang="fr-FR" b="1">
              <a:solidFill>
                <a:srgbClr val="E4003A"/>
              </a:solidFill>
              <a:latin typeface="Montserrat"/>
            </a:endParaRPr>
          </a:p>
          <a:p>
            <a:endParaRPr lang="fr-FR" b="1">
              <a:solidFill>
                <a:srgbClr val="E4003A"/>
              </a:solidFill>
              <a:latin typeface="Montserrat"/>
            </a:endParaRPr>
          </a:p>
        </p:txBody>
      </p:sp>
      <p:sp>
        <p:nvSpPr>
          <p:cNvPr id="7" name="ZoneTexte 6">
            <a:extLst>
              <a:ext uri="{FF2B5EF4-FFF2-40B4-BE49-F238E27FC236}">
                <a16:creationId xmlns:a16="http://schemas.microsoft.com/office/drawing/2014/main" id="{68D4475B-BFAA-530F-6901-95B14478940D}"/>
              </a:ext>
            </a:extLst>
          </p:cNvPr>
          <p:cNvSpPr txBox="1"/>
          <p:nvPr/>
        </p:nvSpPr>
        <p:spPr>
          <a:xfrm>
            <a:off x="540488" y="2003507"/>
            <a:ext cx="6096000" cy="8002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400" i="1">
                <a:solidFill>
                  <a:srgbClr val="000000"/>
                </a:solidFill>
                <a:latin typeface="Montserrat Light"/>
              </a:rPr>
              <a:t>Cour</a:t>
            </a:r>
            <a:r>
              <a:rPr lang="fr-FR" sz="1400" b="0" i="1" u="none" strike="noStrike" baseline="0">
                <a:solidFill>
                  <a:srgbClr val="000000"/>
                </a:solidFill>
                <a:latin typeface="Montserrat Light"/>
              </a:rPr>
              <a:t> </a:t>
            </a:r>
            <a:r>
              <a:rPr lang="fr-FR" sz="1400" i="1">
                <a:solidFill>
                  <a:srgbClr val="000000"/>
                </a:solidFill>
                <a:latin typeface="Montserrat Light"/>
              </a:rPr>
              <a:t>Cass. soc</a:t>
            </a:r>
            <a:r>
              <a:rPr lang="fr-FR" sz="1400" b="0" i="1" u="none" strike="noStrike" baseline="0">
                <a:solidFill>
                  <a:srgbClr val="000000"/>
                </a:solidFill>
                <a:latin typeface="Montserrat Light"/>
              </a:rPr>
              <a:t>. </a:t>
            </a:r>
            <a:r>
              <a:rPr lang="fr-FR" sz="1400" i="1">
                <a:solidFill>
                  <a:srgbClr val="000000"/>
                </a:solidFill>
                <a:latin typeface="Montserrat Light"/>
              </a:rPr>
              <a:t>7 janvier 2026</a:t>
            </a:r>
            <a:r>
              <a:rPr lang="fr-FR" sz="1400" b="0" i="1" u="none" strike="noStrike" baseline="0">
                <a:solidFill>
                  <a:srgbClr val="000000"/>
                </a:solidFill>
                <a:latin typeface="Montserrat Light"/>
              </a:rPr>
              <a:t>, n°</a:t>
            </a:r>
            <a:r>
              <a:rPr lang="fr-FR" sz="1400" i="1">
                <a:solidFill>
                  <a:srgbClr val="000000"/>
                </a:solidFill>
                <a:latin typeface="Montserrat Light"/>
              </a:rPr>
              <a:t> </a:t>
            </a:r>
            <a:r>
              <a:rPr lang="fr-FR" sz="1400" i="1">
                <a:solidFill>
                  <a:srgbClr val="000000"/>
                </a:solidFill>
                <a:latin typeface="Montserrat Light"/>
                <a:hlinkClick r:id="rId3">
                  <a:extLst>
                    <a:ext uri="{A12FA001-AC4F-418D-AE19-62706E023703}">
                      <ahyp:hlinkClr xmlns:ahyp="http://schemas.microsoft.com/office/drawing/2018/hyperlinkcolor" val="tx"/>
                    </a:ext>
                  </a:extLst>
                </a:hlinkClick>
              </a:rPr>
              <a:t>24-10984</a:t>
            </a:r>
            <a:r>
              <a:rPr lang="fr-FR" sz="1400" i="1">
                <a:solidFill>
                  <a:srgbClr val="000000"/>
                </a:solidFill>
                <a:latin typeface="Montserrat Light"/>
              </a:rPr>
              <a:t> FD</a:t>
            </a:r>
            <a:endParaRPr lang="fr-FR"/>
          </a:p>
          <a:p>
            <a:endParaRPr lang="fr-FR" sz="1400" i="1">
              <a:latin typeface="Montserrat Light"/>
            </a:endParaRPr>
          </a:p>
          <a:p>
            <a:pPr algn="ctr"/>
            <a:endParaRPr lang="fr-FR"/>
          </a:p>
        </p:txBody>
      </p:sp>
    </p:spTree>
    <p:extLst>
      <p:ext uri="{BB962C8B-B14F-4D97-AF65-F5344CB8AC3E}">
        <p14:creationId xmlns:p14="http://schemas.microsoft.com/office/powerpoint/2010/main" val="33131482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02526-2897-8FEF-777D-CF4A314311F6}"/>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E5B8143D-52E0-2380-3D5E-DFC777614D01}"/>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19E6FA57-97D7-5973-92EA-3A61C391AB46}"/>
              </a:ext>
            </a:extLst>
          </p:cNvPr>
          <p:cNvSpPr txBox="1"/>
          <p:nvPr/>
        </p:nvSpPr>
        <p:spPr>
          <a:xfrm>
            <a:off x="575977" y="1391168"/>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pitchFamily="2" charset="0"/>
              </a:rPr>
              <a:t>Est considéré comme du temps de travail effectif le trajet entre le vestiaire et la pointeuse</a:t>
            </a:r>
          </a:p>
        </p:txBody>
      </p:sp>
      <p:sp>
        <p:nvSpPr>
          <p:cNvPr id="5" name="ZoneTexte 4">
            <a:extLst>
              <a:ext uri="{FF2B5EF4-FFF2-40B4-BE49-F238E27FC236}">
                <a16:creationId xmlns:a16="http://schemas.microsoft.com/office/drawing/2014/main" id="{0976ADBD-4EA0-8785-E3D5-416554E0D0BD}"/>
              </a:ext>
            </a:extLst>
          </p:cNvPr>
          <p:cNvSpPr txBox="1"/>
          <p:nvPr/>
        </p:nvSpPr>
        <p:spPr>
          <a:xfrm>
            <a:off x="575977" y="2037499"/>
            <a:ext cx="11356944" cy="830997"/>
          </a:xfrm>
          <a:prstGeom prst="rect">
            <a:avLst/>
          </a:prstGeom>
          <a:noFill/>
        </p:spPr>
        <p:txBody>
          <a:bodyPr wrap="square" lIns="91440" tIns="45720" rIns="91440" bIns="45720" anchor="t">
            <a:spAutoFit/>
          </a:bodyPr>
          <a:lstStyle/>
          <a:p>
            <a:pPr algn="just"/>
            <a:r>
              <a:rPr lang="fr-FR" sz="1400" i="1">
                <a:latin typeface="Montserrat Light"/>
                <a:ea typeface="+mn-lt"/>
                <a:cs typeface="+mn-lt"/>
              </a:rPr>
              <a:t>Cass. Soc. 21 janvier 2026, n° 2420.847</a:t>
            </a:r>
            <a:endParaRPr lang="fr-FR" sz="1600" i="1">
              <a:latin typeface="Montserrat Light" panose="00000400000000000000" pitchFamily="2" charset="0"/>
              <a:ea typeface="Calibri"/>
              <a:cs typeface="Calibri"/>
            </a:endParaRPr>
          </a:p>
          <a:p>
            <a:pPr lvl="0" algn="just"/>
            <a:endParaRPr lang="fr-FR" sz="1600">
              <a:latin typeface="Montserrat Light" panose="00000400000000000000" pitchFamily="2" charset="0"/>
              <a:ea typeface="Calibri"/>
              <a:cs typeface="Calibri"/>
            </a:endParaRPr>
          </a:p>
          <a:p>
            <a:pPr algn="just"/>
            <a:endParaRPr lang="fr-FR"/>
          </a:p>
        </p:txBody>
      </p:sp>
      <p:pic>
        <p:nvPicPr>
          <p:cNvPr id="9" name="Image 8" descr="2 100+ Horloge Pointeuse Stock Illustrations, graphiques vectoriels libre  de droits et Clip Art - iStock | Horloge mécanique, Horlogerie, Cadran  d'horloge">
            <a:extLst>
              <a:ext uri="{FF2B5EF4-FFF2-40B4-BE49-F238E27FC236}">
                <a16:creationId xmlns:a16="http://schemas.microsoft.com/office/drawing/2014/main" id="{3D1881C3-5C51-A03B-743D-DA2E58F1894A}"/>
              </a:ext>
            </a:extLst>
          </p:cNvPr>
          <p:cNvPicPr>
            <a:picLocks noChangeAspect="1"/>
          </p:cNvPicPr>
          <p:nvPr/>
        </p:nvPicPr>
        <p:blipFill>
          <a:blip r:embed="rId3"/>
          <a:stretch>
            <a:fillRect/>
          </a:stretch>
        </p:blipFill>
        <p:spPr>
          <a:xfrm>
            <a:off x="9055433" y="2682876"/>
            <a:ext cx="1575413" cy="1311567"/>
          </a:xfrm>
          <a:prstGeom prst="rect">
            <a:avLst/>
          </a:prstGeom>
        </p:spPr>
      </p:pic>
      <p:pic>
        <p:nvPicPr>
          <p:cNvPr id="10" name="Image 9" descr="Boutique Assistant Set De Dessin Animé Rétro Avec Vendeur Et Clients Isolé  Illustration Vectorielle Clip Art Libres De Droits, Svg, Vecteurs Et  Illustration. Image 55977032">
            <a:extLst>
              <a:ext uri="{FF2B5EF4-FFF2-40B4-BE49-F238E27FC236}">
                <a16:creationId xmlns:a16="http://schemas.microsoft.com/office/drawing/2014/main" id="{5569EEC4-3054-12B9-FA83-ED6D296CAD9C}"/>
              </a:ext>
            </a:extLst>
          </p:cNvPr>
          <p:cNvPicPr>
            <a:picLocks noChangeAspect="1"/>
          </p:cNvPicPr>
          <p:nvPr/>
        </p:nvPicPr>
        <p:blipFill>
          <a:blip r:embed="rId4"/>
          <a:stretch>
            <a:fillRect/>
          </a:stretch>
        </p:blipFill>
        <p:spPr>
          <a:xfrm>
            <a:off x="4052404" y="2464244"/>
            <a:ext cx="3031503" cy="2805659"/>
          </a:xfrm>
          <a:prstGeom prst="rect">
            <a:avLst/>
          </a:prstGeom>
        </p:spPr>
      </p:pic>
      <p:sp>
        <p:nvSpPr>
          <p:cNvPr id="12" name="Flèche : droite 11">
            <a:extLst>
              <a:ext uri="{FF2B5EF4-FFF2-40B4-BE49-F238E27FC236}">
                <a16:creationId xmlns:a16="http://schemas.microsoft.com/office/drawing/2014/main" id="{3B546F63-251A-6C9B-4141-944CA3C5FC47}"/>
              </a:ext>
            </a:extLst>
          </p:cNvPr>
          <p:cNvSpPr/>
          <p:nvPr/>
        </p:nvSpPr>
        <p:spPr>
          <a:xfrm>
            <a:off x="7289455" y="3211169"/>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3" name="Image 12" descr="Une image contenant dessin humoristique, habits, croquis, dessin&#10;&#10;Le contenu généré par l’IA peut être incorrect.">
            <a:extLst>
              <a:ext uri="{FF2B5EF4-FFF2-40B4-BE49-F238E27FC236}">
                <a16:creationId xmlns:a16="http://schemas.microsoft.com/office/drawing/2014/main" id="{D43A2F42-1927-AD62-A8AD-F4F72A762E8D}"/>
              </a:ext>
            </a:extLst>
          </p:cNvPr>
          <p:cNvPicPr>
            <a:picLocks noChangeAspect="1"/>
          </p:cNvPicPr>
          <p:nvPr/>
        </p:nvPicPr>
        <p:blipFill>
          <a:blip r:embed="rId5"/>
          <a:stretch>
            <a:fillRect/>
          </a:stretch>
        </p:blipFill>
        <p:spPr>
          <a:xfrm>
            <a:off x="689664" y="2680683"/>
            <a:ext cx="1543806" cy="2367492"/>
          </a:xfrm>
          <a:prstGeom prst="rect">
            <a:avLst/>
          </a:prstGeom>
        </p:spPr>
      </p:pic>
      <p:sp>
        <p:nvSpPr>
          <p:cNvPr id="14" name="ZoneTexte 13">
            <a:extLst>
              <a:ext uri="{FF2B5EF4-FFF2-40B4-BE49-F238E27FC236}">
                <a16:creationId xmlns:a16="http://schemas.microsoft.com/office/drawing/2014/main" id="{D81F7D77-FF8A-F6F4-7ADF-9E9260790349}"/>
              </a:ext>
            </a:extLst>
          </p:cNvPr>
          <p:cNvSpPr txBox="1"/>
          <p:nvPr/>
        </p:nvSpPr>
        <p:spPr>
          <a:xfrm>
            <a:off x="1003905" y="5267476"/>
            <a:ext cx="3048000"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200" b="0" i="1" u="none" strike="noStrike">
                <a:solidFill>
                  <a:srgbClr val="000000"/>
                </a:solidFill>
                <a:latin typeface="Segoe Script"/>
              </a:rPr>
              <a:t>Puis-je vous aider?</a:t>
            </a:r>
            <a:endParaRPr lang="fr-FR" i="1">
              <a:latin typeface="Segoe Script"/>
              <a:ea typeface="Calibri"/>
              <a:cs typeface="Calibri"/>
            </a:endParaRPr>
          </a:p>
          <a:p>
            <a:pPr algn="ctr"/>
            <a:endParaRPr lang="fr-FR"/>
          </a:p>
        </p:txBody>
      </p:sp>
      <p:sp>
        <p:nvSpPr>
          <p:cNvPr id="15" name="ZoneTexte 14">
            <a:extLst>
              <a:ext uri="{FF2B5EF4-FFF2-40B4-BE49-F238E27FC236}">
                <a16:creationId xmlns:a16="http://schemas.microsoft.com/office/drawing/2014/main" id="{A1AEF71E-C292-D267-A726-FFE28585CFD7}"/>
              </a:ext>
            </a:extLst>
          </p:cNvPr>
          <p:cNvSpPr txBox="1"/>
          <p:nvPr/>
        </p:nvSpPr>
        <p:spPr>
          <a:xfrm>
            <a:off x="1523999" y="5739189"/>
            <a:ext cx="3048000"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200" i="1">
                <a:solidFill>
                  <a:srgbClr val="000000"/>
                </a:solidFill>
                <a:latin typeface="Segoe Script"/>
              </a:rPr>
              <a:t>100% à votre service</a:t>
            </a:r>
            <a:endParaRPr lang="fr-FR" i="1">
              <a:latin typeface="Segoe Script"/>
              <a:ea typeface="Calibri"/>
              <a:cs typeface="Calibri"/>
            </a:endParaRPr>
          </a:p>
          <a:p>
            <a:pPr algn="ctr"/>
            <a:endParaRPr lang="fr-FR"/>
          </a:p>
        </p:txBody>
      </p:sp>
      <p:sp>
        <p:nvSpPr>
          <p:cNvPr id="16" name="ZoneTexte 15">
            <a:extLst>
              <a:ext uri="{FF2B5EF4-FFF2-40B4-BE49-F238E27FC236}">
                <a16:creationId xmlns:a16="http://schemas.microsoft.com/office/drawing/2014/main" id="{543FC51F-185E-27C2-1EFE-DA7B6E475147}"/>
              </a:ext>
            </a:extLst>
          </p:cNvPr>
          <p:cNvSpPr txBox="1"/>
          <p:nvPr/>
        </p:nvSpPr>
        <p:spPr>
          <a:xfrm>
            <a:off x="2116665" y="6210902"/>
            <a:ext cx="3048000"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fr-FR" sz="1200" i="1">
                <a:solidFill>
                  <a:srgbClr val="000000"/>
                </a:solidFill>
                <a:latin typeface="Segoe Script"/>
              </a:rPr>
              <a:t>Oui attitude</a:t>
            </a:r>
            <a:endParaRPr lang="fr-FR"/>
          </a:p>
          <a:p>
            <a:pPr algn="ctr"/>
            <a:endParaRPr lang="fr-FR"/>
          </a:p>
        </p:txBody>
      </p:sp>
      <p:sp>
        <p:nvSpPr>
          <p:cNvPr id="2" name="Flèche : droite 11">
            <a:extLst>
              <a:ext uri="{FF2B5EF4-FFF2-40B4-BE49-F238E27FC236}">
                <a16:creationId xmlns:a16="http://schemas.microsoft.com/office/drawing/2014/main" id="{5A724E10-DC09-D0E3-61FF-2EE63C8A8182}"/>
              </a:ext>
            </a:extLst>
          </p:cNvPr>
          <p:cNvSpPr/>
          <p:nvPr/>
        </p:nvSpPr>
        <p:spPr>
          <a:xfrm>
            <a:off x="2361854" y="3211168"/>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075001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553F0-D56C-647A-CD2F-CC848B6C8FB4}"/>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88ADC5B7-70BD-6C16-C77D-9E285E2A9A4C}"/>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C7C709E3-5298-76E5-DF77-8518D5B97321}"/>
              </a:ext>
            </a:extLst>
          </p:cNvPr>
          <p:cNvSpPr txBox="1"/>
          <p:nvPr/>
        </p:nvSpPr>
        <p:spPr>
          <a:xfrm>
            <a:off x="575977" y="1391168"/>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pitchFamily="2" charset="0"/>
              </a:rPr>
              <a:t>Est considéré comme du temps de travail effectif le trajet entre le vestiaire et la pointeuse</a:t>
            </a:r>
          </a:p>
        </p:txBody>
      </p:sp>
      <p:sp>
        <p:nvSpPr>
          <p:cNvPr id="5" name="ZoneTexte 4">
            <a:extLst>
              <a:ext uri="{FF2B5EF4-FFF2-40B4-BE49-F238E27FC236}">
                <a16:creationId xmlns:a16="http://schemas.microsoft.com/office/drawing/2014/main" id="{006B76A7-D23F-9DAC-A2FC-AB6C51E2BD7A}"/>
              </a:ext>
            </a:extLst>
          </p:cNvPr>
          <p:cNvSpPr txBox="1"/>
          <p:nvPr/>
        </p:nvSpPr>
        <p:spPr>
          <a:xfrm>
            <a:off x="577524" y="2292764"/>
            <a:ext cx="11356944" cy="3016210"/>
          </a:xfrm>
          <a:prstGeom prst="rect">
            <a:avLst/>
          </a:prstGeom>
          <a:noFill/>
        </p:spPr>
        <p:txBody>
          <a:bodyPr wrap="square" lIns="91440" tIns="45720" rIns="91440" bIns="45720" anchor="t">
            <a:spAutoFit/>
          </a:bodyPr>
          <a:lstStyle/>
          <a:p>
            <a:pPr algn="just"/>
            <a:r>
              <a:rPr lang="fr-FR" sz="1400" i="1">
                <a:latin typeface="Montserrat Light"/>
                <a:ea typeface="+mn-lt"/>
                <a:cs typeface="+mn-lt"/>
              </a:rPr>
              <a:t>Cass. Soc. 21 janvier 2026, n° 2420.847</a:t>
            </a:r>
            <a:endParaRPr lang="fr-FR" sz="1600" i="1">
              <a:latin typeface="Montserrat Light" panose="00000400000000000000" pitchFamily="2" charset="0"/>
              <a:ea typeface="Calibri"/>
              <a:cs typeface="Calibri"/>
            </a:endParaRPr>
          </a:p>
          <a:p>
            <a:pPr lvl="0" algn="just"/>
            <a:endParaRPr lang="fr-FR" sz="1400" i="1">
              <a:latin typeface="Montserrat Light" panose="00000400000000000000" pitchFamily="2" charset="0"/>
              <a:ea typeface="Calibri"/>
              <a:cs typeface="Calibri"/>
            </a:endParaRPr>
          </a:p>
          <a:p>
            <a:pPr algn="just"/>
            <a:endParaRPr lang="fr-FR" sz="1400" i="1">
              <a:solidFill>
                <a:srgbClr val="000000"/>
              </a:solidFill>
              <a:latin typeface="Montserrat Light"/>
              <a:ea typeface="Calibri"/>
              <a:cs typeface="Calibri"/>
            </a:endParaRPr>
          </a:p>
          <a:p>
            <a:pPr algn="just"/>
            <a:r>
              <a:rPr lang="fr-FR">
                <a:solidFill>
                  <a:srgbClr val="000000"/>
                </a:solidFill>
                <a:latin typeface="Calibri"/>
                <a:ea typeface="Calibri"/>
                <a:cs typeface="Calibri"/>
              </a:rPr>
              <a:t>📌</a:t>
            </a:r>
            <a:r>
              <a:rPr lang="fr-FR" sz="1600" b="1" u="sng">
                <a:solidFill>
                  <a:srgbClr val="68BBB4"/>
                </a:solidFill>
                <a:latin typeface="Montserrat Light"/>
              </a:rPr>
              <a:t> La solution </a:t>
            </a:r>
            <a:endParaRPr lang="fr-FR"/>
          </a:p>
          <a:p>
            <a:pPr algn="just"/>
            <a:endParaRPr lang="fr-FR" sz="1600" b="1" u="sng">
              <a:solidFill>
                <a:srgbClr val="68BBB4"/>
              </a:solidFill>
              <a:latin typeface="Montserrat Light"/>
            </a:endParaRPr>
          </a:p>
          <a:p>
            <a:pPr algn="just"/>
            <a:r>
              <a:rPr lang="fr-FR" sz="1600">
                <a:solidFill>
                  <a:srgbClr val="000000"/>
                </a:solidFill>
                <a:latin typeface="Montserrat Light"/>
              </a:rPr>
              <a:t>L’employeur n’avait donné aucune directive particulière quant au trajet ni au comportement à adopter   avant le pointage.</a:t>
            </a:r>
            <a:endParaRPr lang="fr-FR">
              <a:solidFill>
                <a:srgbClr val="000000"/>
              </a:solidFill>
              <a:latin typeface="Calibri" panose="020F0502020204030204"/>
              <a:ea typeface="Calibri"/>
              <a:cs typeface="Calibri"/>
            </a:endParaRPr>
          </a:p>
          <a:p>
            <a:pPr algn="just"/>
            <a:endParaRPr lang="fr-FR" sz="1600">
              <a:solidFill>
                <a:srgbClr val="000000"/>
              </a:solidFill>
              <a:latin typeface="Montserrat Light"/>
            </a:endParaRPr>
          </a:p>
          <a:p>
            <a:pPr algn="just"/>
            <a:r>
              <a:rPr lang="fr-FR" sz="1600">
                <a:solidFill>
                  <a:srgbClr val="000000"/>
                </a:solidFill>
                <a:latin typeface="Montserrat Light"/>
              </a:rPr>
              <a:t>Le salarié était contraint de traverser la surface de vente en </a:t>
            </a:r>
            <a:r>
              <a:rPr lang="fr-FR" sz="1600" b="1">
                <a:solidFill>
                  <a:srgbClr val="000000"/>
                </a:solidFill>
                <a:latin typeface="Montserrat Light"/>
              </a:rPr>
              <a:t>tenue de travail</a:t>
            </a:r>
            <a:r>
              <a:rPr lang="fr-FR" sz="1600">
                <a:solidFill>
                  <a:srgbClr val="000000"/>
                </a:solidFill>
                <a:latin typeface="Montserrat Light"/>
              </a:rPr>
              <a:t> et </a:t>
            </a:r>
            <a:r>
              <a:rPr lang="fr-FR" sz="1600" b="1">
                <a:solidFill>
                  <a:srgbClr val="000000"/>
                </a:solidFill>
                <a:latin typeface="Montserrat Light"/>
              </a:rPr>
              <a:t>au contact de la clientèle.</a:t>
            </a:r>
            <a:endParaRPr lang="fr-FR">
              <a:solidFill>
                <a:srgbClr val="000000"/>
              </a:solidFill>
              <a:latin typeface="Calibri" panose="020F0502020204030204"/>
              <a:ea typeface="Calibri"/>
              <a:cs typeface="Calibri"/>
            </a:endParaRPr>
          </a:p>
          <a:p>
            <a:pPr algn="just"/>
            <a:r>
              <a:rPr lang="fr-FR" sz="1600">
                <a:solidFill>
                  <a:srgbClr val="000000"/>
                </a:solidFill>
                <a:latin typeface="Montserrat Light"/>
              </a:rPr>
              <a:t>Il était </a:t>
            </a:r>
            <a:r>
              <a:rPr lang="fr-FR" sz="1600" b="1">
                <a:solidFill>
                  <a:srgbClr val="000000"/>
                </a:solidFill>
                <a:latin typeface="Montserrat Light"/>
              </a:rPr>
              <a:t>amené à répondre aux sollicitations </a:t>
            </a:r>
            <a:r>
              <a:rPr lang="fr-FR" sz="1600">
                <a:solidFill>
                  <a:srgbClr val="000000"/>
                </a:solidFill>
                <a:latin typeface="Montserrat Light"/>
              </a:rPr>
              <a:t>et se trouvait ainsi à la </a:t>
            </a:r>
            <a:r>
              <a:rPr lang="fr-FR" sz="1600" b="1">
                <a:solidFill>
                  <a:srgbClr val="000000"/>
                </a:solidFill>
                <a:latin typeface="Montserrat Light"/>
              </a:rPr>
              <a:t>disposition de l’employeur,</a:t>
            </a:r>
            <a:r>
              <a:rPr lang="fr-FR" sz="1600">
                <a:solidFill>
                  <a:srgbClr val="000000"/>
                </a:solidFill>
                <a:latin typeface="Montserrat Light"/>
              </a:rPr>
              <a:t> </a:t>
            </a:r>
            <a:r>
              <a:rPr lang="fr-FR" sz="1600" b="1">
                <a:solidFill>
                  <a:srgbClr val="000000"/>
                </a:solidFill>
                <a:latin typeface="Montserrat Light"/>
              </a:rPr>
              <a:t>sans pouvoir vaquer librement à des occupations personnelles.</a:t>
            </a:r>
            <a:endParaRPr lang="fr-FR" b="1">
              <a:ea typeface="Calibri"/>
              <a:cs typeface="Calibri"/>
            </a:endParaRPr>
          </a:p>
          <a:p>
            <a:pPr algn="just"/>
            <a:endParaRPr lang="fr-FR" b="1">
              <a:ea typeface="Calibri"/>
              <a:cs typeface="Calibri"/>
            </a:endParaRPr>
          </a:p>
        </p:txBody>
      </p:sp>
    </p:spTree>
    <p:extLst>
      <p:ext uri="{BB962C8B-B14F-4D97-AF65-F5344CB8AC3E}">
        <p14:creationId xmlns:p14="http://schemas.microsoft.com/office/powerpoint/2010/main" val="21421371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370EC-CB6E-CF40-027C-CAB8C75E714E}"/>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C94379FC-477D-DC57-DE5E-436A39006A3B}"/>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A4BC92AD-99E5-F7E5-29AD-73F8829D7003}"/>
              </a:ext>
            </a:extLst>
          </p:cNvPr>
          <p:cNvSpPr txBox="1"/>
          <p:nvPr/>
        </p:nvSpPr>
        <p:spPr>
          <a:xfrm>
            <a:off x="575977" y="1577238"/>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pitchFamily="2" charset="0"/>
              </a:rPr>
              <a:t>Est considéré comme du temps de travail effectif le trajet entre le vestiaire et la pointeuse</a:t>
            </a:r>
          </a:p>
        </p:txBody>
      </p:sp>
      <p:sp>
        <p:nvSpPr>
          <p:cNvPr id="5" name="ZoneTexte 4">
            <a:extLst>
              <a:ext uri="{FF2B5EF4-FFF2-40B4-BE49-F238E27FC236}">
                <a16:creationId xmlns:a16="http://schemas.microsoft.com/office/drawing/2014/main" id="{181C5780-9211-5EC6-66E1-AC52E95167C8}"/>
              </a:ext>
            </a:extLst>
          </p:cNvPr>
          <p:cNvSpPr txBox="1"/>
          <p:nvPr/>
        </p:nvSpPr>
        <p:spPr>
          <a:xfrm>
            <a:off x="575977" y="2223569"/>
            <a:ext cx="11356944" cy="307777"/>
          </a:xfrm>
          <a:prstGeom prst="rect">
            <a:avLst/>
          </a:prstGeom>
          <a:noFill/>
        </p:spPr>
        <p:txBody>
          <a:bodyPr wrap="square" lIns="91440" tIns="45720" rIns="91440" bIns="45720" anchor="t">
            <a:spAutoFit/>
          </a:bodyPr>
          <a:lstStyle/>
          <a:p>
            <a:pPr algn="just"/>
            <a:r>
              <a:rPr lang="fr-FR" sz="1400" i="1">
                <a:latin typeface="Montserrat Light"/>
                <a:ea typeface="+mn-lt"/>
                <a:cs typeface="+mn-lt"/>
              </a:rPr>
              <a:t>Cass. Soc. 21 janvier 2026, n° 2420.847</a:t>
            </a:r>
            <a:endParaRPr lang="fr-FR" sz="1600">
              <a:solidFill>
                <a:srgbClr val="000000"/>
              </a:solidFill>
              <a:latin typeface="Montserrat Light"/>
            </a:endParaRPr>
          </a:p>
        </p:txBody>
      </p:sp>
      <p:sp>
        <p:nvSpPr>
          <p:cNvPr id="2" name="ZoneTexte 1">
            <a:extLst>
              <a:ext uri="{FF2B5EF4-FFF2-40B4-BE49-F238E27FC236}">
                <a16:creationId xmlns:a16="http://schemas.microsoft.com/office/drawing/2014/main" id="{D92689BF-6A74-6FB7-995A-6106784D32E7}"/>
              </a:ext>
            </a:extLst>
          </p:cNvPr>
          <p:cNvSpPr txBox="1"/>
          <p:nvPr/>
        </p:nvSpPr>
        <p:spPr>
          <a:xfrm>
            <a:off x="588025" y="3035483"/>
            <a:ext cx="10038905" cy="31085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a:t>
            </a:r>
            <a:r>
              <a:rPr lang="en-US" sz="1600" b="1" u="sng">
                <a:solidFill>
                  <a:srgbClr val="68BBB4"/>
                </a:solidFill>
                <a:latin typeface="Montserrat Light"/>
              </a:rPr>
              <a:t>️ Apport </a:t>
            </a:r>
            <a:r>
              <a:rPr lang="en-US" sz="1600" b="1" u="sng" err="1">
                <a:solidFill>
                  <a:srgbClr val="68BBB4"/>
                </a:solidFill>
                <a:latin typeface="Montserrat Light"/>
              </a:rPr>
              <a:t>juridique</a:t>
            </a:r>
            <a:r>
              <a:rPr lang="en-US" sz="1600" b="1" u="sng">
                <a:solidFill>
                  <a:srgbClr val="68BBB4"/>
                </a:solidFill>
                <a:latin typeface="Montserrat Light"/>
              </a:rPr>
              <a:t> de </a:t>
            </a:r>
            <a:r>
              <a:rPr lang="en-US" sz="1600" b="1" u="sng" err="1">
                <a:solidFill>
                  <a:srgbClr val="68BBB4"/>
                </a:solidFill>
                <a:latin typeface="Montserrat Light"/>
              </a:rPr>
              <a:t>l’arrêt</a:t>
            </a:r>
            <a:endParaRPr lang="en-US" sz="1600" b="1" u="sng">
              <a:solidFill>
                <a:srgbClr val="68BBB4"/>
              </a:solidFill>
              <a:latin typeface="Montserrat Light"/>
            </a:endParaRPr>
          </a:p>
          <a:p>
            <a:endParaRPr lang="en-US" sz="1600">
              <a:solidFill>
                <a:srgbClr val="000000"/>
              </a:solidFill>
              <a:latin typeface="Montserrat Light"/>
            </a:endParaRPr>
          </a:p>
          <a:p>
            <a:r>
              <a:rPr lang="en-US" sz="1600">
                <a:solidFill>
                  <a:srgbClr val="000000"/>
                </a:solidFill>
                <a:latin typeface="Montserrat Light"/>
              </a:rPr>
              <a:t>Les </a:t>
            </a:r>
            <a:r>
              <a:rPr lang="en-US" sz="1600" err="1">
                <a:solidFill>
                  <a:srgbClr val="000000"/>
                </a:solidFill>
                <a:latin typeface="Montserrat Light"/>
              </a:rPr>
              <a:t>juges</a:t>
            </a:r>
            <a:r>
              <a:rPr lang="en-US" sz="1600">
                <a:solidFill>
                  <a:srgbClr val="000000"/>
                </a:solidFill>
                <a:latin typeface="Montserrat Light"/>
              </a:rPr>
              <a:t> </a:t>
            </a:r>
            <a:r>
              <a:rPr lang="en-US" sz="1600" err="1">
                <a:solidFill>
                  <a:srgbClr val="000000"/>
                </a:solidFill>
                <a:latin typeface="Montserrat Light"/>
              </a:rPr>
              <a:t>doivent</a:t>
            </a:r>
            <a:r>
              <a:rPr lang="en-US" sz="1600">
                <a:solidFill>
                  <a:srgbClr val="000000"/>
                </a:solidFill>
                <a:latin typeface="Montserrat Light"/>
              </a:rPr>
              <a:t> :</a:t>
            </a:r>
            <a:endParaRPr lang="en-US"/>
          </a:p>
          <a:p>
            <a:endParaRPr lang="en-US" sz="1600">
              <a:solidFill>
                <a:srgbClr val="000000"/>
              </a:solidFill>
              <a:latin typeface="Montserrat Light"/>
            </a:endParaRPr>
          </a:p>
          <a:p>
            <a:pPr marL="228600" indent="-228600">
              <a:buFont typeface=""/>
              <a:buChar char="•"/>
            </a:pPr>
            <a:r>
              <a:rPr lang="en-US" sz="1600" err="1">
                <a:solidFill>
                  <a:srgbClr val="000000"/>
                </a:solidFill>
                <a:latin typeface="Montserrat Light"/>
              </a:rPr>
              <a:t>Apprécier</a:t>
            </a:r>
            <a:r>
              <a:rPr lang="en-US" sz="1600">
                <a:solidFill>
                  <a:srgbClr val="000000"/>
                </a:solidFill>
                <a:latin typeface="Montserrat Light"/>
              </a:rPr>
              <a:t> </a:t>
            </a:r>
            <a:r>
              <a:rPr lang="en-US" sz="1600" err="1">
                <a:solidFill>
                  <a:srgbClr val="000000"/>
                </a:solidFill>
                <a:latin typeface="Montserrat Light"/>
              </a:rPr>
              <a:t>concrètement</a:t>
            </a:r>
            <a:r>
              <a:rPr lang="en-US" sz="1600" b="1">
                <a:solidFill>
                  <a:srgbClr val="000000"/>
                </a:solidFill>
                <a:latin typeface="Montserrat Light"/>
              </a:rPr>
              <a:t> </a:t>
            </a:r>
            <a:r>
              <a:rPr lang="en-US" sz="1600" b="1" err="1">
                <a:solidFill>
                  <a:srgbClr val="000000"/>
                </a:solidFill>
                <a:latin typeface="Montserrat Light"/>
              </a:rPr>
              <a:t>l’intensité</a:t>
            </a:r>
            <a:r>
              <a:rPr lang="en-US" sz="1600" b="1">
                <a:solidFill>
                  <a:srgbClr val="000000"/>
                </a:solidFill>
                <a:latin typeface="Montserrat Light"/>
              </a:rPr>
              <a:t> des </a:t>
            </a:r>
            <a:r>
              <a:rPr lang="en-US" sz="1600" b="1" err="1">
                <a:solidFill>
                  <a:srgbClr val="000000"/>
                </a:solidFill>
                <a:latin typeface="Montserrat Light"/>
              </a:rPr>
              <a:t>contraintes</a:t>
            </a:r>
            <a:r>
              <a:rPr lang="en-US" sz="1600" b="1">
                <a:solidFill>
                  <a:srgbClr val="000000"/>
                </a:solidFill>
                <a:latin typeface="Montserrat Light"/>
              </a:rPr>
              <a:t> </a:t>
            </a:r>
            <a:r>
              <a:rPr lang="en-US" sz="1600" err="1">
                <a:solidFill>
                  <a:srgbClr val="000000"/>
                </a:solidFill>
                <a:latin typeface="Montserrat Light"/>
              </a:rPr>
              <a:t>pesant</a:t>
            </a:r>
            <a:r>
              <a:rPr lang="en-US" sz="1600">
                <a:solidFill>
                  <a:srgbClr val="000000"/>
                </a:solidFill>
                <a:latin typeface="Montserrat Light"/>
              </a:rPr>
              <a:t> sur le </a:t>
            </a:r>
            <a:r>
              <a:rPr lang="en-US" sz="1600" err="1">
                <a:solidFill>
                  <a:srgbClr val="000000"/>
                </a:solidFill>
                <a:latin typeface="Montserrat Light"/>
              </a:rPr>
              <a:t>salarié</a:t>
            </a:r>
            <a:r>
              <a:rPr lang="en-US" sz="1600">
                <a:solidFill>
                  <a:srgbClr val="000000"/>
                </a:solidFill>
                <a:latin typeface="Montserrat Light"/>
              </a:rPr>
              <a:t> </a:t>
            </a:r>
            <a:r>
              <a:rPr lang="en-US" sz="1600" err="1">
                <a:solidFill>
                  <a:srgbClr val="000000"/>
                </a:solidFill>
                <a:latin typeface="Montserrat Light"/>
              </a:rPr>
              <a:t>durant</a:t>
            </a:r>
            <a:r>
              <a:rPr lang="en-US" sz="1600">
                <a:solidFill>
                  <a:srgbClr val="000000"/>
                </a:solidFill>
                <a:latin typeface="Montserrat Light"/>
              </a:rPr>
              <a:t> </a:t>
            </a:r>
            <a:r>
              <a:rPr lang="en-US" sz="1600" err="1">
                <a:solidFill>
                  <a:srgbClr val="000000"/>
                </a:solidFill>
                <a:latin typeface="Montserrat Light"/>
              </a:rPr>
              <a:t>ce</a:t>
            </a:r>
            <a:r>
              <a:rPr lang="en-US" sz="1600">
                <a:solidFill>
                  <a:srgbClr val="000000"/>
                </a:solidFill>
                <a:latin typeface="Montserrat Light"/>
              </a:rPr>
              <a:t> </a:t>
            </a:r>
            <a:r>
              <a:rPr lang="en-US" sz="1600" err="1">
                <a:solidFill>
                  <a:srgbClr val="000000"/>
                </a:solidFill>
                <a:latin typeface="Montserrat Light"/>
              </a:rPr>
              <a:t>déplacement</a:t>
            </a:r>
            <a:r>
              <a:rPr lang="en-US" sz="1600">
                <a:solidFill>
                  <a:srgbClr val="000000"/>
                </a:solidFill>
                <a:latin typeface="Montserrat Light"/>
              </a:rPr>
              <a:t> interne,</a:t>
            </a:r>
          </a:p>
          <a:p>
            <a:endParaRPr lang="en-US" sz="1600">
              <a:solidFill>
                <a:srgbClr val="000000"/>
              </a:solidFill>
              <a:latin typeface="Montserrat Light"/>
            </a:endParaRPr>
          </a:p>
          <a:p>
            <a:pPr marL="228600" indent="-228600">
              <a:buFont typeface=""/>
              <a:buChar char="•"/>
            </a:pPr>
            <a:r>
              <a:rPr lang="en-US" sz="1600" err="1">
                <a:solidFill>
                  <a:srgbClr val="000000"/>
                </a:solidFill>
                <a:latin typeface="Montserrat Light"/>
              </a:rPr>
              <a:t>Vérifier</a:t>
            </a:r>
            <a:r>
              <a:rPr lang="en-US" sz="1600">
                <a:solidFill>
                  <a:srgbClr val="000000"/>
                </a:solidFill>
                <a:latin typeface="Montserrat Light"/>
              </a:rPr>
              <a:t> </a:t>
            </a:r>
            <a:r>
              <a:rPr lang="en-US" sz="1600" err="1">
                <a:solidFill>
                  <a:srgbClr val="000000"/>
                </a:solidFill>
                <a:latin typeface="Montserrat Light"/>
              </a:rPr>
              <a:t>si</a:t>
            </a:r>
            <a:r>
              <a:rPr lang="en-US" sz="1600">
                <a:solidFill>
                  <a:srgbClr val="000000"/>
                </a:solidFill>
                <a:latin typeface="Montserrat Light"/>
              </a:rPr>
              <a:t> </a:t>
            </a:r>
            <a:r>
              <a:rPr lang="en-US" sz="1600" err="1">
                <a:solidFill>
                  <a:srgbClr val="000000"/>
                </a:solidFill>
                <a:latin typeface="Montserrat Light"/>
              </a:rPr>
              <a:t>ces</a:t>
            </a:r>
            <a:r>
              <a:rPr lang="en-US" sz="1600">
                <a:solidFill>
                  <a:srgbClr val="000000"/>
                </a:solidFill>
                <a:latin typeface="Montserrat Light"/>
              </a:rPr>
              <a:t> </a:t>
            </a:r>
            <a:r>
              <a:rPr lang="en-US" sz="1600" err="1">
                <a:solidFill>
                  <a:srgbClr val="000000"/>
                </a:solidFill>
                <a:latin typeface="Montserrat Light"/>
              </a:rPr>
              <a:t>contraintes</a:t>
            </a:r>
            <a:r>
              <a:rPr lang="en-US" sz="1600">
                <a:solidFill>
                  <a:srgbClr val="000000"/>
                </a:solidFill>
                <a:latin typeface="Montserrat Light"/>
              </a:rPr>
              <a:t> </a:t>
            </a:r>
            <a:r>
              <a:rPr lang="en-US" sz="1600" b="1" err="1">
                <a:solidFill>
                  <a:srgbClr val="000000"/>
                </a:solidFill>
                <a:latin typeface="Montserrat Light"/>
              </a:rPr>
              <a:t>affectent</a:t>
            </a:r>
            <a:r>
              <a:rPr lang="en-US" sz="1600" b="1">
                <a:solidFill>
                  <a:srgbClr val="000000"/>
                </a:solidFill>
                <a:latin typeface="Montserrat Light"/>
              </a:rPr>
              <a:t> </a:t>
            </a:r>
            <a:r>
              <a:rPr lang="en-US" sz="1600" b="1" err="1">
                <a:solidFill>
                  <a:srgbClr val="000000"/>
                </a:solidFill>
                <a:latin typeface="Montserrat Light"/>
              </a:rPr>
              <a:t>objectivement</a:t>
            </a:r>
            <a:r>
              <a:rPr lang="en-US" sz="1600" b="1">
                <a:solidFill>
                  <a:srgbClr val="000000"/>
                </a:solidFill>
                <a:latin typeface="Montserrat Light"/>
              </a:rPr>
              <a:t> et </a:t>
            </a:r>
            <a:r>
              <a:rPr lang="en-US" sz="1600" b="1" err="1">
                <a:solidFill>
                  <a:srgbClr val="000000"/>
                </a:solidFill>
                <a:latin typeface="Montserrat Light"/>
              </a:rPr>
              <a:t>significativement</a:t>
            </a:r>
            <a:r>
              <a:rPr lang="en-US" sz="1600" b="1">
                <a:solidFill>
                  <a:srgbClr val="000000"/>
                </a:solidFill>
                <a:latin typeface="Montserrat Light"/>
              </a:rPr>
              <a:t> </a:t>
            </a:r>
            <a:r>
              <a:rPr lang="en-US" sz="1600" b="1" err="1">
                <a:solidFill>
                  <a:srgbClr val="000000"/>
                </a:solidFill>
                <a:latin typeface="Montserrat Light"/>
              </a:rPr>
              <a:t>sa</a:t>
            </a:r>
            <a:r>
              <a:rPr lang="en-US" sz="1600" b="1">
                <a:solidFill>
                  <a:srgbClr val="000000"/>
                </a:solidFill>
                <a:latin typeface="Montserrat Light"/>
              </a:rPr>
              <a:t> liberté </a:t>
            </a:r>
            <a:r>
              <a:rPr lang="en-US" sz="1600" b="1" err="1">
                <a:solidFill>
                  <a:srgbClr val="000000"/>
                </a:solidFill>
                <a:latin typeface="Montserrat Light"/>
              </a:rPr>
              <a:t>d’organisation</a:t>
            </a:r>
            <a:r>
              <a:rPr lang="en-US" sz="1600" b="1">
                <a:solidFill>
                  <a:srgbClr val="000000"/>
                </a:solidFill>
                <a:latin typeface="Montserrat Light"/>
              </a:rPr>
              <a:t>,</a:t>
            </a:r>
            <a:endParaRPr lang="en-US" sz="1600">
              <a:solidFill>
                <a:srgbClr val="000000"/>
              </a:solidFill>
              <a:latin typeface="Montserrat Light"/>
            </a:endParaRPr>
          </a:p>
          <a:p>
            <a:endParaRPr lang="en-US" sz="1600" b="1">
              <a:solidFill>
                <a:srgbClr val="000000"/>
              </a:solidFill>
              <a:latin typeface="Montserrat Light"/>
            </a:endParaRPr>
          </a:p>
          <a:p>
            <a:pPr marL="228600" indent="-228600">
              <a:buFont typeface=""/>
              <a:buChar char="•"/>
            </a:pPr>
            <a:r>
              <a:rPr lang="en-US" sz="1600" err="1">
                <a:solidFill>
                  <a:srgbClr val="000000"/>
                </a:solidFill>
                <a:latin typeface="Montserrat Light"/>
              </a:rPr>
              <a:t>Tenir</a:t>
            </a:r>
            <a:r>
              <a:rPr lang="en-US" sz="1600">
                <a:solidFill>
                  <a:srgbClr val="000000"/>
                </a:solidFill>
                <a:latin typeface="Montserrat Light"/>
              </a:rPr>
              <a:t> compte </a:t>
            </a:r>
            <a:r>
              <a:rPr lang="en-US" sz="1600" err="1">
                <a:solidFill>
                  <a:srgbClr val="000000"/>
                </a:solidFill>
                <a:latin typeface="Montserrat Light"/>
              </a:rPr>
              <a:t>d’indices</a:t>
            </a:r>
            <a:r>
              <a:rPr lang="en-US" sz="1600">
                <a:solidFill>
                  <a:srgbClr val="000000"/>
                </a:solidFill>
                <a:latin typeface="Montserrat Light"/>
              </a:rPr>
              <a:t> </a:t>
            </a:r>
            <a:r>
              <a:rPr lang="en-US" sz="1600" err="1">
                <a:solidFill>
                  <a:srgbClr val="000000"/>
                </a:solidFill>
                <a:latin typeface="Montserrat Light"/>
              </a:rPr>
              <a:t>tels</a:t>
            </a:r>
            <a:r>
              <a:rPr lang="en-US" sz="1600">
                <a:solidFill>
                  <a:srgbClr val="000000"/>
                </a:solidFill>
                <a:latin typeface="Montserrat Light"/>
              </a:rPr>
              <a:t> </a:t>
            </a:r>
            <a:r>
              <a:rPr lang="en-US" sz="1600" err="1">
                <a:solidFill>
                  <a:srgbClr val="000000"/>
                </a:solidFill>
                <a:latin typeface="Montserrat Light"/>
              </a:rPr>
              <a:t>que</a:t>
            </a:r>
            <a:r>
              <a:rPr lang="en-US" sz="1600">
                <a:solidFill>
                  <a:srgbClr val="000000"/>
                </a:solidFill>
                <a:latin typeface="Montserrat Light"/>
              </a:rPr>
              <a:t> : le port </a:t>
            </a:r>
            <a:r>
              <a:rPr lang="en-US" sz="1600" err="1">
                <a:solidFill>
                  <a:srgbClr val="000000"/>
                </a:solidFill>
                <a:latin typeface="Montserrat Light"/>
              </a:rPr>
              <a:t>d’une</a:t>
            </a:r>
            <a:r>
              <a:rPr lang="en-US" sz="1600">
                <a:solidFill>
                  <a:srgbClr val="000000"/>
                </a:solidFill>
                <a:latin typeface="Montserrat Light"/>
              </a:rPr>
              <a:t> tenue de travail, la </a:t>
            </a:r>
            <a:r>
              <a:rPr lang="en-US" sz="1600" err="1">
                <a:solidFill>
                  <a:srgbClr val="000000"/>
                </a:solidFill>
                <a:latin typeface="Montserrat Light"/>
              </a:rPr>
              <a:t>traversée</a:t>
            </a:r>
            <a:r>
              <a:rPr lang="en-US" sz="1600">
                <a:solidFill>
                  <a:srgbClr val="000000"/>
                </a:solidFill>
                <a:latin typeface="Montserrat Light"/>
              </a:rPr>
              <a:t> d’un </a:t>
            </a:r>
            <a:r>
              <a:rPr lang="en-US" sz="1600" err="1">
                <a:solidFill>
                  <a:srgbClr val="000000"/>
                </a:solidFill>
                <a:latin typeface="Montserrat Light"/>
              </a:rPr>
              <a:t>espace</a:t>
            </a:r>
            <a:r>
              <a:rPr lang="en-US" sz="1600">
                <a:solidFill>
                  <a:srgbClr val="000000"/>
                </a:solidFill>
                <a:latin typeface="Montserrat Light"/>
              </a:rPr>
              <a:t> accessible au public, </a:t>
            </a:r>
            <a:r>
              <a:rPr lang="en-US" sz="1600" err="1">
                <a:solidFill>
                  <a:srgbClr val="000000"/>
                </a:solidFill>
                <a:latin typeface="Montserrat Light"/>
              </a:rPr>
              <a:t>l’exposition</a:t>
            </a:r>
            <a:r>
              <a:rPr lang="en-US" sz="1600">
                <a:solidFill>
                  <a:srgbClr val="000000"/>
                </a:solidFill>
                <a:latin typeface="Montserrat Light"/>
              </a:rPr>
              <a:t> aux </a:t>
            </a:r>
            <a:r>
              <a:rPr lang="en-US" sz="1600" err="1">
                <a:solidFill>
                  <a:srgbClr val="000000"/>
                </a:solidFill>
                <a:latin typeface="Montserrat Light"/>
              </a:rPr>
              <a:t>sollicitations</a:t>
            </a:r>
            <a:r>
              <a:rPr lang="en-US" sz="1600">
                <a:solidFill>
                  <a:srgbClr val="000000"/>
                </a:solidFill>
                <a:latin typeface="Montserrat Light"/>
              </a:rPr>
              <a:t> de la clientèle.</a:t>
            </a:r>
          </a:p>
          <a:p>
            <a:pPr algn="ctr"/>
            <a:endParaRPr lang="fr-FR"/>
          </a:p>
        </p:txBody>
      </p:sp>
    </p:spTree>
    <p:extLst>
      <p:ext uri="{BB962C8B-B14F-4D97-AF65-F5344CB8AC3E}">
        <p14:creationId xmlns:p14="http://schemas.microsoft.com/office/powerpoint/2010/main" val="34559536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4B6AD-329C-7660-958C-B16704EA25C5}"/>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50B712F8-8040-1159-9CBA-09A363ED8338}"/>
              </a:ext>
            </a:extLst>
          </p:cNvPr>
          <p:cNvSpPr>
            <a:spLocks noGrp="1"/>
          </p:cNvSpPr>
          <p:nvPr>
            <p:ph type="title"/>
          </p:nvPr>
        </p:nvSpPr>
        <p:spPr>
          <a:xfrm>
            <a:off x="637630" y="3431817"/>
            <a:ext cx="8701347" cy="368283"/>
          </a:xfrm>
        </p:spPr>
        <p:txBody>
          <a:bodyPr>
            <a:normAutofit fontScale="90000"/>
          </a:bodyPr>
          <a:lstStyle/>
          <a:p>
            <a:r>
              <a:rPr lang="fr-FR" sz="4000">
                <a:latin typeface="Montserrat"/>
              </a:rPr>
              <a:t>SUR LE THEME :</a:t>
            </a:r>
            <a:br>
              <a:rPr lang="fr-FR" sz="4000">
                <a:latin typeface="Montserrat"/>
              </a:rPr>
            </a:br>
            <a:r>
              <a:rPr lang="fr-FR" sz="4000">
                <a:latin typeface="Montserrat"/>
              </a:rPr>
              <a:t>DES RUPTURES DE CONTRATS DE TRAVAIL</a:t>
            </a:r>
            <a:endParaRPr lang="fr-FR" sz="4000"/>
          </a:p>
        </p:txBody>
      </p:sp>
    </p:spTree>
    <p:extLst>
      <p:ext uri="{BB962C8B-B14F-4D97-AF65-F5344CB8AC3E}">
        <p14:creationId xmlns:p14="http://schemas.microsoft.com/office/powerpoint/2010/main" val="31989551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8B7CF-E689-6DAD-D0DF-C03F4C739375}"/>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E31A6DBA-FAFC-2177-5807-E25062AC367D}"/>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ACTUALITE JURISPRUDENTIELLE</a:t>
            </a:r>
            <a:endParaRPr lang="fr-FR"/>
          </a:p>
        </p:txBody>
      </p:sp>
      <p:sp>
        <p:nvSpPr>
          <p:cNvPr id="6" name="ZoneTexte 5">
            <a:extLst>
              <a:ext uri="{FF2B5EF4-FFF2-40B4-BE49-F238E27FC236}">
                <a16:creationId xmlns:a16="http://schemas.microsoft.com/office/drawing/2014/main" id="{EDDB61D3-6F90-017D-1ECE-EA75820A76F5}"/>
              </a:ext>
            </a:extLst>
          </p:cNvPr>
          <p:cNvSpPr txBox="1"/>
          <p:nvPr/>
        </p:nvSpPr>
        <p:spPr>
          <a:xfrm>
            <a:off x="540535" y="1558837"/>
            <a:ext cx="10808303" cy="923330"/>
          </a:xfrm>
          <a:prstGeom prst="rect">
            <a:avLst/>
          </a:prstGeom>
          <a:noFill/>
        </p:spPr>
        <p:txBody>
          <a:bodyPr wrap="square" lIns="91440" tIns="45720" rIns="91440" bIns="45720" rtlCol="0" anchor="t">
            <a:spAutoFit/>
          </a:bodyPr>
          <a:lstStyle/>
          <a:p>
            <a:r>
              <a:rPr lang="fr-FR" b="1">
                <a:solidFill>
                  <a:srgbClr val="E4003A"/>
                </a:solidFill>
                <a:latin typeface="Montserrat"/>
              </a:rPr>
              <a:t>Remise en main propre de la convocation à l’EP : l’absence de signature du salarié est sans effet</a:t>
            </a:r>
          </a:p>
          <a:p>
            <a:endParaRPr lang="fr-FR" b="1">
              <a:solidFill>
                <a:srgbClr val="E4003A"/>
              </a:solidFill>
              <a:latin typeface="Montserrat" pitchFamily="2" charset="0"/>
            </a:endParaRPr>
          </a:p>
        </p:txBody>
      </p:sp>
      <p:sp>
        <p:nvSpPr>
          <p:cNvPr id="7" name="ZoneTexte 6">
            <a:extLst>
              <a:ext uri="{FF2B5EF4-FFF2-40B4-BE49-F238E27FC236}">
                <a16:creationId xmlns:a16="http://schemas.microsoft.com/office/drawing/2014/main" id="{670F1F14-06CF-B1AB-FE8E-008B2322B12E}"/>
              </a:ext>
            </a:extLst>
          </p:cNvPr>
          <p:cNvSpPr txBox="1"/>
          <p:nvPr/>
        </p:nvSpPr>
        <p:spPr>
          <a:xfrm>
            <a:off x="540488" y="2294860"/>
            <a:ext cx="6096000"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fr-FR" sz="1400" b="0" i="1" u="none" strike="noStrike" baseline="0">
                <a:solidFill>
                  <a:srgbClr val="000000"/>
                </a:solidFill>
                <a:latin typeface="Montserrat Light"/>
              </a:rPr>
              <a:t>Cass. Soc. </a:t>
            </a:r>
            <a:r>
              <a:rPr lang="fr-FR" sz="1400" i="1">
                <a:solidFill>
                  <a:srgbClr val="000000"/>
                </a:solidFill>
                <a:latin typeface="Montserrat Light"/>
              </a:rPr>
              <a:t>21 janvier 2026</a:t>
            </a:r>
            <a:r>
              <a:rPr lang="fr-FR" sz="1400" b="0" i="1" u="none" strike="noStrike" baseline="0">
                <a:solidFill>
                  <a:srgbClr val="000000"/>
                </a:solidFill>
                <a:latin typeface="Montserrat Light"/>
              </a:rPr>
              <a:t>, n° </a:t>
            </a:r>
            <a:r>
              <a:rPr lang="fr-FR" sz="1400" i="1">
                <a:solidFill>
                  <a:srgbClr val="000000"/>
                </a:solidFill>
                <a:latin typeface="Montserrat Light"/>
              </a:rPr>
              <a:t>24-16240 </a:t>
            </a:r>
            <a:endParaRPr lang="fr-FR"/>
          </a:p>
          <a:p>
            <a:endParaRPr lang="fr-FR" sz="1400" i="1">
              <a:latin typeface="Montserrat Light"/>
            </a:endParaRPr>
          </a:p>
          <a:p>
            <a:pPr algn="ctr"/>
            <a:endParaRPr lang="fr-FR" sz="1600">
              <a:solidFill>
                <a:srgbClr val="000000"/>
              </a:solidFill>
              <a:latin typeface="Montserrat Light"/>
            </a:endParaRPr>
          </a:p>
        </p:txBody>
      </p:sp>
      <p:pic>
        <p:nvPicPr>
          <p:cNvPr id="2" name="Image 1" descr="Convocation licenciement : validité de la remise en main propre">
            <a:extLst>
              <a:ext uri="{FF2B5EF4-FFF2-40B4-BE49-F238E27FC236}">
                <a16:creationId xmlns:a16="http://schemas.microsoft.com/office/drawing/2014/main" id="{4A51994E-59ED-4AC6-2921-8C999D164332}"/>
              </a:ext>
            </a:extLst>
          </p:cNvPr>
          <p:cNvPicPr>
            <a:picLocks noChangeAspect="1"/>
          </p:cNvPicPr>
          <p:nvPr/>
        </p:nvPicPr>
        <p:blipFill>
          <a:blip r:embed="rId3"/>
          <a:stretch>
            <a:fillRect/>
          </a:stretch>
        </p:blipFill>
        <p:spPr>
          <a:xfrm>
            <a:off x="631733" y="3052203"/>
            <a:ext cx="2681007" cy="2412066"/>
          </a:xfrm>
          <a:prstGeom prst="rect">
            <a:avLst/>
          </a:prstGeom>
        </p:spPr>
      </p:pic>
      <p:pic>
        <p:nvPicPr>
          <p:cNvPr id="4" name="Image 3" descr="Quels sont les motifs de refus les plus courants ? – Pole Démarches">
            <a:extLst>
              <a:ext uri="{FF2B5EF4-FFF2-40B4-BE49-F238E27FC236}">
                <a16:creationId xmlns:a16="http://schemas.microsoft.com/office/drawing/2014/main" id="{E2B190DA-2D45-FE14-742D-A16616B2A8FF}"/>
              </a:ext>
            </a:extLst>
          </p:cNvPr>
          <p:cNvPicPr>
            <a:picLocks noChangeAspect="1"/>
          </p:cNvPicPr>
          <p:nvPr/>
        </p:nvPicPr>
        <p:blipFill>
          <a:blip r:embed="rId4"/>
          <a:stretch>
            <a:fillRect/>
          </a:stretch>
        </p:blipFill>
        <p:spPr>
          <a:xfrm>
            <a:off x="5293380" y="3724556"/>
            <a:ext cx="1952625" cy="1078566"/>
          </a:xfrm>
          <a:prstGeom prst="rect">
            <a:avLst/>
          </a:prstGeom>
        </p:spPr>
      </p:pic>
      <p:sp>
        <p:nvSpPr>
          <p:cNvPr id="9" name="Flèche : droite 8">
            <a:extLst>
              <a:ext uri="{FF2B5EF4-FFF2-40B4-BE49-F238E27FC236}">
                <a16:creationId xmlns:a16="http://schemas.microsoft.com/office/drawing/2014/main" id="{B1B83E4C-721A-F92A-DCBE-0E1EDACBE86A}"/>
              </a:ext>
            </a:extLst>
          </p:cNvPr>
          <p:cNvSpPr/>
          <p:nvPr/>
        </p:nvSpPr>
        <p:spPr>
          <a:xfrm>
            <a:off x="3590340" y="4046808"/>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Flèche : droite 10">
            <a:extLst>
              <a:ext uri="{FF2B5EF4-FFF2-40B4-BE49-F238E27FC236}">
                <a16:creationId xmlns:a16="http://schemas.microsoft.com/office/drawing/2014/main" id="{C5F6ECD9-B612-6504-CE0F-3A727048370D}"/>
              </a:ext>
            </a:extLst>
          </p:cNvPr>
          <p:cNvSpPr/>
          <p:nvPr/>
        </p:nvSpPr>
        <p:spPr>
          <a:xfrm>
            <a:off x="7546016" y="4046808"/>
            <a:ext cx="1374913" cy="430695"/>
          </a:xfrm>
          <a:prstGeom prst="rightArrow">
            <a:avLst/>
          </a:prstGeom>
          <a:solidFill>
            <a:srgbClr val="68BBB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2" name="Image 11" descr="Dessin Au Trait Continu D'un Entretien D'embauche Entre Deux Hommes  Illustration de Vecteur - Illustration du bureau, débat: 141212279">
            <a:extLst>
              <a:ext uri="{FF2B5EF4-FFF2-40B4-BE49-F238E27FC236}">
                <a16:creationId xmlns:a16="http://schemas.microsoft.com/office/drawing/2014/main" id="{3DEA7062-5B7F-DFB7-6C5B-3E1E2F45ED77}"/>
              </a:ext>
            </a:extLst>
          </p:cNvPr>
          <p:cNvPicPr>
            <a:picLocks noChangeAspect="1"/>
          </p:cNvPicPr>
          <p:nvPr/>
        </p:nvPicPr>
        <p:blipFill>
          <a:blip r:embed="rId5"/>
          <a:stretch>
            <a:fillRect/>
          </a:stretch>
        </p:blipFill>
        <p:spPr>
          <a:xfrm>
            <a:off x="9113744" y="3202361"/>
            <a:ext cx="2884394" cy="1797983"/>
          </a:xfrm>
          <a:prstGeom prst="rect">
            <a:avLst/>
          </a:prstGeom>
        </p:spPr>
      </p:pic>
    </p:spTree>
    <p:extLst>
      <p:ext uri="{BB962C8B-B14F-4D97-AF65-F5344CB8AC3E}">
        <p14:creationId xmlns:p14="http://schemas.microsoft.com/office/powerpoint/2010/main" val="9407805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C3EEF-CD98-3748-33E0-E47527AB0D25}"/>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29DFE1AE-4756-F87D-011D-9EF9FC483F0A}"/>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ACTUALITE JURISPRUDENTIELLE</a:t>
            </a:r>
            <a:endParaRPr lang="fr-FR"/>
          </a:p>
        </p:txBody>
      </p:sp>
      <p:sp>
        <p:nvSpPr>
          <p:cNvPr id="5" name="ZoneTexte 4">
            <a:extLst>
              <a:ext uri="{FF2B5EF4-FFF2-40B4-BE49-F238E27FC236}">
                <a16:creationId xmlns:a16="http://schemas.microsoft.com/office/drawing/2014/main" id="{3AF8EE66-A6E1-EEA4-4B4D-A3A5203281E9}"/>
              </a:ext>
            </a:extLst>
          </p:cNvPr>
          <p:cNvSpPr txBox="1"/>
          <p:nvPr/>
        </p:nvSpPr>
        <p:spPr>
          <a:xfrm>
            <a:off x="540534" y="2953115"/>
            <a:ext cx="4594440" cy="3046988"/>
          </a:xfrm>
          <a:prstGeom prst="rect">
            <a:avLst/>
          </a:prstGeom>
          <a:noFill/>
        </p:spPr>
        <p:txBody>
          <a:bodyPr wrap="square" lIns="91440" tIns="45720" rIns="91440" bIns="45720" anchor="t">
            <a:spAutoFit/>
          </a:bodyPr>
          <a:lstStyle/>
          <a:p>
            <a:pPr algn="just"/>
            <a:endParaRPr lang="fr-FR" sz="1600">
              <a:solidFill>
                <a:srgbClr val="000000"/>
              </a:solidFill>
              <a:latin typeface="Montserrat Light" panose="00000400000000000000" pitchFamily="2" charset="0"/>
            </a:endParaRPr>
          </a:p>
          <a:p>
            <a:pPr algn="just"/>
            <a:r>
              <a:rPr lang="fr-FR" sz="1600" b="1" u="sng">
                <a:solidFill>
                  <a:srgbClr val="68BBB4"/>
                </a:solidFill>
                <a:latin typeface="Montserrat Light"/>
              </a:rPr>
              <a:t>       Rappel</a:t>
            </a:r>
            <a:endParaRPr lang="fr-FR"/>
          </a:p>
          <a:p>
            <a:pPr algn="just"/>
            <a:endParaRPr lang="fr-FR" sz="1600" b="1" u="sng">
              <a:solidFill>
                <a:srgbClr val="68BBB4"/>
              </a:solidFill>
              <a:latin typeface="Montserrat Light"/>
            </a:endParaRPr>
          </a:p>
          <a:p>
            <a:pPr algn="just"/>
            <a:endParaRPr lang="fr-FR" sz="1600" b="1" u="sng">
              <a:solidFill>
                <a:srgbClr val="68BBB4"/>
              </a:solidFill>
              <a:latin typeface="Montserrat Light"/>
            </a:endParaRPr>
          </a:p>
          <a:p>
            <a:pPr algn="just"/>
            <a:r>
              <a:rPr lang="fr-FR" sz="1600">
                <a:solidFill>
                  <a:srgbClr val="000000"/>
                </a:solidFill>
                <a:latin typeface="Montserrat Light"/>
              </a:rPr>
              <a:t>La Cour de cassation est venue rappeler que les modes de convocation :</a:t>
            </a:r>
            <a:endParaRPr lang="en-US" sz="1600">
              <a:solidFill>
                <a:srgbClr val="000000"/>
              </a:solidFill>
              <a:latin typeface="Montserrat Light"/>
            </a:endParaRPr>
          </a:p>
          <a:p>
            <a:pPr marL="285750" indent="-285750" algn="just">
              <a:buFont typeface="Calibri"/>
              <a:buChar char="-"/>
            </a:pPr>
            <a:r>
              <a:rPr lang="fr-FR" sz="1600">
                <a:solidFill>
                  <a:srgbClr val="000000"/>
                </a:solidFill>
                <a:latin typeface="Montserrat Light"/>
              </a:rPr>
              <a:t>LRAR,</a:t>
            </a:r>
            <a:endParaRPr lang="en-US" sz="1600">
              <a:solidFill>
                <a:srgbClr val="000000"/>
              </a:solidFill>
              <a:latin typeface="Montserrat Light"/>
            </a:endParaRPr>
          </a:p>
          <a:p>
            <a:pPr marL="285750" indent="-285750" algn="just">
              <a:buFont typeface="Calibri"/>
              <a:buChar char="-"/>
            </a:pPr>
            <a:r>
              <a:rPr lang="fr-FR" sz="1600">
                <a:solidFill>
                  <a:srgbClr val="000000"/>
                </a:solidFill>
                <a:latin typeface="Montserrat Light"/>
              </a:rPr>
              <a:t>Remise en main propre contre décharge</a:t>
            </a:r>
            <a:endParaRPr lang="en-US" sz="1600">
              <a:solidFill>
                <a:srgbClr val="000000"/>
              </a:solidFill>
              <a:latin typeface="Montserrat Light"/>
            </a:endParaRPr>
          </a:p>
          <a:p>
            <a:pPr algn="just"/>
            <a:r>
              <a:rPr lang="fr-FR" sz="1600">
                <a:solidFill>
                  <a:srgbClr val="000000"/>
                </a:solidFill>
                <a:latin typeface="Montserrat Light"/>
              </a:rPr>
              <a:t>à l’EP constituent des </a:t>
            </a:r>
            <a:r>
              <a:rPr lang="fr-FR" sz="1600" b="1">
                <a:solidFill>
                  <a:srgbClr val="000000"/>
                </a:solidFill>
                <a:latin typeface="Montserrat Light"/>
              </a:rPr>
              <a:t>moyens légaux de prévenir toute contestation sur la date de convocation. </a:t>
            </a:r>
            <a:endParaRPr lang="en-US" sz="1600" b="1">
              <a:solidFill>
                <a:srgbClr val="000000"/>
              </a:solidFill>
              <a:latin typeface="Montserrat Light"/>
            </a:endParaRPr>
          </a:p>
          <a:p>
            <a:pPr algn="just"/>
            <a:endParaRPr lang="en-US" sz="1600" b="1">
              <a:solidFill>
                <a:srgbClr val="000000"/>
              </a:solidFill>
              <a:latin typeface="Montserrat Light"/>
            </a:endParaRPr>
          </a:p>
        </p:txBody>
      </p:sp>
      <p:sp>
        <p:nvSpPr>
          <p:cNvPr id="6" name="ZoneTexte 5">
            <a:extLst>
              <a:ext uri="{FF2B5EF4-FFF2-40B4-BE49-F238E27FC236}">
                <a16:creationId xmlns:a16="http://schemas.microsoft.com/office/drawing/2014/main" id="{51D0C872-2D5C-6BDD-F530-CF6DF2357179}"/>
              </a:ext>
            </a:extLst>
          </p:cNvPr>
          <p:cNvSpPr txBox="1"/>
          <p:nvPr/>
        </p:nvSpPr>
        <p:spPr>
          <a:xfrm>
            <a:off x="540535" y="1558837"/>
            <a:ext cx="10808303" cy="923330"/>
          </a:xfrm>
          <a:prstGeom prst="rect">
            <a:avLst/>
          </a:prstGeom>
          <a:noFill/>
        </p:spPr>
        <p:txBody>
          <a:bodyPr wrap="square" lIns="91440" tIns="45720" rIns="91440" bIns="45720" rtlCol="0" anchor="t">
            <a:spAutoFit/>
          </a:bodyPr>
          <a:lstStyle/>
          <a:p>
            <a:r>
              <a:rPr lang="fr-FR" b="1">
                <a:solidFill>
                  <a:srgbClr val="E4003A"/>
                </a:solidFill>
                <a:latin typeface="Montserrat"/>
              </a:rPr>
              <a:t>Remise en main propre de la convocation à l’EP : l’absence de signature du salarié est sans effet</a:t>
            </a:r>
            <a:endParaRPr lang="fr-FR"/>
          </a:p>
          <a:p>
            <a:endParaRPr lang="fr-FR" b="1">
              <a:solidFill>
                <a:srgbClr val="E4003A"/>
              </a:solidFill>
              <a:latin typeface="Montserrat"/>
            </a:endParaRPr>
          </a:p>
        </p:txBody>
      </p:sp>
      <p:sp>
        <p:nvSpPr>
          <p:cNvPr id="7" name="ZoneTexte 6">
            <a:extLst>
              <a:ext uri="{FF2B5EF4-FFF2-40B4-BE49-F238E27FC236}">
                <a16:creationId xmlns:a16="http://schemas.microsoft.com/office/drawing/2014/main" id="{D228AF99-F100-1017-08AC-DD554E5761C7}"/>
              </a:ext>
            </a:extLst>
          </p:cNvPr>
          <p:cNvSpPr txBox="1"/>
          <p:nvPr/>
        </p:nvSpPr>
        <p:spPr>
          <a:xfrm>
            <a:off x="540488" y="2294860"/>
            <a:ext cx="60960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fr-FR" sz="1400" i="1">
                <a:solidFill>
                  <a:srgbClr val="000000"/>
                </a:solidFill>
                <a:latin typeface="Montserrat Light"/>
              </a:rPr>
              <a:t>Cass. Soc</a:t>
            </a:r>
            <a:r>
              <a:rPr lang="fr-FR" sz="1400" b="0" i="1" u="none" strike="noStrike" baseline="0">
                <a:solidFill>
                  <a:srgbClr val="000000"/>
                </a:solidFill>
                <a:latin typeface="Montserrat Light"/>
              </a:rPr>
              <a:t>. </a:t>
            </a:r>
            <a:r>
              <a:rPr lang="fr-FR" sz="1400" i="1">
                <a:solidFill>
                  <a:srgbClr val="000000"/>
                </a:solidFill>
                <a:latin typeface="Montserrat Light"/>
              </a:rPr>
              <a:t>21 janvier 2026</a:t>
            </a:r>
            <a:r>
              <a:rPr lang="fr-FR" sz="1400" b="0" i="1" u="none" strike="noStrike" baseline="0">
                <a:solidFill>
                  <a:srgbClr val="000000"/>
                </a:solidFill>
                <a:latin typeface="Montserrat Light"/>
              </a:rPr>
              <a:t>, n°</a:t>
            </a:r>
            <a:r>
              <a:rPr lang="fr-FR" sz="1400" i="1">
                <a:solidFill>
                  <a:srgbClr val="000000"/>
                </a:solidFill>
                <a:latin typeface="Montserrat Light"/>
              </a:rPr>
              <a:t> 24-16240 </a:t>
            </a:r>
            <a:endParaRPr lang="fr-FR" sz="1400">
              <a:solidFill>
                <a:srgbClr val="000000"/>
              </a:solidFill>
              <a:latin typeface="Montserrat Light"/>
            </a:endParaRPr>
          </a:p>
        </p:txBody>
      </p:sp>
      <p:pic>
        <p:nvPicPr>
          <p:cNvPr id="4" name="Image 3" descr="⚠️ Affichage non autorisé : un rappel à la réglementation">
            <a:extLst>
              <a:ext uri="{FF2B5EF4-FFF2-40B4-BE49-F238E27FC236}">
                <a16:creationId xmlns:a16="http://schemas.microsoft.com/office/drawing/2014/main" id="{0B551296-648C-1DA0-205E-B0C7109E9A9D}"/>
              </a:ext>
            </a:extLst>
          </p:cNvPr>
          <p:cNvPicPr>
            <a:picLocks noChangeAspect="1"/>
          </p:cNvPicPr>
          <p:nvPr/>
        </p:nvPicPr>
        <p:blipFill>
          <a:blip r:embed="rId3"/>
          <a:stretch>
            <a:fillRect/>
          </a:stretch>
        </p:blipFill>
        <p:spPr>
          <a:xfrm>
            <a:off x="340379" y="2749644"/>
            <a:ext cx="910478" cy="921684"/>
          </a:xfrm>
          <a:prstGeom prst="rect">
            <a:avLst/>
          </a:prstGeom>
        </p:spPr>
      </p:pic>
      <p:sp>
        <p:nvSpPr>
          <p:cNvPr id="8" name="ZoneTexte 7">
            <a:extLst>
              <a:ext uri="{FF2B5EF4-FFF2-40B4-BE49-F238E27FC236}">
                <a16:creationId xmlns:a16="http://schemas.microsoft.com/office/drawing/2014/main" id="{93399620-CFAE-D076-89A4-797BD3330981}"/>
              </a:ext>
            </a:extLst>
          </p:cNvPr>
          <p:cNvSpPr txBox="1"/>
          <p:nvPr/>
        </p:nvSpPr>
        <p:spPr>
          <a:xfrm>
            <a:off x="7272618" y="2958353"/>
            <a:ext cx="4213412" cy="303605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rtl="0"/>
            <a:r>
              <a:rPr lang="fr-FR" sz="1600" b="0" i="0">
                <a:solidFill>
                  <a:srgbClr val="000000"/>
                </a:solidFill>
                <a:latin typeface="Montserrat Light"/>
                <a:ea typeface="Segoe UI"/>
                <a:cs typeface="Segoe UI"/>
              </a:rPr>
              <a:t>​</a:t>
            </a:r>
          </a:p>
          <a:p>
            <a:pPr algn="just" rtl="0">
              <a:lnSpc>
                <a:spcPts val="1650"/>
              </a:lnSpc>
            </a:pPr>
            <a:r>
              <a:rPr lang="fr-FR" sz="1800" b="0" i="0" u="none" strike="noStrike" baseline="0">
                <a:solidFill>
                  <a:srgbClr val="000000"/>
                </a:solidFill>
                <a:latin typeface="Calibri"/>
                <a:ea typeface="Segoe UI"/>
                <a:cs typeface="Segoe UI"/>
              </a:rPr>
              <a:t>📌</a:t>
            </a:r>
            <a:r>
              <a:rPr lang="fr-FR" sz="1600" b="1" i="0" u="sng" baseline="0">
                <a:solidFill>
                  <a:srgbClr val="68BBB4"/>
                </a:solidFill>
                <a:latin typeface="Montserrat Light"/>
                <a:ea typeface="Segoe UI"/>
                <a:cs typeface="Segoe UI"/>
              </a:rPr>
              <a:t> La solution </a:t>
            </a:r>
            <a:r>
              <a:rPr lang="fr-FR" sz="1600" b="0" i="0">
                <a:solidFill>
                  <a:srgbClr val="000000"/>
                </a:solidFill>
                <a:latin typeface="Montserrat Light"/>
                <a:ea typeface="Segoe UI"/>
                <a:cs typeface="Segoe UI"/>
              </a:rPr>
              <a:t>​</a:t>
            </a:r>
          </a:p>
          <a:p>
            <a:pPr algn="just" rtl="0">
              <a:lnSpc>
                <a:spcPts val="1650"/>
              </a:lnSpc>
            </a:pPr>
            <a:r>
              <a:rPr lang="fr-FR" sz="1600" b="0" i="0">
                <a:solidFill>
                  <a:srgbClr val="000000"/>
                </a:solidFill>
                <a:latin typeface="Montserrat Light"/>
                <a:ea typeface="Segoe UI"/>
                <a:cs typeface="Segoe UI"/>
              </a:rPr>
              <a:t>​</a:t>
            </a:r>
          </a:p>
          <a:p>
            <a:pPr algn="just" rtl="0">
              <a:lnSpc>
                <a:spcPts val="1650"/>
              </a:lnSpc>
            </a:pPr>
            <a:r>
              <a:rPr lang="fr-FR" sz="1600" b="1" i="0" u="none" strike="noStrike" baseline="0">
                <a:solidFill>
                  <a:srgbClr val="000000"/>
                </a:solidFill>
                <a:latin typeface="Montserrat Light"/>
                <a:ea typeface="Segoe UI"/>
                <a:cs typeface="Segoe UI"/>
              </a:rPr>
              <a:t>Dès lors que le salarié s’est présenté à l’EP, le refus de signature de la remise contre décharge par le salarié n’empêche pas la poursuite de la procédure disciplinaire et </a:t>
            </a:r>
            <a:r>
              <a:rPr lang="fr-FR" sz="1600" b="1" i="0" u="none" strike="noStrike" baseline="0">
                <a:solidFill>
                  <a:srgbClr val="FF0000"/>
                </a:solidFill>
                <a:latin typeface="Montserrat Light"/>
                <a:ea typeface="Segoe UI"/>
                <a:cs typeface="Segoe UI"/>
              </a:rPr>
              <a:t>n’ouvre pas automatiquement droit à l’indemnisation.</a:t>
            </a:r>
            <a:r>
              <a:rPr lang="en-US" sz="1600" b="0" i="0">
                <a:solidFill>
                  <a:srgbClr val="FF0000"/>
                </a:solidFill>
                <a:latin typeface="Montserrat Light"/>
                <a:ea typeface="Segoe UI"/>
                <a:cs typeface="Segoe UI"/>
              </a:rPr>
              <a:t>​</a:t>
            </a:r>
          </a:p>
          <a:p>
            <a:pPr algn="just" rtl="0">
              <a:lnSpc>
                <a:spcPts val="1650"/>
              </a:lnSpc>
            </a:pPr>
            <a:r>
              <a:rPr lang="fr-FR" sz="1600" b="0" i="0">
                <a:solidFill>
                  <a:srgbClr val="000000"/>
                </a:solidFill>
                <a:latin typeface="Montserrat Light"/>
                <a:ea typeface="Segoe UI"/>
                <a:cs typeface="Segoe UI"/>
              </a:rPr>
              <a:t>​</a:t>
            </a:r>
          </a:p>
          <a:p>
            <a:pPr algn="just" rtl="0">
              <a:lnSpc>
                <a:spcPts val="1650"/>
              </a:lnSpc>
            </a:pPr>
            <a:r>
              <a:rPr lang="fr-FR" sz="1600" b="0" i="0">
                <a:solidFill>
                  <a:srgbClr val="000000"/>
                </a:solidFill>
                <a:latin typeface="Montserrat Light"/>
                <a:ea typeface="Segoe UI"/>
                <a:cs typeface="Segoe UI"/>
              </a:rPr>
              <a:t>​</a:t>
            </a:r>
          </a:p>
          <a:p>
            <a:pPr algn="ctr"/>
            <a:endParaRPr lang="fr-FR"/>
          </a:p>
        </p:txBody>
      </p:sp>
    </p:spTree>
    <p:extLst>
      <p:ext uri="{BB962C8B-B14F-4D97-AF65-F5344CB8AC3E}">
        <p14:creationId xmlns:p14="http://schemas.microsoft.com/office/powerpoint/2010/main" val="30384656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AEADD-2976-C96B-C67E-E5EAC6AF8DCC}"/>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C3EA6C7B-1EE9-E251-CE15-2FD99FA1FB6D}"/>
              </a:ext>
            </a:extLst>
          </p:cNvPr>
          <p:cNvSpPr txBox="1"/>
          <p:nvPr/>
        </p:nvSpPr>
        <p:spPr>
          <a:xfrm>
            <a:off x="538737" y="661622"/>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ACTUALITE JURISPRUDENTIELLE</a:t>
            </a:r>
            <a:endParaRPr lang="fr-FR"/>
          </a:p>
        </p:txBody>
      </p:sp>
      <p:sp>
        <p:nvSpPr>
          <p:cNvPr id="6" name="ZoneTexte 5">
            <a:extLst>
              <a:ext uri="{FF2B5EF4-FFF2-40B4-BE49-F238E27FC236}">
                <a16:creationId xmlns:a16="http://schemas.microsoft.com/office/drawing/2014/main" id="{EA7097F2-1E2B-FD52-FD9C-D31197C07824}"/>
              </a:ext>
            </a:extLst>
          </p:cNvPr>
          <p:cNvSpPr txBox="1"/>
          <p:nvPr/>
        </p:nvSpPr>
        <p:spPr>
          <a:xfrm>
            <a:off x="540535" y="1558837"/>
            <a:ext cx="10808303" cy="923330"/>
          </a:xfrm>
          <a:prstGeom prst="rect">
            <a:avLst/>
          </a:prstGeom>
          <a:noFill/>
        </p:spPr>
        <p:txBody>
          <a:bodyPr wrap="square" lIns="91440" tIns="45720" rIns="91440" bIns="45720" rtlCol="0" anchor="t">
            <a:spAutoFit/>
          </a:bodyPr>
          <a:lstStyle/>
          <a:p>
            <a:r>
              <a:rPr lang="fr-FR" b="1">
                <a:solidFill>
                  <a:srgbClr val="E4003A"/>
                </a:solidFill>
                <a:latin typeface="Montserrat"/>
              </a:rPr>
              <a:t>Remise en main propre de la convocation à l’EP : l’absence de signature du salarié est sans effet</a:t>
            </a:r>
          </a:p>
          <a:p>
            <a:endParaRPr lang="fr-FR" b="1">
              <a:solidFill>
                <a:srgbClr val="E4003A"/>
              </a:solidFill>
              <a:latin typeface="Montserrat" pitchFamily="2" charset="0"/>
            </a:endParaRPr>
          </a:p>
        </p:txBody>
      </p:sp>
      <p:sp>
        <p:nvSpPr>
          <p:cNvPr id="7" name="ZoneTexte 6">
            <a:extLst>
              <a:ext uri="{FF2B5EF4-FFF2-40B4-BE49-F238E27FC236}">
                <a16:creationId xmlns:a16="http://schemas.microsoft.com/office/drawing/2014/main" id="{44614A23-708E-28BC-9EC1-F7F343EFBD32}"/>
              </a:ext>
            </a:extLst>
          </p:cNvPr>
          <p:cNvSpPr txBox="1"/>
          <p:nvPr/>
        </p:nvSpPr>
        <p:spPr>
          <a:xfrm>
            <a:off x="540488" y="2294860"/>
            <a:ext cx="6096000"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fr-FR" sz="1400" b="0" i="1" u="none" strike="noStrike" baseline="0">
                <a:solidFill>
                  <a:srgbClr val="000000"/>
                </a:solidFill>
                <a:latin typeface="Montserrat Light"/>
              </a:rPr>
              <a:t>Cass. Soc. </a:t>
            </a:r>
            <a:r>
              <a:rPr lang="fr-FR" sz="1400" i="1">
                <a:solidFill>
                  <a:srgbClr val="000000"/>
                </a:solidFill>
                <a:latin typeface="Montserrat Light"/>
              </a:rPr>
              <a:t>21 janvier 2026</a:t>
            </a:r>
            <a:r>
              <a:rPr lang="fr-FR" sz="1400" b="0" i="1" u="none" strike="noStrike" baseline="0">
                <a:solidFill>
                  <a:srgbClr val="000000"/>
                </a:solidFill>
                <a:latin typeface="Montserrat Light"/>
              </a:rPr>
              <a:t>, n° </a:t>
            </a:r>
            <a:r>
              <a:rPr lang="fr-FR" sz="1400" i="1">
                <a:solidFill>
                  <a:srgbClr val="000000"/>
                </a:solidFill>
                <a:latin typeface="Montserrat Light"/>
              </a:rPr>
              <a:t>24-16240 </a:t>
            </a:r>
            <a:endParaRPr lang="fr-FR"/>
          </a:p>
          <a:p>
            <a:endParaRPr lang="fr-FR" sz="1400" i="1">
              <a:latin typeface="Montserrat Light"/>
            </a:endParaRPr>
          </a:p>
          <a:p>
            <a:pPr algn="ctr"/>
            <a:endParaRPr lang="fr-FR" sz="1600">
              <a:solidFill>
                <a:srgbClr val="000000"/>
              </a:solidFill>
              <a:latin typeface="Montserrat Light"/>
            </a:endParaRPr>
          </a:p>
        </p:txBody>
      </p:sp>
      <p:sp>
        <p:nvSpPr>
          <p:cNvPr id="4" name="ZoneTexte 3">
            <a:extLst>
              <a:ext uri="{FF2B5EF4-FFF2-40B4-BE49-F238E27FC236}">
                <a16:creationId xmlns:a16="http://schemas.microsoft.com/office/drawing/2014/main" id="{7E000077-3121-E80F-1473-2DF7CD74E1BA}"/>
              </a:ext>
            </a:extLst>
          </p:cNvPr>
          <p:cNvSpPr txBox="1"/>
          <p:nvPr/>
        </p:nvSpPr>
        <p:spPr>
          <a:xfrm>
            <a:off x="625159" y="2912481"/>
            <a:ext cx="7681928" cy="2062103"/>
          </a:xfrm>
          <a:prstGeom prst="rect">
            <a:avLst/>
          </a:prstGeom>
          <a:noFill/>
        </p:spPr>
        <p:txBody>
          <a:bodyPr wrap="square" lIns="91440" tIns="45720" rIns="91440" bIns="45720" anchor="t">
            <a:spAutoFit/>
          </a:bodyPr>
          <a:lstStyle/>
          <a:p>
            <a:pPr algn="just"/>
            <a:endParaRPr lang="fr-FR" sz="1600">
              <a:solidFill>
                <a:srgbClr val="000000"/>
              </a:solidFill>
              <a:latin typeface="Montserrat Light"/>
            </a:endParaRPr>
          </a:p>
          <a:p>
            <a:pPr algn="just"/>
            <a:r>
              <a:rPr lang="fr-FR" sz="1600">
                <a:solidFill>
                  <a:srgbClr val="000000"/>
                </a:solidFill>
                <a:latin typeface="Montserrat Light"/>
              </a:rPr>
              <a:t>🧭 </a:t>
            </a:r>
            <a:r>
              <a:rPr lang="fr-FR" sz="1600" b="1" u="sng">
                <a:solidFill>
                  <a:srgbClr val="68BBB4"/>
                </a:solidFill>
                <a:latin typeface="Montserrat Light"/>
              </a:rPr>
              <a:t>Notre conseil </a:t>
            </a:r>
          </a:p>
          <a:p>
            <a:pPr algn="just"/>
            <a:endParaRPr lang="fr-FR" sz="1600" b="1" u="sng">
              <a:solidFill>
                <a:srgbClr val="68BBB4"/>
              </a:solidFill>
              <a:latin typeface="Montserrat Light"/>
            </a:endParaRPr>
          </a:p>
          <a:p>
            <a:pPr algn="just"/>
            <a:r>
              <a:rPr lang="fr-FR" sz="1600">
                <a:solidFill>
                  <a:srgbClr val="000000"/>
                </a:solidFill>
                <a:latin typeface="Montserrat Light"/>
              </a:rPr>
              <a:t>Fortement recommandé de conserver une preuve certaine de la remise de la convocation pour sécuriser la procédure et éviter tout contentieux inutiles</a:t>
            </a:r>
          </a:p>
          <a:p>
            <a:pPr marL="285750" indent="-285750" algn="just">
              <a:buFont typeface="Calibri"/>
              <a:buChar char="-"/>
            </a:pPr>
            <a:endParaRPr lang="fr-FR" sz="1600">
              <a:solidFill>
                <a:srgbClr val="000000"/>
              </a:solidFill>
              <a:latin typeface="Montserrat Light"/>
            </a:endParaRPr>
          </a:p>
          <a:p>
            <a:pPr algn="just"/>
            <a:endParaRPr lang="fr-FR" sz="1600">
              <a:solidFill>
                <a:srgbClr val="000000"/>
              </a:solidFill>
              <a:latin typeface="Montserrat Light"/>
            </a:endParaRPr>
          </a:p>
        </p:txBody>
      </p:sp>
    </p:spTree>
    <p:extLst>
      <p:ext uri="{BB962C8B-B14F-4D97-AF65-F5344CB8AC3E}">
        <p14:creationId xmlns:p14="http://schemas.microsoft.com/office/powerpoint/2010/main" val="2477789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A124-02FE-E4E1-1929-E4B046F922A3}"/>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6A313726-6884-3B57-4C7A-E02564427996}"/>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2EE95555-52AE-5243-D77A-3681445264BF}"/>
              </a:ext>
            </a:extLst>
          </p:cNvPr>
          <p:cNvSpPr txBox="1"/>
          <p:nvPr/>
        </p:nvSpPr>
        <p:spPr>
          <a:xfrm>
            <a:off x="508742" y="1323959"/>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a:rPr>
              <a:t>Non-respect du préavis par un salarié démissionnaire : des dommages-intérêts pour l'employeur en plus de l'indemnité compensatrice ?</a:t>
            </a:r>
          </a:p>
        </p:txBody>
      </p:sp>
      <p:sp>
        <p:nvSpPr>
          <p:cNvPr id="5" name="ZoneTexte 4">
            <a:extLst>
              <a:ext uri="{FF2B5EF4-FFF2-40B4-BE49-F238E27FC236}">
                <a16:creationId xmlns:a16="http://schemas.microsoft.com/office/drawing/2014/main" id="{D60B5958-359A-6842-CF78-E9EFAF3D0215}"/>
              </a:ext>
            </a:extLst>
          </p:cNvPr>
          <p:cNvSpPr txBox="1"/>
          <p:nvPr/>
        </p:nvSpPr>
        <p:spPr>
          <a:xfrm>
            <a:off x="508742" y="2101945"/>
            <a:ext cx="11424179" cy="307777"/>
          </a:xfrm>
          <a:prstGeom prst="rect">
            <a:avLst/>
          </a:prstGeom>
          <a:noFill/>
        </p:spPr>
        <p:txBody>
          <a:bodyPr wrap="square" lIns="91440" tIns="45720" rIns="91440" bIns="45720" anchor="t">
            <a:spAutoFit/>
          </a:bodyPr>
          <a:lstStyle/>
          <a:p>
            <a:r>
              <a:rPr lang="fr-FR" sz="1400" i="1">
                <a:solidFill>
                  <a:srgbClr val="000000"/>
                </a:solidFill>
                <a:latin typeface="Montserrat Light"/>
              </a:rPr>
              <a:t>Cass. soc. 9 avril 2026, n° </a:t>
            </a:r>
            <a:r>
              <a:rPr lang="fr-FR" sz="1400" i="1">
                <a:solidFill>
                  <a:srgbClr val="000000"/>
                </a:solidFill>
                <a:latin typeface="Montserrat Light"/>
                <a:hlinkClick r:id="rId3">
                  <a:extLst>
                    <a:ext uri="{A12FA001-AC4F-418D-AE19-62706E023703}">
                      <ahyp:hlinkClr xmlns:ahyp="http://schemas.microsoft.com/office/drawing/2018/hyperlinkcolor" val="tx"/>
                    </a:ext>
                  </a:extLst>
                </a:hlinkClick>
              </a:rPr>
              <a:t>25-10995</a:t>
            </a:r>
            <a:r>
              <a:rPr lang="fr-FR" sz="1400" i="1">
                <a:solidFill>
                  <a:srgbClr val="000000"/>
                </a:solidFill>
                <a:latin typeface="Montserrat Light"/>
              </a:rPr>
              <a:t> FD</a:t>
            </a:r>
            <a:endParaRPr lang="fr-FR" sz="1600">
              <a:solidFill>
                <a:srgbClr val="000000"/>
              </a:solidFill>
              <a:highlight>
                <a:srgbClr val="FFFF00"/>
              </a:highlight>
              <a:latin typeface="Montserrat Light"/>
            </a:endParaRPr>
          </a:p>
        </p:txBody>
      </p:sp>
      <p:pic>
        <p:nvPicPr>
          <p:cNvPr id="8" name="Image 7" descr="Démissionner de son poste illustration stock. Illustration du démissionnez  - 76743885">
            <a:extLst>
              <a:ext uri="{FF2B5EF4-FFF2-40B4-BE49-F238E27FC236}">
                <a16:creationId xmlns:a16="http://schemas.microsoft.com/office/drawing/2014/main" id="{B6916FBB-E6F8-C31A-518E-DAF59D66455B}"/>
              </a:ext>
            </a:extLst>
          </p:cNvPr>
          <p:cNvPicPr>
            <a:picLocks noChangeAspect="1"/>
          </p:cNvPicPr>
          <p:nvPr/>
        </p:nvPicPr>
        <p:blipFill>
          <a:blip r:embed="rId4"/>
          <a:stretch>
            <a:fillRect/>
          </a:stretch>
        </p:blipFill>
        <p:spPr>
          <a:xfrm>
            <a:off x="4078941" y="2700617"/>
            <a:ext cx="3664325" cy="3608295"/>
          </a:xfrm>
          <a:prstGeom prst="rect">
            <a:avLst/>
          </a:prstGeom>
        </p:spPr>
      </p:pic>
    </p:spTree>
    <p:extLst>
      <p:ext uri="{BB962C8B-B14F-4D97-AF65-F5344CB8AC3E}">
        <p14:creationId xmlns:p14="http://schemas.microsoft.com/office/powerpoint/2010/main" val="2609571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6B540-B8E3-B345-8507-95A4A1D59B4F}"/>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5EB2D56A-C7EA-3E40-AB6D-3F78C978593A}"/>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4F6DE6BB-96F2-7948-FF44-C423D7A986ED}"/>
              </a:ext>
            </a:extLst>
          </p:cNvPr>
          <p:cNvSpPr txBox="1"/>
          <p:nvPr/>
        </p:nvSpPr>
        <p:spPr>
          <a:xfrm>
            <a:off x="508742" y="1323959"/>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a:rPr>
              <a:t>Non-respect du préavis par un salarié démissionnaire : des dommages-intérêts pour l'employeur en plus de l'indemnité compensatrice ?</a:t>
            </a:r>
          </a:p>
        </p:txBody>
      </p:sp>
      <p:sp>
        <p:nvSpPr>
          <p:cNvPr id="5" name="ZoneTexte 4">
            <a:extLst>
              <a:ext uri="{FF2B5EF4-FFF2-40B4-BE49-F238E27FC236}">
                <a16:creationId xmlns:a16="http://schemas.microsoft.com/office/drawing/2014/main" id="{D3E9BAD8-4D24-5B1B-8689-023F093003DD}"/>
              </a:ext>
            </a:extLst>
          </p:cNvPr>
          <p:cNvSpPr txBox="1"/>
          <p:nvPr/>
        </p:nvSpPr>
        <p:spPr>
          <a:xfrm>
            <a:off x="508742" y="2101945"/>
            <a:ext cx="11424179" cy="307777"/>
          </a:xfrm>
          <a:prstGeom prst="rect">
            <a:avLst/>
          </a:prstGeom>
          <a:noFill/>
        </p:spPr>
        <p:txBody>
          <a:bodyPr wrap="square" lIns="91440" tIns="45720" rIns="91440" bIns="45720" anchor="t">
            <a:spAutoFit/>
          </a:bodyPr>
          <a:lstStyle/>
          <a:p>
            <a:r>
              <a:rPr lang="fr-FR" sz="1400" i="1">
                <a:solidFill>
                  <a:srgbClr val="000000"/>
                </a:solidFill>
                <a:latin typeface="Montserrat Light"/>
              </a:rPr>
              <a:t>Cass. soc. 9 avril 2026, n° </a:t>
            </a:r>
            <a:r>
              <a:rPr lang="fr-FR" sz="1400" i="1">
                <a:solidFill>
                  <a:srgbClr val="000000"/>
                </a:solidFill>
                <a:latin typeface="Montserrat Light"/>
                <a:hlinkClick r:id="rId3">
                  <a:extLst>
                    <a:ext uri="{A12FA001-AC4F-418D-AE19-62706E023703}">
                      <ahyp:hlinkClr xmlns:ahyp="http://schemas.microsoft.com/office/drawing/2018/hyperlinkcolor" val="tx"/>
                    </a:ext>
                  </a:extLst>
                </a:hlinkClick>
              </a:rPr>
              <a:t>25-10995</a:t>
            </a:r>
            <a:r>
              <a:rPr lang="fr-FR" sz="1400" i="1">
                <a:solidFill>
                  <a:srgbClr val="000000"/>
                </a:solidFill>
                <a:latin typeface="Montserrat Light"/>
              </a:rPr>
              <a:t> FD</a:t>
            </a:r>
            <a:endParaRPr lang="fr-FR" sz="1600">
              <a:solidFill>
                <a:srgbClr val="000000"/>
              </a:solidFill>
              <a:highlight>
                <a:srgbClr val="FFFF00"/>
              </a:highlight>
              <a:latin typeface="Montserrat Light"/>
            </a:endParaRPr>
          </a:p>
        </p:txBody>
      </p:sp>
      <p:pic>
        <p:nvPicPr>
          <p:cNvPr id="2" name="Image 1" descr="1,9 millier Images et Photos de Dessin argent finances euros Libres de  Droits | Shutterstock">
            <a:extLst>
              <a:ext uri="{FF2B5EF4-FFF2-40B4-BE49-F238E27FC236}">
                <a16:creationId xmlns:a16="http://schemas.microsoft.com/office/drawing/2014/main" id="{ED8A1E9E-CE5E-E235-7488-28B110CB5B67}"/>
              </a:ext>
            </a:extLst>
          </p:cNvPr>
          <p:cNvPicPr>
            <a:picLocks noChangeAspect="1"/>
          </p:cNvPicPr>
          <p:nvPr/>
        </p:nvPicPr>
        <p:blipFill>
          <a:blip r:embed="rId4"/>
          <a:stretch>
            <a:fillRect/>
          </a:stretch>
        </p:blipFill>
        <p:spPr>
          <a:xfrm>
            <a:off x="7500938" y="3892644"/>
            <a:ext cx="2143125" cy="2143125"/>
          </a:xfrm>
          <a:prstGeom prst="rect">
            <a:avLst/>
          </a:prstGeom>
        </p:spPr>
      </p:pic>
      <p:pic>
        <p:nvPicPr>
          <p:cNvPr id="8" name="Image 7" descr="Démissionner de son poste illustration stock. Illustration du démissionnez  - 76743885">
            <a:extLst>
              <a:ext uri="{FF2B5EF4-FFF2-40B4-BE49-F238E27FC236}">
                <a16:creationId xmlns:a16="http://schemas.microsoft.com/office/drawing/2014/main" id="{4EFBEF76-CB80-C672-8A21-9EEE8D7BF881}"/>
              </a:ext>
            </a:extLst>
          </p:cNvPr>
          <p:cNvPicPr>
            <a:picLocks noChangeAspect="1"/>
          </p:cNvPicPr>
          <p:nvPr/>
        </p:nvPicPr>
        <p:blipFill>
          <a:blip r:embed="rId5"/>
          <a:stretch>
            <a:fillRect/>
          </a:stretch>
        </p:blipFill>
        <p:spPr>
          <a:xfrm>
            <a:off x="3731559" y="2521323"/>
            <a:ext cx="3664325" cy="3608295"/>
          </a:xfrm>
          <a:prstGeom prst="rect">
            <a:avLst/>
          </a:prstGeom>
        </p:spPr>
      </p:pic>
    </p:spTree>
    <p:extLst>
      <p:ext uri="{BB962C8B-B14F-4D97-AF65-F5344CB8AC3E}">
        <p14:creationId xmlns:p14="http://schemas.microsoft.com/office/powerpoint/2010/main" val="35057559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621A9-D662-3391-040B-F09ED02E8CD6}"/>
            </a:ext>
          </a:extLst>
        </p:cNvPr>
        <p:cNvGrpSpPr/>
        <p:nvPr/>
      </p:nvGrpSpPr>
      <p:grpSpPr>
        <a:xfrm>
          <a:off x="0" y="0"/>
          <a:ext cx="0" cy="0"/>
          <a:chOff x="0" y="0"/>
          <a:chExt cx="0" cy="0"/>
        </a:xfrm>
      </p:grpSpPr>
      <p:sp>
        <p:nvSpPr>
          <p:cNvPr id="3" name="ZoneTexte 7">
            <a:extLst>
              <a:ext uri="{FF2B5EF4-FFF2-40B4-BE49-F238E27FC236}">
                <a16:creationId xmlns:a16="http://schemas.microsoft.com/office/drawing/2014/main" id="{EC29D28B-AA7F-28C9-BA72-6EB4C4209C45}"/>
              </a:ext>
            </a:extLst>
          </p:cNvPr>
          <p:cNvSpPr txBox="1"/>
          <p:nvPr/>
        </p:nvSpPr>
        <p:spPr>
          <a:xfrm>
            <a:off x="511305" y="639797"/>
            <a:ext cx="10110612" cy="684162"/>
          </a:xfrm>
          <a:prstGeom prst="rect">
            <a:avLst/>
          </a:prstGeom>
          <a:noFill/>
        </p:spPr>
        <p:txBody>
          <a:bodyPr wrap="square" lIns="91440" tIns="45720" rIns="91440" bIns="45720" rtlCol="0" anchor="t">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5000"/>
              </a:lnSpc>
            </a:pPr>
            <a:r>
              <a:rPr lang="fr-FR" sz="3500" cap="all">
                <a:solidFill>
                  <a:srgbClr val="5E152C"/>
                </a:solidFill>
                <a:latin typeface="Montserrat Light"/>
              </a:rPr>
              <a:t>Actualité JURISPRUDENTIELLE</a:t>
            </a:r>
          </a:p>
        </p:txBody>
      </p:sp>
      <p:sp>
        <p:nvSpPr>
          <p:cNvPr id="4" name="ZoneTexte 3">
            <a:extLst>
              <a:ext uri="{FF2B5EF4-FFF2-40B4-BE49-F238E27FC236}">
                <a16:creationId xmlns:a16="http://schemas.microsoft.com/office/drawing/2014/main" id="{665ED511-7262-A2D8-83A9-3D5C4C462162}"/>
              </a:ext>
            </a:extLst>
          </p:cNvPr>
          <p:cNvSpPr txBox="1"/>
          <p:nvPr/>
        </p:nvSpPr>
        <p:spPr>
          <a:xfrm>
            <a:off x="508742" y="1323959"/>
            <a:ext cx="10808303" cy="646331"/>
          </a:xfrm>
          <a:prstGeom prst="rect">
            <a:avLst/>
          </a:prstGeom>
          <a:noFill/>
        </p:spPr>
        <p:txBody>
          <a:bodyPr wrap="square" lIns="91440" tIns="45720" rIns="91440" bIns="45720" rtlCol="0" anchor="t">
            <a:spAutoFit/>
          </a:bodyPr>
          <a:lstStyle/>
          <a:p>
            <a:r>
              <a:rPr lang="fr-FR" b="1">
                <a:solidFill>
                  <a:srgbClr val="E4003A"/>
                </a:solidFill>
                <a:latin typeface="Montserrat"/>
              </a:rPr>
              <a:t>Non-respect du préavis par un salarié démissionnaire : des dommages-intérêts pour l'employeur en plus de l'indemnité compensatrice ?</a:t>
            </a:r>
          </a:p>
        </p:txBody>
      </p:sp>
      <p:sp>
        <p:nvSpPr>
          <p:cNvPr id="5" name="ZoneTexte 4">
            <a:extLst>
              <a:ext uri="{FF2B5EF4-FFF2-40B4-BE49-F238E27FC236}">
                <a16:creationId xmlns:a16="http://schemas.microsoft.com/office/drawing/2014/main" id="{4E2ABE12-3A58-FA75-9BA7-603B383E9446}"/>
              </a:ext>
            </a:extLst>
          </p:cNvPr>
          <p:cNvSpPr txBox="1"/>
          <p:nvPr/>
        </p:nvSpPr>
        <p:spPr>
          <a:xfrm>
            <a:off x="508742" y="2101945"/>
            <a:ext cx="11424179" cy="1985159"/>
          </a:xfrm>
          <a:prstGeom prst="rect">
            <a:avLst/>
          </a:prstGeom>
          <a:noFill/>
        </p:spPr>
        <p:txBody>
          <a:bodyPr wrap="square" lIns="91440" tIns="45720" rIns="91440" bIns="45720" anchor="t">
            <a:spAutoFit/>
          </a:bodyPr>
          <a:lstStyle/>
          <a:p>
            <a:r>
              <a:rPr lang="fr-FR" sz="1200" i="1">
                <a:solidFill>
                  <a:srgbClr val="000000"/>
                </a:solidFill>
                <a:latin typeface="Montserrat Light"/>
              </a:rPr>
              <a:t>Cass. soc. 9 avril 2026, n° </a:t>
            </a:r>
            <a:r>
              <a:rPr lang="fr-FR" sz="1200" i="1">
                <a:solidFill>
                  <a:srgbClr val="000000"/>
                </a:solidFill>
                <a:latin typeface="Montserrat Light"/>
                <a:hlinkClick r:id="rId3">
                  <a:extLst>
                    <a:ext uri="{A12FA001-AC4F-418D-AE19-62706E023703}">
                      <ahyp:hlinkClr xmlns:ahyp="http://schemas.microsoft.com/office/drawing/2018/hyperlinkcolor" val="tx"/>
                    </a:ext>
                  </a:extLst>
                </a:hlinkClick>
              </a:rPr>
              <a:t>25-10995</a:t>
            </a:r>
            <a:r>
              <a:rPr lang="fr-FR" sz="1200" i="1">
                <a:solidFill>
                  <a:srgbClr val="000000"/>
                </a:solidFill>
                <a:latin typeface="Montserrat Light"/>
              </a:rPr>
              <a:t> FD</a:t>
            </a:r>
          </a:p>
          <a:p>
            <a:endParaRPr lang="fr-FR" sz="1300" i="1">
              <a:latin typeface="Montserrat Light" panose="00000400000000000000" pitchFamily="2" charset="0"/>
              <a:ea typeface="Calibri"/>
              <a:cs typeface="Calibri"/>
            </a:endParaRPr>
          </a:p>
          <a:p>
            <a:endParaRPr lang="fr-FR" sz="1600">
              <a:solidFill>
                <a:srgbClr val="000000"/>
              </a:solidFill>
              <a:highlight>
                <a:srgbClr val="FFFF00"/>
              </a:highlight>
              <a:latin typeface="Montserrat Light"/>
            </a:endParaRPr>
          </a:p>
          <a:p>
            <a:r>
              <a:rPr lang="fr-FR">
                <a:solidFill>
                  <a:srgbClr val="000000"/>
                </a:solidFill>
                <a:latin typeface="Calibri"/>
                <a:ea typeface="Calibri"/>
                <a:cs typeface="Calibri"/>
              </a:rPr>
              <a:t>📌</a:t>
            </a:r>
            <a:r>
              <a:rPr lang="fr-FR" sz="1600" b="1" u="sng">
                <a:solidFill>
                  <a:srgbClr val="68BBB4"/>
                </a:solidFill>
                <a:latin typeface="Montserrat Light"/>
              </a:rPr>
              <a:t> La solution </a:t>
            </a:r>
          </a:p>
          <a:p>
            <a:endParaRPr lang="fr-FR" sz="1600" b="1" u="sng">
              <a:solidFill>
                <a:srgbClr val="68BBB4"/>
              </a:solidFill>
              <a:latin typeface="Montserrat Light"/>
            </a:endParaRPr>
          </a:p>
          <a:p>
            <a:r>
              <a:rPr lang="fr-FR" sz="1600">
                <a:solidFill>
                  <a:srgbClr val="000000"/>
                </a:solidFill>
                <a:latin typeface="Montserrat Light"/>
              </a:rPr>
              <a:t> La Cour de cassation a donné raison au salarié. </a:t>
            </a:r>
          </a:p>
          <a:p>
            <a:r>
              <a:rPr lang="fr-FR" sz="1600">
                <a:solidFill>
                  <a:srgbClr val="000000"/>
                </a:solidFill>
                <a:latin typeface="Montserrat Light"/>
              </a:rPr>
              <a:t>Elle confirme qu'en l'</a:t>
            </a:r>
            <a:r>
              <a:rPr lang="fr-FR" sz="1600" b="1">
                <a:solidFill>
                  <a:srgbClr val="000000"/>
                </a:solidFill>
                <a:latin typeface="Montserrat Light"/>
              </a:rPr>
              <a:t>absence d'abus manifeste </a:t>
            </a:r>
            <a:r>
              <a:rPr lang="fr-FR" sz="1600">
                <a:solidFill>
                  <a:srgbClr val="000000"/>
                </a:solidFill>
                <a:latin typeface="Montserrat Light"/>
              </a:rPr>
              <a:t>ou d'</a:t>
            </a:r>
            <a:r>
              <a:rPr lang="fr-FR" sz="1600" b="1">
                <a:solidFill>
                  <a:srgbClr val="000000"/>
                </a:solidFill>
                <a:latin typeface="Montserrat Light"/>
              </a:rPr>
              <a:t>intention de nuire du salarié</a:t>
            </a:r>
            <a:r>
              <a:rPr lang="fr-FR" sz="1600">
                <a:solidFill>
                  <a:srgbClr val="000000"/>
                </a:solidFill>
                <a:latin typeface="Montserrat Light"/>
              </a:rPr>
              <a:t>, le salarié ne peut pas être tenu au paiement d'une autre indemnité que celle correspondant au préavis conventionnel.</a:t>
            </a:r>
            <a:endParaRPr lang="fr-FR"/>
          </a:p>
        </p:txBody>
      </p:sp>
    </p:spTree>
    <p:extLst>
      <p:ext uri="{BB962C8B-B14F-4D97-AF65-F5344CB8AC3E}">
        <p14:creationId xmlns:p14="http://schemas.microsoft.com/office/powerpoint/2010/main" val="37041839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B4A55EF0-7FA2-0E61-D92D-0197D0A2D435}"/>
              </a:ext>
            </a:extLst>
          </p:cNvPr>
          <p:cNvSpPr txBox="1"/>
          <p:nvPr/>
        </p:nvSpPr>
        <p:spPr>
          <a:xfrm>
            <a:off x="416180" y="1598664"/>
            <a:ext cx="4914414" cy="784830"/>
          </a:xfrm>
          <a:prstGeom prst="rect">
            <a:avLst/>
          </a:prstGeom>
          <a:noFill/>
        </p:spPr>
        <p:txBody>
          <a:bodyPr wrap="square" lIns="91440" tIns="45720" rIns="91440" bIns="45720" rtlCol="0" anchor="t">
            <a:spAutoFit/>
          </a:bodyPr>
          <a:lstStyle/>
          <a:p>
            <a:r>
              <a:rPr lang="fr-FR" sz="4500" b="1">
                <a:solidFill>
                  <a:schemeClr val="bg1"/>
                </a:solidFill>
                <a:latin typeface="Montserrat Black"/>
              </a:rPr>
              <a:t>TESTEZ VOUS </a:t>
            </a:r>
          </a:p>
        </p:txBody>
      </p:sp>
      <p:pic>
        <p:nvPicPr>
          <p:cNvPr id="3" name="Picture 2">
            <a:extLst>
              <a:ext uri="{FF2B5EF4-FFF2-40B4-BE49-F238E27FC236}">
                <a16:creationId xmlns:a16="http://schemas.microsoft.com/office/drawing/2014/main" id="{346C4D40-7785-12B3-F2A7-3CEF43514D4A}"/>
              </a:ext>
            </a:extLst>
          </p:cNvPr>
          <p:cNvPicPr>
            <a:picLocks noChangeAspect="1"/>
          </p:cNvPicPr>
          <p:nvPr/>
        </p:nvPicPr>
        <p:blipFill>
          <a:blip r:embed="rId2"/>
          <a:stretch>
            <a:fillRect/>
          </a:stretch>
        </p:blipFill>
        <p:spPr>
          <a:xfrm>
            <a:off x="2419350" y="2502807"/>
            <a:ext cx="3673929" cy="3688443"/>
          </a:xfrm>
          <a:prstGeom prst="rect">
            <a:avLst/>
          </a:prstGeom>
        </p:spPr>
      </p:pic>
    </p:spTree>
    <p:extLst>
      <p:ext uri="{BB962C8B-B14F-4D97-AF65-F5344CB8AC3E}">
        <p14:creationId xmlns:p14="http://schemas.microsoft.com/office/powerpoint/2010/main" val="15735494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ZoneTexte 8">
            <a:extLst>
              <a:ext uri="{FF2B5EF4-FFF2-40B4-BE49-F238E27FC236}">
                <a16:creationId xmlns:a16="http://schemas.microsoft.com/office/drawing/2014/main" id="{958735F4-42B7-3807-AC49-A4A0C158A856}"/>
              </a:ext>
            </a:extLst>
          </p:cNvPr>
          <p:cNvSpPr txBox="1"/>
          <p:nvPr/>
        </p:nvSpPr>
        <p:spPr>
          <a:xfrm>
            <a:off x="2799311" y="4188950"/>
            <a:ext cx="3628481" cy="1569660"/>
          </a:xfrm>
          <a:prstGeom prst="rect">
            <a:avLst/>
          </a:prstGeom>
          <a:noFill/>
        </p:spPr>
        <p:txBody>
          <a:bodyPr wrap="square" rtlCol="0">
            <a:spAutoFit/>
          </a:bodyPr>
          <a:lstStyle/>
          <a:p>
            <a:pPr algn="ctr"/>
            <a:r>
              <a:rPr lang="fr-FR" sz="1600" b="1">
                <a:solidFill>
                  <a:schemeClr val="bg1"/>
                </a:solidFill>
                <a:latin typeface="Montserrat" panose="00000500000000000000" pitchFamily="2" charset="0"/>
              </a:rPr>
              <a:t>FIOL Lucile</a:t>
            </a:r>
          </a:p>
          <a:p>
            <a:pPr algn="ctr"/>
            <a:r>
              <a:rPr lang="fr-FR" sz="1600">
                <a:solidFill>
                  <a:schemeClr val="bg1"/>
                </a:solidFill>
                <a:latin typeface="Montserrat" panose="00000500000000000000" pitchFamily="2" charset="0"/>
              </a:rPr>
              <a:t>Responsable Juridique RH </a:t>
            </a:r>
          </a:p>
          <a:p>
            <a:pPr algn="ctr"/>
            <a:r>
              <a:rPr lang="fr-FR" sz="1600">
                <a:solidFill>
                  <a:schemeClr val="bg1"/>
                </a:solidFill>
                <a:latin typeface="Montserrat" panose="00000500000000000000" pitchFamily="2" charset="0"/>
              </a:rPr>
              <a:t>@ : </a:t>
            </a:r>
            <a:r>
              <a:rPr lang="fr-FR" sz="1600">
                <a:solidFill>
                  <a:schemeClr val="bg1"/>
                </a:solidFill>
                <a:latin typeface="Montserrat" panose="00000500000000000000" pitchFamily="2" charset="0"/>
                <a:hlinkClick r:id="rId3">
                  <a:extLst>
                    <a:ext uri="{A12FA001-AC4F-418D-AE19-62706E023703}">
                      <ahyp:hlinkClr xmlns:ahyp="http://schemas.microsoft.com/office/drawing/2018/hyperlinkcolor" val="tx"/>
                    </a:ext>
                  </a:extLst>
                </a:hlinkClick>
              </a:rPr>
              <a:t>lu.fiol@fiteco.com</a:t>
            </a:r>
            <a:endParaRPr lang="fr-FR" sz="1600">
              <a:solidFill>
                <a:schemeClr val="bg1"/>
              </a:solidFill>
              <a:latin typeface="Montserrat" panose="00000500000000000000" pitchFamily="2" charset="0"/>
            </a:endParaRPr>
          </a:p>
          <a:p>
            <a:pPr algn="ctr"/>
            <a:r>
              <a:rPr lang="fr-FR" sz="1600">
                <a:solidFill>
                  <a:schemeClr val="bg1"/>
                </a:solidFill>
                <a:latin typeface="Montserrat" panose="00000500000000000000" pitchFamily="2" charset="0"/>
              </a:rPr>
              <a:t>07.63.10.77.44</a:t>
            </a:r>
          </a:p>
          <a:p>
            <a:pPr algn="ctr"/>
            <a:r>
              <a:rPr lang="fr-FR" sz="1600">
                <a:solidFill>
                  <a:schemeClr val="bg1"/>
                </a:solidFill>
                <a:latin typeface="Montserrat" panose="00000500000000000000" pitchFamily="2" charset="0"/>
              </a:rPr>
              <a:t>02.43.30.45.45</a:t>
            </a:r>
          </a:p>
          <a:p>
            <a:pPr algn="ctr"/>
            <a:endParaRPr lang="fr-FR" sz="1600">
              <a:solidFill>
                <a:schemeClr val="bg1"/>
              </a:solidFill>
              <a:latin typeface="Montserrat" panose="00000500000000000000" pitchFamily="2" charset="0"/>
            </a:endParaRPr>
          </a:p>
        </p:txBody>
      </p:sp>
      <p:sp>
        <p:nvSpPr>
          <p:cNvPr id="2" name="ZoneTexte 1">
            <a:extLst>
              <a:ext uri="{FF2B5EF4-FFF2-40B4-BE49-F238E27FC236}">
                <a16:creationId xmlns:a16="http://schemas.microsoft.com/office/drawing/2014/main" id="{13409D64-6452-DA56-53EE-1AD6D0B12CE7}"/>
              </a:ext>
            </a:extLst>
          </p:cNvPr>
          <p:cNvSpPr txBox="1"/>
          <p:nvPr/>
        </p:nvSpPr>
        <p:spPr>
          <a:xfrm>
            <a:off x="3356968" y="1026290"/>
            <a:ext cx="7338951" cy="584775"/>
          </a:xfrm>
          <a:prstGeom prst="rect">
            <a:avLst/>
          </a:prstGeom>
          <a:noFill/>
        </p:spPr>
        <p:txBody>
          <a:bodyPr wrap="square" rtlCol="0">
            <a:spAutoFit/>
          </a:bodyPr>
          <a:lstStyle/>
          <a:p>
            <a:r>
              <a:rPr lang="fr-FR" sz="3200" b="1">
                <a:solidFill>
                  <a:schemeClr val="bg1"/>
                </a:solidFill>
                <a:latin typeface="Montserrat" panose="00000500000000000000" pitchFamily="2" charset="0"/>
              </a:rPr>
              <a:t>MERCI DE VOTRE ATTENTION !</a:t>
            </a:r>
          </a:p>
        </p:txBody>
      </p:sp>
      <p:pic>
        <p:nvPicPr>
          <p:cNvPr id="5" name="Image 4" descr="Une image contenant Visage humain, personne, habits, sourire&#10;&#10;Le contenu généré par l’IA peut être incorrect.">
            <a:extLst>
              <a:ext uri="{FF2B5EF4-FFF2-40B4-BE49-F238E27FC236}">
                <a16:creationId xmlns:a16="http://schemas.microsoft.com/office/drawing/2014/main" id="{87F4926E-D0D1-8832-2FB4-987FF9DDA2A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13199" y="1909473"/>
            <a:ext cx="1400708" cy="2136232"/>
          </a:xfrm>
          <a:prstGeom prst="rect">
            <a:avLst/>
          </a:prstGeom>
        </p:spPr>
      </p:pic>
      <p:pic>
        <p:nvPicPr>
          <p:cNvPr id="4" name="Picture 24" descr="Une image contenant Visage humain, personne, sourire, écharpe&#10;&#10;Description générée automatiquement">
            <a:extLst>
              <a:ext uri="{FF2B5EF4-FFF2-40B4-BE49-F238E27FC236}">
                <a16:creationId xmlns:a16="http://schemas.microsoft.com/office/drawing/2014/main" id="{6E4F6491-7888-DE28-1EFF-8FCA32D9574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484" y="1912974"/>
            <a:ext cx="1395260" cy="2129819"/>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a:extLst>
              <a:ext uri="{FF2B5EF4-FFF2-40B4-BE49-F238E27FC236}">
                <a16:creationId xmlns:a16="http://schemas.microsoft.com/office/drawing/2014/main" id="{300E97B6-D3D5-2D60-B063-8FE1A1959BDF}"/>
              </a:ext>
            </a:extLst>
          </p:cNvPr>
          <p:cNvSpPr txBox="1"/>
          <p:nvPr/>
        </p:nvSpPr>
        <p:spPr>
          <a:xfrm>
            <a:off x="5303911" y="4188949"/>
            <a:ext cx="3628481" cy="1323439"/>
          </a:xfrm>
          <a:prstGeom prst="rect">
            <a:avLst/>
          </a:prstGeom>
          <a:noFill/>
        </p:spPr>
        <p:txBody>
          <a:bodyPr wrap="square" lIns="91440" tIns="45720" rIns="91440" bIns="45720" rtlCol="0" anchor="t">
            <a:spAutoFit/>
          </a:bodyPr>
          <a:lstStyle/>
          <a:p>
            <a:pPr algn="ctr"/>
            <a:r>
              <a:rPr lang="fr-FR" sz="1600" b="1">
                <a:solidFill>
                  <a:schemeClr val="bg1"/>
                </a:solidFill>
                <a:latin typeface="Montserrat"/>
              </a:rPr>
              <a:t>VALOIS Anaïs</a:t>
            </a:r>
            <a:endParaRPr lang="fr-FR" sz="1600" b="1">
              <a:solidFill>
                <a:schemeClr val="bg1"/>
              </a:solidFill>
              <a:latin typeface="Montserrat" panose="00000500000000000000" pitchFamily="2" charset="0"/>
            </a:endParaRPr>
          </a:p>
          <a:p>
            <a:pPr algn="ctr"/>
            <a:r>
              <a:rPr lang="fr-FR" sz="1600">
                <a:solidFill>
                  <a:schemeClr val="bg1"/>
                </a:solidFill>
                <a:latin typeface="Montserrat"/>
              </a:rPr>
              <a:t>Juriste</a:t>
            </a:r>
          </a:p>
          <a:p>
            <a:pPr algn="ctr"/>
            <a:r>
              <a:rPr lang="fr-FR" sz="1600">
                <a:solidFill>
                  <a:schemeClr val="bg1"/>
                </a:solidFill>
                <a:latin typeface="Montserrat"/>
              </a:rPr>
              <a:t>@ : </a:t>
            </a:r>
            <a:r>
              <a:rPr lang="fr-FR" sz="1600">
                <a:solidFill>
                  <a:schemeClr val="bg1"/>
                </a:solidFill>
                <a:latin typeface="Montserrat"/>
                <a:hlinkClick r:id="rId3">
                  <a:extLst>
                    <a:ext uri="{A12FA001-AC4F-418D-AE19-62706E023703}">
                      <ahyp:hlinkClr xmlns:ahyp="http://schemas.microsoft.com/office/drawing/2018/hyperlinkcolor" val="tx"/>
                    </a:ext>
                  </a:extLst>
                </a:hlinkClick>
              </a:rPr>
              <a:t>a.valois@fiteco.com</a:t>
            </a:r>
            <a:endParaRPr lang="fr-FR" sz="1600">
              <a:solidFill>
                <a:schemeClr val="bg1"/>
              </a:solidFill>
              <a:latin typeface="Montserrat"/>
            </a:endParaRPr>
          </a:p>
          <a:p>
            <a:pPr algn="ctr"/>
            <a:r>
              <a:rPr lang="fr-FR" sz="1600">
                <a:solidFill>
                  <a:schemeClr val="bg1"/>
                </a:solidFill>
                <a:latin typeface="Montserrat" panose="00000500000000000000" pitchFamily="2" charset="0"/>
              </a:rPr>
              <a:t>02.43.30.45.45</a:t>
            </a:r>
          </a:p>
          <a:p>
            <a:pPr algn="ctr"/>
            <a:endParaRPr lang="fr-FR" sz="1600">
              <a:solidFill>
                <a:schemeClr val="bg1"/>
              </a:solidFill>
              <a:latin typeface="Montserrat" panose="00000500000000000000" pitchFamily="2" charset="0"/>
            </a:endParaRPr>
          </a:p>
        </p:txBody>
      </p:sp>
      <p:sp>
        <p:nvSpPr>
          <p:cNvPr id="7" name="ZoneTexte 6">
            <a:extLst>
              <a:ext uri="{FF2B5EF4-FFF2-40B4-BE49-F238E27FC236}">
                <a16:creationId xmlns:a16="http://schemas.microsoft.com/office/drawing/2014/main" id="{6497CB0E-23CE-EC99-D416-B9D35FDAA650}"/>
              </a:ext>
            </a:extLst>
          </p:cNvPr>
          <p:cNvSpPr txBox="1"/>
          <p:nvPr/>
        </p:nvSpPr>
        <p:spPr>
          <a:xfrm>
            <a:off x="8320878" y="4188948"/>
            <a:ext cx="3628481" cy="1323439"/>
          </a:xfrm>
          <a:prstGeom prst="rect">
            <a:avLst/>
          </a:prstGeom>
          <a:noFill/>
        </p:spPr>
        <p:txBody>
          <a:bodyPr wrap="square" lIns="91440" tIns="45720" rIns="91440" bIns="45720" rtlCol="0" anchor="t">
            <a:spAutoFit/>
          </a:bodyPr>
          <a:lstStyle/>
          <a:p>
            <a:pPr algn="ctr"/>
            <a:r>
              <a:rPr lang="fr-FR" sz="1600" b="1">
                <a:solidFill>
                  <a:schemeClr val="bg1"/>
                </a:solidFill>
                <a:latin typeface="Montserrat"/>
              </a:rPr>
              <a:t>CIVET Annaïg</a:t>
            </a:r>
            <a:endParaRPr lang="fr-FR" sz="1600" b="1">
              <a:solidFill>
                <a:schemeClr val="bg1"/>
              </a:solidFill>
              <a:latin typeface="Montserrat" panose="00000500000000000000" pitchFamily="2" charset="0"/>
            </a:endParaRPr>
          </a:p>
          <a:p>
            <a:pPr algn="ctr"/>
            <a:r>
              <a:rPr lang="fr-FR" sz="1600">
                <a:solidFill>
                  <a:schemeClr val="bg1"/>
                </a:solidFill>
                <a:latin typeface="Montserrat"/>
              </a:rPr>
              <a:t>Gestionnaire paie</a:t>
            </a:r>
          </a:p>
          <a:p>
            <a:pPr algn="ctr"/>
            <a:r>
              <a:rPr lang="fr-FR" sz="1600">
                <a:solidFill>
                  <a:schemeClr val="bg1"/>
                </a:solidFill>
                <a:latin typeface="Montserrat"/>
              </a:rPr>
              <a:t>@ : </a:t>
            </a:r>
            <a:r>
              <a:rPr lang="fr-FR" sz="1600">
                <a:solidFill>
                  <a:schemeClr val="bg1"/>
                </a:solidFill>
                <a:latin typeface="Montserrat"/>
                <a:hlinkClick r:id="rId3">
                  <a:extLst>
                    <a:ext uri="{A12FA001-AC4F-418D-AE19-62706E023703}">
                      <ahyp:hlinkClr xmlns:ahyp="http://schemas.microsoft.com/office/drawing/2018/hyperlinkcolor" val="tx"/>
                    </a:ext>
                  </a:extLst>
                </a:hlinkClick>
              </a:rPr>
              <a:t>a.civet@fiteco.com</a:t>
            </a:r>
            <a:endParaRPr lang="fr-FR" sz="1600">
              <a:solidFill>
                <a:schemeClr val="bg1"/>
              </a:solidFill>
              <a:latin typeface="Montserrat"/>
            </a:endParaRPr>
          </a:p>
          <a:p>
            <a:pPr algn="ctr"/>
            <a:r>
              <a:rPr lang="fr-FR" sz="1600">
                <a:solidFill>
                  <a:schemeClr val="bg1"/>
                </a:solidFill>
                <a:latin typeface="Montserrat" panose="00000500000000000000" pitchFamily="2" charset="0"/>
              </a:rPr>
              <a:t>02.43.30.45.45</a:t>
            </a:r>
          </a:p>
          <a:p>
            <a:pPr algn="ctr"/>
            <a:endParaRPr lang="fr-FR" sz="1600">
              <a:solidFill>
                <a:schemeClr val="bg1"/>
              </a:solidFill>
              <a:latin typeface="Montserrat" panose="00000500000000000000" pitchFamily="2" charset="0"/>
            </a:endParaRPr>
          </a:p>
        </p:txBody>
      </p:sp>
      <p:pic>
        <p:nvPicPr>
          <p:cNvPr id="10" name="Picture 6" descr="Une image contenant habits, personne, Visage humain, portrait&#10;&#10;Description générée automatiquement">
            <a:extLst>
              <a:ext uri="{FF2B5EF4-FFF2-40B4-BE49-F238E27FC236}">
                <a16:creationId xmlns:a16="http://schemas.microsoft.com/office/drawing/2014/main" id="{9AA90A7C-B49A-092C-7D89-88C233BCCDB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289718" y="1912654"/>
            <a:ext cx="1400569" cy="212594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E928A363-22FF-F71F-9379-162648843199}"/>
              </a:ext>
            </a:extLst>
          </p:cNvPr>
          <p:cNvPicPr>
            <a:picLocks noChangeAspect="1"/>
          </p:cNvPicPr>
          <p:nvPr/>
        </p:nvPicPr>
        <p:blipFill>
          <a:blip r:embed="rId7"/>
          <a:stretch>
            <a:fillRect/>
          </a:stretch>
        </p:blipFill>
        <p:spPr>
          <a:xfrm>
            <a:off x="98198" y="1725160"/>
            <a:ext cx="1806575" cy="1709511"/>
          </a:xfrm>
          <a:prstGeom prst="rect">
            <a:avLst/>
          </a:prstGeom>
        </p:spPr>
      </p:pic>
    </p:spTree>
    <p:extLst>
      <p:ext uri="{BB962C8B-B14F-4D97-AF65-F5344CB8AC3E}">
        <p14:creationId xmlns:p14="http://schemas.microsoft.com/office/powerpoint/2010/main" val="2649641721"/>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23c0c3b-866b-46e3-9113-0e3ecec58753">
      <Terms xmlns="http://schemas.microsoft.com/office/infopath/2007/PartnerControls"/>
    </lcf76f155ced4ddcb4097134ff3c332f>
    <TaxCatchAll xmlns="6aa2a5f3-aeae-4e8b-8110-d9a74112b47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F8490752535B2145B60AC42CC533684E" ma:contentTypeVersion="14" ma:contentTypeDescription="Crée un document." ma:contentTypeScope="" ma:versionID="d76fac2f27cc72cee1ddb2e9087b9e49">
  <xsd:schema xmlns:xsd="http://www.w3.org/2001/XMLSchema" xmlns:xs="http://www.w3.org/2001/XMLSchema" xmlns:p="http://schemas.microsoft.com/office/2006/metadata/properties" xmlns:ns2="e23c0c3b-866b-46e3-9113-0e3ecec58753" xmlns:ns3="6aa2a5f3-aeae-4e8b-8110-d9a74112b474" targetNamespace="http://schemas.microsoft.com/office/2006/metadata/properties" ma:root="true" ma:fieldsID="67da5232136ab967f77596f63f89577d" ns2:_="" ns3:_="">
    <xsd:import namespace="e23c0c3b-866b-46e3-9113-0e3ecec58753"/>
    <xsd:import namespace="6aa2a5f3-aeae-4e8b-8110-d9a74112b47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23c0c3b-866b-46e3-9113-0e3ecec5875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06365550-1475-44c7-8023-49d1dec3ea87"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aa2a5f3-aeae-4e8b-8110-d9a74112b474" elementFormDefault="qualified">
    <xsd:import namespace="http://schemas.microsoft.com/office/2006/documentManagement/types"/>
    <xsd:import namespace="http://schemas.microsoft.com/office/infopath/2007/PartnerControls"/>
    <xsd:element name="SharedWithUsers" ma:index="10"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1d68a00e-8cf2-41b9-8da5-b5fc8a1d9921}" ma:internalName="TaxCatchAll" ma:showField="CatchAllData" ma:web="6aa2a5f3-aeae-4e8b-8110-d9a74112b47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AD613EB-4C20-4097-96EA-C4CA365DA9DB}">
  <ds:schemaRefs>
    <ds:schemaRef ds:uri="http://schemas.microsoft.com/sharepoint/v3/contenttype/forms"/>
  </ds:schemaRefs>
</ds:datastoreItem>
</file>

<file path=customXml/itemProps2.xml><?xml version="1.0" encoding="utf-8"?>
<ds:datastoreItem xmlns:ds="http://schemas.openxmlformats.org/officeDocument/2006/customXml" ds:itemID="{7CEE322D-1A38-4A4D-865E-0E62E3EA7857}">
  <ds:schemaRefs>
    <ds:schemaRef ds:uri="6aa2a5f3-aeae-4e8b-8110-d9a74112b474"/>
    <ds:schemaRef ds:uri="e23c0c3b-866b-46e3-9113-0e3ecec5875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0072DEB2-E3A7-4B66-A738-EA5D653E8BB6}">
  <ds:schemaRefs>
    <ds:schemaRef ds:uri="6aa2a5f3-aeae-4e8b-8110-d9a74112b474"/>
    <ds:schemaRef ds:uri="e23c0c3b-866b-46e3-9113-0e3ecec5875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6935</Words>
  <Application>Microsoft Office PowerPoint</Application>
  <PresentationFormat>Grand écran</PresentationFormat>
  <Paragraphs>827</Paragraphs>
  <Slides>51</Slides>
  <Notes>45</Notes>
  <HiddenSlides>0</HiddenSlides>
  <MMClips>0</MMClips>
  <ScaleCrop>false</ScaleCrop>
  <HeadingPairs>
    <vt:vector size="6" baseType="variant">
      <vt:variant>
        <vt:lpstr>Polices utilisées</vt:lpstr>
      </vt:variant>
      <vt:variant>
        <vt:i4>19</vt:i4>
      </vt:variant>
      <vt:variant>
        <vt:lpstr>Thème</vt:lpstr>
      </vt:variant>
      <vt:variant>
        <vt:i4>1</vt:i4>
      </vt:variant>
      <vt:variant>
        <vt:lpstr>Titres des diapositives</vt:lpstr>
      </vt:variant>
      <vt:variant>
        <vt:i4>51</vt:i4>
      </vt:variant>
    </vt:vector>
  </HeadingPairs>
  <TitlesOfParts>
    <vt:vector size="71" baseType="lpstr">
      <vt:lpstr>Aptos</vt:lpstr>
      <vt:lpstr>Arial</vt:lpstr>
      <vt:lpstr>Arial,Sans-Serif</vt:lpstr>
      <vt:lpstr>Calibri</vt:lpstr>
      <vt:lpstr>Calibri Bold</vt:lpstr>
      <vt:lpstr>Calibri Light</vt:lpstr>
      <vt:lpstr>Calibri,Sans-Serif</vt:lpstr>
      <vt:lpstr>Courier New,monospace</vt:lpstr>
      <vt:lpstr>Montserrat</vt:lpstr>
      <vt:lpstr>Montserrat Black</vt:lpstr>
      <vt:lpstr>Montserrat Bold</vt:lpstr>
      <vt:lpstr>Montserrat ExtraBold</vt:lpstr>
      <vt:lpstr>Montserrat Light</vt:lpstr>
      <vt:lpstr>Open Sans</vt:lpstr>
      <vt:lpstr>Segoe Script</vt:lpstr>
      <vt:lpstr>Segoe UI</vt:lpstr>
      <vt:lpstr>Times New Roman</vt:lpstr>
      <vt:lpstr>Wingdings</vt:lpstr>
      <vt:lpstr>Wingdings,Sans-Serif</vt:lpstr>
      <vt:lpstr>Thème Office</vt:lpstr>
      <vt:lpstr>Restitution aide au choix </vt:lpstr>
      <vt:lpstr>ÉQUIPE PAIE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SUR LE THEME : DU CONTENTIEUX</vt:lpstr>
      <vt:lpstr>Présentation PowerPoint</vt:lpstr>
      <vt:lpstr>SUR LE THEME : DE L'ÉXECUTION DU CONTRAT DE TRAVAIL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SUR LE THEME : DE LA RUPTURE DU CONTRAT DE TRAVAIL</vt:lpstr>
      <vt:lpstr>Présentation PowerPoint</vt:lpstr>
      <vt:lpstr>SUR LE THEME : DES RISQUES PROFESSIONNELS</vt:lpstr>
      <vt:lpstr>Présentation PowerPoint</vt:lpstr>
      <vt:lpstr>Présentation PowerPoint</vt:lpstr>
      <vt:lpstr>SUR LE THEME : DES CONTRATS DE TRAVAIL</vt:lpstr>
      <vt:lpstr>Présentation PowerPoint</vt:lpstr>
      <vt:lpstr>Présentation PowerPoint</vt:lpstr>
      <vt:lpstr>SUR LE THEME : DE LA DUREE DU TRAVAIL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SUR LE THEME : DES RUPTURES DE CONTRATS DE TRAVAIL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PowerPoint</dc:title>
  <dc:creator>JOUBERT Laura</dc:creator>
  <cp:lastModifiedBy>GAIGNARD Stéphane</cp:lastModifiedBy>
  <cp:revision>21</cp:revision>
  <cp:lastPrinted>2025-11-18T15:09:49Z</cp:lastPrinted>
  <dcterms:created xsi:type="dcterms:W3CDTF">2021-11-04T08:31:49Z</dcterms:created>
  <dcterms:modified xsi:type="dcterms:W3CDTF">2026-09-16T15:21:31Z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0x010100F8490752535B2145B60AC42CC533684E</vt:lpwstr>
  </property>
  <property fmtid="{D5CDD505-2E9C-101B-9397-08002B2CF9AE}" pid="3" name="MediaServiceImageTags">
    <vt:lpwstr/>
  </property>
</Properties>
</file>